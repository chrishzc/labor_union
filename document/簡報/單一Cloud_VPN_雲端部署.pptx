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zh-TW" sz="4400" spc="-1" strike="noStrike">
                <a:solidFill>
                  <a:schemeClr val="dk1"/>
                </a:solidFill>
                <a:latin typeface="Calibri Light"/>
              </a:rPr>
              <a:t>請按這裡移動投影片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請按這裡編輯備註格式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&lt;頁首&gt;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&lt;日期/時間&gt;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5D3D803-262F-4E73-93CF-B0E9F27FF92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&lt;編號&gt;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比較圖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/Cloud_Run_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連線方案比較圖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.svg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https://cloud.google.com/network-connectivity/pricing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https://cloud.google.com/network-connectivity/docs/vpn/concepts/topologies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架構圖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架構圖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架構圖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架構圖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https://cloud.google.com/run/pricing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https://cloud.google.com/network-connectivity/pricing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https://cloud.google.com/load-balancing/pricing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https://cloud.google.com/armor/pricing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C:/Projects/Labor_union/document/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雲端部署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計劃書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單一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Cloud VPN</a:t>
            </a: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計畫書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zh-TW" sz="4400" spc="-1" strike="noStrike">
                <a:solidFill>
                  <a:schemeClr val="dk1"/>
                </a:solidFill>
                <a:latin typeface="Calibri Light"/>
              </a:rPr>
              <a:t>請按這裡編輯題名文字格式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800" spc="-1" strike="noStrike">
                <a:solidFill>
                  <a:schemeClr val="dk1"/>
                </a:solidFill>
                <a:latin typeface="Calibri"/>
              </a:rPr>
              <a:t>請按這裡編輯大綱文字格式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第二個大綱層次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chemeClr val="dk1"/>
                </a:solidFill>
                <a:latin typeface="Calibri"/>
              </a:rPr>
              <a:t>第三個大綱層次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chemeClr val="dk1"/>
                </a:solidFill>
                <a:latin typeface="Calibri"/>
              </a:rPr>
              <a:t>第四個大綱層次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第五個大綱層次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第六個大綱層次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第七個大綱層次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819000"/>
            <a:ext cx="6667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30" spc="-1" strike="noStrike">
                <a:solidFill>
                  <a:srgbClr val="d9825b"/>
                </a:solidFill>
                <a:latin typeface="Arial"/>
              </a:rPr>
              <a:t>CLOUD RUN × </a:t>
            </a:r>
            <a:r>
              <a:rPr b="1" lang="zh-TW" sz="1430" spc="-1" strike="noStrike">
                <a:solidFill>
                  <a:srgbClr val="d9825b"/>
                </a:solidFill>
                <a:latin typeface="Arial"/>
              </a:rPr>
              <a:t>地端 </a:t>
            </a:r>
            <a:r>
              <a:rPr b="1" lang="en-US" sz="1430" spc="-1" strike="noStrike">
                <a:solidFill>
                  <a:srgbClr val="d9825b"/>
                </a:solidFill>
                <a:latin typeface="Arial"/>
              </a:rPr>
              <a:t>NAS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1352520"/>
            <a:ext cx="7238520" cy="16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4800" spc="-1" strike="noStrike">
                <a:solidFill>
                  <a:srgbClr val="3b302c"/>
                </a:solidFill>
                <a:latin typeface="Arial"/>
              </a:rPr>
              <a:t>單一 </a:t>
            </a:r>
            <a:r>
              <a:rPr b="1" lang="en-US" sz="4800" spc="-1" strike="noStrike">
                <a:solidFill>
                  <a:srgbClr val="3b302c"/>
                </a:solidFill>
                <a:latin typeface="Arial"/>
              </a:rPr>
              <a:t>Cloud VPN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4800" spc="-1" strike="noStrike">
                <a:solidFill>
                  <a:srgbClr val="3b302c"/>
                </a:solidFill>
                <a:latin typeface="Arial"/>
              </a:rPr>
              <a:t>雲端部署方案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23960" y="3257640"/>
            <a:ext cx="6857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2020" spc="-1" strike="noStrike">
                <a:solidFill>
                  <a:srgbClr val="76564b"/>
                </a:solidFill>
                <a:latin typeface="Arial"/>
              </a:rPr>
              <a:t>客戶與機敏資料留在地端，應用服務移到雲端。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8096400" y="1143000"/>
            <a:ext cx="2952360" cy="3428640"/>
          </a:xfrm>
          <a:prstGeom prst="roundRect">
            <a:avLst>
              <a:gd name="adj" fmla="val 3871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572680" y="1571760"/>
            <a:ext cx="1999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2550" spc="-1" strike="noStrike">
                <a:solidFill>
                  <a:srgbClr val="d9825b"/>
                </a:solidFill>
                <a:latin typeface="Arial"/>
              </a:rPr>
              <a:t>雲端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572680" y="2133720"/>
            <a:ext cx="19998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70" spc="-1" strike="noStrike">
                <a:solidFill>
                  <a:srgbClr val="3b302c"/>
                </a:solidFill>
                <a:latin typeface="Arial"/>
              </a:rPr>
              <a:t>Cloud Run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zh-TW" sz="1870" spc="-1" strike="noStrike">
                <a:solidFill>
                  <a:srgbClr val="3b302c"/>
                </a:solidFill>
                <a:latin typeface="Arial"/>
              </a:rPr>
              <a:t>應用與服務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9144000" y="3009960"/>
            <a:ext cx="856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850" spc="-1" strike="noStrike">
                <a:solidFill>
                  <a:srgbClr val="70ad47"/>
                </a:solidFill>
                <a:latin typeface="Arial"/>
              </a:rPr>
              <a:t>⇅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572680" y="3619440"/>
            <a:ext cx="1999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2250" spc="-1" strike="noStrike">
                <a:solidFill>
                  <a:srgbClr val="76564b"/>
                </a:solidFill>
                <a:latin typeface="Arial"/>
              </a:rPr>
              <a:t>地端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572680" y="4029120"/>
            <a:ext cx="1999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3b302c"/>
                </a:solidFill>
                <a:latin typeface="Arial"/>
              </a:rPr>
              <a:t>NAS MySQL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3960" y="6114960"/>
            <a:ext cx="6190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混合部署：機敏資料留地端，應用服務取得雲端彈性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52600" y="1523880"/>
            <a:ext cx="3333240" cy="4095360"/>
          </a:xfrm>
          <a:prstGeom prst="roundRect">
            <a:avLst>
              <a:gd name="adj" fmla="val 3429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429080" y="1523880"/>
            <a:ext cx="3333240" cy="4095360"/>
          </a:xfrm>
          <a:prstGeom prst="roundRect">
            <a:avLst>
              <a:gd name="adj" fmla="val 3429"/>
            </a:avLst>
          </a:prstGeom>
          <a:solidFill>
            <a:srgbClr val="f5dfd6"/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305920" y="1523880"/>
            <a:ext cx="3333240" cy="4095360"/>
          </a:xfrm>
          <a:prstGeom prst="roundRect">
            <a:avLst>
              <a:gd name="adj" fmla="val 3429"/>
            </a:avLst>
          </a:prstGeom>
          <a:solidFill>
            <a:srgbClr val="f5dfd6"/>
          </a:solidFill>
          <a:ln w="9525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38080" y="188604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250" spc="-1" strike="noStrike">
                <a:solidFill>
                  <a:srgbClr val="d9825b"/>
                </a:solidFill>
                <a:latin typeface="Arial"/>
              </a:rPr>
              <a:t>雲端應用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38080" y="2533680"/>
            <a:ext cx="2666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遠端存取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集中部署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彈性擴充與監控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714920" y="188604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250" spc="-1" strike="noStrike">
                <a:solidFill>
                  <a:srgbClr val="70ad47"/>
                </a:solidFill>
                <a:latin typeface="Arial"/>
              </a:rPr>
              <a:t>地端資料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714920" y="2533680"/>
            <a:ext cx="2666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正式 </a:t>
            </a: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MySQL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客戶／機敏資料不上雲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降低雲端外洩風險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591400" y="188604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250" spc="-1" strike="noStrike">
                <a:solidFill>
                  <a:srgbClr val="d9825b"/>
                </a:solidFill>
                <a:latin typeface="Arial"/>
              </a:rPr>
              <a:t>私網連線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591400" y="2533680"/>
            <a:ext cx="2666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VPN</a:t>
            </a: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＋</a:t>
            </a: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mTLS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3306 </a:t>
            </a: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不公開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只有 </a:t>
            </a: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API </a:t>
            </a:r>
            <a:r>
              <a:rPr b="1" lang="zh-TW" sz="1950" spc="-1" strike="noStrike">
                <a:solidFill>
                  <a:srgbClr val="3b302c"/>
                </a:solidFill>
                <a:latin typeface="Arial"/>
              </a:rPr>
              <a:t>可連 </a:t>
            </a:r>
            <a:r>
              <a:rPr b="1" lang="en-US" sz="1950" spc="-1" strike="noStrike">
                <a:solidFill>
                  <a:srgbClr val="3b302c"/>
                </a:solidFill>
                <a:latin typeface="Arial"/>
              </a:rPr>
              <a:t>DB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238400" y="5952960"/>
            <a:ext cx="9715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1870" spc="-1" strike="noStrike">
                <a:solidFill>
                  <a:srgbClr val="76564b"/>
                </a:solidFill>
                <a:latin typeface="Arial"/>
              </a:rPr>
              <a:t>不是「全部上雲」，而是把適合彈性部署的服務移到雲端。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混合部署：機敏資料留地端，服務兼顧彈性與治理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638680" y="3067200"/>
            <a:ext cx="914040" cy="57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52600" y="1504800"/>
            <a:ext cx="4762080" cy="4304880"/>
          </a:xfrm>
          <a:prstGeom prst="roundRect">
            <a:avLst>
              <a:gd name="adj" fmla="val 2655"/>
            </a:avLst>
          </a:prstGeom>
          <a:solidFill>
            <a:srgbClr val="f5dfd6"/>
          </a:solidFill>
          <a:ln w="9525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77080" y="1504800"/>
            <a:ext cx="4762080" cy="4304880"/>
          </a:xfrm>
          <a:prstGeom prst="roundRect">
            <a:avLst>
              <a:gd name="adj" fmla="val 2655"/>
            </a:avLst>
          </a:prstGeom>
          <a:solidFill>
            <a:srgbClr val="ffe6c5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76240" y="1847880"/>
            <a:ext cx="4095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550" spc="-1" strike="noStrike">
                <a:solidFill>
                  <a:srgbClr val="76564b"/>
                </a:solidFill>
                <a:latin typeface="Arial"/>
              </a:rPr>
              <a:t>全地端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76240" y="25146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729" spc="-1" strike="noStrike">
                <a:solidFill>
                  <a:srgbClr val="70ad47"/>
                </a:solidFill>
                <a:latin typeface="Arial"/>
              </a:rPr>
              <a:t>優點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876240" y="2895480"/>
            <a:ext cx="390492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既有環境最熟悉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資料完全留在現場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固定雲端費用低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76240" y="43434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729" spc="-1" strike="noStrike">
                <a:solidFill>
                  <a:srgbClr val="c95038"/>
                </a:solidFill>
                <a:latin typeface="Arial"/>
              </a:rPr>
              <a:t>缺點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76240" y="4724280"/>
            <a:ext cx="3904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硬體採購與汰換成本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維護、備份與資安成本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穩定性受設備與現場環境影響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201080" y="1847880"/>
            <a:ext cx="4095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550" spc="-1" strike="noStrike">
                <a:solidFill>
                  <a:srgbClr val="d9825b"/>
                </a:solidFill>
                <a:latin typeface="Arial"/>
              </a:rPr>
              <a:t>雲端＋地端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201080" y="25146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729" spc="-1" strike="noStrike">
                <a:solidFill>
                  <a:srgbClr val="70ad47"/>
                </a:solidFill>
                <a:latin typeface="Arial"/>
              </a:rPr>
              <a:t>優點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201080" y="2895480"/>
            <a:ext cx="390492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應用可彈性部署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外部入口與身分控管集中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3b302c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3b302c"/>
                </a:solidFill>
                <a:latin typeface="Arial"/>
              </a:rPr>
              <a:t>正式資料仍保留地端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201080" y="43434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729" spc="-1" strike="noStrike">
                <a:solidFill>
                  <a:srgbClr val="ffc000"/>
                </a:solidFill>
                <a:latin typeface="Arial"/>
              </a:rPr>
              <a:t>缺點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201080" y="4724280"/>
            <a:ext cx="42598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8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增加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VPN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與雲端費用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8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•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需維護跨環境監控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 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8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 •  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VPN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中斷時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DB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暫時無法連線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8000"/>
              </a:lnSpc>
            </a:pP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11258640" y="6496200"/>
            <a:ext cx="399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Microsoft JhengHei"/>
                <a:ea typeface="Microsoft JhengHei"/>
              </a:rPr>
              <a:t>04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單一 </a:t>
            </a:r>
            <a:r>
              <a:rPr b="1" lang="en-US" sz="3600" spc="-1" strike="noStrike">
                <a:solidFill>
                  <a:srgbClr val="3b302c"/>
                </a:solidFill>
                <a:latin typeface="Arial"/>
              </a:rPr>
              <a:t>Cloud VPN</a:t>
            </a: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：兼顧安全、成本與風險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52600" y="1619280"/>
            <a:ext cx="3333240" cy="285732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800280" y="1847880"/>
            <a:ext cx="761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d9825b"/>
                </a:solidFill>
                <a:latin typeface="Arial"/>
              </a:rPr>
              <a:t>01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800280" y="2476440"/>
            <a:ext cx="2838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安全不退讓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00280" y="3105000"/>
            <a:ext cx="2838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3306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不公開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VPN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＋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MySQL mTLS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248000" y="1619280"/>
            <a:ext cx="3333240" cy="285732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495680" y="1847880"/>
            <a:ext cx="761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70ad47"/>
                </a:solidFill>
                <a:latin typeface="Arial"/>
              </a:rPr>
              <a:t>02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495680" y="2476440"/>
            <a:ext cx="2838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成本可控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495680" y="3105000"/>
            <a:ext cx="2838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比雙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tunnel 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少約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USD 36.5</a:t>
            </a: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／月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943760" y="1619280"/>
            <a:ext cx="3333240" cy="285732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191440" y="1847880"/>
            <a:ext cx="761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c000"/>
                </a:solidFill>
                <a:latin typeface="Arial"/>
              </a:rPr>
              <a:t>03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191440" y="2476440"/>
            <a:ext cx="2838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保留升級空間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8191440" y="3105000"/>
            <a:ext cx="2838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預留第二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interface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729" spc="-1" strike="noStrike">
                <a:solidFill>
                  <a:srgbClr val="76564b"/>
                </a:solidFill>
                <a:latin typeface="Arial"/>
              </a:rPr>
              <a:t>與 </a:t>
            </a:r>
            <a:r>
              <a:rPr b="0" lang="en-US" sz="1729" spc="-1" strike="noStrike">
                <a:solidFill>
                  <a:srgbClr val="76564b"/>
                </a:solidFill>
                <a:latin typeface="Arial"/>
              </a:rPr>
              <a:t>BGP session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52600" y="4905360"/>
            <a:ext cx="10743840" cy="990360"/>
          </a:xfrm>
          <a:prstGeom prst="roundRect">
            <a:avLst>
              <a:gd name="adj" fmla="val 11538"/>
            </a:avLst>
          </a:prstGeom>
          <a:solidFill>
            <a:srgbClr val="f5dfd6"/>
          </a:solidFill>
          <a:ln w="9525">
            <a:solidFill>
              <a:srgbClr val="c95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38080" y="5162400"/>
            <a:ext cx="1714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650" spc="-1" strike="noStrike">
                <a:solidFill>
                  <a:srgbClr val="c95038"/>
                </a:solidFill>
                <a:latin typeface="Arial"/>
              </a:rPr>
              <a:t>接受的代價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619360" y="5124600"/>
            <a:ext cx="8381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800" spc="-1" strike="noStrike">
                <a:solidFill>
                  <a:srgbClr val="3b302c"/>
                </a:solidFill>
                <a:latin typeface="Arial"/>
              </a:rPr>
              <a:t>單一 </a:t>
            </a:r>
            <a:r>
              <a:rPr b="1" lang="en-US" sz="1800" spc="-1" strike="noStrike">
                <a:solidFill>
                  <a:srgbClr val="3b302c"/>
                </a:solidFill>
                <a:latin typeface="Arial"/>
              </a:rPr>
              <a:t>tunnel </a:t>
            </a:r>
            <a:r>
              <a:rPr b="1" lang="zh-TW" sz="1800" spc="-1" strike="noStrike">
                <a:solidFill>
                  <a:srgbClr val="3b302c"/>
                </a:solidFill>
                <a:latin typeface="Arial"/>
              </a:rPr>
              <a:t>是明確單點；故障時 </a:t>
            </a:r>
            <a:r>
              <a:rPr b="1" lang="en-US" sz="1800" spc="-1" strike="noStrike">
                <a:solidFill>
                  <a:srgbClr val="3b302c"/>
                </a:solidFill>
                <a:latin typeface="Arial"/>
              </a:rPr>
              <a:t>DB </a:t>
            </a:r>
            <a:r>
              <a:rPr b="1" lang="zh-TW" sz="1800" spc="-1" strike="noStrike">
                <a:solidFill>
                  <a:srgbClr val="3b302c"/>
                </a:solidFill>
                <a:latin typeface="Arial"/>
              </a:rPr>
              <a:t>暫時不可達，不宣稱 </a:t>
            </a:r>
            <a:r>
              <a:rPr b="1" lang="en-US" sz="1800" spc="-1" strike="noStrike">
                <a:solidFill>
                  <a:srgbClr val="3b302c"/>
                </a:solidFill>
                <a:latin typeface="Arial"/>
              </a:rPr>
              <a:t>99.99% VPN SLA</a:t>
            </a:r>
            <a:r>
              <a:rPr b="1" lang="zh-TW" sz="1800" spc="-1" strike="noStrike">
                <a:solidFill>
                  <a:srgbClr val="3b302c"/>
                </a:solidFill>
                <a:latin typeface="Arial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457200" y="228600"/>
            <a:ext cx="112773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450" spc="-1" strike="noStrike">
                <a:solidFill>
                  <a:srgbClr val="3b302c"/>
                </a:solidFill>
                <a:latin typeface="Arial"/>
              </a:rPr>
              <a:t>部署架構：只有 </a:t>
            </a:r>
            <a:r>
              <a:rPr b="1" lang="en-US" sz="3450" spc="-1" strike="noStrike">
                <a:solidFill>
                  <a:srgbClr val="3b302c"/>
                </a:solidFill>
                <a:latin typeface="Arial"/>
              </a:rPr>
              <a:t>Business API </a:t>
            </a:r>
            <a:r>
              <a:rPr b="1" lang="zh-TW" sz="3450" spc="-1" strike="noStrike">
                <a:solidFill>
                  <a:srgbClr val="3b302c"/>
                </a:solidFill>
                <a:latin typeface="Arial"/>
              </a:rPr>
              <a:t>能經 </a:t>
            </a:r>
            <a:r>
              <a:rPr b="1" lang="en-US" sz="3450" spc="-1" strike="noStrike">
                <a:solidFill>
                  <a:srgbClr val="3b302c"/>
                </a:solidFill>
                <a:latin typeface="Arial"/>
              </a:rPr>
              <a:t>VPN </a:t>
            </a:r>
            <a:r>
              <a:rPr b="1" lang="zh-TW" sz="3450" spc="-1" strike="noStrike">
                <a:solidFill>
                  <a:srgbClr val="3b302c"/>
                </a:solidFill>
                <a:latin typeface="Arial"/>
              </a:rPr>
              <a:t>連資料庫</a:t>
            </a:r>
            <a:endParaRPr b="0" lang="en-US" sz="3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262800" y="838080"/>
            <a:ext cx="11665800" cy="561924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457200" y="228600"/>
            <a:ext cx="112773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450" spc="-1" strike="noStrike">
                <a:solidFill>
                  <a:srgbClr val="3b302c"/>
                </a:solidFill>
                <a:latin typeface="Arial"/>
              </a:rPr>
              <a:t>服務流程：所有寫入都回到同一個 </a:t>
            </a:r>
            <a:r>
              <a:rPr b="1" lang="en-US" sz="3450" spc="-1" strike="noStrike">
                <a:solidFill>
                  <a:srgbClr val="3b302c"/>
                </a:solidFill>
                <a:latin typeface="Arial"/>
              </a:rPr>
              <a:t>API </a:t>
            </a:r>
            <a:r>
              <a:rPr b="1" lang="zh-TW" sz="3450" spc="-1" strike="noStrike">
                <a:solidFill>
                  <a:srgbClr val="3b302c"/>
                </a:solidFill>
                <a:latin typeface="Arial"/>
              </a:rPr>
              <a:t>與交易邊界</a:t>
            </a:r>
            <a:endParaRPr b="0" lang="en-US" sz="3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rcRect l="0" t="7" r="0" b="7"/>
          <a:stretch/>
        </p:blipFill>
        <p:spPr>
          <a:xfrm>
            <a:off x="2185200" y="743040"/>
            <a:ext cx="7821000" cy="5810040"/>
          </a:xfrm>
          <a:prstGeom prst="rect">
            <a:avLst/>
          </a:prstGeom>
          <a:ln w="0">
            <a:noFill/>
          </a:ln>
        </p:spPr>
      </p:pic>
      <p:sp>
        <p:nvSpPr>
          <p:cNvPr id="78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3b302c"/>
                </a:solidFill>
                <a:latin typeface="Arial"/>
              </a:rPr>
              <a:t>VPN </a:t>
            </a: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中斷：清楚失敗、人工復原、驗證後再恢復寫入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143160" y="3009960"/>
            <a:ext cx="552240" cy="39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943600" y="3009960"/>
            <a:ext cx="552240" cy="39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744040" y="3009960"/>
            <a:ext cx="552240" cy="39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52600" y="1924200"/>
            <a:ext cx="2381040" cy="2552400"/>
          </a:xfrm>
          <a:prstGeom prst="roundRect">
            <a:avLst>
              <a:gd name="adj" fmla="val 4800"/>
            </a:avLst>
          </a:prstGeom>
          <a:solidFill>
            <a:srgbClr val="f5dfd6"/>
          </a:solidFill>
          <a:ln w="9525">
            <a:solidFill>
              <a:srgbClr val="c95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62120" y="2133720"/>
            <a:ext cx="418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d9825b"/>
                </a:solidFill>
                <a:latin typeface="Arial"/>
              </a:rPr>
              <a:t>1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62120" y="2705040"/>
            <a:ext cx="196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偵測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62120" y="3314880"/>
            <a:ext cx="1961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Tunnel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／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BGP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／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DB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readiness 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告警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352680" y="1924200"/>
            <a:ext cx="2381040" cy="2552400"/>
          </a:xfrm>
          <a:prstGeom prst="roundRect">
            <a:avLst>
              <a:gd name="adj" fmla="val 4800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562200" y="2133720"/>
            <a:ext cx="418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d9825b"/>
                </a:solidFill>
                <a:latin typeface="Arial"/>
              </a:rPr>
              <a:t>2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562200" y="2705040"/>
            <a:ext cx="196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隔離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562200" y="3314880"/>
            <a:ext cx="1961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DB 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操作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fail closed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停止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release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／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migration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53120" y="1924200"/>
            <a:ext cx="2381040" cy="2552400"/>
          </a:xfrm>
          <a:prstGeom prst="roundRect">
            <a:avLst>
              <a:gd name="adj" fmla="val 4800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362640" y="2133720"/>
            <a:ext cx="418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d9825b"/>
                </a:solidFill>
                <a:latin typeface="Arial"/>
              </a:rPr>
              <a:t>3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362640" y="2705040"/>
            <a:ext cx="196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復原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362640" y="3314880"/>
            <a:ext cx="1961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修復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route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、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VPN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與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MySQL mTLS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953560" y="1924200"/>
            <a:ext cx="2381040" cy="2552400"/>
          </a:xfrm>
          <a:prstGeom prst="roundRect">
            <a:avLst>
              <a:gd name="adj" fmla="val 4800"/>
            </a:avLst>
          </a:prstGeom>
          <a:solidFill>
            <a:srgbClr val="f5dfd6"/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9163080" y="2133720"/>
            <a:ext cx="418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d9825b"/>
                </a:solidFill>
                <a:latin typeface="Arial"/>
              </a:rPr>
              <a:t>4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163080" y="2705040"/>
            <a:ext cx="196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3b302c"/>
                </a:solidFill>
                <a:latin typeface="Arial"/>
              </a:rPr>
              <a:t>驗證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9163080" y="3314880"/>
            <a:ext cx="1961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先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read-only smoke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再恢復 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worker</a:t>
            </a:r>
            <a:r>
              <a:rPr b="0" lang="zh-TW" sz="1580" spc="-1" strike="noStrike">
                <a:solidFill>
                  <a:srgbClr val="76564b"/>
                </a:solidFill>
                <a:latin typeface="Arial"/>
              </a:rPr>
              <a:t>／</a:t>
            </a:r>
            <a:r>
              <a:rPr b="0" lang="en-US" sz="1580" spc="-1" strike="noStrike">
                <a:solidFill>
                  <a:srgbClr val="76564b"/>
                </a:solidFill>
                <a:latin typeface="Arial"/>
              </a:rPr>
              <a:t>mutation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523880" y="5257800"/>
            <a:ext cx="9143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70" spc="-1" strike="noStrike">
                <a:solidFill>
                  <a:srgbClr val="ffc000"/>
                </a:solidFill>
                <a:latin typeface="Arial"/>
              </a:rPr>
              <a:t>Pub/Sub </a:t>
            </a:r>
            <a:r>
              <a:rPr b="1" lang="zh-TW" sz="1870" spc="-1" strike="noStrike">
                <a:solidFill>
                  <a:srgbClr val="ffc000"/>
                </a:solidFill>
                <a:latin typeface="Arial"/>
              </a:rPr>
              <a:t>只保存去敏告警，不是第二套業務資料庫。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月費約 </a:t>
            </a:r>
            <a:r>
              <a:rPr b="1" lang="en-US" sz="3600" spc="-1" strike="noStrike">
                <a:solidFill>
                  <a:srgbClr val="3b302c"/>
                </a:solidFill>
                <a:latin typeface="Arial"/>
              </a:rPr>
              <a:t>NT$3,800–4,450</a:t>
            </a: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，預算告警控風險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52600" y="1619280"/>
            <a:ext cx="4476240" cy="3428640"/>
          </a:xfrm>
          <a:prstGeom prst="roundRect">
            <a:avLst>
              <a:gd name="adj" fmla="val 3333"/>
            </a:avLst>
          </a:prstGeom>
          <a:solidFill>
            <a:srgbClr val="f5dfd6"/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33480" y="2095560"/>
            <a:ext cx="3714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70ad47"/>
                </a:solidFill>
                <a:latin typeface="Arial"/>
              </a:rPr>
              <a:t>USD 115–135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33480" y="2800440"/>
            <a:ext cx="3714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1580" spc="-1" strike="noStrike">
                <a:solidFill>
                  <a:srgbClr val="76564b"/>
                </a:solidFill>
                <a:latin typeface="Arial"/>
              </a:rPr>
              <a:t>每月低流量估算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33480" y="3333600"/>
            <a:ext cx="371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2250" spc="-1" strike="noStrike">
                <a:solidFill>
                  <a:srgbClr val="3b302c"/>
                </a:solidFill>
                <a:latin typeface="Arial"/>
              </a:rPr>
              <a:t>約 </a:t>
            </a:r>
            <a:r>
              <a:rPr b="1" lang="en-US" sz="2250" spc="-1" strike="noStrike">
                <a:solidFill>
                  <a:srgbClr val="3b302c"/>
                </a:solidFill>
                <a:latin typeface="Arial"/>
              </a:rPr>
              <a:t>NT$3,800–4,450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933480" y="4000680"/>
            <a:ext cx="371448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1650" spc="-1" strike="noStrike">
                <a:solidFill>
                  <a:srgbClr val="ffc000"/>
                </a:solidFill>
                <a:latin typeface="Arial"/>
              </a:rPr>
              <a:t>預算告警 </a:t>
            </a:r>
            <a:r>
              <a:rPr b="1" lang="en-US" sz="1650" spc="-1" strike="noStrike">
                <a:solidFill>
                  <a:srgbClr val="ffc000"/>
                </a:solidFill>
                <a:latin typeface="Arial"/>
              </a:rPr>
              <a:t>NT$5,000</a:t>
            </a:r>
            <a:r>
              <a:rPr b="1" lang="zh-TW" sz="1650" spc="-1" strike="noStrike">
                <a:solidFill>
                  <a:srgbClr val="ffc000"/>
                </a:solidFill>
                <a:latin typeface="Arial"/>
              </a:rPr>
              <a:t>／月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650" spc="-1" strike="noStrike">
                <a:solidFill>
                  <a:srgbClr val="ffc000"/>
                </a:solidFill>
                <a:latin typeface="Arial"/>
              </a:rPr>
              <a:t>50%</a:t>
            </a:r>
            <a:r>
              <a:rPr b="1" lang="zh-TW" sz="1650" spc="-1" strike="noStrike">
                <a:solidFill>
                  <a:srgbClr val="ffc000"/>
                </a:solidFill>
                <a:latin typeface="Arial"/>
              </a:rPr>
              <a:t>｜</a:t>
            </a:r>
            <a:r>
              <a:rPr b="1" lang="en-US" sz="1650" spc="-1" strike="noStrike">
                <a:solidFill>
                  <a:srgbClr val="ffc000"/>
                </a:solidFill>
                <a:latin typeface="Arial"/>
              </a:rPr>
              <a:t>80%</a:t>
            </a:r>
            <a:r>
              <a:rPr b="1" lang="zh-TW" sz="1650" spc="-1" strike="noStrike">
                <a:solidFill>
                  <a:srgbClr val="ffc000"/>
                </a:solidFill>
                <a:latin typeface="Arial"/>
              </a:rPr>
              <a:t>｜</a:t>
            </a:r>
            <a:r>
              <a:rPr b="1" lang="en-US" sz="1650" spc="-1" strike="noStrike">
                <a:solidFill>
                  <a:srgbClr val="ffc000"/>
                </a:solidFill>
                <a:latin typeface="Arial"/>
              </a:rPr>
              <a:t>100% </a:t>
            </a:r>
            <a:r>
              <a:rPr b="1" lang="zh-TW" sz="1650" spc="-1" strike="noStrike">
                <a:solidFill>
                  <a:srgbClr val="ffc000"/>
                </a:solidFill>
                <a:latin typeface="Arial"/>
              </a:rPr>
              <a:t>通知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695920" y="1714680"/>
            <a:ext cx="5428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870" spc="-1" strike="noStrike">
                <a:solidFill>
                  <a:srgbClr val="d9825b"/>
                </a:solidFill>
                <a:latin typeface="Arial"/>
              </a:rPr>
              <a:t>主要固定成本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695920" y="2190600"/>
            <a:ext cx="542880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zh-TW" sz="1870" spc="-1" strike="noStrike">
                <a:solidFill>
                  <a:srgbClr val="3b302c"/>
                </a:solidFill>
                <a:latin typeface="Arial"/>
              </a:rPr>
              <a:t>單一 </a:t>
            </a: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VPN tunnel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Load Balancer</a:t>
            </a:r>
            <a:r>
              <a:rPr b="0" lang="zh-TW" sz="1870" spc="-1" strike="noStrike">
                <a:solidFill>
                  <a:srgbClr val="3b302c"/>
                </a:solidFill>
                <a:latin typeface="Arial"/>
              </a:rPr>
              <a:t>＋</a:t>
            </a: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Cloud Armor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870" spc="-1" strike="noStrike">
                <a:solidFill>
                  <a:srgbClr val="3b302c"/>
                </a:solidFill>
                <a:latin typeface="Arial"/>
              </a:rPr>
              <a:t>常駐 </a:t>
            </a: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Business API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TW" sz="1870" spc="-1" strike="noStrike">
                <a:solidFill>
                  <a:srgbClr val="3b302c"/>
                </a:solidFill>
                <a:latin typeface="Arial"/>
              </a:rPr>
              <a:t>固定 </a:t>
            </a: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1 </a:t>
            </a:r>
            <a:r>
              <a:rPr b="0" lang="zh-TW" sz="1870" spc="-1" strike="noStrike">
                <a:solidFill>
                  <a:srgbClr val="3b302c"/>
                </a:solidFill>
                <a:latin typeface="Arial"/>
              </a:rPr>
              <a:t>個 </a:t>
            </a:r>
            <a:r>
              <a:rPr b="0" lang="en-US" sz="1870" spc="-1" strike="noStrike">
                <a:solidFill>
                  <a:srgbClr val="3b302c"/>
                </a:solidFill>
                <a:latin typeface="Arial"/>
              </a:rPr>
              <a:t>Worker Pool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695920" y="4191120"/>
            <a:ext cx="5428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695920" y="4629240"/>
            <a:ext cx="54288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09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552600" y="28584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30" spc="-1" strike="noStrike">
                <a:solidFill>
                  <a:srgbClr val="d9825b"/>
                </a:solidFill>
                <a:latin typeface="Arial"/>
              </a:rPr>
              <a:t>CLOUD DEPLOYMENT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52600" y="533520"/>
            <a:ext cx="11086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3600" spc="-1" strike="noStrike">
                <a:solidFill>
                  <a:srgbClr val="3b302c"/>
                </a:solidFill>
                <a:latin typeface="Arial"/>
              </a:rPr>
              <a:t>上線前必須證明隔離、復原與可追溯性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552600" y="1133640"/>
            <a:ext cx="11086920" cy="18720"/>
          </a:xfrm>
          <a:prstGeom prst="rect">
            <a:avLst/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52600" y="1619280"/>
            <a:ext cx="10743840" cy="87588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>
            <a:solidFill>
              <a:srgbClr val="d982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38080" y="1847880"/>
            <a:ext cx="1428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d9825b"/>
                </a:solidFill>
                <a:latin typeface="Arial"/>
              </a:rPr>
              <a:t>隔離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2400480" y="182880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只有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Business API 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能經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VPN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＋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mTLS 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連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NAS:3306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52600" y="2762280"/>
            <a:ext cx="10743840" cy="87588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838080" y="2990880"/>
            <a:ext cx="1428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70ad47"/>
                </a:solidFill>
                <a:latin typeface="Arial"/>
              </a:rPr>
              <a:t>復原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400480" y="297180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Tunnel 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中斷會告警、操作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fail closed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，恢復後可安全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replay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52600" y="3905280"/>
            <a:ext cx="10743840" cy="87588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38080" y="4133880"/>
            <a:ext cx="1428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zh-TW" sz="2100" spc="-1" strike="noStrike">
                <a:solidFill>
                  <a:srgbClr val="ffc000"/>
                </a:solidFill>
                <a:latin typeface="Arial"/>
              </a:rPr>
              <a:t>追溯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400480" y="411480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Image digest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、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secret version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、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DB backup 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與 </a:t>
            </a:r>
            <a:r>
              <a:rPr b="1" lang="en-US" sz="1729" spc="-1" strike="noStrike">
                <a:solidFill>
                  <a:srgbClr val="3b302c"/>
                </a:solidFill>
                <a:latin typeface="Arial"/>
              </a:rPr>
              <a:t>rollback </a:t>
            </a:r>
            <a:r>
              <a:rPr b="1" lang="zh-TW" sz="1729" spc="-1" strike="noStrike">
                <a:solidFill>
                  <a:srgbClr val="3b302c"/>
                </a:solidFill>
                <a:latin typeface="Arial"/>
              </a:rPr>
              <a:t>都有證據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52600" y="5219640"/>
            <a:ext cx="10743840" cy="723600"/>
          </a:xfrm>
          <a:prstGeom prst="roundRect">
            <a:avLst>
              <a:gd name="adj" fmla="val 15789"/>
            </a:avLst>
          </a:prstGeom>
          <a:solidFill>
            <a:srgbClr val="f5dfd6"/>
          </a:solidFill>
          <a:ln w="9525">
            <a:solidFill>
              <a:srgbClr val="7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19000" y="5429160"/>
            <a:ext cx="10210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zh-TW" sz="1650" spc="-1" strike="noStrike">
                <a:solidFill>
                  <a:srgbClr val="76564b"/>
                </a:solidFill>
                <a:latin typeface="Arial"/>
              </a:rPr>
              <a:t>本計畫是部署目標與驗收方式，不代表已建立雲端資源或已獲得 </a:t>
            </a:r>
            <a:r>
              <a:rPr b="1" lang="en-US" sz="1650" spc="-1" strike="noStrike">
                <a:solidFill>
                  <a:srgbClr val="76564b"/>
                </a:solidFill>
                <a:latin typeface="Arial"/>
              </a:rPr>
              <a:t>production cutover </a:t>
            </a:r>
            <a:r>
              <a:rPr b="1" lang="zh-TW" sz="1650" spc="-1" strike="noStrike">
                <a:solidFill>
                  <a:srgbClr val="76564b"/>
                </a:solidFill>
                <a:latin typeface="Arial"/>
              </a:rPr>
              <a:t>授權。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1125080" y="6496200"/>
            <a:ext cx="514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76564b"/>
                </a:solidFill>
                <a:latin typeface="Arial"/>
              </a:rPr>
              <a:t>10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LibreOffice/24.2.6.2$Windows_X86_64 LibreOffice_project/ef66aa7e36a1bb8e65bfbc63aba53045a14d0871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2026-08-16T03:17:51Z</dcterms:created>
  <dc:creator>Walnut Exporter</dc:creator>
  <dc:description/>
  <dc:language>zh-TW</dc:language>
  <cp:lastModifiedBy/>
  <dcterms:modified xsi:type="dcterms:W3CDTF">2026-08-16T11:29:23Z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