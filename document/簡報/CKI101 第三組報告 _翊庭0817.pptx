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61" r:id="rId1"/>
  </p:sldMasterIdLst>
  <p:notesMasterIdLst>
    <p:notesMasterId r:id="rId50"/>
  </p:notesMasterIdLst>
  <p:handoutMasterIdLst>
    <p:handoutMasterId r:id="rId51"/>
  </p:handoutMasterIdLst>
  <p:sldIdLst>
    <p:sldId id="326" r:id="rId2"/>
    <p:sldId id="325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24" r:id="rId11"/>
    <p:sldId id="336" r:id="rId12"/>
    <p:sldId id="337" r:id="rId13"/>
    <p:sldId id="338" r:id="rId14"/>
    <p:sldId id="339" r:id="rId15"/>
    <p:sldId id="340" r:id="rId16"/>
    <p:sldId id="341" r:id="rId17"/>
    <p:sldId id="301" r:id="rId18"/>
    <p:sldId id="342" r:id="rId19"/>
    <p:sldId id="343" r:id="rId20"/>
    <p:sldId id="344" r:id="rId21"/>
    <p:sldId id="345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314" r:id="rId30"/>
    <p:sldId id="315" r:id="rId31"/>
    <p:sldId id="319" r:id="rId32"/>
    <p:sldId id="320" r:id="rId33"/>
    <p:sldId id="321" r:id="rId34"/>
    <p:sldId id="322" r:id="rId35"/>
    <p:sldId id="323" r:id="rId36"/>
    <p:sldId id="306" r:id="rId37"/>
    <p:sldId id="316" r:id="rId38"/>
    <p:sldId id="317" r:id="rId39"/>
    <p:sldId id="318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34" r:id="rId48"/>
    <p:sldId id="335" r:id="rId4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542D8AF-B71B-C40D-1050-8D73C60DDC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DCF208A-C097-5221-9EB0-A2388C92F5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E3B36-2AD8-A644-9654-37D46BB3CF02}" type="datetimeFigureOut">
              <a:rPr kumimoji="1" lang="zh-TW" altLang="en-US" smtClean="0"/>
              <a:t>2026/8/17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AD3B932-0385-B53A-0759-60E746AA42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FCFE3AF-1034-2097-746A-352695A6F9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C86D7-88B8-554F-85B7-7325DE04706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86370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786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99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AD04-7730-F88B-4B3C-46F039C9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749A1-842D-A39E-3C63-E711F7AB3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D272E-32E3-7970-3696-1EA64D070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96566-B30D-66D6-0C42-2612DC5724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125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document/架構重整/01_規格基線/17_External_Integration_LINE_Access正式規格.md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6058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整合自使用者提供的《LINE流程說明簡報》，配合 CKI101 原簡報風格與報告脈絡重寫。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8361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整合自使用者提供的《LINE流程說明簡報》，配合 CKI101 原簡報風格與報告脈絡重寫。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362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整合自使用者提供的《LINE流程說明簡報》，配合 CKI101 原簡報風格與報告脈絡重寫。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7388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整合自使用者提供的《LINE流程說明簡報》，配合 CKI101 原簡報風格與報告脈絡重寫。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4883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整合自使用者提供的《LINE流程說明簡報》，配合 CKI101 原簡報風格與報告脈絡重寫。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2691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整合自使用者提供的《LINE流程說明簡報》，配合 CKI101 原簡報風格與報告脈絡重寫。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1869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28EC47D-A931-D7A9-A02F-E7D54598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A2416A-6C7B-E1E2-B6D3-9F29F66B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37C521-2E56-FE12-91A8-4ADE2B6D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833B9E-77B8-7443-A26B-AB7A6475EE4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842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blipFill dpi="0" rotWithShape="1">
          <a:blip r:embed="rId2">
            <a:lum/>
          </a:blip>
          <a:srcRect/>
          <a:stretch>
            <a:fillRect l="-2000" t="-16000" r="-2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81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92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microsoft.com/office/2007/relationships/hdphoto" Target="../media/hdphoto2.wdp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microsoft.com/office/2007/relationships/hdphoto" Target="../media/hdphoto3.wdp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microsoft.com/office/2007/relationships/hdphoto" Target="../media/hdphoto4.wdp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microsoft.com/office/2007/relationships/hdphoto" Target="../media/hdphoto5.wdp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0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13.wdp"/><Relationship Id="rId3" Type="http://schemas.openxmlformats.org/officeDocument/2006/relationships/image" Target="../media/image27.jpeg"/><Relationship Id="rId7" Type="http://schemas.openxmlformats.org/officeDocument/2006/relationships/image" Target="../media/image1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jpeg"/><Relationship Id="rId4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0.jpeg"/><Relationship Id="rId7" Type="http://schemas.openxmlformats.org/officeDocument/2006/relationships/image" Target="../media/image11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9" Type="http://schemas.microsoft.com/office/2007/relationships/hdphoto" Target="../media/hdphoto14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microsoft.com/office/2007/relationships/hdphoto" Target="../media/hdphoto11.wdp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5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6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7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8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9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0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microsoft.com/office/2007/relationships/hdphoto" Target="../media/hdphoto21.wdp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microsoft.com/office/2007/relationships/hdphoto" Target="../media/hdphoto14.wdp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microsoft.com/office/2007/relationships/hdphoto" Target="../media/hdphoto22.wdp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microsoft.com/office/2007/relationships/hdphoto" Target="../media/hdphoto23.wdp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4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5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microsoft.com/office/2007/relationships/hdphoto" Target="../media/hdphoto26.wdp"/><Relationship Id="rId5" Type="http://schemas.openxmlformats.org/officeDocument/2006/relationships/image" Target="../media/image12.png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microsoft.com/office/2007/relationships/hdphoto" Target="../media/hdphoto20.wdp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microsoft.com/office/2007/relationships/hdphoto" Target="../media/hdphoto21.wdp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microsoft.com/office/2007/relationships/hdphoto" Target="../media/hdphoto27.wdp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1.wdp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2;p9">
            <a:extLst>
              <a:ext uri="{FF2B5EF4-FFF2-40B4-BE49-F238E27FC236}">
                <a16:creationId xmlns:a16="http://schemas.microsoft.com/office/drawing/2014/main" id="{4BCBB182-0E2D-DC7E-CE9A-C855AF5512BD}"/>
              </a:ext>
            </a:extLst>
          </p:cNvPr>
          <p:cNvSpPr/>
          <p:nvPr/>
        </p:nvSpPr>
        <p:spPr>
          <a:xfrm>
            <a:off x="8172450" y="1123950"/>
            <a:ext cx="2705100" cy="27051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 cap="flat" cmpd="sng">
            <a:solidFill>
              <a:srgbClr val="B96F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33;p9" descr="Elegant vector logo for a Postpartum Care Labor Union, depicting a warm stylized mother and child emblem within a shield shape, warm peach, cream, and terracotta tones, clean modern branding style, flat design, white background">
            <a:extLst>
              <a:ext uri="{FF2B5EF4-FFF2-40B4-BE49-F238E27FC236}">
                <a16:creationId xmlns:a16="http://schemas.microsoft.com/office/drawing/2014/main" id="{82AE1EA0-9EC1-C450-2169-6F9B545DCE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332" t="3332" r="3332" b="3332"/>
          <a:stretch/>
        </p:blipFill>
        <p:spPr>
          <a:xfrm>
            <a:off x="8191500" y="1143000"/>
            <a:ext cx="2667000" cy="26670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8" name="Google Shape;34;p9">
            <a:extLst>
              <a:ext uri="{FF2B5EF4-FFF2-40B4-BE49-F238E27FC236}">
                <a16:creationId xmlns:a16="http://schemas.microsoft.com/office/drawing/2014/main" id="{0633AAB6-8870-A85D-346B-D56F6B9DAC70}"/>
              </a:ext>
            </a:extLst>
          </p:cNvPr>
          <p:cNvGrpSpPr/>
          <p:nvPr/>
        </p:nvGrpSpPr>
        <p:grpSpPr>
          <a:xfrm>
            <a:off x="952500" y="5488665"/>
            <a:ext cx="3143400" cy="857400"/>
            <a:chOff x="0" y="0"/>
            <a:chExt cx="3143400" cy="857400"/>
          </a:xfrm>
        </p:grpSpPr>
        <p:sp>
          <p:nvSpPr>
            <p:cNvPr id="9" name="Google Shape;35;p9">
              <a:extLst>
                <a:ext uri="{FF2B5EF4-FFF2-40B4-BE49-F238E27FC236}">
                  <a16:creationId xmlns:a16="http://schemas.microsoft.com/office/drawing/2014/main" id="{BD373AFD-A4A3-7348-CEA3-9B930C5EE3BC}"/>
                </a:ext>
              </a:extLst>
            </p:cNvPr>
            <p:cNvSpPr/>
            <p:nvPr/>
          </p:nvSpPr>
          <p:spPr>
            <a:xfrm>
              <a:off x="0" y="0"/>
              <a:ext cx="3143400" cy="857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300" cap="flat" cmpd="sng">
              <a:solidFill>
                <a:srgbClr val="E7E0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;p9">
              <a:extLst>
                <a:ext uri="{FF2B5EF4-FFF2-40B4-BE49-F238E27FC236}">
                  <a16:creationId xmlns:a16="http://schemas.microsoft.com/office/drawing/2014/main" id="{876D7F38-3E21-0E12-43B6-0935798118F8}"/>
                </a:ext>
              </a:extLst>
            </p:cNvPr>
            <p:cNvSpPr/>
            <p:nvPr/>
          </p:nvSpPr>
          <p:spPr>
            <a:xfrm>
              <a:off x="161925" y="161925"/>
              <a:ext cx="533400" cy="533400"/>
            </a:xfrm>
            <a:prstGeom prst="ellipse">
              <a:avLst/>
            </a:prstGeom>
            <a:solidFill>
              <a:srgbClr val="B96F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7;p9">
              <a:extLst>
                <a:ext uri="{FF2B5EF4-FFF2-40B4-BE49-F238E27FC236}">
                  <a16:creationId xmlns:a16="http://schemas.microsoft.com/office/drawing/2014/main" id="{AB4D5E28-4444-FDA9-1577-A59BCA90F292}"/>
                </a:ext>
              </a:extLst>
            </p:cNvPr>
            <p:cNvSpPr txBox="1"/>
            <p:nvPr/>
          </p:nvSpPr>
          <p:spPr>
            <a:xfrm>
              <a:off x="161925" y="161925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01</a:t>
              </a:r>
              <a:endParaRPr sz="1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endParaRPr>
            </a:p>
          </p:txBody>
        </p:sp>
        <p:sp>
          <p:nvSpPr>
            <p:cNvPr id="12" name="Google Shape;38;p9">
              <a:extLst>
                <a:ext uri="{FF2B5EF4-FFF2-40B4-BE49-F238E27FC236}">
                  <a16:creationId xmlns:a16="http://schemas.microsoft.com/office/drawing/2014/main" id="{FEDA88D7-D23C-9407-E550-C7699EF2F1B6}"/>
                </a:ext>
              </a:extLst>
            </p:cNvPr>
            <p:cNvSpPr txBox="1"/>
            <p:nvPr/>
          </p:nvSpPr>
          <p:spPr>
            <a:xfrm>
              <a:off x="904875" y="142875"/>
              <a:ext cx="2000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 err="1">
                  <a:solidFill>
                    <a:srgbClr val="24354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流程</a:t>
              </a:r>
              <a:r>
                <a:rPr lang="en-US" sz="1600" b="1" dirty="0">
                  <a:solidFill>
                    <a:srgbClr val="24354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E </a:t>
              </a:r>
              <a:r>
                <a:rPr lang="en-US" sz="1600" b="1" dirty="0" err="1">
                  <a:solidFill>
                    <a:srgbClr val="24354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化</a:t>
              </a:r>
              <a:endParaRPr sz="1600" b="1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endParaRPr>
            </a:p>
          </p:txBody>
        </p:sp>
      </p:grpSp>
      <p:grpSp>
        <p:nvGrpSpPr>
          <p:cNvPr id="13" name="Google Shape;39;p9">
            <a:extLst>
              <a:ext uri="{FF2B5EF4-FFF2-40B4-BE49-F238E27FC236}">
                <a16:creationId xmlns:a16="http://schemas.microsoft.com/office/drawing/2014/main" id="{E2589100-94B6-DF0D-CED0-267FA4CDFE9D}"/>
              </a:ext>
            </a:extLst>
          </p:cNvPr>
          <p:cNvGrpSpPr/>
          <p:nvPr/>
        </p:nvGrpSpPr>
        <p:grpSpPr>
          <a:xfrm>
            <a:off x="4476750" y="5488665"/>
            <a:ext cx="3143400" cy="857400"/>
            <a:chOff x="0" y="0"/>
            <a:chExt cx="3143400" cy="857400"/>
          </a:xfrm>
        </p:grpSpPr>
        <p:sp>
          <p:nvSpPr>
            <p:cNvPr id="14" name="Google Shape;40;p9">
              <a:extLst>
                <a:ext uri="{FF2B5EF4-FFF2-40B4-BE49-F238E27FC236}">
                  <a16:creationId xmlns:a16="http://schemas.microsoft.com/office/drawing/2014/main" id="{9263F657-EE83-7DC8-06F9-5B6E991A2B99}"/>
                </a:ext>
              </a:extLst>
            </p:cNvPr>
            <p:cNvSpPr/>
            <p:nvPr/>
          </p:nvSpPr>
          <p:spPr>
            <a:xfrm>
              <a:off x="0" y="0"/>
              <a:ext cx="3143400" cy="857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300" cap="flat" cmpd="sng">
              <a:solidFill>
                <a:srgbClr val="E7E0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5" name="Google Shape;41;p9">
              <a:extLst>
                <a:ext uri="{FF2B5EF4-FFF2-40B4-BE49-F238E27FC236}">
                  <a16:creationId xmlns:a16="http://schemas.microsoft.com/office/drawing/2014/main" id="{73CAD0FD-C9BA-64DA-D6AE-1785C5840252}"/>
                </a:ext>
              </a:extLst>
            </p:cNvPr>
            <p:cNvSpPr/>
            <p:nvPr/>
          </p:nvSpPr>
          <p:spPr>
            <a:xfrm>
              <a:off x="161925" y="161925"/>
              <a:ext cx="533400" cy="533400"/>
            </a:xfrm>
            <a:prstGeom prst="ellipse">
              <a:avLst/>
            </a:prstGeom>
            <a:solidFill>
              <a:srgbClr val="B96F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6" name="Google Shape;42;p9">
              <a:extLst>
                <a:ext uri="{FF2B5EF4-FFF2-40B4-BE49-F238E27FC236}">
                  <a16:creationId xmlns:a16="http://schemas.microsoft.com/office/drawing/2014/main" id="{70BF1B9B-8694-442C-7FC0-D74C11476489}"/>
                </a:ext>
              </a:extLst>
            </p:cNvPr>
            <p:cNvSpPr txBox="1"/>
            <p:nvPr/>
          </p:nvSpPr>
          <p:spPr>
            <a:xfrm>
              <a:off x="161925" y="161925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02</a:t>
              </a:r>
              <a:endParaRPr sz="1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endParaRPr>
            </a:p>
          </p:txBody>
        </p:sp>
        <p:sp>
          <p:nvSpPr>
            <p:cNvPr id="17" name="Google Shape;43;p9">
              <a:extLst>
                <a:ext uri="{FF2B5EF4-FFF2-40B4-BE49-F238E27FC236}">
                  <a16:creationId xmlns:a16="http://schemas.microsoft.com/office/drawing/2014/main" id="{E0BBE787-6BAA-776E-4C9F-45271D545155}"/>
                </a:ext>
              </a:extLst>
            </p:cNvPr>
            <p:cNvSpPr txBox="1"/>
            <p:nvPr/>
          </p:nvSpPr>
          <p:spPr>
            <a:xfrm>
              <a:off x="904875" y="142875"/>
              <a:ext cx="2000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24354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安全自動化</a:t>
              </a:r>
              <a:endParaRPr sz="1600" b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endParaRPr>
            </a:p>
          </p:txBody>
        </p:sp>
      </p:grpSp>
      <p:grpSp>
        <p:nvGrpSpPr>
          <p:cNvPr id="18" name="Google Shape;44;p9">
            <a:extLst>
              <a:ext uri="{FF2B5EF4-FFF2-40B4-BE49-F238E27FC236}">
                <a16:creationId xmlns:a16="http://schemas.microsoft.com/office/drawing/2014/main" id="{5CCDAFCB-327B-7578-68B4-9F47561042F9}"/>
              </a:ext>
            </a:extLst>
          </p:cNvPr>
          <p:cNvGrpSpPr/>
          <p:nvPr/>
        </p:nvGrpSpPr>
        <p:grpSpPr>
          <a:xfrm>
            <a:off x="8001000" y="5488665"/>
            <a:ext cx="3143400" cy="857400"/>
            <a:chOff x="0" y="0"/>
            <a:chExt cx="3143400" cy="857400"/>
          </a:xfrm>
        </p:grpSpPr>
        <p:sp>
          <p:nvSpPr>
            <p:cNvPr id="19" name="Google Shape;45;p9">
              <a:extLst>
                <a:ext uri="{FF2B5EF4-FFF2-40B4-BE49-F238E27FC236}">
                  <a16:creationId xmlns:a16="http://schemas.microsoft.com/office/drawing/2014/main" id="{5B1B9AAB-B77F-4402-4630-0E541AEFE936}"/>
                </a:ext>
              </a:extLst>
            </p:cNvPr>
            <p:cNvSpPr/>
            <p:nvPr/>
          </p:nvSpPr>
          <p:spPr>
            <a:xfrm>
              <a:off x="0" y="0"/>
              <a:ext cx="3143400" cy="857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300" cap="flat" cmpd="sng">
              <a:solidFill>
                <a:srgbClr val="E7E0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0" name="Google Shape;46;p9">
              <a:extLst>
                <a:ext uri="{FF2B5EF4-FFF2-40B4-BE49-F238E27FC236}">
                  <a16:creationId xmlns:a16="http://schemas.microsoft.com/office/drawing/2014/main" id="{F3669581-FA66-FECA-F9D1-AE797CB29776}"/>
                </a:ext>
              </a:extLst>
            </p:cNvPr>
            <p:cNvSpPr/>
            <p:nvPr/>
          </p:nvSpPr>
          <p:spPr>
            <a:xfrm>
              <a:off x="161925" y="161925"/>
              <a:ext cx="533400" cy="533400"/>
            </a:xfrm>
            <a:prstGeom prst="ellipse">
              <a:avLst/>
            </a:prstGeom>
            <a:solidFill>
              <a:srgbClr val="B96F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Google Shape;47;p9">
              <a:extLst>
                <a:ext uri="{FF2B5EF4-FFF2-40B4-BE49-F238E27FC236}">
                  <a16:creationId xmlns:a16="http://schemas.microsoft.com/office/drawing/2014/main" id="{B75D6136-096D-2977-8525-DE5BC55AC972}"/>
                </a:ext>
              </a:extLst>
            </p:cNvPr>
            <p:cNvSpPr txBox="1"/>
            <p:nvPr/>
          </p:nvSpPr>
          <p:spPr>
            <a:xfrm>
              <a:off x="161925" y="161925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03</a:t>
              </a:r>
              <a:endParaRPr sz="16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endParaRPr>
            </a:p>
          </p:txBody>
        </p:sp>
        <p:sp>
          <p:nvSpPr>
            <p:cNvPr id="22" name="Google Shape;48;p9">
              <a:extLst>
                <a:ext uri="{FF2B5EF4-FFF2-40B4-BE49-F238E27FC236}">
                  <a16:creationId xmlns:a16="http://schemas.microsoft.com/office/drawing/2014/main" id="{582F3625-87D6-9375-22EB-B7461DC48DCB}"/>
                </a:ext>
              </a:extLst>
            </p:cNvPr>
            <p:cNvSpPr txBox="1"/>
            <p:nvPr/>
          </p:nvSpPr>
          <p:spPr>
            <a:xfrm>
              <a:off x="904875" y="142875"/>
              <a:ext cx="2000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24354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跨地協作</a:t>
              </a:r>
              <a:endParaRPr sz="1600" b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endParaRPr>
            </a:p>
          </p:txBody>
        </p:sp>
      </p:grpSp>
      <p:sp>
        <p:nvSpPr>
          <p:cNvPr id="23" name="統一章節標記">
            <a:extLst>
              <a:ext uri="{FF2B5EF4-FFF2-40B4-BE49-F238E27FC236}">
                <a16:creationId xmlns:a16="http://schemas.microsoft.com/office/drawing/2014/main" id="{0DCAF637-CC04-BC8D-056A-0D447B8354A4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24" name="Shape 93">
            <a:extLst>
              <a:ext uri="{FF2B5EF4-FFF2-40B4-BE49-F238E27FC236}">
                <a16:creationId xmlns:a16="http://schemas.microsoft.com/office/drawing/2014/main" id="{4DE32A2E-8B9C-2F65-9DF4-ABE4AE671931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5562189" cy="55442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en-US" altLang="zh-TW" sz="3200" b="1" dirty="0">
                <a:solidFill>
                  <a:srgbClr val="B96F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CKI101 </a:t>
            </a:r>
            <a:r>
              <a:rPr lang="zh-TW" altLang="en-US" sz="3200" b="1" dirty="0">
                <a:solidFill>
                  <a:srgbClr val="B96F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第三組專案成果發表</a:t>
            </a:r>
          </a:p>
        </p:txBody>
      </p:sp>
      <p:sp>
        <p:nvSpPr>
          <p:cNvPr id="25" name="Text 117">
            <a:extLst>
              <a:ext uri="{FF2B5EF4-FFF2-40B4-BE49-F238E27FC236}">
                <a16:creationId xmlns:a16="http://schemas.microsoft.com/office/drawing/2014/main" id="{A1F9D99A-1C8E-EA9F-0E20-698E7AF085B7}"/>
              </a:ext>
            </a:extLst>
          </p:cNvPr>
          <p:cNvSpPr>
            <a:spLocks noGrp="1"/>
          </p:cNvSpPr>
          <p:nvPr/>
        </p:nvSpPr>
        <p:spPr>
          <a:xfrm>
            <a:off x="822960" y="3794760"/>
            <a:ext cx="9599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lvl="0"/>
            <a:r>
              <a:rPr lang="zh-TW" altLang="en-US" sz="2800" b="1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工會行政流程 </a:t>
            </a:r>
            <a:r>
              <a:rPr lang="en-US" altLang="zh-TW" sz="2800" b="1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E </a:t>
            </a:r>
            <a:r>
              <a:rPr lang="zh-TW" altLang="en-US" sz="2800" b="1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化與自動化</a:t>
            </a:r>
          </a:p>
        </p:txBody>
      </p:sp>
      <p:sp>
        <p:nvSpPr>
          <p:cNvPr id="26" name="Shape 94">
            <a:extLst>
              <a:ext uri="{FF2B5EF4-FFF2-40B4-BE49-F238E27FC236}">
                <a16:creationId xmlns:a16="http://schemas.microsoft.com/office/drawing/2014/main" id="{F702ECC6-9290-CF12-345C-F9CF02BE2A14}"/>
              </a:ext>
            </a:extLst>
          </p:cNvPr>
          <p:cNvSpPr>
            <a:spLocks noGrp="1"/>
          </p:cNvSpPr>
          <p:nvPr/>
        </p:nvSpPr>
        <p:spPr>
          <a:xfrm>
            <a:off x="822959" y="4434840"/>
            <a:ext cx="7492365" cy="43920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DD21B93-6A7E-4619-ABC8-7DFE8568C72D}"/>
              </a:ext>
            </a:extLst>
          </p:cNvPr>
          <p:cNvSpPr txBox="1"/>
          <p:nvPr/>
        </p:nvSpPr>
        <p:spPr>
          <a:xfrm>
            <a:off x="762120" y="4755240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TW" altLang="en-US" sz="2800" dirty="0">
                <a:solidFill>
                  <a:srgbClr val="5A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月子照顧服務工會數位轉型成果</a:t>
            </a:r>
            <a:endParaRPr lang="zh-TW" altLang="en-US" sz="3200" dirty="0">
              <a:solidFill>
                <a:srgbClr val="5A493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28" name="Shape 93">
            <a:extLst>
              <a:ext uri="{FF2B5EF4-FFF2-40B4-BE49-F238E27FC236}">
                <a16:creationId xmlns:a16="http://schemas.microsoft.com/office/drawing/2014/main" id="{8E806CF7-076F-B26A-659A-7F2EF49C9674}"/>
              </a:ext>
            </a:extLst>
          </p:cNvPr>
          <p:cNvSpPr>
            <a:spLocks noGrp="1"/>
          </p:cNvSpPr>
          <p:nvPr/>
        </p:nvSpPr>
        <p:spPr>
          <a:xfrm>
            <a:off x="749970" y="285805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30" name="Shape 93">
            <a:extLst>
              <a:ext uri="{FF2B5EF4-FFF2-40B4-BE49-F238E27FC236}">
                <a16:creationId xmlns:a16="http://schemas.microsoft.com/office/drawing/2014/main" id="{8FA6036E-041F-DFD2-DD20-D8ED3ED678DE}"/>
              </a:ext>
            </a:extLst>
          </p:cNvPr>
          <p:cNvSpPr>
            <a:spLocks noGrp="1"/>
          </p:cNvSpPr>
          <p:nvPr/>
        </p:nvSpPr>
        <p:spPr>
          <a:xfrm>
            <a:off x="2249327" y="2861416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蔡欣怡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3EF22B54-F6FF-6B68-BFF5-02C9480BA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" b="5291"/>
          <a:stretch/>
        </p:blipFill>
        <p:spPr>
          <a:xfrm>
            <a:off x="2486534" y="2039110"/>
            <a:ext cx="787736" cy="906127"/>
          </a:xfrm>
          <a:prstGeom prst="ellipse">
            <a:avLst/>
          </a:prstGeom>
        </p:spPr>
      </p:pic>
      <p:sp>
        <p:nvSpPr>
          <p:cNvPr id="32" name="Shape 93">
            <a:extLst>
              <a:ext uri="{FF2B5EF4-FFF2-40B4-BE49-F238E27FC236}">
                <a16:creationId xmlns:a16="http://schemas.microsoft.com/office/drawing/2014/main" id="{9BAA2F39-EABF-B98A-9C9E-640B4412B593}"/>
              </a:ext>
            </a:extLst>
          </p:cNvPr>
          <p:cNvSpPr>
            <a:spLocks noGrp="1"/>
          </p:cNvSpPr>
          <p:nvPr/>
        </p:nvSpPr>
        <p:spPr>
          <a:xfrm>
            <a:off x="3726238" y="2861416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u="none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張琬偲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38145FD0-CADB-D424-F870-ACE8D5D058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7" b="11657"/>
          <a:stretch/>
        </p:blipFill>
        <p:spPr>
          <a:xfrm>
            <a:off x="3963445" y="2038527"/>
            <a:ext cx="787736" cy="906127"/>
          </a:xfrm>
          <a:prstGeom prst="ellipse">
            <a:avLst/>
          </a:prstGeom>
        </p:spPr>
      </p:pic>
      <p:sp>
        <p:nvSpPr>
          <p:cNvPr id="34" name="Shape 93">
            <a:extLst>
              <a:ext uri="{FF2B5EF4-FFF2-40B4-BE49-F238E27FC236}">
                <a16:creationId xmlns:a16="http://schemas.microsoft.com/office/drawing/2014/main" id="{E8773AFD-E27B-BA25-8662-38A1D238458E}"/>
              </a:ext>
            </a:extLst>
          </p:cNvPr>
          <p:cNvSpPr>
            <a:spLocks noGrp="1"/>
          </p:cNvSpPr>
          <p:nvPr/>
        </p:nvSpPr>
        <p:spPr>
          <a:xfrm>
            <a:off x="5225595" y="2865481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C53D698B-9E19-4F0A-88FD-F1513B3507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5462802" y="2038527"/>
            <a:ext cx="787736" cy="906127"/>
          </a:xfrm>
          <a:prstGeom prst="ellipse">
            <a:avLst/>
          </a:prstGeom>
        </p:spPr>
      </p:pic>
      <p:sp>
        <p:nvSpPr>
          <p:cNvPr id="38" name="Shape 93">
            <a:extLst>
              <a:ext uri="{FF2B5EF4-FFF2-40B4-BE49-F238E27FC236}">
                <a16:creationId xmlns:a16="http://schemas.microsoft.com/office/drawing/2014/main" id="{6F6E0881-3AAE-F38D-A139-FB8279929F3E}"/>
              </a:ext>
            </a:extLst>
          </p:cNvPr>
          <p:cNvSpPr>
            <a:spLocks noGrp="1"/>
          </p:cNvSpPr>
          <p:nvPr/>
        </p:nvSpPr>
        <p:spPr>
          <a:xfrm>
            <a:off x="6702506" y="2835294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AE93F43D-745C-3B57-0535-7B6AA890CE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6949794" y="2045327"/>
            <a:ext cx="787736" cy="906127"/>
          </a:xfrm>
          <a:prstGeom prst="ellipse">
            <a:avLst/>
          </a:prstGeom>
        </p:spPr>
      </p:pic>
      <p:sp>
        <p:nvSpPr>
          <p:cNvPr id="39" name="文字方塊 38">
            <a:extLst>
              <a:ext uri="{FF2B5EF4-FFF2-40B4-BE49-F238E27FC236}">
                <a16:creationId xmlns:a16="http://schemas.microsoft.com/office/drawing/2014/main" id="{744B8480-ADF6-1D93-997E-20B2CE307F7F}"/>
              </a:ext>
            </a:extLst>
          </p:cNvPr>
          <p:cNvSpPr txBox="1"/>
          <p:nvPr/>
        </p:nvSpPr>
        <p:spPr>
          <a:xfrm>
            <a:off x="2167467" y="1625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20FF3529-4BA7-44ED-56CD-F5C578EB1D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8" r="4608"/>
          <a:stretch/>
        </p:blipFill>
        <p:spPr>
          <a:xfrm>
            <a:off x="987177" y="2045327"/>
            <a:ext cx="787736" cy="90612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7499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2B99-0080-1876-9129-AAF1C1A28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93">
            <a:extLst>
              <a:ext uri="{FF2B5EF4-FFF2-40B4-BE49-F238E27FC236}">
                <a16:creationId xmlns:a16="http://schemas.microsoft.com/office/drawing/2014/main" id="{61DC05F1-F274-7860-F014-76589B8D59D7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10E20C3-F3DC-4409-66BE-FD4607ACE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7" name="Shape 93">
            <a:extLst>
              <a:ext uri="{FF2B5EF4-FFF2-40B4-BE49-F238E27FC236}">
                <a16:creationId xmlns:a16="http://schemas.microsoft.com/office/drawing/2014/main" id="{44622634-B60A-E5DF-C530-CA15E03991B2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1972323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zh-TW" altLang="en-US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專案大綱</a:t>
            </a:r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altLang="zh-TW" sz="3200" dirty="0"/>
          </a:p>
        </p:txBody>
      </p:sp>
      <p:sp>
        <p:nvSpPr>
          <p:cNvPr id="8" name="統一章節標記">
            <a:extLst>
              <a:ext uri="{FF2B5EF4-FFF2-40B4-BE49-F238E27FC236}">
                <a16:creationId xmlns:a16="http://schemas.microsoft.com/office/drawing/2014/main" id="{934E48D6-11C6-6176-AC0B-DF06DE53139F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28" name="Google Shape;59;p10">
            <a:extLst>
              <a:ext uri="{FF2B5EF4-FFF2-40B4-BE49-F238E27FC236}">
                <a16:creationId xmlns:a16="http://schemas.microsoft.com/office/drawing/2014/main" id="{08ADB23D-BFF9-69E2-F13D-50B169418358}"/>
              </a:ext>
            </a:extLst>
          </p:cNvPr>
          <p:cNvSpPr/>
          <p:nvPr/>
        </p:nvSpPr>
        <p:spPr>
          <a:xfrm>
            <a:off x="666750" y="1809750"/>
            <a:ext cx="3333900" cy="1714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4300" cap="flat" cmpd="sng">
            <a:solidFill>
              <a:srgbClr val="E7E0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Google Shape;60;p10">
            <a:extLst>
              <a:ext uri="{FF2B5EF4-FFF2-40B4-BE49-F238E27FC236}">
                <a16:creationId xmlns:a16="http://schemas.microsoft.com/office/drawing/2014/main" id="{99FFF095-795E-549D-FE7A-7094A47B44E0}"/>
              </a:ext>
            </a:extLst>
          </p:cNvPr>
          <p:cNvSpPr/>
          <p:nvPr/>
        </p:nvSpPr>
        <p:spPr>
          <a:xfrm>
            <a:off x="895350" y="2038350"/>
            <a:ext cx="381000" cy="381000"/>
          </a:xfrm>
          <a:prstGeom prst="ellipse">
            <a:avLst/>
          </a:prstGeom>
          <a:solidFill>
            <a:srgbClr val="B96F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Google Shape;61;p10">
            <a:extLst>
              <a:ext uri="{FF2B5EF4-FFF2-40B4-BE49-F238E27FC236}">
                <a16:creationId xmlns:a16="http://schemas.microsoft.com/office/drawing/2014/main" id="{701A6511-3A58-F10C-FB16-0BEC2C15FF29}"/>
              </a:ext>
            </a:extLst>
          </p:cNvPr>
          <p:cNvSpPr txBox="1"/>
          <p:nvPr/>
        </p:nvSpPr>
        <p:spPr>
          <a:xfrm>
            <a:off x="895350" y="20383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1</a:t>
            </a:r>
            <a:endParaRPr sz="2400" b="1" dirty="0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31" name="Google Shape;62;p10">
            <a:extLst>
              <a:ext uri="{FF2B5EF4-FFF2-40B4-BE49-F238E27FC236}">
                <a16:creationId xmlns:a16="http://schemas.microsoft.com/office/drawing/2014/main" id="{DC78EE54-89D3-91E2-5954-0AB5B9ED6FB5}"/>
              </a:ext>
            </a:extLst>
          </p:cNvPr>
          <p:cNvSpPr txBox="1"/>
          <p:nvPr/>
        </p:nvSpPr>
        <p:spPr>
          <a:xfrm>
            <a:off x="1466850" y="2038350"/>
            <a:ext cx="23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專案管理與團隊分工</a:t>
            </a:r>
            <a:endParaRPr sz="2000" b="1" dirty="0">
              <a:solidFill>
                <a:srgbClr val="243545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cxnSp>
        <p:nvCxnSpPr>
          <p:cNvPr id="32" name="Google Shape;63;p10">
            <a:extLst>
              <a:ext uri="{FF2B5EF4-FFF2-40B4-BE49-F238E27FC236}">
                <a16:creationId xmlns:a16="http://schemas.microsoft.com/office/drawing/2014/main" id="{5EA1C82C-D9FE-04B7-32EE-A210B78CCBF6}"/>
              </a:ext>
            </a:extLst>
          </p:cNvPr>
          <p:cNvCxnSpPr/>
          <p:nvPr/>
        </p:nvCxnSpPr>
        <p:spPr>
          <a:xfrm>
            <a:off x="895350" y="2571750"/>
            <a:ext cx="28767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D0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64;p10">
            <a:extLst>
              <a:ext uri="{FF2B5EF4-FFF2-40B4-BE49-F238E27FC236}">
                <a16:creationId xmlns:a16="http://schemas.microsoft.com/office/drawing/2014/main" id="{10795D7E-E09D-77C9-084C-B6A204A06302}"/>
              </a:ext>
            </a:extLst>
          </p:cNvPr>
          <p:cNvSpPr txBox="1"/>
          <p:nvPr/>
        </p:nvSpPr>
        <p:spPr>
          <a:xfrm>
            <a:off x="895350" y="2714625"/>
            <a:ext cx="28767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成員角色、工作範圍與開發時程</a:t>
            </a:r>
            <a:endParaRPr sz="1600" b="0">
              <a:solidFill>
                <a:srgbClr val="5D493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35" name="Google Shape;66;p10">
            <a:extLst>
              <a:ext uri="{FF2B5EF4-FFF2-40B4-BE49-F238E27FC236}">
                <a16:creationId xmlns:a16="http://schemas.microsoft.com/office/drawing/2014/main" id="{7998FFEE-A6B1-6DE0-9AD2-7FFE780C8AC1}"/>
              </a:ext>
            </a:extLst>
          </p:cNvPr>
          <p:cNvSpPr/>
          <p:nvPr/>
        </p:nvSpPr>
        <p:spPr>
          <a:xfrm>
            <a:off x="4429125" y="1809750"/>
            <a:ext cx="3333900" cy="1714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4300" cap="flat" cmpd="sng">
            <a:solidFill>
              <a:srgbClr val="E7E0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6" name="Google Shape;67;p10">
            <a:extLst>
              <a:ext uri="{FF2B5EF4-FFF2-40B4-BE49-F238E27FC236}">
                <a16:creationId xmlns:a16="http://schemas.microsoft.com/office/drawing/2014/main" id="{556E202D-694B-FE79-61C3-8EC760FB33DD}"/>
              </a:ext>
            </a:extLst>
          </p:cNvPr>
          <p:cNvSpPr/>
          <p:nvPr/>
        </p:nvSpPr>
        <p:spPr>
          <a:xfrm>
            <a:off x="4657725" y="2038350"/>
            <a:ext cx="381000" cy="381000"/>
          </a:xfrm>
          <a:prstGeom prst="ellipse">
            <a:avLst/>
          </a:prstGeom>
          <a:solidFill>
            <a:srgbClr val="B96F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7" name="Google Shape;68;p10">
            <a:extLst>
              <a:ext uri="{FF2B5EF4-FFF2-40B4-BE49-F238E27FC236}">
                <a16:creationId xmlns:a16="http://schemas.microsoft.com/office/drawing/2014/main" id="{0DD65E38-B230-40EA-0017-057881E74CC9}"/>
              </a:ext>
            </a:extLst>
          </p:cNvPr>
          <p:cNvSpPr txBox="1"/>
          <p:nvPr/>
        </p:nvSpPr>
        <p:spPr>
          <a:xfrm>
            <a:off x="4657725" y="20383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2</a:t>
            </a:r>
            <a:endParaRPr sz="24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38" name="Google Shape;69;p10">
            <a:extLst>
              <a:ext uri="{FF2B5EF4-FFF2-40B4-BE49-F238E27FC236}">
                <a16:creationId xmlns:a16="http://schemas.microsoft.com/office/drawing/2014/main" id="{E7AE6CC8-1B9E-E6E9-0428-7543FEB1EC1F}"/>
              </a:ext>
            </a:extLst>
          </p:cNvPr>
          <p:cNvSpPr txBox="1"/>
          <p:nvPr/>
        </p:nvSpPr>
        <p:spPr>
          <a:xfrm>
            <a:off x="5229225" y="2038350"/>
            <a:ext cx="23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需求釐清與資料基礎</a:t>
            </a:r>
            <a:endParaRPr sz="2000" b="1">
              <a:solidFill>
                <a:srgbClr val="243545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cxnSp>
        <p:nvCxnSpPr>
          <p:cNvPr id="39" name="Google Shape;70;p10">
            <a:extLst>
              <a:ext uri="{FF2B5EF4-FFF2-40B4-BE49-F238E27FC236}">
                <a16:creationId xmlns:a16="http://schemas.microsoft.com/office/drawing/2014/main" id="{F97B6469-DFE5-DD8A-A07A-48ED9A80B121}"/>
              </a:ext>
            </a:extLst>
          </p:cNvPr>
          <p:cNvCxnSpPr/>
          <p:nvPr/>
        </p:nvCxnSpPr>
        <p:spPr>
          <a:xfrm>
            <a:off x="4657725" y="2571750"/>
            <a:ext cx="28767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D0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71;p10">
            <a:extLst>
              <a:ext uri="{FF2B5EF4-FFF2-40B4-BE49-F238E27FC236}">
                <a16:creationId xmlns:a16="http://schemas.microsoft.com/office/drawing/2014/main" id="{B5826DB0-51F4-C047-7988-FBE999707C40}"/>
              </a:ext>
            </a:extLst>
          </p:cNvPr>
          <p:cNvSpPr txBox="1"/>
          <p:nvPr/>
        </p:nvSpPr>
        <p:spPr>
          <a:xfrm>
            <a:off x="4657725" y="2714625"/>
            <a:ext cx="28767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公會流程、資料結構與實測回饋</a:t>
            </a:r>
            <a:endParaRPr sz="1600" b="0" dirty="0">
              <a:solidFill>
                <a:srgbClr val="5D493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42" name="Google Shape;73;p10">
            <a:extLst>
              <a:ext uri="{FF2B5EF4-FFF2-40B4-BE49-F238E27FC236}">
                <a16:creationId xmlns:a16="http://schemas.microsoft.com/office/drawing/2014/main" id="{A57E1742-1874-8647-3D73-8C64E185AE0B}"/>
              </a:ext>
            </a:extLst>
          </p:cNvPr>
          <p:cNvSpPr/>
          <p:nvPr/>
        </p:nvSpPr>
        <p:spPr>
          <a:xfrm>
            <a:off x="8191500" y="1809750"/>
            <a:ext cx="3333900" cy="1714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4300" cap="flat" cmpd="sng">
            <a:solidFill>
              <a:srgbClr val="E7E0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Google Shape;74;p10">
            <a:extLst>
              <a:ext uri="{FF2B5EF4-FFF2-40B4-BE49-F238E27FC236}">
                <a16:creationId xmlns:a16="http://schemas.microsoft.com/office/drawing/2014/main" id="{C9480C3C-AABA-3BCB-B134-C57351B16A72}"/>
              </a:ext>
            </a:extLst>
          </p:cNvPr>
          <p:cNvSpPr/>
          <p:nvPr/>
        </p:nvSpPr>
        <p:spPr>
          <a:xfrm>
            <a:off x="8420100" y="2038350"/>
            <a:ext cx="381000" cy="381000"/>
          </a:xfrm>
          <a:prstGeom prst="ellipse">
            <a:avLst/>
          </a:prstGeom>
          <a:solidFill>
            <a:srgbClr val="B96F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4" name="Google Shape;75;p10">
            <a:extLst>
              <a:ext uri="{FF2B5EF4-FFF2-40B4-BE49-F238E27FC236}">
                <a16:creationId xmlns:a16="http://schemas.microsoft.com/office/drawing/2014/main" id="{52ADAD48-5CF9-F7D6-CCA1-BDD2747F9DB5}"/>
              </a:ext>
            </a:extLst>
          </p:cNvPr>
          <p:cNvSpPr txBox="1"/>
          <p:nvPr/>
        </p:nvSpPr>
        <p:spPr>
          <a:xfrm>
            <a:off x="8420100" y="20383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3</a:t>
            </a:r>
            <a:endParaRPr sz="24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45" name="Google Shape;76;p10">
            <a:extLst>
              <a:ext uri="{FF2B5EF4-FFF2-40B4-BE49-F238E27FC236}">
                <a16:creationId xmlns:a16="http://schemas.microsoft.com/office/drawing/2014/main" id="{02D847A2-B39E-201B-26CC-4547DFEDB8ED}"/>
              </a:ext>
            </a:extLst>
          </p:cNvPr>
          <p:cNvSpPr txBox="1"/>
          <p:nvPr/>
        </p:nvSpPr>
        <p:spPr>
          <a:xfrm>
            <a:off x="8991600" y="2038350"/>
            <a:ext cx="23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系統架構與後台實作</a:t>
            </a:r>
            <a:endParaRPr sz="2000" b="1">
              <a:solidFill>
                <a:srgbClr val="243545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cxnSp>
        <p:nvCxnSpPr>
          <p:cNvPr id="46" name="Google Shape;77;p10">
            <a:extLst>
              <a:ext uri="{FF2B5EF4-FFF2-40B4-BE49-F238E27FC236}">
                <a16:creationId xmlns:a16="http://schemas.microsoft.com/office/drawing/2014/main" id="{6C3D3AC3-4FD2-CA59-24D4-69A866E41603}"/>
              </a:ext>
            </a:extLst>
          </p:cNvPr>
          <p:cNvCxnSpPr/>
          <p:nvPr/>
        </p:nvCxnSpPr>
        <p:spPr>
          <a:xfrm>
            <a:off x="8420100" y="2571750"/>
            <a:ext cx="28767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D0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78;p10">
            <a:extLst>
              <a:ext uri="{FF2B5EF4-FFF2-40B4-BE49-F238E27FC236}">
                <a16:creationId xmlns:a16="http://schemas.microsoft.com/office/drawing/2014/main" id="{FDBFCC7F-BC22-DF13-D79D-B13DA81ABC14}"/>
              </a:ext>
            </a:extLst>
          </p:cNvPr>
          <p:cNvSpPr txBox="1"/>
          <p:nvPr/>
        </p:nvSpPr>
        <p:spPr>
          <a:xfrm>
            <a:off x="8420100" y="2714625"/>
            <a:ext cx="28767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系統分層、管理後台與核心模組</a:t>
            </a:r>
            <a:endParaRPr sz="1600" b="0" dirty="0">
              <a:solidFill>
                <a:srgbClr val="5D493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49" name="Google Shape;80;p10">
            <a:extLst>
              <a:ext uri="{FF2B5EF4-FFF2-40B4-BE49-F238E27FC236}">
                <a16:creationId xmlns:a16="http://schemas.microsoft.com/office/drawing/2014/main" id="{BB587F63-B8D6-B159-2D0C-DB9209D6D1FD}"/>
              </a:ext>
            </a:extLst>
          </p:cNvPr>
          <p:cNvSpPr/>
          <p:nvPr/>
        </p:nvSpPr>
        <p:spPr>
          <a:xfrm>
            <a:off x="666750" y="3905250"/>
            <a:ext cx="3333900" cy="1714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4300" cap="flat" cmpd="sng">
            <a:solidFill>
              <a:srgbClr val="E7E0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0" name="Google Shape;81;p10">
            <a:extLst>
              <a:ext uri="{FF2B5EF4-FFF2-40B4-BE49-F238E27FC236}">
                <a16:creationId xmlns:a16="http://schemas.microsoft.com/office/drawing/2014/main" id="{59D88143-5E7E-802C-7840-D5531B44490C}"/>
              </a:ext>
            </a:extLst>
          </p:cNvPr>
          <p:cNvSpPr/>
          <p:nvPr/>
        </p:nvSpPr>
        <p:spPr>
          <a:xfrm>
            <a:off x="895350" y="4133850"/>
            <a:ext cx="381000" cy="381000"/>
          </a:xfrm>
          <a:prstGeom prst="ellipse">
            <a:avLst/>
          </a:prstGeom>
          <a:solidFill>
            <a:srgbClr val="B96F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1" name="Google Shape;82;p10">
            <a:extLst>
              <a:ext uri="{FF2B5EF4-FFF2-40B4-BE49-F238E27FC236}">
                <a16:creationId xmlns:a16="http://schemas.microsoft.com/office/drawing/2014/main" id="{E89C534D-4068-46A8-5124-23D37EA8BF08}"/>
              </a:ext>
            </a:extLst>
          </p:cNvPr>
          <p:cNvSpPr txBox="1"/>
          <p:nvPr/>
        </p:nvSpPr>
        <p:spPr>
          <a:xfrm>
            <a:off x="895350" y="41338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4</a:t>
            </a:r>
            <a:endParaRPr sz="24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52" name="Google Shape;83;p10">
            <a:extLst>
              <a:ext uri="{FF2B5EF4-FFF2-40B4-BE49-F238E27FC236}">
                <a16:creationId xmlns:a16="http://schemas.microsoft.com/office/drawing/2014/main" id="{38DD1F2F-40F5-6E74-7CEC-936CCA11DE82}"/>
              </a:ext>
            </a:extLst>
          </p:cNvPr>
          <p:cNvSpPr txBox="1"/>
          <p:nvPr/>
        </p:nvSpPr>
        <p:spPr>
          <a:xfrm>
            <a:off x="1466850" y="4133850"/>
            <a:ext cx="23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LINE 服務流程</a:t>
            </a:r>
            <a:endParaRPr sz="2000" b="1">
              <a:solidFill>
                <a:srgbClr val="243545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cxnSp>
        <p:nvCxnSpPr>
          <p:cNvPr id="53" name="Google Shape;84;p10">
            <a:extLst>
              <a:ext uri="{FF2B5EF4-FFF2-40B4-BE49-F238E27FC236}">
                <a16:creationId xmlns:a16="http://schemas.microsoft.com/office/drawing/2014/main" id="{62EFFF5B-75FB-F07B-2111-F0BE0ACA0D99}"/>
              </a:ext>
            </a:extLst>
          </p:cNvPr>
          <p:cNvCxnSpPr/>
          <p:nvPr/>
        </p:nvCxnSpPr>
        <p:spPr>
          <a:xfrm>
            <a:off x="895350" y="4667250"/>
            <a:ext cx="28767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D0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85;p10">
            <a:extLst>
              <a:ext uri="{FF2B5EF4-FFF2-40B4-BE49-F238E27FC236}">
                <a16:creationId xmlns:a16="http://schemas.microsoft.com/office/drawing/2014/main" id="{D665E512-9CD7-E882-64A9-D0DC6EF5093A}"/>
              </a:ext>
            </a:extLst>
          </p:cNvPr>
          <p:cNvSpPr txBox="1"/>
          <p:nvPr/>
        </p:nvSpPr>
        <p:spPr>
          <a:xfrm>
            <a:off x="895350" y="4810125"/>
            <a:ext cx="28767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客戶、月嫂與後台的互動設計</a:t>
            </a:r>
            <a:endParaRPr sz="1600" b="0" dirty="0">
              <a:solidFill>
                <a:srgbClr val="5D493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56" name="Google Shape;87;p10">
            <a:extLst>
              <a:ext uri="{FF2B5EF4-FFF2-40B4-BE49-F238E27FC236}">
                <a16:creationId xmlns:a16="http://schemas.microsoft.com/office/drawing/2014/main" id="{A664ED23-D300-1355-095E-E737117D5E19}"/>
              </a:ext>
            </a:extLst>
          </p:cNvPr>
          <p:cNvSpPr/>
          <p:nvPr/>
        </p:nvSpPr>
        <p:spPr>
          <a:xfrm>
            <a:off x="4429125" y="3905250"/>
            <a:ext cx="3333900" cy="1714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4300" cap="flat" cmpd="sng">
            <a:solidFill>
              <a:srgbClr val="E7E0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7" name="Google Shape;88;p10">
            <a:extLst>
              <a:ext uri="{FF2B5EF4-FFF2-40B4-BE49-F238E27FC236}">
                <a16:creationId xmlns:a16="http://schemas.microsoft.com/office/drawing/2014/main" id="{90400B76-5233-F2A2-E8CA-3AECB7959956}"/>
              </a:ext>
            </a:extLst>
          </p:cNvPr>
          <p:cNvSpPr/>
          <p:nvPr/>
        </p:nvSpPr>
        <p:spPr>
          <a:xfrm>
            <a:off x="4657725" y="4133850"/>
            <a:ext cx="381000" cy="381000"/>
          </a:xfrm>
          <a:prstGeom prst="ellipse">
            <a:avLst/>
          </a:prstGeom>
          <a:solidFill>
            <a:srgbClr val="B96F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8" name="Google Shape;89;p10">
            <a:extLst>
              <a:ext uri="{FF2B5EF4-FFF2-40B4-BE49-F238E27FC236}">
                <a16:creationId xmlns:a16="http://schemas.microsoft.com/office/drawing/2014/main" id="{14FB3C21-FB28-645D-1065-244D8896B6E3}"/>
              </a:ext>
            </a:extLst>
          </p:cNvPr>
          <p:cNvSpPr txBox="1"/>
          <p:nvPr/>
        </p:nvSpPr>
        <p:spPr>
          <a:xfrm>
            <a:off x="4657725" y="41338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5</a:t>
            </a:r>
            <a:endParaRPr sz="24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59" name="Google Shape;90;p10">
            <a:extLst>
              <a:ext uri="{FF2B5EF4-FFF2-40B4-BE49-F238E27FC236}">
                <a16:creationId xmlns:a16="http://schemas.microsoft.com/office/drawing/2014/main" id="{409A78B8-7C77-E9A7-C32F-F9BA96CB4793}"/>
              </a:ext>
            </a:extLst>
          </p:cNvPr>
          <p:cNvSpPr txBox="1"/>
          <p:nvPr/>
        </p:nvSpPr>
        <p:spPr>
          <a:xfrm>
            <a:off x="5229225" y="4133850"/>
            <a:ext cx="23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品質驗證與 CI</a:t>
            </a:r>
            <a:endParaRPr sz="2000" b="1">
              <a:solidFill>
                <a:srgbClr val="243545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cxnSp>
        <p:nvCxnSpPr>
          <p:cNvPr id="60" name="Google Shape;91;p10">
            <a:extLst>
              <a:ext uri="{FF2B5EF4-FFF2-40B4-BE49-F238E27FC236}">
                <a16:creationId xmlns:a16="http://schemas.microsoft.com/office/drawing/2014/main" id="{61AB9D70-8799-63C0-5E1A-06459ADAEF45}"/>
              </a:ext>
            </a:extLst>
          </p:cNvPr>
          <p:cNvCxnSpPr/>
          <p:nvPr/>
        </p:nvCxnSpPr>
        <p:spPr>
          <a:xfrm>
            <a:off x="4657725" y="4667250"/>
            <a:ext cx="28767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D0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92;p10">
            <a:extLst>
              <a:ext uri="{FF2B5EF4-FFF2-40B4-BE49-F238E27FC236}">
                <a16:creationId xmlns:a16="http://schemas.microsoft.com/office/drawing/2014/main" id="{056F6B46-B672-FF06-52C3-1065B5C931DA}"/>
              </a:ext>
            </a:extLst>
          </p:cNvPr>
          <p:cNvSpPr txBox="1"/>
          <p:nvPr/>
        </p:nvSpPr>
        <p:spPr>
          <a:xfrm>
            <a:off x="4657725" y="4810125"/>
            <a:ext cx="28767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程式測試、持續整合與問題追蹤</a:t>
            </a:r>
            <a:endParaRPr sz="1600" b="0" dirty="0">
              <a:solidFill>
                <a:srgbClr val="5D493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63" name="Google Shape;94;p10">
            <a:extLst>
              <a:ext uri="{FF2B5EF4-FFF2-40B4-BE49-F238E27FC236}">
                <a16:creationId xmlns:a16="http://schemas.microsoft.com/office/drawing/2014/main" id="{3983F515-D6DB-E6CE-EF71-3CF16264ED4E}"/>
              </a:ext>
            </a:extLst>
          </p:cNvPr>
          <p:cNvSpPr/>
          <p:nvPr/>
        </p:nvSpPr>
        <p:spPr>
          <a:xfrm>
            <a:off x="8191500" y="3905250"/>
            <a:ext cx="3333900" cy="17145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4300" cap="flat" cmpd="sng">
            <a:solidFill>
              <a:srgbClr val="E7E0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4" name="Google Shape;95;p10">
            <a:extLst>
              <a:ext uri="{FF2B5EF4-FFF2-40B4-BE49-F238E27FC236}">
                <a16:creationId xmlns:a16="http://schemas.microsoft.com/office/drawing/2014/main" id="{CCD34E6C-2AC4-7576-A46E-9C7E57A863A1}"/>
              </a:ext>
            </a:extLst>
          </p:cNvPr>
          <p:cNvSpPr/>
          <p:nvPr/>
        </p:nvSpPr>
        <p:spPr>
          <a:xfrm>
            <a:off x="8420100" y="4133850"/>
            <a:ext cx="381000" cy="381000"/>
          </a:xfrm>
          <a:prstGeom prst="ellipse">
            <a:avLst/>
          </a:prstGeom>
          <a:solidFill>
            <a:srgbClr val="B96F4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5" name="Google Shape;96;p10">
            <a:extLst>
              <a:ext uri="{FF2B5EF4-FFF2-40B4-BE49-F238E27FC236}">
                <a16:creationId xmlns:a16="http://schemas.microsoft.com/office/drawing/2014/main" id="{61FB1EFE-6D5A-82A0-DB17-D60206A8CD24}"/>
              </a:ext>
            </a:extLst>
          </p:cNvPr>
          <p:cNvSpPr txBox="1"/>
          <p:nvPr/>
        </p:nvSpPr>
        <p:spPr>
          <a:xfrm>
            <a:off x="8420100" y="41338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6</a:t>
            </a:r>
            <a:endParaRPr sz="24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66" name="Google Shape;97;p10">
            <a:extLst>
              <a:ext uri="{FF2B5EF4-FFF2-40B4-BE49-F238E27FC236}">
                <a16:creationId xmlns:a16="http://schemas.microsoft.com/office/drawing/2014/main" id="{B8A7803C-E9A9-4C7C-9BEF-D8C7E59DAF15}"/>
              </a:ext>
            </a:extLst>
          </p:cNvPr>
          <p:cNvSpPr txBox="1"/>
          <p:nvPr/>
        </p:nvSpPr>
        <p:spPr>
          <a:xfrm>
            <a:off x="8991600" y="4133850"/>
            <a:ext cx="23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部署方案與決策</a:t>
            </a:r>
            <a:endParaRPr sz="2000" b="1">
              <a:solidFill>
                <a:srgbClr val="243545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cxnSp>
        <p:nvCxnSpPr>
          <p:cNvPr id="67" name="Google Shape;98;p10">
            <a:extLst>
              <a:ext uri="{FF2B5EF4-FFF2-40B4-BE49-F238E27FC236}">
                <a16:creationId xmlns:a16="http://schemas.microsoft.com/office/drawing/2014/main" id="{0EA9FBF1-3A6C-97BB-9A73-46969BB8EEE9}"/>
              </a:ext>
            </a:extLst>
          </p:cNvPr>
          <p:cNvCxnSpPr/>
          <p:nvPr/>
        </p:nvCxnSpPr>
        <p:spPr>
          <a:xfrm>
            <a:off x="8420100" y="4667250"/>
            <a:ext cx="28767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D0B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99;p10">
            <a:extLst>
              <a:ext uri="{FF2B5EF4-FFF2-40B4-BE49-F238E27FC236}">
                <a16:creationId xmlns:a16="http://schemas.microsoft.com/office/drawing/2014/main" id="{27CC27EC-D24A-CCC4-CB5B-97D64060BDDF}"/>
              </a:ext>
            </a:extLst>
          </p:cNvPr>
          <p:cNvSpPr txBox="1"/>
          <p:nvPr/>
        </p:nvSpPr>
        <p:spPr>
          <a:xfrm>
            <a:off x="8420100" y="4810125"/>
            <a:ext cx="28767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地端與雲端方案的安全與可用性取捨</a:t>
            </a:r>
            <a:endParaRPr sz="1600" b="0" dirty="0">
              <a:solidFill>
                <a:srgbClr val="5D493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Noto Sans TC"/>
              <a:sym typeface="Noto Sans TC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5D89B07C-D06F-AB44-D74E-A9396A0E4BA6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098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93">
            <a:extLst>
              <a:ext uri="{FF2B5EF4-FFF2-40B4-BE49-F238E27FC236}">
                <a16:creationId xmlns:a16="http://schemas.microsoft.com/office/drawing/2014/main" id="{299DA061-DF5A-33AD-DD08-C3505A7A552D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6544324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需求釐清 </a:t>
            </a:r>
            <a:r>
              <a:rPr lang="en-US" altLang="zh-TW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①</a:t>
            </a:r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：文件管理與資料追溯</a:t>
            </a:r>
            <a:endParaRPr lang="en-US" altLang="zh-TW" sz="3200" b="1" dirty="0">
              <a:solidFill>
                <a:srgbClr val="26262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625CABB1-2FDB-63C6-F612-F27638D04EC2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6" name="Shape 93">
            <a:extLst>
              <a:ext uri="{FF2B5EF4-FFF2-40B4-BE49-F238E27FC236}">
                <a16:creationId xmlns:a16="http://schemas.microsoft.com/office/drawing/2014/main" id="{B6156AAD-5F4E-3830-1E02-16CFD2B31943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B43054D-76AA-34E6-A7C8-21D1017E8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8" name="Google Shape;106;p11">
            <a:extLst>
              <a:ext uri="{FF2B5EF4-FFF2-40B4-BE49-F238E27FC236}">
                <a16:creationId xmlns:a16="http://schemas.microsoft.com/office/drawing/2014/main" id="{58308343-7A52-B427-F170-9D186E4BC12C}"/>
              </a:ext>
            </a:extLst>
          </p:cNvPr>
          <p:cNvSpPr/>
          <p:nvPr/>
        </p:nvSpPr>
        <p:spPr>
          <a:xfrm>
            <a:off x="515636" y="1713823"/>
            <a:ext cx="4891732" cy="4512213"/>
          </a:xfrm>
          <a:prstGeom prst="roundRect">
            <a:avLst>
              <a:gd name="adj" fmla="val 16667"/>
            </a:avLst>
          </a:prstGeom>
          <a:solidFill>
            <a:srgbClr val="FCF5F5"/>
          </a:solidFill>
          <a:ln w="19050" cap="flat" cmpd="sng">
            <a:solidFill>
              <a:srgbClr val="E5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7;p11">
            <a:extLst>
              <a:ext uri="{FF2B5EF4-FFF2-40B4-BE49-F238E27FC236}">
                <a16:creationId xmlns:a16="http://schemas.microsoft.com/office/drawing/2014/main" id="{9AAF55D5-4B0A-4003-464D-4E10CA4DB235}"/>
              </a:ext>
            </a:extLst>
          </p:cNvPr>
          <p:cNvSpPr/>
          <p:nvPr/>
        </p:nvSpPr>
        <p:spPr>
          <a:xfrm>
            <a:off x="6294136" y="1713824"/>
            <a:ext cx="5005825" cy="4512214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9050" cap="flat" cmpd="sng">
            <a:solidFill>
              <a:srgbClr val="B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8;p11">
            <a:extLst>
              <a:ext uri="{FF2B5EF4-FFF2-40B4-BE49-F238E27FC236}">
                <a16:creationId xmlns:a16="http://schemas.microsoft.com/office/drawing/2014/main" id="{D1D4B7FB-DC1C-F461-110C-A2C09BBE6712}"/>
              </a:ext>
            </a:extLst>
          </p:cNvPr>
          <p:cNvSpPr txBox="1"/>
          <p:nvPr/>
        </p:nvSpPr>
        <p:spPr>
          <a:xfrm>
            <a:off x="5156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BF33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💢 Before — </a:t>
            </a:r>
            <a:r>
              <a:rPr lang="en-US" sz="2000" b="1" dirty="0" err="1">
                <a:solidFill>
                  <a:srgbClr val="BF33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散落檔案與公式迷宮</a:t>
            </a:r>
            <a:endParaRPr sz="2000" b="1" dirty="0">
              <a:solidFill>
                <a:srgbClr val="BF33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Google Shape;109;p11">
            <a:extLst>
              <a:ext uri="{FF2B5EF4-FFF2-40B4-BE49-F238E27FC236}">
                <a16:creationId xmlns:a16="http://schemas.microsoft.com/office/drawing/2014/main" id="{1134BE9C-6387-1B7F-4680-9A45FC29C519}"/>
              </a:ext>
            </a:extLst>
          </p:cNvPr>
          <p:cNvSpPr txBox="1"/>
          <p:nvPr/>
        </p:nvSpPr>
        <p:spPr>
          <a:xfrm>
            <a:off x="62941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After — </a:t>
            </a:r>
            <a:r>
              <a:rPr lang="en-US" sz="2000" b="1" dirty="0" err="1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統一</a:t>
            </a:r>
            <a:r>
              <a:rPr lang="en-US" sz="2000" b="1" dirty="0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SSOT </a:t>
            </a:r>
            <a:r>
              <a:rPr lang="en-US" sz="2000" b="1" dirty="0" err="1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</a:t>
            </a:r>
            <a:r>
              <a:rPr lang="en-US" sz="2000" b="1" dirty="0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LINE </a:t>
            </a:r>
            <a:r>
              <a:rPr lang="en-US" sz="2000" b="1" dirty="0" err="1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審核連動</a:t>
            </a:r>
            <a:endParaRPr sz="2000" b="1" dirty="0">
              <a:solidFill>
                <a:srgbClr val="268C4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Google Shape;110;p11">
            <a:extLst>
              <a:ext uri="{FF2B5EF4-FFF2-40B4-BE49-F238E27FC236}">
                <a16:creationId xmlns:a16="http://schemas.microsoft.com/office/drawing/2014/main" id="{1D524B7C-CDA9-0445-BD6E-1E4FAE381E96}"/>
              </a:ext>
            </a:extLst>
          </p:cNvPr>
          <p:cNvSpPr txBox="1"/>
          <p:nvPr/>
        </p:nvSpPr>
        <p:spPr>
          <a:xfrm>
            <a:off x="612833" y="4091436"/>
            <a:ext cx="4362209" cy="136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</a:pPr>
            <a:r>
              <a:rPr lang="en-US" sz="1600" dirty="0" err="1">
                <a:solidFill>
                  <a:srgbClr val="404040"/>
                </a:solidFill>
              </a:rPr>
              <a:t>跨檔多層引用死結：改一筆資料需反查多個檔案</a:t>
            </a:r>
            <a:r>
              <a:rPr lang="en-US" sz="1600" dirty="0">
                <a:solidFill>
                  <a:srgbClr val="404040"/>
                </a:solidFill>
              </a:rPr>
              <a:t> 10 </a:t>
            </a:r>
            <a:r>
              <a:rPr lang="en-US" sz="1600" dirty="0" err="1">
                <a:solidFill>
                  <a:srgbClr val="404040"/>
                </a:solidFill>
              </a:rPr>
              <a:t>幾分鐘，深怕改錯整份報銷</a:t>
            </a:r>
            <a:endParaRPr sz="1600" dirty="0">
              <a:solidFill>
                <a:srgbClr val="404040"/>
              </a:solidFill>
            </a:endParaRPr>
          </a:p>
          <a:p>
            <a:pPr marL="285750" lvl="0" indent="-285750" algn="l" rtl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</a:pPr>
            <a:r>
              <a:rPr lang="en-US" sz="1600" dirty="0" err="1">
                <a:solidFill>
                  <a:srgbClr val="404040"/>
                </a:solidFill>
              </a:rPr>
              <a:t>多年多人覆寫混亂：公式改壞無從追溯，算錯帳風險極高，被迫重複人工作業</a:t>
            </a:r>
            <a:endParaRPr sz="1600" dirty="0">
              <a:solidFill>
                <a:srgbClr val="404040"/>
              </a:solidFill>
            </a:endParaRPr>
          </a:p>
          <a:p>
            <a:pPr marL="285750" lvl="0" indent="-285750" algn="l" rtl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</a:pPr>
            <a:r>
              <a:rPr lang="en-US" sz="1600" dirty="0" err="1">
                <a:solidFill>
                  <a:srgbClr val="404040"/>
                </a:solidFill>
              </a:rPr>
              <a:t>跨表資料無法同步：改了一張表卻漏改其他引用表，造成月嫂與工會帳目對不攏</a:t>
            </a:r>
            <a:endParaRPr sz="1600" dirty="0">
              <a:solidFill>
                <a:srgbClr val="404040"/>
              </a:solidFill>
            </a:endParaRPr>
          </a:p>
        </p:txBody>
      </p:sp>
      <p:sp>
        <p:nvSpPr>
          <p:cNvPr id="13" name="Google Shape;111;p11">
            <a:extLst>
              <a:ext uri="{FF2B5EF4-FFF2-40B4-BE49-F238E27FC236}">
                <a16:creationId xmlns:a16="http://schemas.microsoft.com/office/drawing/2014/main" id="{2331420C-C463-5349-F09C-7D5D5C50751C}"/>
              </a:ext>
            </a:extLst>
          </p:cNvPr>
          <p:cNvSpPr txBox="1"/>
          <p:nvPr/>
        </p:nvSpPr>
        <p:spPr>
          <a:xfrm>
            <a:off x="6448651" y="4068999"/>
            <a:ext cx="4311415" cy="1423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zh-TW"/>
            </a:defPPr>
            <a:lvl1pPr marL="285750" lvl="0" indent="-28575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 sz="1600">
                <a:solidFill>
                  <a:srgbClr val="404040"/>
                </a:solidFill>
              </a:defRPr>
            </a:lvl1pPr>
          </a:lstStyle>
          <a:p>
            <a:pPr>
              <a:lnSpc>
                <a:spcPts val="2300"/>
              </a:lnSpc>
            </a:pPr>
            <a:r>
              <a:rPr lang="en-US" dirty="0" err="1"/>
              <a:t>單一事實源（SSOT</a:t>
            </a:r>
            <a:r>
              <a:rPr lang="en-US" dirty="0"/>
              <a:t>）：</a:t>
            </a:r>
            <a:r>
              <a:rPr lang="en-US" dirty="0" err="1"/>
              <a:t>全系統資料唯一來源，一鍵秒查完整歷史，杜絕公式崩壞</a:t>
            </a:r>
            <a:endParaRPr dirty="0"/>
          </a:p>
          <a:p>
            <a:pPr>
              <a:lnSpc>
                <a:spcPts val="2300"/>
              </a:lnSpc>
            </a:pPr>
            <a:r>
              <a:rPr lang="en-US" dirty="0" err="1"/>
              <a:t>修改影響安全預覽：變更關鍵條款先</a:t>
            </a:r>
            <a:r>
              <a:rPr lang="en-US" dirty="0"/>
              <a:t> Preview </a:t>
            </a:r>
            <a:r>
              <a:rPr lang="en-US" dirty="0" err="1"/>
              <a:t>影響範圍，確認後全系統即時同步生效</a:t>
            </a:r>
            <a:endParaRPr dirty="0"/>
          </a:p>
          <a:p>
            <a:pPr>
              <a:lnSpc>
                <a:spcPts val="2300"/>
              </a:lnSpc>
            </a:pPr>
            <a:r>
              <a:rPr lang="en-US" dirty="0"/>
              <a:t>LINE </a:t>
            </a:r>
            <a:r>
              <a:rPr lang="en-US" dirty="0" err="1"/>
              <a:t>連動免人工改檔：客戶與月嫂線上提交異動與申訴，後台一鍵審核自動更新</a:t>
            </a:r>
            <a:endParaRPr dirty="0"/>
          </a:p>
        </p:txBody>
      </p:sp>
      <p:pic>
        <p:nvPicPr>
          <p:cNvPr id="16" name="Google Shape;113;p11">
            <a:extLst>
              <a:ext uri="{FF2B5EF4-FFF2-40B4-BE49-F238E27FC236}">
                <a16:creationId xmlns:a16="http://schemas.microsoft.com/office/drawing/2014/main" id="{3BB1FA19-55EC-C95D-71B3-39B592491E4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t="6923"/>
          <a:stretch>
            <a:fillRect/>
          </a:stretch>
        </p:blipFill>
        <p:spPr>
          <a:xfrm>
            <a:off x="1024880" y="1794934"/>
            <a:ext cx="3601959" cy="229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14;p11">
            <a:extLst>
              <a:ext uri="{FF2B5EF4-FFF2-40B4-BE49-F238E27FC236}">
                <a16:creationId xmlns:a16="http://schemas.microsoft.com/office/drawing/2014/main" id="{4193EFFD-143E-04DD-9717-6CA0CA4CCBC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t="6923"/>
          <a:stretch>
            <a:fillRect/>
          </a:stretch>
        </p:blipFill>
        <p:spPr>
          <a:xfrm>
            <a:off x="6803380" y="1794934"/>
            <a:ext cx="3601959" cy="229650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88B538F1-439C-151F-3BD0-1E93EC9759C0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02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4182BDD-D892-F5F0-6D7C-1CBAF4F1E7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46798FE-7B4F-2311-F85C-74398EDF05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502" y="5878941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2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93">
            <a:extLst>
              <a:ext uri="{FF2B5EF4-FFF2-40B4-BE49-F238E27FC236}">
                <a16:creationId xmlns:a16="http://schemas.microsoft.com/office/drawing/2014/main" id="{CBFF317B-62B1-0EC6-2EF7-3D7D7995349F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6544324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需求釐清</a:t>
            </a:r>
            <a:r>
              <a:rPr lang="en-US" altLang="zh-TW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②：</a:t>
            </a:r>
            <a:r>
              <a:rPr lang="en-US" altLang="zh-TW" sz="3200" b="1" dirty="0" err="1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月嫂配對與進度追蹤</a:t>
            </a:r>
            <a:r>
              <a:rPr lang="en-US" altLang="zh-TW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DE425445-A4C9-D378-5672-FDF80A9AE73B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6" name="Shape 93">
            <a:extLst>
              <a:ext uri="{FF2B5EF4-FFF2-40B4-BE49-F238E27FC236}">
                <a16:creationId xmlns:a16="http://schemas.microsoft.com/office/drawing/2014/main" id="{8F1F52B9-0CFA-EE6D-9F91-C0CD876B12C5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DB5EA4A-69F3-FF2A-F836-20331A746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8" name="Google Shape;106;p11">
            <a:extLst>
              <a:ext uri="{FF2B5EF4-FFF2-40B4-BE49-F238E27FC236}">
                <a16:creationId xmlns:a16="http://schemas.microsoft.com/office/drawing/2014/main" id="{62EDB016-A4B7-36ED-18A7-AD73726A7139}"/>
              </a:ext>
            </a:extLst>
          </p:cNvPr>
          <p:cNvSpPr/>
          <p:nvPr/>
        </p:nvSpPr>
        <p:spPr>
          <a:xfrm>
            <a:off x="382795" y="1690743"/>
            <a:ext cx="4757917" cy="4570058"/>
          </a:xfrm>
          <a:prstGeom prst="roundRect">
            <a:avLst>
              <a:gd name="adj" fmla="val 16667"/>
            </a:avLst>
          </a:prstGeom>
          <a:solidFill>
            <a:srgbClr val="FCF5F5"/>
          </a:solidFill>
          <a:ln w="19050" cap="flat" cmpd="sng">
            <a:solidFill>
              <a:srgbClr val="E5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7;p11">
            <a:extLst>
              <a:ext uri="{FF2B5EF4-FFF2-40B4-BE49-F238E27FC236}">
                <a16:creationId xmlns:a16="http://schemas.microsoft.com/office/drawing/2014/main" id="{EBFDD3B9-BDE8-533E-6348-959286DA73C5}"/>
              </a:ext>
            </a:extLst>
          </p:cNvPr>
          <p:cNvSpPr/>
          <p:nvPr/>
        </p:nvSpPr>
        <p:spPr>
          <a:xfrm>
            <a:off x="6161295" y="1690744"/>
            <a:ext cx="4757917" cy="4570058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9050" cap="flat" cmpd="sng">
            <a:solidFill>
              <a:srgbClr val="B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8;p11">
            <a:extLst>
              <a:ext uri="{FF2B5EF4-FFF2-40B4-BE49-F238E27FC236}">
                <a16:creationId xmlns:a16="http://schemas.microsoft.com/office/drawing/2014/main" id="{6308EDD5-13B0-C6E0-D00E-37342AC74485}"/>
              </a:ext>
            </a:extLst>
          </p:cNvPr>
          <p:cNvSpPr txBox="1"/>
          <p:nvPr/>
        </p:nvSpPr>
        <p:spPr>
          <a:xfrm>
            <a:off x="5156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solidFill>
                  <a:srgbClr val="BF33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💢 Before — </a:t>
            </a:r>
            <a:r>
              <a:rPr lang="en-US" altLang="zh-TW" sz="2000" b="1" dirty="0" err="1">
                <a:solidFill>
                  <a:srgbClr val="BF33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私人群組翻找與多案焦慮</a:t>
            </a:r>
            <a:endParaRPr sz="2000" b="1" dirty="0">
              <a:solidFill>
                <a:srgbClr val="BF33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Google Shape;109;p11">
            <a:extLst>
              <a:ext uri="{FF2B5EF4-FFF2-40B4-BE49-F238E27FC236}">
                <a16:creationId xmlns:a16="http://schemas.microsoft.com/office/drawing/2014/main" id="{CFBD135F-5986-6B5B-173A-CDC486A57C48}"/>
              </a:ext>
            </a:extLst>
          </p:cNvPr>
          <p:cNvSpPr txBox="1"/>
          <p:nvPr/>
        </p:nvSpPr>
        <p:spPr>
          <a:xfrm>
            <a:off x="62941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b="1" dirty="0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After — </a:t>
            </a:r>
            <a:r>
              <a:rPr lang="en-US" altLang="zh-TW" sz="2000" b="1" dirty="0" err="1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數位檔期防撞與</a:t>
            </a:r>
            <a:r>
              <a:rPr lang="en-US" altLang="zh-TW" sz="2000" b="1" dirty="0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LINE </a:t>
            </a:r>
            <a:r>
              <a:rPr lang="en-US" altLang="zh-TW" sz="2000" b="1" dirty="0" err="1">
                <a:solidFill>
                  <a:srgbClr val="268C4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官方自動化</a:t>
            </a:r>
            <a:endParaRPr sz="2000" b="1" dirty="0">
              <a:solidFill>
                <a:srgbClr val="268C4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Google Shape;110;p11">
            <a:extLst>
              <a:ext uri="{FF2B5EF4-FFF2-40B4-BE49-F238E27FC236}">
                <a16:creationId xmlns:a16="http://schemas.microsoft.com/office/drawing/2014/main" id="{620E44EF-25D2-C88F-B362-5C5C2CCEF453}"/>
              </a:ext>
            </a:extLst>
          </p:cNvPr>
          <p:cNvSpPr txBox="1"/>
          <p:nvPr/>
        </p:nvSpPr>
        <p:spPr>
          <a:xfrm>
            <a:off x="612833" y="4153275"/>
            <a:ext cx="4443822" cy="1481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</a:pPr>
            <a:r>
              <a:rPr lang="en-US" sz="1600" dirty="0" err="1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跨檔多層引用死結：改一筆資料需反查多個檔案</a:t>
            </a:r>
            <a:r>
              <a:rPr 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10 </a:t>
            </a:r>
            <a:r>
              <a:rPr lang="en-US" sz="1600" dirty="0" err="1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幾分鐘，深怕改錯整份報銷</a:t>
            </a:r>
            <a:endParaRPr sz="1600" dirty="0">
              <a:solidFill>
                <a:srgbClr val="40404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lvl="0" indent="-285750" algn="l" rtl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</a:pPr>
            <a:r>
              <a:rPr lang="en-US" sz="1600" dirty="0" err="1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多年多人覆寫混亂：公式改壞無從追溯，算錯帳風險極高，被迫重複人工作業</a:t>
            </a:r>
            <a:endParaRPr sz="1600" dirty="0">
              <a:solidFill>
                <a:srgbClr val="40404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lvl="0" indent="-285750" algn="l" rtl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</a:pPr>
            <a:r>
              <a:rPr lang="en-US" sz="1600" dirty="0" err="1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跨表資料無法同步：改了一張表卻漏改其他引用表，造成月嫂與工會帳目對不攏</a:t>
            </a:r>
            <a:endParaRPr sz="1600" dirty="0">
              <a:solidFill>
                <a:srgbClr val="40404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Google Shape;111;p11">
            <a:extLst>
              <a:ext uri="{FF2B5EF4-FFF2-40B4-BE49-F238E27FC236}">
                <a16:creationId xmlns:a16="http://schemas.microsoft.com/office/drawing/2014/main" id="{761E309C-4CE0-92D0-C4DA-C9AE1AB9EEA8}"/>
              </a:ext>
            </a:extLst>
          </p:cNvPr>
          <p:cNvSpPr txBox="1"/>
          <p:nvPr/>
        </p:nvSpPr>
        <p:spPr>
          <a:xfrm>
            <a:off x="6509482" y="4122732"/>
            <a:ext cx="4311278" cy="154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zh-TW"/>
            </a:defPPr>
            <a:lvl1pPr marL="285750" lvl="0" indent="-28575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 sz="1600">
                <a:solidFill>
                  <a:srgbClr val="404040"/>
                </a:solidFill>
              </a:defRPr>
            </a:lvl1pPr>
          </a:lstStyle>
          <a:p>
            <a:pPr>
              <a:lnSpc>
                <a:spcPts val="2300"/>
              </a:lnSpc>
            </a:pP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單一事實源（SSOT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）：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全系統資料唯一來源，一鍵秒查完整歷史，杜絕公式崩壞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ts val="2300"/>
              </a:lnSpc>
            </a:pP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修改影響安全預覽：變更關鍵條款先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Preview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影響範圍，確認後全系統即時同步生效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ts val="2300"/>
              </a:lnSpc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連動免人工改檔：客戶與月嫂線上提交異動與申訴，後台一鍵審核自動更新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6" name="Google Shape;128;p12">
            <a:extLst>
              <a:ext uri="{FF2B5EF4-FFF2-40B4-BE49-F238E27FC236}">
                <a16:creationId xmlns:a16="http://schemas.microsoft.com/office/drawing/2014/main" id="{3703300A-FD4E-589F-DC1F-C31133E387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9243"/>
          <a:stretch>
            <a:fillRect/>
          </a:stretch>
        </p:blipFill>
        <p:spPr>
          <a:xfrm>
            <a:off x="943725" y="1777861"/>
            <a:ext cx="3601959" cy="2423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9;p12">
            <a:extLst>
              <a:ext uri="{FF2B5EF4-FFF2-40B4-BE49-F238E27FC236}">
                <a16:creationId xmlns:a16="http://schemas.microsoft.com/office/drawing/2014/main" id="{4A31FDD9-5DCC-E994-7BF3-275C0995AA6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t="9243"/>
          <a:stretch>
            <a:fillRect/>
          </a:stretch>
        </p:blipFill>
        <p:spPr>
          <a:xfrm>
            <a:off x="6597182" y="1777861"/>
            <a:ext cx="3601959" cy="242342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4F772382-7B24-4AC5-EF71-DF57CC25CEEF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03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97B38A5-3114-1372-8EB7-E62E9907E0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0C45861-ED1A-D9D6-AB70-F4A6392BCE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502" y="5878941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57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93">
            <a:extLst>
              <a:ext uri="{FF2B5EF4-FFF2-40B4-BE49-F238E27FC236}">
                <a16:creationId xmlns:a16="http://schemas.microsoft.com/office/drawing/2014/main" id="{118404F5-FE8C-8834-7175-885CB7AB6E79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6950723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需求釐清 </a:t>
            </a:r>
            <a:r>
              <a:rPr lang="en-US" altLang="zh-TW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③：</a:t>
            </a:r>
            <a:r>
              <a:rPr lang="en-US" altLang="zh-TW" sz="3200" b="1" dirty="0" err="1">
                <a:solidFill>
                  <a:srgbClr val="262626"/>
                </a:solidFill>
              </a:rPr>
              <a:t>流程轉化與狀態機設計</a:t>
            </a:r>
            <a:endParaRPr lang="en-US" altLang="zh-TW" sz="3200" b="1" dirty="0">
              <a:solidFill>
                <a:srgbClr val="26262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88B4EB9F-EE26-F55D-1356-3F5D1C2DC352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6" name="Shape 93">
            <a:extLst>
              <a:ext uri="{FF2B5EF4-FFF2-40B4-BE49-F238E27FC236}">
                <a16:creationId xmlns:a16="http://schemas.microsoft.com/office/drawing/2014/main" id="{157679CD-E9CB-EF99-7229-43466B9AE001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F8DE71D-DC8C-8AFE-DA6A-2905186A7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8" name="Google Shape;106;p11">
            <a:extLst>
              <a:ext uri="{FF2B5EF4-FFF2-40B4-BE49-F238E27FC236}">
                <a16:creationId xmlns:a16="http://schemas.microsoft.com/office/drawing/2014/main" id="{749B9AE5-FF25-6032-7351-195B52AFB3D7}"/>
              </a:ext>
            </a:extLst>
          </p:cNvPr>
          <p:cNvSpPr/>
          <p:nvPr/>
        </p:nvSpPr>
        <p:spPr>
          <a:xfrm>
            <a:off x="382795" y="1690744"/>
            <a:ext cx="5423193" cy="4570058"/>
          </a:xfrm>
          <a:prstGeom prst="roundRect">
            <a:avLst>
              <a:gd name="adj" fmla="val 16667"/>
            </a:avLst>
          </a:prstGeom>
          <a:solidFill>
            <a:srgbClr val="FCF5F5"/>
          </a:solidFill>
          <a:ln w="19050" cap="flat" cmpd="sng">
            <a:solidFill>
              <a:srgbClr val="E5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7;p11">
            <a:extLst>
              <a:ext uri="{FF2B5EF4-FFF2-40B4-BE49-F238E27FC236}">
                <a16:creationId xmlns:a16="http://schemas.microsoft.com/office/drawing/2014/main" id="{BF1BE92F-17E9-CF14-3E9B-627904B04881}"/>
              </a:ext>
            </a:extLst>
          </p:cNvPr>
          <p:cNvSpPr/>
          <p:nvPr/>
        </p:nvSpPr>
        <p:spPr>
          <a:xfrm>
            <a:off x="6161295" y="1690744"/>
            <a:ext cx="5423193" cy="4570058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9050" cap="flat" cmpd="sng">
            <a:solidFill>
              <a:srgbClr val="B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8;p11">
            <a:extLst>
              <a:ext uri="{FF2B5EF4-FFF2-40B4-BE49-F238E27FC236}">
                <a16:creationId xmlns:a16="http://schemas.microsoft.com/office/drawing/2014/main" id="{0A93AE3C-2584-FCA2-49C4-7D93B4BDD733}"/>
              </a:ext>
            </a:extLst>
          </p:cNvPr>
          <p:cNvSpPr txBox="1"/>
          <p:nvPr/>
        </p:nvSpPr>
        <p:spPr>
          <a:xfrm>
            <a:off x="5156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zh-TW" altLang="en-US" sz="2000" b="1" dirty="0">
                <a:solidFill>
                  <a:srgbClr val="2659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⚙️ 業務流程轉化為系統演算法</a:t>
            </a:r>
          </a:p>
        </p:txBody>
      </p:sp>
      <p:sp>
        <p:nvSpPr>
          <p:cNvPr id="11" name="Google Shape;109;p11">
            <a:extLst>
              <a:ext uri="{FF2B5EF4-FFF2-40B4-BE49-F238E27FC236}">
                <a16:creationId xmlns:a16="http://schemas.microsoft.com/office/drawing/2014/main" id="{069687D7-2778-3A1C-AA20-2A4841621438}"/>
              </a:ext>
            </a:extLst>
          </p:cNvPr>
          <p:cNvSpPr txBox="1"/>
          <p:nvPr/>
        </p:nvSpPr>
        <p:spPr>
          <a:xfrm>
            <a:off x="62941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sz="2000" b="1" dirty="0">
                <a:solidFill>
                  <a:srgbClr val="7333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🔄 11 </a:t>
            </a:r>
            <a:r>
              <a:rPr lang="zh-TW" altLang="en-US" sz="2000" b="1" dirty="0">
                <a:solidFill>
                  <a:srgbClr val="7333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步訂單生命週期狀態機</a:t>
            </a:r>
          </a:p>
        </p:txBody>
      </p:sp>
      <p:sp>
        <p:nvSpPr>
          <p:cNvPr id="12" name="Google Shape;110;p11">
            <a:extLst>
              <a:ext uri="{FF2B5EF4-FFF2-40B4-BE49-F238E27FC236}">
                <a16:creationId xmlns:a16="http://schemas.microsoft.com/office/drawing/2014/main" id="{558A4014-4627-64EC-2537-7369B2ACCD67}"/>
              </a:ext>
            </a:extLst>
          </p:cNvPr>
          <p:cNvSpPr txBox="1"/>
          <p:nvPr/>
        </p:nvSpPr>
        <p:spPr>
          <a:xfrm>
            <a:off x="612834" y="4689525"/>
            <a:ext cx="5172204" cy="141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itchFamily="2" charset="2"/>
              <a:buChar char="l"/>
            </a:pP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業務 </a:t>
            </a:r>
            <a:r>
              <a:rPr lang="en-US" altLang="zh-TW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SOP </a:t>
            </a: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程式化封裝：將口頭交接與紙本慣例轉化為嚴謹的條件式與計算邏輯</a:t>
            </a:r>
          </a:p>
          <a:p>
            <a:pPr marL="285750" lvl="0" indent="-285750">
              <a:buFont typeface="Wingdings" pitchFamily="2" charset="2"/>
              <a:buChar char="l"/>
            </a:pP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主動式帳務自動計算：系統自動試算訂金、服務有效天數、尾款與月嫂拆帳明細</a:t>
            </a:r>
          </a:p>
          <a:p>
            <a:pPr marL="285750" lvl="0" indent="-285750">
              <a:buFont typeface="Wingdings" pitchFamily="2" charset="2"/>
              <a:buChar char="l"/>
            </a:pP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動態重算排程防護：服務期間遇突發請假，即時重算服務檔期並跟雙方確認</a:t>
            </a:r>
          </a:p>
        </p:txBody>
      </p:sp>
      <p:sp>
        <p:nvSpPr>
          <p:cNvPr id="13" name="Google Shape;111;p11">
            <a:extLst>
              <a:ext uri="{FF2B5EF4-FFF2-40B4-BE49-F238E27FC236}">
                <a16:creationId xmlns:a16="http://schemas.microsoft.com/office/drawing/2014/main" id="{0300D050-2875-8D78-BCBF-F4571B33134F}"/>
              </a:ext>
            </a:extLst>
          </p:cNvPr>
          <p:cNvSpPr txBox="1"/>
          <p:nvPr/>
        </p:nvSpPr>
        <p:spPr>
          <a:xfrm>
            <a:off x="6307580" y="4671608"/>
            <a:ext cx="5172204" cy="144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zh-TW"/>
            </a:defPPr>
            <a:lvl1pPr marL="285750" lvl="0" indent="-28575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 sz="1600">
                <a:solidFill>
                  <a:srgbClr val="404040"/>
                </a:solidFill>
              </a:defRPr>
            </a:lvl1pPr>
          </a:lstStyle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整合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個業務狀態：從新訂單、媒合、簽約、服務到核銷，節點邊界清晰</a:t>
            </a:r>
          </a:p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事件驅動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(Event-Driven)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：特定事件（如客戶付款、合約簽署）自動觸發狀態轉移</a:t>
            </a:r>
          </a:p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自動聯動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：狀態變更即時觸發通知推播、財務計費與排班鎖定，不在辦公室也能辦公</a:t>
            </a:r>
          </a:p>
        </p:txBody>
      </p:sp>
      <p:pic>
        <p:nvPicPr>
          <p:cNvPr id="16" name="Google Shape;140;p13">
            <a:extLst>
              <a:ext uri="{FF2B5EF4-FFF2-40B4-BE49-F238E27FC236}">
                <a16:creationId xmlns:a16="http://schemas.microsoft.com/office/drawing/2014/main" id="{C9CA4442-AA74-E978-3956-3D23E2DC40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15092"/>
          <a:stretch>
            <a:fillRect/>
          </a:stretch>
        </p:blipFill>
        <p:spPr>
          <a:xfrm>
            <a:off x="1019349" y="1889970"/>
            <a:ext cx="4193120" cy="25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41;p13">
            <a:extLst>
              <a:ext uri="{FF2B5EF4-FFF2-40B4-BE49-F238E27FC236}">
                <a16:creationId xmlns:a16="http://schemas.microsoft.com/office/drawing/2014/main" id="{2FA1DD66-B640-A1D0-60AC-2FF052E4877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t="15092"/>
          <a:stretch>
            <a:fillRect/>
          </a:stretch>
        </p:blipFill>
        <p:spPr>
          <a:xfrm>
            <a:off x="6797851" y="1889971"/>
            <a:ext cx="4193120" cy="25233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1B2FD62-18EB-0C1B-C648-3B74140B15F3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04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D020EA66-80FF-6FFA-FE0E-5204A6F52F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E67E5CC-3EAD-AE88-9504-28F5161F4B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502" y="5878941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2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93">
            <a:extLst>
              <a:ext uri="{FF2B5EF4-FFF2-40B4-BE49-F238E27FC236}">
                <a16:creationId xmlns:a16="http://schemas.microsoft.com/office/drawing/2014/main" id="{1D6C9A54-1A4A-7C6F-BA17-14E163D6054A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7549034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需求釐清 </a:t>
            </a:r>
            <a:r>
              <a:rPr lang="en-US" altLang="zh-TW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④：LINE </a:t>
            </a:r>
            <a:r>
              <a:rPr lang="en-US" altLang="zh-TW" sz="3200" b="1" dirty="0" err="1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連動與智能助理協調</a:t>
            </a:r>
            <a:endParaRPr lang="en-US" altLang="zh-TW" sz="3200" b="1" dirty="0">
              <a:solidFill>
                <a:srgbClr val="26262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D2F34B0E-56CD-B40E-C467-4036E07EDAB9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6" name="Shape 93">
            <a:extLst>
              <a:ext uri="{FF2B5EF4-FFF2-40B4-BE49-F238E27FC236}">
                <a16:creationId xmlns:a16="http://schemas.microsoft.com/office/drawing/2014/main" id="{DE9BF2E8-F157-F942-E125-CE5220490564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09D4AF9-FD9B-6B99-414F-657E9AE0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8" name="Google Shape;106;p11">
            <a:extLst>
              <a:ext uri="{FF2B5EF4-FFF2-40B4-BE49-F238E27FC236}">
                <a16:creationId xmlns:a16="http://schemas.microsoft.com/office/drawing/2014/main" id="{93B48780-3587-CA2E-CB6C-FC1C93A6B96E}"/>
              </a:ext>
            </a:extLst>
          </p:cNvPr>
          <p:cNvSpPr/>
          <p:nvPr/>
        </p:nvSpPr>
        <p:spPr>
          <a:xfrm>
            <a:off x="382796" y="1690744"/>
            <a:ext cx="5324460" cy="4616402"/>
          </a:xfrm>
          <a:prstGeom prst="roundRect">
            <a:avLst>
              <a:gd name="adj" fmla="val 16667"/>
            </a:avLst>
          </a:prstGeom>
          <a:solidFill>
            <a:srgbClr val="FCF5F5"/>
          </a:solidFill>
          <a:ln w="19050" cap="flat" cmpd="sng">
            <a:solidFill>
              <a:srgbClr val="E5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7;p11">
            <a:extLst>
              <a:ext uri="{FF2B5EF4-FFF2-40B4-BE49-F238E27FC236}">
                <a16:creationId xmlns:a16="http://schemas.microsoft.com/office/drawing/2014/main" id="{4005185E-1AEA-3FCB-A540-BE856C52A5EE}"/>
              </a:ext>
            </a:extLst>
          </p:cNvPr>
          <p:cNvSpPr/>
          <p:nvPr/>
        </p:nvSpPr>
        <p:spPr>
          <a:xfrm>
            <a:off x="6161296" y="1690744"/>
            <a:ext cx="5324460" cy="4616402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9050" cap="flat" cmpd="sng">
            <a:solidFill>
              <a:srgbClr val="B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8;p11">
            <a:extLst>
              <a:ext uri="{FF2B5EF4-FFF2-40B4-BE49-F238E27FC236}">
                <a16:creationId xmlns:a16="http://schemas.microsoft.com/office/drawing/2014/main" id="{7BEBA096-3BBB-6929-7C35-B9132175201E}"/>
              </a:ext>
            </a:extLst>
          </p:cNvPr>
          <p:cNvSpPr txBox="1"/>
          <p:nvPr/>
        </p:nvSpPr>
        <p:spPr>
          <a:xfrm>
            <a:off x="5156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sz="2000" b="1" dirty="0">
                <a:solidFill>
                  <a:srgbClr val="1A808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📱 LINE </a:t>
            </a:r>
            <a:r>
              <a:rPr lang="zh-TW" altLang="en-US" sz="2000" b="1" dirty="0">
                <a:solidFill>
                  <a:srgbClr val="1A808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官方帳號全雙工連動</a:t>
            </a:r>
          </a:p>
        </p:txBody>
      </p:sp>
      <p:sp>
        <p:nvSpPr>
          <p:cNvPr id="11" name="Google Shape;109;p11">
            <a:extLst>
              <a:ext uri="{FF2B5EF4-FFF2-40B4-BE49-F238E27FC236}">
                <a16:creationId xmlns:a16="http://schemas.microsoft.com/office/drawing/2014/main" id="{7FB06837-208B-4199-7D56-14290D0BA437}"/>
              </a:ext>
            </a:extLst>
          </p:cNvPr>
          <p:cNvSpPr txBox="1"/>
          <p:nvPr/>
        </p:nvSpPr>
        <p:spPr>
          <a:xfrm>
            <a:off x="62941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sz="2000" b="1" dirty="0">
                <a:solidFill>
                  <a:srgbClr val="BF59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🤖 </a:t>
            </a:r>
            <a:r>
              <a:rPr lang="zh-TW" altLang="en-US" sz="2000" b="1" dirty="0">
                <a:solidFill>
                  <a:srgbClr val="BF59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智能助理輔助協調與邊界防護</a:t>
            </a:r>
          </a:p>
        </p:txBody>
      </p:sp>
      <p:sp>
        <p:nvSpPr>
          <p:cNvPr id="12" name="Google Shape;110;p11">
            <a:extLst>
              <a:ext uri="{FF2B5EF4-FFF2-40B4-BE49-F238E27FC236}">
                <a16:creationId xmlns:a16="http://schemas.microsoft.com/office/drawing/2014/main" id="{92822CBB-0471-412C-C237-E30C8C6CCE75}"/>
              </a:ext>
            </a:extLst>
          </p:cNvPr>
          <p:cNvSpPr txBox="1"/>
          <p:nvPr/>
        </p:nvSpPr>
        <p:spPr>
          <a:xfrm>
            <a:off x="599390" y="4295276"/>
            <a:ext cx="4971689" cy="155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itchFamily="2" charset="2"/>
              <a:buChar char="l"/>
            </a:pP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三端互動一站搞定：客戶填單、月嫂接單與簽約確認皆在 </a:t>
            </a:r>
            <a:r>
              <a:rPr lang="en-US" altLang="zh-TW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</a:t>
            </a: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官方帳號無縫完成</a:t>
            </a:r>
          </a:p>
          <a:p>
            <a:pPr marL="285750" lvl="0" indent="-285750">
              <a:buFont typeface="Wingdings" pitchFamily="2" charset="2"/>
              <a:buChar char="l"/>
            </a:pP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標準訊息範本引導：以標準化圖文選單與訊息引導用戶，大幅降低行政重複客服量</a:t>
            </a:r>
          </a:p>
          <a:p>
            <a:pPr marL="285750" lvl="0" indent="-285750">
              <a:buFont typeface="Wingdings" pitchFamily="2" charset="2"/>
              <a:buChar char="l"/>
            </a:pP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服務狀態透明可查：客戶與月嫂隨時在 </a:t>
            </a:r>
            <a:r>
              <a:rPr lang="en-US" altLang="zh-TW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</a:t>
            </a: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自助查詢當前履約進度與服務日程</a:t>
            </a:r>
          </a:p>
        </p:txBody>
      </p:sp>
      <p:sp>
        <p:nvSpPr>
          <p:cNvPr id="13" name="Google Shape;111;p11">
            <a:extLst>
              <a:ext uri="{FF2B5EF4-FFF2-40B4-BE49-F238E27FC236}">
                <a16:creationId xmlns:a16="http://schemas.microsoft.com/office/drawing/2014/main" id="{AD9E9936-907D-26E8-2797-29FF16D7B03D}"/>
              </a:ext>
            </a:extLst>
          </p:cNvPr>
          <p:cNvSpPr txBox="1"/>
          <p:nvPr/>
        </p:nvSpPr>
        <p:spPr>
          <a:xfrm>
            <a:off x="6294136" y="4264732"/>
            <a:ext cx="4971689" cy="161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zh-TW"/>
            </a:defPPr>
            <a:lvl1pPr marL="285750" lvl="0" indent="-28575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 sz="1600">
                <a:solidFill>
                  <a:srgbClr val="404040"/>
                </a:solidFill>
              </a:defRPr>
            </a:lvl1pPr>
          </a:lstStyle>
          <a:p>
            <a:pPr lvl="0"/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7x24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自動回應常見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FAQ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：智慧助理自動回覆服務範圍、收費標準與合約規範</a:t>
            </a:r>
          </a:p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自動協調日常媒合流程：自動處理協調月子配對流程</a:t>
            </a:r>
          </a:p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人機協作分工邊界：遇跨區調派、複雜客訴或合約爭議時，自動標記並轉交真人審核</a:t>
            </a:r>
          </a:p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安全護欄防脫軌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(Harness Guard)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：設定嚴格行為邊界，防止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越權承諾超出規範條款</a:t>
            </a:r>
          </a:p>
        </p:txBody>
      </p:sp>
      <p:pic>
        <p:nvPicPr>
          <p:cNvPr id="16" name="Google Shape;155;p14">
            <a:extLst>
              <a:ext uri="{FF2B5EF4-FFF2-40B4-BE49-F238E27FC236}">
                <a16:creationId xmlns:a16="http://schemas.microsoft.com/office/drawing/2014/main" id="{D9B48C0C-4D90-68E7-DDE5-4C12E66904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6596" b="4946"/>
          <a:stretch>
            <a:fillRect/>
          </a:stretch>
        </p:blipFill>
        <p:spPr>
          <a:xfrm>
            <a:off x="1019303" y="1782092"/>
            <a:ext cx="4030562" cy="248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56;p14">
            <a:extLst>
              <a:ext uri="{FF2B5EF4-FFF2-40B4-BE49-F238E27FC236}">
                <a16:creationId xmlns:a16="http://schemas.microsoft.com/office/drawing/2014/main" id="{D90C2ADA-0D89-C5A9-735D-3BE7984B03C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t="10663"/>
          <a:stretch>
            <a:fillRect/>
          </a:stretch>
        </p:blipFill>
        <p:spPr>
          <a:xfrm>
            <a:off x="6797912" y="1782093"/>
            <a:ext cx="4030548" cy="2507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A90C940B-79BD-AAB2-9560-EFB42F2FD7F2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05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021AF93B-8156-6CDE-A122-6BF7DF8FB6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361CBFE-02DE-2B47-115F-7B1981052C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502" y="5878941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3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93">
            <a:extLst>
              <a:ext uri="{FF2B5EF4-FFF2-40B4-BE49-F238E27FC236}">
                <a16:creationId xmlns:a16="http://schemas.microsoft.com/office/drawing/2014/main" id="{8DA91790-3B64-5E5C-6A5C-3672D474C503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8869834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資料庫設計：為什麼選擇 </a:t>
            </a:r>
            <a:r>
              <a:rPr lang="en-US" altLang="zh-TW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MySQL </a:t>
            </a:r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關聯式架構？</a:t>
            </a: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5956C1A3-BD0D-D674-C890-46124263EB0F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6" name="Shape 93">
            <a:extLst>
              <a:ext uri="{FF2B5EF4-FFF2-40B4-BE49-F238E27FC236}">
                <a16:creationId xmlns:a16="http://schemas.microsoft.com/office/drawing/2014/main" id="{6E84E850-8140-22F4-4B5B-D0E857873569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1B9FAA3-5E0E-87D4-8626-E2FCF3F84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8" name="Google Shape;106;p11">
            <a:extLst>
              <a:ext uri="{FF2B5EF4-FFF2-40B4-BE49-F238E27FC236}">
                <a16:creationId xmlns:a16="http://schemas.microsoft.com/office/drawing/2014/main" id="{90C052B5-C04C-EC70-05C9-CDDC8727FDB2}"/>
              </a:ext>
            </a:extLst>
          </p:cNvPr>
          <p:cNvSpPr/>
          <p:nvPr/>
        </p:nvSpPr>
        <p:spPr>
          <a:xfrm>
            <a:off x="382796" y="1690744"/>
            <a:ext cx="5297443" cy="4494551"/>
          </a:xfrm>
          <a:prstGeom prst="roundRect">
            <a:avLst>
              <a:gd name="adj" fmla="val 16667"/>
            </a:avLst>
          </a:prstGeom>
          <a:solidFill>
            <a:srgbClr val="FCF5F5"/>
          </a:solidFill>
          <a:ln w="19050" cap="flat" cmpd="sng">
            <a:solidFill>
              <a:srgbClr val="E5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7;p11">
            <a:extLst>
              <a:ext uri="{FF2B5EF4-FFF2-40B4-BE49-F238E27FC236}">
                <a16:creationId xmlns:a16="http://schemas.microsoft.com/office/drawing/2014/main" id="{FF030171-44F3-F5E1-E2EF-8EE4CD533E54}"/>
              </a:ext>
            </a:extLst>
          </p:cNvPr>
          <p:cNvSpPr/>
          <p:nvPr/>
        </p:nvSpPr>
        <p:spPr>
          <a:xfrm>
            <a:off x="6161296" y="1690744"/>
            <a:ext cx="5200246" cy="4494551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9050" cap="flat" cmpd="sng">
            <a:solidFill>
              <a:srgbClr val="B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8;p11">
            <a:extLst>
              <a:ext uri="{FF2B5EF4-FFF2-40B4-BE49-F238E27FC236}">
                <a16:creationId xmlns:a16="http://schemas.microsoft.com/office/drawing/2014/main" id="{A0CB53DB-AE29-57B0-737F-BAC37D22506C}"/>
              </a:ext>
            </a:extLst>
          </p:cNvPr>
          <p:cNvSpPr txBox="1"/>
          <p:nvPr/>
        </p:nvSpPr>
        <p:spPr>
          <a:xfrm>
            <a:off x="5156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sz="2000" b="1" dirty="0">
                <a:solidFill>
                  <a:srgbClr val="2659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📊 </a:t>
            </a:r>
            <a:r>
              <a:rPr lang="zh-TW" altLang="en-US" sz="2000" b="1" dirty="0">
                <a:solidFill>
                  <a:srgbClr val="2659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告別 </a:t>
            </a:r>
            <a:r>
              <a:rPr lang="en-US" altLang="zh-TW" sz="2000" b="1" dirty="0">
                <a:solidFill>
                  <a:srgbClr val="2659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Excel</a:t>
            </a:r>
            <a:r>
              <a:rPr lang="zh-TW" altLang="en-US" sz="2000" b="1" dirty="0">
                <a:solidFill>
                  <a:srgbClr val="2659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：為何需要關聯式資料庫？</a:t>
            </a:r>
          </a:p>
        </p:txBody>
      </p:sp>
      <p:sp>
        <p:nvSpPr>
          <p:cNvPr id="11" name="Google Shape;109;p11">
            <a:extLst>
              <a:ext uri="{FF2B5EF4-FFF2-40B4-BE49-F238E27FC236}">
                <a16:creationId xmlns:a16="http://schemas.microsoft.com/office/drawing/2014/main" id="{5C6F6A00-01F2-68A3-E2C7-C1EA47E8E79D}"/>
              </a:ext>
            </a:extLst>
          </p:cNvPr>
          <p:cNvSpPr txBox="1"/>
          <p:nvPr/>
        </p:nvSpPr>
        <p:spPr>
          <a:xfrm>
            <a:off x="6294136" y="1195191"/>
            <a:ext cx="5423194" cy="3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zh-TW" altLang="en-US" sz="2000" b="1" dirty="0">
                <a:solidFill>
                  <a:srgbClr val="BF59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⚙️ 技術選型：為什麼是 </a:t>
            </a:r>
            <a:r>
              <a:rPr lang="en-US" altLang="zh-TW" sz="2000" b="1" dirty="0">
                <a:solidFill>
                  <a:srgbClr val="BF59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MySQL</a:t>
            </a:r>
            <a:r>
              <a:rPr lang="zh-TW" altLang="en-US" sz="2000" b="1" dirty="0">
                <a:solidFill>
                  <a:srgbClr val="BF59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endParaRPr lang="en-US" altLang="zh-TW" sz="2000" b="1" dirty="0">
              <a:solidFill>
                <a:srgbClr val="BF591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Google Shape;110;p11">
            <a:extLst>
              <a:ext uri="{FF2B5EF4-FFF2-40B4-BE49-F238E27FC236}">
                <a16:creationId xmlns:a16="http://schemas.microsoft.com/office/drawing/2014/main" id="{504DF537-7217-1938-116D-3FB135B04B5A}"/>
              </a:ext>
            </a:extLst>
          </p:cNvPr>
          <p:cNvSpPr txBox="1"/>
          <p:nvPr/>
        </p:nvSpPr>
        <p:spPr>
          <a:xfrm>
            <a:off x="612833" y="4477599"/>
            <a:ext cx="5067406" cy="151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itchFamily="2" charset="2"/>
              <a:buChar char="l"/>
            </a:pPr>
            <a:r>
              <a:rPr lang="en-US" altLang="zh-TW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ACID </a:t>
            </a: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交易與強型別約束：外鍵防護杜絕資料斷鏈與公式損壞，確保帳目絕對一致</a:t>
            </a:r>
          </a:p>
          <a:p>
            <a:pPr marL="285750" lvl="0" indent="-285750">
              <a:buFont typeface="Wingdings" pitchFamily="2" charset="2"/>
              <a:buChar char="l"/>
            </a:pP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多人併發與權限控管：支援多人同時讀寫與歷史留痕，徹底告別試算表檔案鎖定</a:t>
            </a:r>
          </a:p>
          <a:p>
            <a:pPr marL="285750" lvl="0" indent="-285750">
              <a:buFont typeface="Wingdings" pitchFamily="2" charset="2"/>
              <a:buChar char="l"/>
            </a:pPr>
            <a:r>
              <a:rPr lang="zh-TW" altLang="en-US"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結構化查詢與統計效能：快速聚合產婦與月嫂歷史指標，為後續排班演算法奠定基石</a:t>
            </a:r>
          </a:p>
        </p:txBody>
      </p:sp>
      <p:sp>
        <p:nvSpPr>
          <p:cNvPr id="13" name="Google Shape;111;p11">
            <a:extLst>
              <a:ext uri="{FF2B5EF4-FFF2-40B4-BE49-F238E27FC236}">
                <a16:creationId xmlns:a16="http://schemas.microsoft.com/office/drawing/2014/main" id="{CB813547-1CC6-4C43-5679-27D97588220C}"/>
              </a:ext>
            </a:extLst>
          </p:cNvPr>
          <p:cNvSpPr txBox="1"/>
          <p:nvPr/>
        </p:nvSpPr>
        <p:spPr>
          <a:xfrm>
            <a:off x="6294136" y="4488750"/>
            <a:ext cx="5067406" cy="148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zh-TW"/>
            </a:defPPr>
            <a:lvl1pPr marL="285750" lvl="0" indent="-28575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 sz="1600">
                <a:solidFill>
                  <a:srgbClr val="404040"/>
                </a:solidFill>
              </a:defRPr>
            </a:lvl1pPr>
          </a:lstStyle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強結構排除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MongoDB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：訂單、月嫂與帳務具高度關聯特性，非鬆散文件模型</a:t>
            </a:r>
          </a:p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地端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NAS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最佳相容：原生支援工會現有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NAS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硬體架構，運維低負擔且效能穩定</a:t>
            </a:r>
          </a:p>
          <a:p>
            <a:pPr lvl="0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成熟生態系與連線安全：支援標準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ORM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與連線池管理，提供高可靠的資料庫防護</a:t>
            </a:r>
          </a:p>
        </p:txBody>
      </p:sp>
      <p:pic>
        <p:nvPicPr>
          <p:cNvPr id="16" name="Google Shape;170;p15">
            <a:extLst>
              <a:ext uri="{FF2B5EF4-FFF2-40B4-BE49-F238E27FC236}">
                <a16:creationId xmlns:a16="http://schemas.microsoft.com/office/drawing/2014/main" id="{E7D7A635-317B-9BA3-A72D-A78D78A5EA0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045" y="1716333"/>
            <a:ext cx="3782812" cy="27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1;p15">
            <a:extLst>
              <a:ext uri="{FF2B5EF4-FFF2-40B4-BE49-F238E27FC236}">
                <a16:creationId xmlns:a16="http://schemas.microsoft.com/office/drawing/2014/main" id="{FAFD21EB-CED7-680F-1A75-50193F44F0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2225" y="1721753"/>
            <a:ext cx="3786246" cy="276699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D20E7EFD-67BD-6532-332D-FCFD0F840C8B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06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FD6AAD70-8A66-86DF-D64A-664714049C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4F9540EF-39A8-9FCB-6885-431EF1D600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502" y="5878941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5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F569FF91-1E6C-47A9-C379-AEDF4E5C64E7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90AAAFA-1CBE-DDA0-45F1-BD5EB5ABF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4" name="Shape 93">
            <a:extLst>
              <a:ext uri="{FF2B5EF4-FFF2-40B4-BE49-F238E27FC236}">
                <a16:creationId xmlns:a16="http://schemas.microsoft.com/office/drawing/2014/main" id="{7CF18B71-CB08-A2AF-8EA1-78B8CC0434BE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920850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地端實測：「本地開發 </a:t>
            </a:r>
            <a:r>
              <a:rPr lang="en-US" altLang="zh-TW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vs. </a:t>
            </a:r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生產環境」的真實落差</a:t>
            </a: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FC1E01F2-6C00-1D59-D5FA-9801F2A565D5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6" name="Google Shape;181;p16">
            <a:extLst>
              <a:ext uri="{FF2B5EF4-FFF2-40B4-BE49-F238E27FC236}">
                <a16:creationId xmlns:a16="http://schemas.microsoft.com/office/drawing/2014/main" id="{424B801C-F113-9D80-F585-DE26FC961A97}"/>
              </a:ext>
            </a:extLst>
          </p:cNvPr>
          <p:cNvSpPr/>
          <p:nvPr/>
        </p:nvSpPr>
        <p:spPr>
          <a:xfrm>
            <a:off x="507901" y="1371700"/>
            <a:ext cx="5446052" cy="470172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 cap="flat" cmpd="sng">
            <a:solidFill>
              <a:srgbClr val="D9E0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82;p16">
            <a:extLst>
              <a:ext uri="{FF2B5EF4-FFF2-40B4-BE49-F238E27FC236}">
                <a16:creationId xmlns:a16="http://schemas.microsoft.com/office/drawing/2014/main" id="{A6AD11ED-F55A-885D-A1D4-1968048FA579}"/>
              </a:ext>
            </a:extLst>
          </p:cNvPr>
          <p:cNvSpPr txBox="1"/>
          <p:nvPr/>
        </p:nvSpPr>
        <p:spPr>
          <a:xfrm>
            <a:off x="762001" y="1528998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3598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🏗️ </a:t>
            </a:r>
            <a:r>
              <a:rPr lang="en-US" sz="2000" b="1" dirty="0" err="1">
                <a:solidFill>
                  <a:srgbClr val="33598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系統運作拓撲與架構拓撲圖</a:t>
            </a:r>
            <a:endParaRPr sz="2000" b="1" dirty="0">
              <a:solidFill>
                <a:srgbClr val="33598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8" name="Google Shape;183;p16">
            <a:extLst>
              <a:ext uri="{FF2B5EF4-FFF2-40B4-BE49-F238E27FC236}">
                <a16:creationId xmlns:a16="http://schemas.microsoft.com/office/drawing/2014/main" id="{253FECA7-C01C-8BFF-81B3-0BBF8D4760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01" y="2074110"/>
            <a:ext cx="5289918" cy="3656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89D5A15B-35EE-562F-F2A6-A6BA6FCDD1DF}"/>
              </a:ext>
            </a:extLst>
          </p:cNvPr>
          <p:cNvGrpSpPr/>
          <p:nvPr/>
        </p:nvGrpSpPr>
        <p:grpSpPr>
          <a:xfrm>
            <a:off x="6127047" y="1515210"/>
            <a:ext cx="5715099" cy="1117800"/>
            <a:chOff x="6286500" y="1515210"/>
            <a:chExt cx="5397600" cy="1117800"/>
          </a:xfrm>
        </p:grpSpPr>
        <p:sp>
          <p:nvSpPr>
            <p:cNvPr id="9" name="Google Shape;184;p16">
              <a:extLst>
                <a:ext uri="{FF2B5EF4-FFF2-40B4-BE49-F238E27FC236}">
                  <a16:creationId xmlns:a16="http://schemas.microsoft.com/office/drawing/2014/main" id="{32C580E3-E630-1A92-FDDA-D42D934022B9}"/>
                </a:ext>
              </a:extLst>
            </p:cNvPr>
            <p:cNvSpPr/>
            <p:nvPr/>
          </p:nvSpPr>
          <p:spPr>
            <a:xfrm>
              <a:off x="6286500" y="1515210"/>
              <a:ext cx="5397600" cy="1117800"/>
            </a:xfrm>
            <a:prstGeom prst="roundRect">
              <a:avLst>
                <a:gd name="adj" fmla="val 16667"/>
              </a:avLst>
            </a:prstGeom>
            <a:solidFill>
              <a:srgbClr val="F5F7FC"/>
            </a:solidFill>
            <a:ln w="15250" cap="flat" cmpd="sng">
              <a:solidFill>
                <a:srgbClr val="D9E0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5;p16">
              <a:extLst>
                <a:ext uri="{FF2B5EF4-FFF2-40B4-BE49-F238E27FC236}">
                  <a16:creationId xmlns:a16="http://schemas.microsoft.com/office/drawing/2014/main" id="{9F46586A-5105-00BB-CFE4-0F2E493489ED}"/>
                </a:ext>
              </a:extLst>
            </p:cNvPr>
            <p:cNvSpPr txBox="1"/>
            <p:nvPr/>
          </p:nvSpPr>
          <p:spPr>
            <a:xfrm>
              <a:off x="6438900" y="1566010"/>
              <a:ext cx="51435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2659A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🎯 1. </a:t>
              </a:r>
              <a:r>
                <a:rPr lang="en-US" sz="2000" b="1" dirty="0" err="1">
                  <a:solidFill>
                    <a:srgbClr val="2659A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拒絕「我電腦上能跑」的假象</a:t>
              </a:r>
              <a:endParaRPr sz="2000" b="1" dirty="0">
                <a:solidFill>
                  <a:srgbClr val="2659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1" name="Google Shape;186;p16">
              <a:extLst>
                <a:ext uri="{FF2B5EF4-FFF2-40B4-BE49-F238E27FC236}">
                  <a16:creationId xmlns:a16="http://schemas.microsoft.com/office/drawing/2014/main" id="{5346A9D6-32A1-797E-D247-8BC48C87BE09}"/>
                </a:ext>
              </a:extLst>
            </p:cNvPr>
            <p:cNvSpPr txBox="1"/>
            <p:nvPr/>
          </p:nvSpPr>
          <p:spPr>
            <a:xfrm>
              <a:off x="6438900" y="1947010"/>
              <a:ext cx="5203472" cy="6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直接進駐工會</a:t>
              </a: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NAS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實機與封閉內網，在真實硬體上驗證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暴露記憶體限制、內網防火牆隔離與多裝置存取延遲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A76880F-F53E-011E-9697-AD8A97B96ECB}"/>
              </a:ext>
            </a:extLst>
          </p:cNvPr>
          <p:cNvGrpSpPr/>
          <p:nvPr/>
        </p:nvGrpSpPr>
        <p:grpSpPr>
          <a:xfrm>
            <a:off x="6127047" y="3170605"/>
            <a:ext cx="5715099" cy="1117800"/>
            <a:chOff x="6286500" y="2870200"/>
            <a:chExt cx="5397600" cy="1117800"/>
          </a:xfrm>
        </p:grpSpPr>
        <p:sp>
          <p:nvSpPr>
            <p:cNvPr id="12" name="Google Shape;187;p16">
              <a:extLst>
                <a:ext uri="{FF2B5EF4-FFF2-40B4-BE49-F238E27FC236}">
                  <a16:creationId xmlns:a16="http://schemas.microsoft.com/office/drawing/2014/main" id="{BB3D80AA-AA51-73BB-F3B6-DA44C285DB74}"/>
                </a:ext>
              </a:extLst>
            </p:cNvPr>
            <p:cNvSpPr/>
            <p:nvPr/>
          </p:nvSpPr>
          <p:spPr>
            <a:xfrm>
              <a:off x="6286500" y="2870200"/>
              <a:ext cx="5397600" cy="1117800"/>
            </a:xfrm>
            <a:prstGeom prst="roundRect">
              <a:avLst>
                <a:gd name="adj" fmla="val 16667"/>
              </a:avLst>
            </a:prstGeom>
            <a:solidFill>
              <a:srgbClr val="FCF5F5"/>
            </a:solidFill>
            <a:ln w="15250" cap="flat" cmpd="sng">
              <a:solidFill>
                <a:srgbClr val="D9E0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3" name="Google Shape;188;p16">
              <a:extLst>
                <a:ext uri="{FF2B5EF4-FFF2-40B4-BE49-F238E27FC236}">
                  <a16:creationId xmlns:a16="http://schemas.microsoft.com/office/drawing/2014/main" id="{DFD18A56-1FB5-A896-4635-4C23CB6223FF}"/>
                </a:ext>
              </a:extLst>
            </p:cNvPr>
            <p:cNvSpPr txBox="1"/>
            <p:nvPr/>
          </p:nvSpPr>
          <p:spPr>
            <a:xfrm>
              <a:off x="6438900" y="2921000"/>
              <a:ext cx="51435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BF403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💣 2. </a:t>
              </a:r>
              <a:r>
                <a:rPr lang="en-US" sz="2000" b="1" dirty="0" err="1">
                  <a:solidFill>
                    <a:srgbClr val="BF403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真實歷史資料的極端邊界考驗</a:t>
              </a:r>
              <a:endParaRPr sz="1800" b="1" dirty="0">
                <a:solidFill>
                  <a:srgbClr val="BF4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4" name="Google Shape;189;p16">
              <a:extLst>
                <a:ext uri="{FF2B5EF4-FFF2-40B4-BE49-F238E27FC236}">
                  <a16:creationId xmlns:a16="http://schemas.microsoft.com/office/drawing/2014/main" id="{DE4541EC-5F3F-D287-B2E0-FF68DB914B2B}"/>
                </a:ext>
              </a:extLst>
            </p:cNvPr>
            <p:cNvSpPr txBox="1"/>
            <p:nvPr/>
          </p:nvSpPr>
          <p:spPr>
            <a:xfrm>
              <a:off x="6438900" y="3302000"/>
              <a:ext cx="5203472" cy="649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匯入去識別化真實歷史案件，進行極端資料流壓力測試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引爆紙本時代留下的特殊字元、破約紀錄與跨期髒資料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D2E647E-2B7A-A2AB-77C1-C76094A71600}"/>
              </a:ext>
            </a:extLst>
          </p:cNvPr>
          <p:cNvGrpSpPr/>
          <p:nvPr/>
        </p:nvGrpSpPr>
        <p:grpSpPr>
          <a:xfrm>
            <a:off x="6127047" y="4826000"/>
            <a:ext cx="5715099" cy="1066800"/>
            <a:chOff x="6286500" y="4826000"/>
            <a:chExt cx="5397600" cy="1066800"/>
          </a:xfrm>
        </p:grpSpPr>
        <p:sp>
          <p:nvSpPr>
            <p:cNvPr id="15" name="Google Shape;190;p16">
              <a:extLst>
                <a:ext uri="{FF2B5EF4-FFF2-40B4-BE49-F238E27FC236}">
                  <a16:creationId xmlns:a16="http://schemas.microsoft.com/office/drawing/2014/main" id="{6ED5FD51-2743-D326-23F4-6024AD81DBB6}"/>
                </a:ext>
              </a:extLst>
            </p:cNvPr>
            <p:cNvSpPr/>
            <p:nvPr/>
          </p:nvSpPr>
          <p:spPr>
            <a:xfrm>
              <a:off x="6286500" y="4826000"/>
              <a:ext cx="5397600" cy="1066800"/>
            </a:xfrm>
            <a:prstGeom prst="roundRect">
              <a:avLst>
                <a:gd name="adj" fmla="val 16667"/>
              </a:avLst>
            </a:prstGeom>
            <a:solidFill>
              <a:srgbClr val="FCF7F2"/>
            </a:solidFill>
            <a:ln w="15250" cap="flat" cmpd="sng">
              <a:solidFill>
                <a:srgbClr val="D9E0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1;p16">
              <a:extLst>
                <a:ext uri="{FF2B5EF4-FFF2-40B4-BE49-F238E27FC236}">
                  <a16:creationId xmlns:a16="http://schemas.microsoft.com/office/drawing/2014/main" id="{0C9DD2C1-0D1D-2DC4-8D77-4128915A4D49}"/>
                </a:ext>
              </a:extLst>
            </p:cNvPr>
            <p:cNvSpPr txBox="1"/>
            <p:nvPr/>
          </p:nvSpPr>
          <p:spPr>
            <a:xfrm>
              <a:off x="6438900" y="4876800"/>
              <a:ext cx="51435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BF731A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🔄 3. </a:t>
              </a:r>
              <a:r>
                <a:rPr lang="en-US" sz="2000" b="1" dirty="0" err="1">
                  <a:solidFill>
                    <a:srgbClr val="BF731A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現場反饋驅動需求快速激增</a:t>
              </a:r>
              <a:endParaRPr sz="1800" b="1" dirty="0">
                <a:solidFill>
                  <a:srgbClr val="BF731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7" name="Google Shape;192;p16">
              <a:extLst>
                <a:ext uri="{FF2B5EF4-FFF2-40B4-BE49-F238E27FC236}">
                  <a16:creationId xmlns:a16="http://schemas.microsoft.com/office/drawing/2014/main" id="{DE5DA9E2-86F5-A7DD-BEDE-27A15A3EF044}"/>
                </a:ext>
              </a:extLst>
            </p:cNvPr>
            <p:cNvSpPr txBox="1"/>
            <p:nvPr/>
          </p:nvSpPr>
          <p:spPr>
            <a:xfrm>
              <a:off x="6438900" y="5257800"/>
              <a:ext cx="52034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行政人員現場實測中提出突發請假、早產改期等真實需求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倒逼開發團隊建立高彈性架構，快速吸收新業務場景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FCD4678-1E57-6B31-5DEA-3C72ECE59CDF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07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A53CA81C-C5F3-229A-522B-C999C293D8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86490FD4-031D-9D62-0221-B6F917034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261" y="5892800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79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7DC4B854-31DB-5B6E-9367-F87C23317ABA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2ADABF1-0ADB-7621-1228-41E50EEC5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4" name="Shape 93">
            <a:extLst>
              <a:ext uri="{FF2B5EF4-FFF2-40B4-BE49-F238E27FC236}">
                <a16:creationId xmlns:a16="http://schemas.microsoft.com/office/drawing/2014/main" id="{7CE4900D-7DE4-2F4F-BD99-55AC74AD8F50}"/>
              </a:ext>
            </a:extLst>
          </p:cNvPr>
          <p:cNvSpPr>
            <a:spLocks noGrp="1"/>
          </p:cNvSpPr>
          <p:nvPr/>
        </p:nvSpPr>
        <p:spPr>
          <a:xfrm>
            <a:off x="612832" y="597198"/>
            <a:ext cx="2017479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架構韌性</a:t>
            </a: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2FF76CAA-C15B-5F30-4A28-D6ED0CA3EE77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C9DB64-AB3F-19D2-E57C-8854F0F12F1A}"/>
              </a:ext>
            </a:extLst>
          </p:cNvPr>
          <p:cNvSpPr txBox="1"/>
          <p:nvPr/>
        </p:nvSpPr>
        <p:spPr>
          <a:xfrm>
            <a:off x="612832" y="115162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 err="1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領域模組化</a:t>
            </a:r>
            <a:r>
              <a:rPr lang="en-US" altLang="zh-TW" sz="2000" b="1" dirty="0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(Domain &amp; Subsystem) </a:t>
            </a:r>
            <a:r>
              <a:rPr lang="en-US" altLang="zh-TW" sz="2000" b="1" dirty="0" err="1">
                <a:solidFill>
                  <a:srgbClr val="26262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與敏捷協作</a:t>
            </a:r>
            <a:endParaRPr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Google Shape;200;p17">
            <a:extLst>
              <a:ext uri="{FF2B5EF4-FFF2-40B4-BE49-F238E27FC236}">
                <a16:creationId xmlns:a16="http://schemas.microsoft.com/office/drawing/2014/main" id="{4B7F11A4-FB40-0488-678A-501E858735EC}"/>
              </a:ext>
            </a:extLst>
          </p:cNvPr>
          <p:cNvSpPr/>
          <p:nvPr/>
        </p:nvSpPr>
        <p:spPr>
          <a:xfrm>
            <a:off x="508000" y="1706054"/>
            <a:ext cx="4858533" cy="4367368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 cap="flat" cmpd="sng">
            <a:solidFill>
              <a:srgbClr val="D9E0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17">
            <a:extLst>
              <a:ext uri="{FF2B5EF4-FFF2-40B4-BE49-F238E27FC236}">
                <a16:creationId xmlns:a16="http://schemas.microsoft.com/office/drawing/2014/main" id="{EDD1EB61-9ABE-0C50-8F72-BF97E69FAB63}"/>
              </a:ext>
            </a:extLst>
          </p:cNvPr>
          <p:cNvSpPr txBox="1"/>
          <p:nvPr/>
        </p:nvSpPr>
        <p:spPr>
          <a:xfrm>
            <a:off x="687043" y="1899345"/>
            <a:ext cx="4679490" cy="393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3598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🏗️ </a:t>
            </a:r>
            <a:r>
              <a:rPr lang="en-US" sz="2000" b="1" dirty="0" err="1">
                <a:solidFill>
                  <a:srgbClr val="33598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系統運作拓撲與架構拓撲圖</a:t>
            </a:r>
            <a:endParaRPr sz="2000" b="1" dirty="0">
              <a:solidFill>
                <a:srgbClr val="33598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1" name="Google Shape;202;p17">
            <a:extLst>
              <a:ext uri="{FF2B5EF4-FFF2-40B4-BE49-F238E27FC236}">
                <a16:creationId xmlns:a16="http://schemas.microsoft.com/office/drawing/2014/main" id="{D174D81C-6EAA-75E6-0713-C2FBA0BF50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1" y="2330109"/>
            <a:ext cx="4795032" cy="33840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群組 20">
            <a:extLst>
              <a:ext uri="{FF2B5EF4-FFF2-40B4-BE49-F238E27FC236}">
                <a16:creationId xmlns:a16="http://schemas.microsoft.com/office/drawing/2014/main" id="{3C05E1D3-2D57-A2E2-CBB9-9E1E678F6FA4}"/>
              </a:ext>
            </a:extLst>
          </p:cNvPr>
          <p:cNvGrpSpPr/>
          <p:nvPr/>
        </p:nvGrpSpPr>
        <p:grpSpPr>
          <a:xfrm>
            <a:off x="5937856" y="1858184"/>
            <a:ext cx="5746144" cy="1037063"/>
            <a:chOff x="6286500" y="914400"/>
            <a:chExt cx="5397600" cy="1037063"/>
          </a:xfrm>
        </p:grpSpPr>
        <p:sp>
          <p:nvSpPr>
            <p:cNvPr id="12" name="Google Shape;203;p17">
              <a:extLst>
                <a:ext uri="{FF2B5EF4-FFF2-40B4-BE49-F238E27FC236}">
                  <a16:creationId xmlns:a16="http://schemas.microsoft.com/office/drawing/2014/main" id="{F4A2BB35-D53A-0B72-62CD-92D401D5B1B0}"/>
                </a:ext>
              </a:extLst>
            </p:cNvPr>
            <p:cNvSpPr/>
            <p:nvPr/>
          </p:nvSpPr>
          <p:spPr>
            <a:xfrm>
              <a:off x="6286500" y="914400"/>
              <a:ext cx="5397600" cy="1037063"/>
            </a:xfrm>
            <a:prstGeom prst="roundRect">
              <a:avLst>
                <a:gd name="adj" fmla="val 16667"/>
              </a:avLst>
            </a:prstGeom>
            <a:solidFill>
              <a:srgbClr val="F2FAF5"/>
            </a:solidFill>
            <a:ln w="15250" cap="flat" cmpd="sng">
              <a:solidFill>
                <a:srgbClr val="D9E0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4;p17">
              <a:extLst>
                <a:ext uri="{FF2B5EF4-FFF2-40B4-BE49-F238E27FC236}">
                  <a16:creationId xmlns:a16="http://schemas.microsoft.com/office/drawing/2014/main" id="{E8B8F686-79C1-1CA6-1C0D-883727B14DD5}"/>
                </a:ext>
              </a:extLst>
            </p:cNvPr>
            <p:cNvSpPr txBox="1"/>
            <p:nvPr/>
          </p:nvSpPr>
          <p:spPr>
            <a:xfrm>
              <a:off x="6438900" y="965200"/>
              <a:ext cx="51435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268C5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🧩 1. Domain </a:t>
              </a:r>
              <a:r>
                <a:rPr lang="en-US" sz="2000" b="1" dirty="0" err="1">
                  <a:solidFill>
                    <a:srgbClr val="268C5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領域高內聚低耦合</a:t>
              </a:r>
              <a:endParaRPr sz="2000" b="1" dirty="0">
                <a:solidFill>
                  <a:srgbClr val="268C5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4" name="Google Shape;205;p17">
              <a:extLst>
                <a:ext uri="{FF2B5EF4-FFF2-40B4-BE49-F238E27FC236}">
                  <a16:creationId xmlns:a16="http://schemas.microsoft.com/office/drawing/2014/main" id="{E30AA7B3-A569-A3EA-304E-14583BBD4231}"/>
                </a:ext>
              </a:extLst>
            </p:cNvPr>
            <p:cNvSpPr txBox="1"/>
            <p:nvPr/>
          </p:nvSpPr>
          <p:spPr>
            <a:xfrm>
              <a:off x="6438900" y="1283497"/>
              <a:ext cx="5092800" cy="6052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嚴格劃分訂單、排班、財務與人員四大獨立業務</a:t>
              </a: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Domain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修改請假拆帳算法「完全不影響」媒合排程，零連鎖故障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8E02A25-D5E5-4C0B-D080-C2F6B728B494}"/>
              </a:ext>
            </a:extLst>
          </p:cNvPr>
          <p:cNvGrpSpPr/>
          <p:nvPr/>
        </p:nvGrpSpPr>
        <p:grpSpPr>
          <a:xfrm>
            <a:off x="5937956" y="3262164"/>
            <a:ext cx="5746144" cy="1037063"/>
            <a:chOff x="6286500" y="2870200"/>
            <a:chExt cx="5397600" cy="1037063"/>
          </a:xfrm>
        </p:grpSpPr>
        <p:sp>
          <p:nvSpPr>
            <p:cNvPr id="15" name="Google Shape;206;p17">
              <a:extLst>
                <a:ext uri="{FF2B5EF4-FFF2-40B4-BE49-F238E27FC236}">
                  <a16:creationId xmlns:a16="http://schemas.microsoft.com/office/drawing/2014/main" id="{C05999FA-B276-B9F4-2FA7-5CDC931C250F}"/>
                </a:ext>
              </a:extLst>
            </p:cNvPr>
            <p:cNvSpPr/>
            <p:nvPr/>
          </p:nvSpPr>
          <p:spPr>
            <a:xfrm>
              <a:off x="6286500" y="2870200"/>
              <a:ext cx="5397600" cy="1037063"/>
            </a:xfrm>
            <a:prstGeom prst="roundRect">
              <a:avLst>
                <a:gd name="adj" fmla="val 16667"/>
              </a:avLst>
            </a:prstGeom>
            <a:solidFill>
              <a:srgbClr val="FAF5FC"/>
            </a:solidFill>
            <a:ln w="15250" cap="flat" cmpd="sng">
              <a:solidFill>
                <a:srgbClr val="D9E0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7;p17">
              <a:extLst>
                <a:ext uri="{FF2B5EF4-FFF2-40B4-BE49-F238E27FC236}">
                  <a16:creationId xmlns:a16="http://schemas.microsoft.com/office/drawing/2014/main" id="{4BC609D3-6BE5-0AAB-B657-BF62C183D91A}"/>
                </a:ext>
              </a:extLst>
            </p:cNvPr>
            <p:cNvSpPr txBox="1"/>
            <p:nvPr/>
          </p:nvSpPr>
          <p:spPr>
            <a:xfrm>
              <a:off x="6438900" y="2921000"/>
              <a:ext cx="51435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7333A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🛡️ 2. Subsystem </a:t>
              </a:r>
              <a:r>
                <a:rPr lang="en-US" sz="2000" b="1" dirty="0" err="1">
                  <a:solidFill>
                    <a:srgbClr val="7333A6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隔離與強型別合約</a:t>
              </a:r>
              <a:endParaRPr sz="2000" b="1" dirty="0">
                <a:solidFill>
                  <a:srgbClr val="7333A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7" name="Google Shape;208;p17">
              <a:extLst>
                <a:ext uri="{FF2B5EF4-FFF2-40B4-BE49-F238E27FC236}">
                  <a16:creationId xmlns:a16="http://schemas.microsoft.com/office/drawing/2014/main" id="{83842510-8236-8EEE-4BFE-2C9083852229}"/>
                </a:ext>
              </a:extLst>
            </p:cNvPr>
            <p:cNvSpPr txBox="1"/>
            <p:nvPr/>
          </p:nvSpPr>
          <p:spPr>
            <a:xfrm>
              <a:off x="6438900" y="3302000"/>
              <a:ext cx="5092800" cy="556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子系統間透過</a:t>
              </a: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Typed Contract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與明確</a:t>
              </a: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API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邊界相互通訊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任何新需求或規則改進，變更影響範圍</a:t>
              </a: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100%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可被預測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9101110-21B3-DB80-0BF3-F142932C28AD}"/>
              </a:ext>
            </a:extLst>
          </p:cNvPr>
          <p:cNvGrpSpPr/>
          <p:nvPr/>
        </p:nvGrpSpPr>
        <p:grpSpPr>
          <a:xfrm>
            <a:off x="5937856" y="4666144"/>
            <a:ext cx="5746144" cy="1066800"/>
            <a:chOff x="6286500" y="4826000"/>
            <a:chExt cx="5397600" cy="1066800"/>
          </a:xfrm>
        </p:grpSpPr>
        <p:sp>
          <p:nvSpPr>
            <p:cNvPr id="18" name="Google Shape;209;p17">
              <a:extLst>
                <a:ext uri="{FF2B5EF4-FFF2-40B4-BE49-F238E27FC236}">
                  <a16:creationId xmlns:a16="http://schemas.microsoft.com/office/drawing/2014/main" id="{2D9AC962-DEE2-A204-4FFB-1848F59A364E}"/>
                </a:ext>
              </a:extLst>
            </p:cNvPr>
            <p:cNvSpPr/>
            <p:nvPr/>
          </p:nvSpPr>
          <p:spPr>
            <a:xfrm>
              <a:off x="6286500" y="4826000"/>
              <a:ext cx="5397600" cy="1066800"/>
            </a:xfrm>
            <a:prstGeom prst="roundRect">
              <a:avLst>
                <a:gd name="adj" fmla="val 16667"/>
              </a:avLst>
            </a:prstGeom>
            <a:solidFill>
              <a:srgbClr val="F5F7FC"/>
            </a:solidFill>
            <a:ln w="15250" cap="flat" cmpd="sng">
              <a:solidFill>
                <a:srgbClr val="D9E0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0;p17">
              <a:extLst>
                <a:ext uri="{FF2B5EF4-FFF2-40B4-BE49-F238E27FC236}">
                  <a16:creationId xmlns:a16="http://schemas.microsoft.com/office/drawing/2014/main" id="{D49882F4-5D12-207C-70A8-DCB3026537E4}"/>
                </a:ext>
              </a:extLst>
            </p:cNvPr>
            <p:cNvSpPr txBox="1"/>
            <p:nvPr/>
          </p:nvSpPr>
          <p:spPr>
            <a:xfrm>
              <a:off x="6438900" y="4876800"/>
              <a:ext cx="51435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33669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🤝 3. </a:t>
              </a:r>
              <a:r>
                <a:rPr lang="en-US" sz="2000" b="1" dirty="0" err="1">
                  <a:solidFill>
                    <a:srgbClr val="33669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團隊協作規範與敏捷應變</a:t>
              </a:r>
              <a:endParaRPr sz="2000" b="1" dirty="0">
                <a:solidFill>
                  <a:srgbClr val="33669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0" name="Google Shape;211;p17">
              <a:extLst>
                <a:ext uri="{FF2B5EF4-FFF2-40B4-BE49-F238E27FC236}">
                  <a16:creationId xmlns:a16="http://schemas.microsoft.com/office/drawing/2014/main" id="{0AA067D7-5076-1D51-F068-687F39487BFC}"/>
                </a:ext>
              </a:extLst>
            </p:cNvPr>
            <p:cNvSpPr txBox="1"/>
            <p:nvPr/>
          </p:nvSpPr>
          <p:spPr>
            <a:xfrm>
              <a:off x="6438900" y="5257800"/>
              <a:ext cx="50928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規範統一程式碼風格、繁中</a:t>
              </a: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Header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與無副作用純函式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•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奠定後續</a:t>
              </a:r>
              <a:r>
                <a:rPr lang="en-US" sz="1600" dirty="0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CI </a:t>
              </a:r>
              <a:r>
                <a:rPr lang="en-US" sz="1600" dirty="0" err="1">
                  <a:solidFill>
                    <a:srgbClr val="40404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自動化測試基石，讓團隊能安全快速迭代</a:t>
              </a:r>
              <a:endParaRPr sz="1600" dirty="0">
                <a:solidFill>
                  <a:srgbClr val="40404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70A7FF8-93ED-3EBB-1E23-3BA899F21A3A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08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1591C7BA-1818-BBC0-A511-766B5F136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389E7EDE-FB1A-3C6D-FF67-455112800C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13" y="5881038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13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85542-05FD-AE19-54E2-C682217F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F37C0E65-B479-E744-0070-7D01DECD2607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u="none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張琬偲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C8CA1A5-D121-F8F0-0275-1A501045B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7" b="11657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0563E894-417A-8DE3-D9CC-5A8DAF6C3ED5}"/>
              </a:ext>
            </a:extLst>
          </p:cNvPr>
          <p:cNvSpPr/>
          <p:nvPr/>
        </p:nvSpPr>
        <p:spPr>
          <a:xfrm>
            <a:off x="81431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6A87E3A-3868-26EB-0CF0-1CC0772BC604}"/>
              </a:ext>
            </a:extLst>
          </p:cNvPr>
          <p:cNvSpPr/>
          <p:nvPr/>
        </p:nvSpPr>
        <p:spPr>
          <a:xfrm>
            <a:off x="878840" y="3448191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1304F10-17C7-FCF1-B421-D27B0AB25EF3}"/>
              </a:ext>
            </a:extLst>
          </p:cNvPr>
          <p:cNvSpPr/>
          <p:nvPr/>
        </p:nvSpPr>
        <p:spPr>
          <a:xfrm>
            <a:off x="777240" y="39776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B08E68F-3CB1-1DC7-BA21-DCEEDCD0DAAD}"/>
              </a:ext>
            </a:extLst>
          </p:cNvPr>
          <p:cNvSpPr/>
          <p:nvPr/>
        </p:nvSpPr>
        <p:spPr>
          <a:xfrm>
            <a:off x="850392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7E15DC6-2E41-95AB-96B7-B578AE31B384}"/>
              </a:ext>
            </a:extLst>
          </p:cNvPr>
          <p:cNvSpPr/>
          <p:nvPr/>
        </p:nvSpPr>
        <p:spPr>
          <a:xfrm>
            <a:off x="8503920" y="27432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4" name="Shape 93">
            <a:extLst>
              <a:ext uri="{FF2B5EF4-FFF2-40B4-BE49-F238E27FC236}">
                <a16:creationId xmlns:a16="http://schemas.microsoft.com/office/drawing/2014/main" id="{84881842-DCD9-0FD1-F756-127E6576ECFE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785123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zh-TW" altLang="zh-TW" sz="3200" b="1" spc="-1" dirty="0">
                <a:solidFill>
                  <a:srgbClr val="292C28"/>
                </a:solidFill>
                <a:latin typeface="Microsoft JhengHei"/>
                <a:ea typeface="Microsoft JhengHei"/>
              </a:rPr>
              <a:t>後台管理網頁</a:t>
            </a:r>
            <a:endParaRPr lang="en-US" altLang="zh-TW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統一章節標記">
            <a:extLst>
              <a:ext uri="{FF2B5EF4-FFF2-40B4-BE49-F238E27FC236}">
                <a16:creationId xmlns:a16="http://schemas.microsoft.com/office/drawing/2014/main" id="{9A4788F4-54BC-4AEB-6920-DF16039BEB96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Text 117">
            <a:extLst>
              <a:ext uri="{FF2B5EF4-FFF2-40B4-BE49-F238E27FC236}">
                <a16:creationId xmlns:a16="http://schemas.microsoft.com/office/drawing/2014/main" id="{A0508678-F369-680E-7007-DD8003F9C52F}"/>
              </a:ext>
            </a:extLst>
          </p:cNvPr>
          <p:cNvSpPr>
            <a:spLocks noGrp="1"/>
          </p:cNvSpPr>
          <p:nvPr/>
        </p:nvSpPr>
        <p:spPr>
          <a:xfrm>
            <a:off x="822960" y="3794760"/>
            <a:ext cx="9599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zh-TW" altLang="zh-TW" sz="2800" spc="-1" dirty="0">
                <a:solidFill>
                  <a:srgbClr val="5D493D"/>
                </a:solidFill>
                <a:latin typeface="Microsoft JhengHei"/>
                <a:ea typeface="Microsoft JhengHei"/>
              </a:rPr>
              <a:t>後台架構與功能簡報</a:t>
            </a:r>
            <a:endParaRPr lang="en-US" altLang="zh-TW" sz="2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94">
            <a:extLst>
              <a:ext uri="{FF2B5EF4-FFF2-40B4-BE49-F238E27FC236}">
                <a16:creationId xmlns:a16="http://schemas.microsoft.com/office/drawing/2014/main" id="{56DE7E7E-59E5-D92E-EFAB-C32F63A95C8B}"/>
              </a:ext>
            </a:extLst>
          </p:cNvPr>
          <p:cNvSpPr>
            <a:spLocks noGrp="1"/>
          </p:cNvSpPr>
          <p:nvPr/>
        </p:nvSpPr>
        <p:spPr>
          <a:xfrm>
            <a:off x="822959" y="4480740"/>
            <a:ext cx="7492365" cy="43920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A48ED75-851E-5D76-7B43-774E09B0D971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09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024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C8D6A334-FEFD-7AA8-F078-7645B2DD2753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3202811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zh-TW" altLang="zh-TW" sz="3200" b="1" spc="-1" dirty="0">
                <a:solidFill>
                  <a:srgbClr val="292C28"/>
                </a:solidFill>
                <a:latin typeface="Microsoft JhengHei"/>
                <a:ea typeface="Microsoft JhengHei"/>
              </a:rPr>
              <a:t>自動化了什麼？</a:t>
            </a:r>
            <a:endParaRPr lang="en-US" altLang="zh-TW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統一章節標記">
            <a:extLst>
              <a:ext uri="{FF2B5EF4-FFF2-40B4-BE49-F238E27FC236}">
                <a16:creationId xmlns:a16="http://schemas.microsoft.com/office/drawing/2014/main" id="{CF92A822-6814-4EB2-7698-2B5D290F110E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381F38E9-68C5-5A51-72EA-B73D13BA1023}"/>
              </a:ext>
            </a:extLst>
          </p:cNvPr>
          <p:cNvSpPr/>
          <p:nvPr/>
        </p:nvSpPr>
        <p:spPr>
          <a:xfrm>
            <a:off x="548640" y="1737360"/>
            <a:ext cx="5165640" cy="19652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6C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A9115D1-0497-63B3-C1C9-EC770A9DBE73}"/>
              </a:ext>
            </a:extLst>
          </p:cNvPr>
          <p:cNvSpPr/>
          <p:nvPr/>
        </p:nvSpPr>
        <p:spPr>
          <a:xfrm>
            <a:off x="749880" y="1920240"/>
            <a:ext cx="474840" cy="474840"/>
          </a:xfrm>
          <a:prstGeom prst="rect">
            <a:avLst/>
          </a:prstGeom>
          <a:solidFill>
            <a:srgbClr val="EDE3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38481D1-47F2-F3A3-3D6E-CC40783CDD96}"/>
              </a:ext>
            </a:extLst>
          </p:cNvPr>
          <p:cNvSpPr/>
          <p:nvPr/>
        </p:nvSpPr>
        <p:spPr>
          <a:xfrm>
            <a:off x="749880" y="19202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🏦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B21A02C-EC08-5D07-47EC-444FD781B0CA}"/>
              </a:ext>
            </a:extLst>
          </p:cNvPr>
          <p:cNvSpPr/>
          <p:nvPr/>
        </p:nvSpPr>
        <p:spPr>
          <a:xfrm>
            <a:off x="1417319" y="1901880"/>
            <a:ext cx="3933613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TW" sz="2800" b="1" strike="noStrike" spc="-1" dirty="0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銀行對帳單自動匯入分類</a:t>
            </a:r>
            <a:endParaRPr lang="en-US" sz="2800" b="0" strike="noStrike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AB6D5EE0-0952-F194-A43A-3DB5174615D2}"/>
              </a:ext>
            </a:extLst>
          </p:cNvPr>
          <p:cNvSpPr/>
          <p:nvPr/>
        </p:nvSpPr>
        <p:spPr>
          <a:xfrm>
            <a:off x="768240" y="2578680"/>
            <a:ext cx="472680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TW" sz="2000" b="0" strike="noStrike" spc="-1" dirty="0">
                <a:solidFill>
                  <a:srgbClr val="6F70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系統自動讀取對帳單、自動歸戶核銷，比對不上的才跳出來給人工確認，不再逐筆手動核對。</a:t>
            </a:r>
            <a:endParaRPr lang="en-US" sz="2000" b="0" strike="noStrike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DE2F1740-F70F-5467-11C8-6A70E395DAC9}"/>
              </a:ext>
            </a:extLst>
          </p:cNvPr>
          <p:cNvSpPr/>
          <p:nvPr/>
        </p:nvSpPr>
        <p:spPr>
          <a:xfrm>
            <a:off x="5989320" y="1737360"/>
            <a:ext cx="5165640" cy="1965240"/>
          </a:xfrm>
          <a:prstGeom prst="rect">
            <a:avLst/>
          </a:prstGeom>
          <a:solidFill>
            <a:srgbClr val="FFFFFF"/>
          </a:solidFill>
          <a:ln w="1587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B2B9A2CF-9085-A7E2-10CC-25D7BED8768C}"/>
              </a:ext>
            </a:extLst>
          </p:cNvPr>
          <p:cNvSpPr/>
          <p:nvPr/>
        </p:nvSpPr>
        <p:spPr>
          <a:xfrm>
            <a:off x="6190560" y="1920240"/>
            <a:ext cx="474840" cy="474840"/>
          </a:xfrm>
          <a:prstGeom prst="rect">
            <a:avLst/>
          </a:prstGeom>
          <a:solidFill>
            <a:srgbClr val="EDE3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ACEA3F35-1A0B-2281-7D24-76BECE7DB6B3}"/>
              </a:ext>
            </a:extLst>
          </p:cNvPr>
          <p:cNvSpPr/>
          <p:nvPr/>
        </p:nvSpPr>
        <p:spPr>
          <a:xfrm>
            <a:off x="6190560" y="19202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💬</a:t>
            </a: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81183225-A5DF-A29A-A7B2-BFE0F02A227D}"/>
              </a:ext>
            </a:extLst>
          </p:cNvPr>
          <p:cNvSpPr/>
          <p:nvPr/>
        </p:nvSpPr>
        <p:spPr>
          <a:xfrm>
            <a:off x="6857999" y="1901880"/>
            <a:ext cx="3830471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</a:t>
            </a:r>
            <a:r>
              <a:rPr lang="zh-TW" sz="2800" b="1" strike="noStrike" spc="-1" dirty="0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官方帳號自動通知</a:t>
            </a:r>
            <a:endParaRPr lang="en-US" sz="2800" b="0" strike="noStrike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A568FF38-3AEE-3AE9-D953-F5D2E0228097}"/>
              </a:ext>
            </a:extLst>
          </p:cNvPr>
          <p:cNvSpPr/>
          <p:nvPr/>
        </p:nvSpPr>
        <p:spPr>
          <a:xfrm>
            <a:off x="6208920" y="2578680"/>
            <a:ext cx="472680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6F70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Rich Menu</a:t>
            </a:r>
            <a:r>
              <a:rPr lang="zh-TW" sz="2000" b="0" strike="noStrike" spc="-1" dirty="0">
                <a:solidFill>
                  <a:srgbClr val="6F70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、即時推播取代電話簡訊，客戶與月嫂自己就能查詢繳費與排班進度。</a:t>
            </a:r>
            <a:endParaRPr lang="en-US" sz="2000" b="0" strike="noStrike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F8310175-995F-869D-8993-5D597AAC4592}"/>
              </a:ext>
            </a:extLst>
          </p:cNvPr>
          <p:cNvSpPr/>
          <p:nvPr/>
        </p:nvSpPr>
        <p:spPr>
          <a:xfrm>
            <a:off x="548640" y="3977640"/>
            <a:ext cx="5165640" cy="1965240"/>
          </a:xfrm>
          <a:prstGeom prst="rect">
            <a:avLst/>
          </a:prstGeom>
          <a:solidFill>
            <a:srgbClr val="FFFFFF"/>
          </a:solidFill>
          <a:ln w="15875">
            <a:solidFill>
              <a:srgbClr val="AD5A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7E26CAB6-F654-C7A6-10F6-B0BEFDA1E559}"/>
              </a:ext>
            </a:extLst>
          </p:cNvPr>
          <p:cNvSpPr/>
          <p:nvPr/>
        </p:nvSpPr>
        <p:spPr>
          <a:xfrm>
            <a:off x="749880" y="4160520"/>
            <a:ext cx="474840" cy="474840"/>
          </a:xfrm>
          <a:prstGeom prst="rect">
            <a:avLst/>
          </a:prstGeom>
          <a:solidFill>
            <a:srgbClr val="EDE3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5FD94DD4-E2F7-0B77-F801-CB7F070C4E08}"/>
              </a:ext>
            </a:extLst>
          </p:cNvPr>
          <p:cNvSpPr/>
          <p:nvPr/>
        </p:nvSpPr>
        <p:spPr>
          <a:xfrm>
            <a:off x="749880" y="416052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📥</a:t>
            </a:r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6C988671-95D7-6769-8CB5-5EA3691A0791}"/>
              </a:ext>
            </a:extLst>
          </p:cNvPr>
          <p:cNvSpPr/>
          <p:nvPr/>
        </p:nvSpPr>
        <p:spPr>
          <a:xfrm>
            <a:off x="1417319" y="4142160"/>
            <a:ext cx="3830471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Excel </a:t>
            </a:r>
            <a:r>
              <a:rPr lang="zh-TW" sz="2800" b="1" strike="noStrike" spc="-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名冊自動匯入</a:t>
            </a:r>
            <a:endParaRPr lang="en-US" sz="2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782C18D0-B48E-23C9-6C53-E6AB1A687183}"/>
              </a:ext>
            </a:extLst>
          </p:cNvPr>
          <p:cNvSpPr/>
          <p:nvPr/>
        </p:nvSpPr>
        <p:spPr>
          <a:xfrm>
            <a:off x="768240" y="4818960"/>
            <a:ext cx="472680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zh-TW" sz="2000" b="0" strike="noStrike" spc="-1">
                <a:solidFill>
                  <a:srgbClr val="6F70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自動讀取寫入資料庫，欄位格式錯誤自動攔截、不再人工謄寫。</a:t>
            </a:r>
            <a:endParaRPr lang="en-US" sz="20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24">
            <a:extLst>
              <a:ext uri="{FF2B5EF4-FFF2-40B4-BE49-F238E27FC236}">
                <a16:creationId xmlns:a16="http://schemas.microsoft.com/office/drawing/2014/main" id="{208E5E8A-7EC8-6786-9A13-1905B0FC11D8}"/>
              </a:ext>
            </a:extLst>
          </p:cNvPr>
          <p:cNvSpPr/>
          <p:nvPr/>
        </p:nvSpPr>
        <p:spPr>
          <a:xfrm>
            <a:off x="5989320" y="3977640"/>
            <a:ext cx="5165640" cy="1965240"/>
          </a:xfrm>
          <a:prstGeom prst="rect">
            <a:avLst/>
          </a:prstGeom>
          <a:solidFill>
            <a:srgbClr val="FFFFFF"/>
          </a:solidFill>
          <a:ln w="1587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Shape 25">
            <a:extLst>
              <a:ext uri="{FF2B5EF4-FFF2-40B4-BE49-F238E27FC236}">
                <a16:creationId xmlns:a16="http://schemas.microsoft.com/office/drawing/2014/main" id="{F2D2FB89-0D20-22DD-E5A3-789BEA244468}"/>
              </a:ext>
            </a:extLst>
          </p:cNvPr>
          <p:cNvSpPr/>
          <p:nvPr/>
        </p:nvSpPr>
        <p:spPr>
          <a:xfrm>
            <a:off x="6190560" y="4160520"/>
            <a:ext cx="474840" cy="474840"/>
          </a:xfrm>
          <a:prstGeom prst="rect">
            <a:avLst/>
          </a:prstGeom>
          <a:solidFill>
            <a:srgbClr val="EDE3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9E17D31F-C9A6-27AC-F65C-6B0833BE255B}"/>
              </a:ext>
            </a:extLst>
          </p:cNvPr>
          <p:cNvSpPr/>
          <p:nvPr/>
        </p:nvSpPr>
        <p:spPr>
          <a:xfrm>
            <a:off x="6190560" y="416052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🛡️</a:t>
            </a:r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96C60887-2D69-548E-0F53-9A0AAC7782DF}"/>
              </a:ext>
            </a:extLst>
          </p:cNvPr>
          <p:cNvSpPr/>
          <p:nvPr/>
        </p:nvSpPr>
        <p:spPr>
          <a:xfrm>
            <a:off x="6857999" y="4142160"/>
            <a:ext cx="3830471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zh-TW" sz="2800" b="1" strike="noStrike" spc="-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異常自動偵測</a:t>
            </a:r>
            <a:endParaRPr lang="en-US" sz="28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Text 30">
            <a:extLst>
              <a:ext uri="{FF2B5EF4-FFF2-40B4-BE49-F238E27FC236}">
                <a16:creationId xmlns:a16="http://schemas.microsoft.com/office/drawing/2014/main" id="{5A703BFB-9907-D2DC-DB04-1F218C3D8E5A}"/>
              </a:ext>
            </a:extLst>
          </p:cNvPr>
          <p:cNvSpPr/>
          <p:nvPr/>
        </p:nvSpPr>
        <p:spPr>
          <a:xfrm>
            <a:off x="6208920" y="4818960"/>
            <a:ext cx="472680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TW" sz="2000" b="0" strike="noStrike" spc="-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採事件驅動即時投影計算</a:t>
            </a:r>
            <a:endParaRPr lang="en-US" sz="20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Shape 93">
            <a:extLst>
              <a:ext uri="{FF2B5EF4-FFF2-40B4-BE49-F238E27FC236}">
                <a16:creationId xmlns:a16="http://schemas.microsoft.com/office/drawing/2014/main" id="{18427E07-6692-8E64-3EF8-C28E545B6BB6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u="none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張琬偲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A3282E93-A80A-84AA-AB42-EEE943CBF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7" b="11657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A4D3163D-73BE-12A8-2FAD-916B213DB628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0D69F2AB-7D68-9F54-E318-F68DDD7DC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06957DE8-CFCC-AD30-A5CD-FFAD1A409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13" y="5881038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2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F777151D-7510-1235-AC2E-3523CD917F26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785123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zh-TW" altLang="zh-TW" sz="3200" b="1" spc="-1" dirty="0">
                <a:solidFill>
                  <a:srgbClr val="292C28"/>
                </a:solidFill>
                <a:latin typeface="Microsoft JhengHei"/>
                <a:ea typeface="Microsoft JhengHei"/>
              </a:rPr>
              <a:t>三大功能分區</a:t>
            </a:r>
            <a:endParaRPr lang="en-US" altLang="zh-TW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統一章節標記">
            <a:extLst>
              <a:ext uri="{FF2B5EF4-FFF2-40B4-BE49-F238E27FC236}">
                <a16:creationId xmlns:a16="http://schemas.microsoft.com/office/drawing/2014/main" id="{EC6FB693-EF27-397C-0EC8-4D29EC23F7EC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Shape 93">
            <a:extLst>
              <a:ext uri="{FF2B5EF4-FFF2-40B4-BE49-F238E27FC236}">
                <a16:creationId xmlns:a16="http://schemas.microsoft.com/office/drawing/2014/main" id="{A7B700A5-4B7C-9089-F531-62C0287A18B0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u="none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張琬偲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FB0AB6A-F036-5DE0-A38C-3DE86736E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7" b="11657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1280AB7-274C-A2B8-7263-9C0CD99C0A53}"/>
              </a:ext>
            </a:extLst>
          </p:cNvPr>
          <p:cNvSpPr txBox="1"/>
          <p:nvPr/>
        </p:nvSpPr>
        <p:spPr>
          <a:xfrm>
            <a:off x="612833" y="123768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TW" sz="1400" strike="noStrike" spc="-1" dirty="0">
                <a:solidFill>
                  <a:srgbClr val="6F7069"/>
                </a:solidFill>
                <a:latin typeface="Microsoft JhengHei"/>
                <a:ea typeface="Microsoft JhengHei"/>
              </a:rPr>
              <a:t>Navigation Map — Operations ‧ Finance ‧ Audit &amp; System</a:t>
            </a:r>
            <a:endParaRPr lang="en-US" altLang="zh-TW" sz="140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C6115721-476C-3EA6-5D1A-395845E71B3D}"/>
              </a:ext>
            </a:extLst>
          </p:cNvPr>
          <p:cNvGrpSpPr/>
          <p:nvPr/>
        </p:nvGrpSpPr>
        <p:grpSpPr>
          <a:xfrm>
            <a:off x="459120" y="1600200"/>
            <a:ext cx="11273760" cy="4671720"/>
            <a:chOff x="548640" y="1600200"/>
            <a:chExt cx="11273760" cy="467172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C4F00943-ABC0-682B-3AD8-C7C401176204}"/>
                </a:ext>
              </a:extLst>
            </p:cNvPr>
            <p:cNvSpPr/>
            <p:nvPr/>
          </p:nvSpPr>
          <p:spPr>
            <a:xfrm>
              <a:off x="548640" y="1600200"/>
              <a:ext cx="3611160" cy="502200"/>
            </a:xfrm>
            <a:prstGeom prst="rect">
              <a:avLst/>
            </a:prstGeom>
            <a:solidFill>
              <a:srgbClr val="A66C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75B28047-B9B1-7EE0-2D6B-4376326EB379}"/>
                </a:ext>
              </a:extLst>
            </p:cNvPr>
            <p:cNvSpPr/>
            <p:nvPr/>
          </p:nvSpPr>
          <p:spPr>
            <a:xfrm>
              <a:off x="685800" y="1600200"/>
              <a:ext cx="3336840" cy="50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營運作業 </a:t>
              </a:r>
              <a:r>
                <a:rPr lang="en-US" b="1" strike="noStrike" spc="-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Operations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A9C09BB5-27E1-0D45-77E3-1FD037646728}"/>
                </a:ext>
              </a:extLst>
            </p:cNvPr>
            <p:cNvSpPr/>
            <p:nvPr/>
          </p:nvSpPr>
          <p:spPr>
            <a:xfrm>
              <a:off x="548640" y="225864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43D7CD1B-582C-8CF8-2AD3-C22E43ED38D0}"/>
                </a:ext>
              </a:extLst>
            </p:cNvPr>
            <p:cNvSpPr/>
            <p:nvPr/>
          </p:nvSpPr>
          <p:spPr>
            <a:xfrm>
              <a:off x="548640" y="225864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📌</a:t>
              </a:r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2B5780C3-CA54-FDD6-5961-5AC2EBB3077B}"/>
                </a:ext>
              </a:extLst>
            </p:cNvPr>
            <p:cNvSpPr/>
            <p:nvPr/>
          </p:nvSpPr>
          <p:spPr>
            <a:xfrm>
              <a:off x="1024200" y="223128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待辦看板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E53B97C9-BECC-7183-BC87-98BA2C6335A2}"/>
                </a:ext>
              </a:extLst>
            </p:cNvPr>
            <p:cNvSpPr/>
            <p:nvPr/>
          </p:nvSpPr>
          <p:spPr>
            <a:xfrm>
              <a:off x="1024200" y="250560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七階段管線 </a:t>
              </a:r>
              <a:r>
                <a:rPr lang="en-US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+ SOP </a:t>
              </a: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檢核抽屜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BE70F738-0A77-E94D-ABA9-46EEA12234FB}"/>
                </a:ext>
              </a:extLst>
            </p:cNvPr>
            <p:cNvSpPr/>
            <p:nvPr/>
          </p:nvSpPr>
          <p:spPr>
            <a:xfrm>
              <a:off x="548640" y="282564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28CFC912-D7AF-DD99-2FE7-DF4AAB0D1984}"/>
                </a:ext>
              </a:extLst>
            </p:cNvPr>
            <p:cNvSpPr/>
            <p:nvPr/>
          </p:nvSpPr>
          <p:spPr>
            <a:xfrm>
              <a:off x="548640" y="282564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📦</a:t>
              </a:r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16FB363A-DCEE-7A87-6143-A4A2D8AE1E5F}"/>
                </a:ext>
              </a:extLst>
            </p:cNvPr>
            <p:cNvSpPr/>
            <p:nvPr/>
          </p:nvSpPr>
          <p:spPr>
            <a:xfrm>
              <a:off x="1024200" y="279792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訂單管理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0D036651-354C-6344-76C2-187221F07A59}"/>
                </a:ext>
              </a:extLst>
            </p:cNvPr>
            <p:cNvSpPr/>
            <p:nvPr/>
          </p:nvSpPr>
          <p:spPr>
            <a:xfrm>
              <a:off x="1024200" y="307224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七階段篩選、四大業務抽屜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8" name="Shape 13">
              <a:extLst>
                <a:ext uri="{FF2B5EF4-FFF2-40B4-BE49-F238E27FC236}">
                  <a16:creationId xmlns:a16="http://schemas.microsoft.com/office/drawing/2014/main" id="{7391AB46-E702-BE2E-08D6-50B63D4B9971}"/>
                </a:ext>
              </a:extLst>
            </p:cNvPr>
            <p:cNvSpPr/>
            <p:nvPr/>
          </p:nvSpPr>
          <p:spPr>
            <a:xfrm>
              <a:off x="548640" y="339228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AEFD254F-F6F5-3815-CD47-DCB4777A7E0E}"/>
                </a:ext>
              </a:extLst>
            </p:cNvPr>
            <p:cNvSpPr/>
            <p:nvPr/>
          </p:nvSpPr>
          <p:spPr>
            <a:xfrm>
              <a:off x="548640" y="339228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📅</a:t>
              </a:r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7A602EE4-8686-9D5E-932A-C078380C1E92}"/>
                </a:ext>
              </a:extLst>
            </p:cNvPr>
            <p:cNvSpPr/>
            <p:nvPr/>
          </p:nvSpPr>
          <p:spPr>
            <a:xfrm>
              <a:off x="1024200" y="336492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排班日曆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A3692E46-F146-38C0-0E14-0C0FB77D4AA7}"/>
                </a:ext>
              </a:extLst>
            </p:cNvPr>
            <p:cNvSpPr/>
            <p:nvPr/>
          </p:nvSpPr>
          <p:spPr>
            <a:xfrm>
              <a:off x="1024200" y="363924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甘特圖排班與調度中心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2768AA24-1A19-8C07-E6E2-AFD9AE6CA909}"/>
                </a:ext>
              </a:extLst>
            </p:cNvPr>
            <p:cNvSpPr/>
            <p:nvPr/>
          </p:nvSpPr>
          <p:spPr>
            <a:xfrm>
              <a:off x="548640" y="395928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1EB64CB4-3F48-5717-C1EF-63E7AE9A8A65}"/>
                </a:ext>
              </a:extLst>
            </p:cNvPr>
            <p:cNvSpPr/>
            <p:nvPr/>
          </p:nvSpPr>
          <p:spPr>
            <a:xfrm>
              <a:off x="548640" y="395928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👩‍🍼</a:t>
              </a:r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BFD923D1-A3DA-3501-A135-C459061E14D4}"/>
                </a:ext>
              </a:extLst>
            </p:cNvPr>
            <p:cNvSpPr/>
            <p:nvPr/>
          </p:nvSpPr>
          <p:spPr>
            <a:xfrm>
              <a:off x="1024200" y="393192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月嫂名冊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A9E1135A-9110-2CFC-01FF-53BED75EB6B4}"/>
                </a:ext>
              </a:extLst>
            </p:cNvPr>
            <p:cNvSpPr/>
            <p:nvPr/>
          </p:nvSpPr>
          <p:spPr>
            <a:xfrm>
              <a:off x="1024200" y="420624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證照資格與媒合偏好設定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Shape 23">
              <a:extLst>
                <a:ext uri="{FF2B5EF4-FFF2-40B4-BE49-F238E27FC236}">
                  <a16:creationId xmlns:a16="http://schemas.microsoft.com/office/drawing/2014/main" id="{AF56584F-05FC-0C31-2F3F-0572C1472EFB}"/>
                </a:ext>
              </a:extLst>
            </p:cNvPr>
            <p:cNvSpPr/>
            <p:nvPr/>
          </p:nvSpPr>
          <p:spPr>
            <a:xfrm>
              <a:off x="548640" y="452628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98BE0C9B-707C-B042-61A5-A6FF3AE771B3}"/>
                </a:ext>
              </a:extLst>
            </p:cNvPr>
            <p:cNvSpPr/>
            <p:nvPr/>
          </p:nvSpPr>
          <p:spPr>
            <a:xfrm>
              <a:off x="548640" y="452628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📥</a:t>
              </a:r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4DFBECB8-CEB1-B707-386F-B2F94C018323}"/>
                </a:ext>
              </a:extLst>
            </p:cNvPr>
            <p:cNvSpPr/>
            <p:nvPr/>
          </p:nvSpPr>
          <p:spPr>
            <a:xfrm>
              <a:off x="1024200" y="449892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資料匯入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63E3925B-78F4-AD4F-A627-6C4A5CE2C23A}"/>
                </a:ext>
              </a:extLst>
            </p:cNvPr>
            <p:cNvSpPr/>
            <p:nvPr/>
          </p:nvSpPr>
          <p:spPr>
            <a:xfrm>
              <a:off x="1024200" y="477324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HCM</a:t>
              </a: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／</a:t>
              </a:r>
              <a:r>
                <a:rPr lang="en-US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BeClass</a:t>
              </a: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／銀行流水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Shape 27">
              <a:extLst>
                <a:ext uri="{FF2B5EF4-FFF2-40B4-BE49-F238E27FC236}">
                  <a16:creationId xmlns:a16="http://schemas.microsoft.com/office/drawing/2014/main" id="{0D7A0D12-9EAF-FF71-135D-592A35B81B42}"/>
                </a:ext>
              </a:extLst>
            </p:cNvPr>
            <p:cNvSpPr/>
            <p:nvPr/>
          </p:nvSpPr>
          <p:spPr>
            <a:xfrm>
              <a:off x="548640" y="509328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1" name="Text 28">
              <a:extLst>
                <a:ext uri="{FF2B5EF4-FFF2-40B4-BE49-F238E27FC236}">
                  <a16:creationId xmlns:a16="http://schemas.microsoft.com/office/drawing/2014/main" id="{D0B5CD5F-546C-753D-7390-52E36E2B656C}"/>
                </a:ext>
              </a:extLst>
            </p:cNvPr>
            <p:cNvSpPr/>
            <p:nvPr/>
          </p:nvSpPr>
          <p:spPr>
            <a:xfrm>
              <a:off x="548640" y="509328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💬</a:t>
              </a:r>
            </a:p>
          </p:txBody>
        </p:sp>
        <p:sp>
          <p:nvSpPr>
            <p:cNvPr id="32" name="Text 29">
              <a:extLst>
                <a:ext uri="{FF2B5EF4-FFF2-40B4-BE49-F238E27FC236}">
                  <a16:creationId xmlns:a16="http://schemas.microsoft.com/office/drawing/2014/main" id="{863F7E3F-5DD1-4C62-115D-CE5CF1F68AC4}"/>
                </a:ext>
              </a:extLst>
            </p:cNvPr>
            <p:cNvSpPr/>
            <p:nvPr/>
          </p:nvSpPr>
          <p:spPr>
            <a:xfrm>
              <a:off x="1024200" y="506592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LINE</a:t>
              </a: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管理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F9FFACCA-4E19-536C-B90F-B2ADC8B9B38F}"/>
                </a:ext>
              </a:extLst>
            </p:cNvPr>
            <p:cNvSpPr/>
            <p:nvPr/>
          </p:nvSpPr>
          <p:spPr>
            <a:xfrm>
              <a:off x="1024200" y="534024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客服工單與智慧 </a:t>
              </a:r>
              <a:r>
                <a:rPr lang="en-US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FAQ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5C2C5D2F-DB52-F71C-14CC-D653E4589600}"/>
                </a:ext>
              </a:extLst>
            </p:cNvPr>
            <p:cNvSpPr/>
            <p:nvPr/>
          </p:nvSpPr>
          <p:spPr>
            <a:xfrm>
              <a:off x="548640" y="566028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66301314-7FF6-07D3-B31C-7B2D5167E066}"/>
                </a:ext>
              </a:extLst>
            </p:cNvPr>
            <p:cNvSpPr/>
            <p:nvPr/>
          </p:nvSpPr>
          <p:spPr>
            <a:xfrm>
              <a:off x="548640" y="566028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📊</a:t>
              </a:r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5F3F5CF8-CD6A-1094-8D54-77B2BF397D2C}"/>
                </a:ext>
              </a:extLst>
            </p:cNvPr>
            <p:cNvSpPr/>
            <p:nvPr/>
          </p:nvSpPr>
          <p:spPr>
            <a:xfrm>
              <a:off x="1024200" y="563256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營運報表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DE8DE0A7-D9BF-DEEE-8A4A-336CEF0227DD}"/>
                </a:ext>
              </a:extLst>
            </p:cNvPr>
            <p:cNvSpPr/>
            <p:nvPr/>
          </p:nvSpPr>
          <p:spPr>
            <a:xfrm>
              <a:off x="1024200" y="590688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案件總表與薪資統計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8" name="Shape 35">
              <a:extLst>
                <a:ext uri="{FF2B5EF4-FFF2-40B4-BE49-F238E27FC236}">
                  <a16:creationId xmlns:a16="http://schemas.microsoft.com/office/drawing/2014/main" id="{D13D3F8F-2670-41DF-A211-4C2FE55E3144}"/>
                </a:ext>
              </a:extLst>
            </p:cNvPr>
            <p:cNvSpPr/>
            <p:nvPr/>
          </p:nvSpPr>
          <p:spPr>
            <a:xfrm>
              <a:off x="4380120" y="1600200"/>
              <a:ext cx="3611160" cy="502200"/>
            </a:xfrm>
            <a:prstGeom prst="rect">
              <a:avLst/>
            </a:prstGeom>
            <a:solidFill>
              <a:srgbClr val="D8C2A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Text 36">
              <a:extLst>
                <a:ext uri="{FF2B5EF4-FFF2-40B4-BE49-F238E27FC236}">
                  <a16:creationId xmlns:a16="http://schemas.microsoft.com/office/drawing/2014/main" id="{56D64263-11A4-51AD-C15D-A7F8CBDD84AE}"/>
                </a:ext>
              </a:extLst>
            </p:cNvPr>
            <p:cNvSpPr/>
            <p:nvPr/>
          </p:nvSpPr>
          <p:spPr>
            <a:xfrm>
              <a:off x="4517280" y="1600200"/>
              <a:ext cx="3336840" cy="50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帳務作業 </a:t>
              </a:r>
              <a:r>
                <a:rPr lang="en-US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Finance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0" name="Shape 37">
              <a:extLst>
                <a:ext uri="{FF2B5EF4-FFF2-40B4-BE49-F238E27FC236}">
                  <a16:creationId xmlns:a16="http://schemas.microsoft.com/office/drawing/2014/main" id="{5F339305-0CC5-3A2A-62AD-523E8326C2E0}"/>
                </a:ext>
              </a:extLst>
            </p:cNvPr>
            <p:cNvSpPr/>
            <p:nvPr/>
          </p:nvSpPr>
          <p:spPr>
            <a:xfrm>
              <a:off x="4380120" y="225864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1" name="Text 38">
              <a:extLst>
                <a:ext uri="{FF2B5EF4-FFF2-40B4-BE49-F238E27FC236}">
                  <a16:creationId xmlns:a16="http://schemas.microsoft.com/office/drawing/2014/main" id="{F6CD7DED-A3BB-E71B-8807-4ACC3BDC59D8}"/>
                </a:ext>
              </a:extLst>
            </p:cNvPr>
            <p:cNvSpPr/>
            <p:nvPr/>
          </p:nvSpPr>
          <p:spPr>
            <a:xfrm>
              <a:off x="4380120" y="225864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💰</a:t>
              </a:r>
            </a:p>
          </p:txBody>
        </p:sp>
        <p:sp>
          <p:nvSpPr>
            <p:cNvPr id="42" name="Text 39">
              <a:extLst>
                <a:ext uri="{FF2B5EF4-FFF2-40B4-BE49-F238E27FC236}">
                  <a16:creationId xmlns:a16="http://schemas.microsoft.com/office/drawing/2014/main" id="{CC2DD81D-D22A-0984-CE92-9742EEF34DA9}"/>
                </a:ext>
              </a:extLst>
            </p:cNvPr>
            <p:cNvSpPr/>
            <p:nvPr/>
          </p:nvSpPr>
          <p:spPr>
            <a:xfrm>
              <a:off x="4855320" y="223128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帳務中心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3" name="Text 40">
              <a:extLst>
                <a:ext uri="{FF2B5EF4-FFF2-40B4-BE49-F238E27FC236}">
                  <a16:creationId xmlns:a16="http://schemas.microsoft.com/office/drawing/2014/main" id="{4DECBD07-6DAA-A884-66CF-4D5A6C4D2158}"/>
                </a:ext>
              </a:extLst>
            </p:cNvPr>
            <p:cNvSpPr/>
            <p:nvPr/>
          </p:nvSpPr>
          <p:spPr>
            <a:xfrm>
              <a:off x="4855320" y="250560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單一頁面涵蓋四大帳務場景：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4" name="Shape 41">
              <a:extLst>
                <a:ext uri="{FF2B5EF4-FFF2-40B4-BE49-F238E27FC236}">
                  <a16:creationId xmlns:a16="http://schemas.microsoft.com/office/drawing/2014/main" id="{C3714BA4-586A-F8B2-0A66-6B79ECCC83C5}"/>
                </a:ext>
              </a:extLst>
            </p:cNvPr>
            <p:cNvSpPr/>
            <p:nvPr/>
          </p:nvSpPr>
          <p:spPr>
            <a:xfrm>
              <a:off x="4380120" y="297180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5" name="Text 42">
              <a:extLst>
                <a:ext uri="{FF2B5EF4-FFF2-40B4-BE49-F238E27FC236}">
                  <a16:creationId xmlns:a16="http://schemas.microsoft.com/office/drawing/2014/main" id="{174D1381-07E3-71AC-62AF-0D488A5CB078}"/>
                </a:ext>
              </a:extLst>
            </p:cNvPr>
            <p:cNvSpPr/>
            <p:nvPr/>
          </p:nvSpPr>
          <p:spPr>
            <a:xfrm>
              <a:off x="4380120" y="297180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🧾</a:t>
              </a:r>
            </a:p>
          </p:txBody>
        </p:sp>
        <p:sp>
          <p:nvSpPr>
            <p:cNvPr id="46" name="Text 43">
              <a:extLst>
                <a:ext uri="{FF2B5EF4-FFF2-40B4-BE49-F238E27FC236}">
                  <a16:creationId xmlns:a16="http://schemas.microsoft.com/office/drawing/2014/main" id="{8CF30D8C-72D3-8642-E84A-B6B679FAD786}"/>
                </a:ext>
              </a:extLst>
            </p:cNvPr>
            <p:cNvSpPr/>
            <p:nvPr/>
          </p:nvSpPr>
          <p:spPr>
            <a:xfrm>
              <a:off x="4855320" y="294444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客戶應收定金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7" name="Text 44">
              <a:extLst>
                <a:ext uri="{FF2B5EF4-FFF2-40B4-BE49-F238E27FC236}">
                  <a16:creationId xmlns:a16="http://schemas.microsoft.com/office/drawing/2014/main" id="{6F192249-EADA-F684-2D68-985A5EC2AB4E}"/>
                </a:ext>
              </a:extLst>
            </p:cNvPr>
            <p:cNvSpPr/>
            <p:nvPr/>
          </p:nvSpPr>
          <p:spPr>
            <a:xfrm>
              <a:off x="4855320" y="321876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訂單定金與應收帳款追蹤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8" name="Shape 45">
              <a:extLst>
                <a:ext uri="{FF2B5EF4-FFF2-40B4-BE49-F238E27FC236}">
                  <a16:creationId xmlns:a16="http://schemas.microsoft.com/office/drawing/2014/main" id="{873733E0-A42E-7AF3-4335-278FFACF75C0}"/>
                </a:ext>
              </a:extLst>
            </p:cNvPr>
            <p:cNvSpPr/>
            <p:nvPr/>
          </p:nvSpPr>
          <p:spPr>
            <a:xfrm>
              <a:off x="4380120" y="368496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9" name="Text 46">
              <a:extLst>
                <a:ext uri="{FF2B5EF4-FFF2-40B4-BE49-F238E27FC236}">
                  <a16:creationId xmlns:a16="http://schemas.microsoft.com/office/drawing/2014/main" id="{FE62B605-B6F9-C141-EE4E-D7DE3C830B9C}"/>
                </a:ext>
              </a:extLst>
            </p:cNvPr>
            <p:cNvSpPr/>
            <p:nvPr/>
          </p:nvSpPr>
          <p:spPr>
            <a:xfrm>
              <a:off x="4380120" y="368496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💵</a:t>
              </a:r>
            </a:p>
          </p:txBody>
        </p:sp>
        <p:sp>
          <p:nvSpPr>
            <p:cNvPr id="50" name="Text 47">
              <a:extLst>
                <a:ext uri="{FF2B5EF4-FFF2-40B4-BE49-F238E27FC236}">
                  <a16:creationId xmlns:a16="http://schemas.microsoft.com/office/drawing/2014/main" id="{AC359259-23ED-AC1C-FED4-DD1DDABAAA13}"/>
                </a:ext>
              </a:extLst>
            </p:cNvPr>
            <p:cNvSpPr/>
            <p:nvPr/>
          </p:nvSpPr>
          <p:spPr>
            <a:xfrm>
              <a:off x="4855320" y="365760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月嫂薪資結算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1" name="Text 48">
              <a:extLst>
                <a:ext uri="{FF2B5EF4-FFF2-40B4-BE49-F238E27FC236}">
                  <a16:creationId xmlns:a16="http://schemas.microsoft.com/office/drawing/2014/main" id="{0F9D800E-8C2A-2A1C-688C-57DF3C8B1202}"/>
                </a:ext>
              </a:extLst>
            </p:cNvPr>
            <p:cNvSpPr/>
            <p:nvPr/>
          </p:nvSpPr>
          <p:spPr>
            <a:xfrm>
              <a:off x="4855320" y="393192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服務時數與薪資核算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2" name="Shape 49">
              <a:extLst>
                <a:ext uri="{FF2B5EF4-FFF2-40B4-BE49-F238E27FC236}">
                  <a16:creationId xmlns:a16="http://schemas.microsoft.com/office/drawing/2014/main" id="{7BED4BAE-F363-9192-172B-DFCC1D0EA5E8}"/>
                </a:ext>
              </a:extLst>
            </p:cNvPr>
            <p:cNvSpPr/>
            <p:nvPr/>
          </p:nvSpPr>
          <p:spPr>
            <a:xfrm>
              <a:off x="4380120" y="439812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3" name="Text 50">
              <a:extLst>
                <a:ext uri="{FF2B5EF4-FFF2-40B4-BE49-F238E27FC236}">
                  <a16:creationId xmlns:a16="http://schemas.microsoft.com/office/drawing/2014/main" id="{6480A120-F874-6C8E-9947-D24F7120CC55}"/>
                </a:ext>
              </a:extLst>
            </p:cNvPr>
            <p:cNvSpPr/>
            <p:nvPr/>
          </p:nvSpPr>
          <p:spPr>
            <a:xfrm>
              <a:off x="4380120" y="439812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↩️</a:t>
              </a:r>
            </a:p>
          </p:txBody>
        </p:sp>
        <p:sp>
          <p:nvSpPr>
            <p:cNvPr id="54" name="Text 51">
              <a:extLst>
                <a:ext uri="{FF2B5EF4-FFF2-40B4-BE49-F238E27FC236}">
                  <a16:creationId xmlns:a16="http://schemas.microsoft.com/office/drawing/2014/main" id="{5980ABB5-E64B-EF7F-7113-593EF4212CFC}"/>
                </a:ext>
              </a:extLst>
            </p:cNvPr>
            <p:cNvSpPr/>
            <p:nvPr/>
          </p:nvSpPr>
          <p:spPr>
            <a:xfrm>
              <a:off x="4855320" y="437076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客戶退款處理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5" name="Text 52">
              <a:extLst>
                <a:ext uri="{FF2B5EF4-FFF2-40B4-BE49-F238E27FC236}">
                  <a16:creationId xmlns:a16="http://schemas.microsoft.com/office/drawing/2014/main" id="{16BB3981-8AB7-858A-103D-9942FD75B20F}"/>
                </a:ext>
              </a:extLst>
            </p:cNvPr>
            <p:cNvSpPr/>
            <p:nvPr/>
          </p:nvSpPr>
          <p:spPr>
            <a:xfrm>
              <a:off x="4855320" y="464508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取消／爭議退款流程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6" name="Shape 53">
              <a:extLst>
                <a:ext uri="{FF2B5EF4-FFF2-40B4-BE49-F238E27FC236}">
                  <a16:creationId xmlns:a16="http://schemas.microsoft.com/office/drawing/2014/main" id="{33E524EF-3839-4676-152F-0C943AE3BBAA}"/>
                </a:ext>
              </a:extLst>
            </p:cNvPr>
            <p:cNvSpPr/>
            <p:nvPr/>
          </p:nvSpPr>
          <p:spPr>
            <a:xfrm>
              <a:off x="4380120" y="511164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7" name="Text 54">
              <a:extLst>
                <a:ext uri="{FF2B5EF4-FFF2-40B4-BE49-F238E27FC236}">
                  <a16:creationId xmlns:a16="http://schemas.microsoft.com/office/drawing/2014/main" id="{9E727786-63F0-DD96-A65F-9ED2A7755BD7}"/>
                </a:ext>
              </a:extLst>
            </p:cNvPr>
            <p:cNvSpPr/>
            <p:nvPr/>
          </p:nvSpPr>
          <p:spPr>
            <a:xfrm>
              <a:off x="4380120" y="511164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🏛️</a:t>
              </a:r>
            </a:p>
          </p:txBody>
        </p:sp>
        <p:sp>
          <p:nvSpPr>
            <p:cNvPr id="58" name="Text 55">
              <a:extLst>
                <a:ext uri="{FF2B5EF4-FFF2-40B4-BE49-F238E27FC236}">
                  <a16:creationId xmlns:a16="http://schemas.microsoft.com/office/drawing/2014/main" id="{8B45DAB7-736C-F542-0BDD-E4B93B9EEFCB}"/>
                </a:ext>
              </a:extLst>
            </p:cNvPr>
            <p:cNvSpPr/>
            <p:nvPr/>
          </p:nvSpPr>
          <p:spPr>
            <a:xfrm>
              <a:off x="4855320" y="508392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政府補助款核銷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59" name="Text 56">
              <a:extLst>
                <a:ext uri="{FF2B5EF4-FFF2-40B4-BE49-F238E27FC236}">
                  <a16:creationId xmlns:a16="http://schemas.microsoft.com/office/drawing/2014/main" id="{6002E957-55F8-7B48-8EDC-D172DC1E1260}"/>
                </a:ext>
              </a:extLst>
            </p:cNvPr>
            <p:cNvSpPr/>
            <p:nvPr/>
          </p:nvSpPr>
          <p:spPr>
            <a:xfrm>
              <a:off x="4855320" y="535824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補助申請與核銷追蹤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0" name="Shape 57">
              <a:extLst>
                <a:ext uri="{FF2B5EF4-FFF2-40B4-BE49-F238E27FC236}">
                  <a16:creationId xmlns:a16="http://schemas.microsoft.com/office/drawing/2014/main" id="{02FCBC4D-7EC1-2F14-11AA-3C6FE1BA27DF}"/>
                </a:ext>
              </a:extLst>
            </p:cNvPr>
            <p:cNvSpPr/>
            <p:nvPr/>
          </p:nvSpPr>
          <p:spPr>
            <a:xfrm>
              <a:off x="8211240" y="1600200"/>
              <a:ext cx="3611160" cy="502200"/>
            </a:xfrm>
            <a:prstGeom prst="rect">
              <a:avLst/>
            </a:prstGeom>
            <a:solidFill>
              <a:srgbClr val="D8C2A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1" name="Text 58">
              <a:extLst>
                <a:ext uri="{FF2B5EF4-FFF2-40B4-BE49-F238E27FC236}">
                  <a16:creationId xmlns:a16="http://schemas.microsoft.com/office/drawing/2014/main" id="{D1B9C802-33B8-915B-8DD2-0A4EEFD3FF84}"/>
                </a:ext>
              </a:extLst>
            </p:cNvPr>
            <p:cNvSpPr/>
            <p:nvPr/>
          </p:nvSpPr>
          <p:spPr>
            <a:xfrm>
              <a:off x="8348400" y="1600200"/>
              <a:ext cx="3336840" cy="50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稽核與系統 </a:t>
              </a:r>
              <a:r>
                <a:rPr lang="en-US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Audit &amp; System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2" name="Shape 59">
              <a:extLst>
                <a:ext uri="{FF2B5EF4-FFF2-40B4-BE49-F238E27FC236}">
                  <a16:creationId xmlns:a16="http://schemas.microsoft.com/office/drawing/2014/main" id="{5BDBF8D8-7EC6-F6E3-05FD-A4B9E350BFF6}"/>
                </a:ext>
              </a:extLst>
            </p:cNvPr>
            <p:cNvSpPr/>
            <p:nvPr/>
          </p:nvSpPr>
          <p:spPr>
            <a:xfrm>
              <a:off x="8211240" y="225864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3" name="Text 60">
              <a:extLst>
                <a:ext uri="{FF2B5EF4-FFF2-40B4-BE49-F238E27FC236}">
                  <a16:creationId xmlns:a16="http://schemas.microsoft.com/office/drawing/2014/main" id="{8B70E25C-3A6A-A988-6D77-C941E868E602}"/>
                </a:ext>
              </a:extLst>
            </p:cNvPr>
            <p:cNvSpPr/>
            <p:nvPr/>
          </p:nvSpPr>
          <p:spPr>
            <a:xfrm>
              <a:off x="8211240" y="225864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🔺</a:t>
              </a:r>
            </a:p>
          </p:txBody>
        </p:sp>
        <p:sp>
          <p:nvSpPr>
            <p:cNvPr id="64" name="Text 61">
              <a:extLst>
                <a:ext uri="{FF2B5EF4-FFF2-40B4-BE49-F238E27FC236}">
                  <a16:creationId xmlns:a16="http://schemas.microsoft.com/office/drawing/2014/main" id="{F01A793B-0527-3355-6DF4-2DF98494131F}"/>
                </a:ext>
              </a:extLst>
            </p:cNvPr>
            <p:cNvSpPr/>
            <p:nvPr/>
          </p:nvSpPr>
          <p:spPr>
            <a:xfrm>
              <a:off x="8686800" y="223128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異常審核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5" name="Text 62">
              <a:extLst>
                <a:ext uri="{FF2B5EF4-FFF2-40B4-BE49-F238E27FC236}">
                  <a16:creationId xmlns:a16="http://schemas.microsoft.com/office/drawing/2014/main" id="{DBA0C882-BF28-E1A9-C265-3D7D8C64E7E4}"/>
                </a:ext>
              </a:extLst>
            </p:cNvPr>
            <p:cNvSpPr/>
            <p:nvPr/>
          </p:nvSpPr>
          <p:spPr>
            <a:xfrm>
              <a:off x="8686800" y="250560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跨領域異常偵測與修復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6" name="Shape 65">
              <a:extLst>
                <a:ext uri="{FF2B5EF4-FFF2-40B4-BE49-F238E27FC236}">
                  <a16:creationId xmlns:a16="http://schemas.microsoft.com/office/drawing/2014/main" id="{42552CF9-D94B-E978-7539-D2D324B4254D}"/>
                </a:ext>
              </a:extLst>
            </p:cNvPr>
            <p:cNvSpPr/>
            <p:nvPr/>
          </p:nvSpPr>
          <p:spPr>
            <a:xfrm>
              <a:off x="8211240" y="291708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7" name="Text 66">
              <a:extLst>
                <a:ext uri="{FF2B5EF4-FFF2-40B4-BE49-F238E27FC236}">
                  <a16:creationId xmlns:a16="http://schemas.microsoft.com/office/drawing/2014/main" id="{0221AADF-0EB0-D3E4-D757-94A2FE370729}"/>
                </a:ext>
              </a:extLst>
            </p:cNvPr>
            <p:cNvSpPr/>
            <p:nvPr/>
          </p:nvSpPr>
          <p:spPr>
            <a:xfrm>
              <a:off x="8211240" y="291708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🔍</a:t>
              </a:r>
            </a:p>
          </p:txBody>
        </p:sp>
        <p:sp>
          <p:nvSpPr>
            <p:cNvPr id="68" name="Text 67">
              <a:extLst>
                <a:ext uri="{FF2B5EF4-FFF2-40B4-BE49-F238E27FC236}">
                  <a16:creationId xmlns:a16="http://schemas.microsoft.com/office/drawing/2014/main" id="{DC03A4D2-5A3F-F387-6BE0-7748E23C0C8D}"/>
                </a:ext>
              </a:extLst>
            </p:cNvPr>
            <p:cNvSpPr/>
            <p:nvPr/>
          </p:nvSpPr>
          <p:spPr>
            <a:xfrm>
              <a:off x="8686800" y="288936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數據瀏覽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9" name="Text 68">
              <a:extLst>
                <a:ext uri="{FF2B5EF4-FFF2-40B4-BE49-F238E27FC236}">
                  <a16:creationId xmlns:a16="http://schemas.microsoft.com/office/drawing/2014/main" id="{4E89C368-81AC-0A9E-85AD-D2F412992D02}"/>
                </a:ext>
              </a:extLst>
            </p:cNvPr>
            <p:cNvSpPr/>
            <p:nvPr/>
          </p:nvSpPr>
          <p:spPr>
            <a:xfrm>
              <a:off x="8686800" y="316368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訂單／客戶／月嫂 </a:t>
              </a:r>
              <a:r>
                <a:rPr lang="en-US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JSON </a:t>
              </a: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稽核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0" name="Shape 69">
              <a:extLst>
                <a:ext uri="{FF2B5EF4-FFF2-40B4-BE49-F238E27FC236}">
                  <a16:creationId xmlns:a16="http://schemas.microsoft.com/office/drawing/2014/main" id="{5395D367-ECD9-9CAF-F403-189BA540B2D0}"/>
                </a:ext>
              </a:extLst>
            </p:cNvPr>
            <p:cNvSpPr/>
            <p:nvPr/>
          </p:nvSpPr>
          <p:spPr>
            <a:xfrm>
              <a:off x="8211240" y="3575160"/>
              <a:ext cx="365040" cy="365040"/>
            </a:xfrm>
            <a:prstGeom prst="rect">
              <a:avLst/>
            </a:prstGeom>
            <a:solidFill>
              <a:srgbClr val="EDE3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1" name="Text 70">
              <a:extLst>
                <a:ext uri="{FF2B5EF4-FFF2-40B4-BE49-F238E27FC236}">
                  <a16:creationId xmlns:a16="http://schemas.microsoft.com/office/drawing/2014/main" id="{A45F395F-7D2F-BDC0-9D8B-11B24BCD036F}"/>
                </a:ext>
              </a:extLst>
            </p:cNvPr>
            <p:cNvSpPr/>
            <p:nvPr/>
          </p:nvSpPr>
          <p:spPr>
            <a:xfrm>
              <a:off x="8211240" y="3575160"/>
              <a:ext cx="365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👤</a:t>
              </a:r>
            </a:p>
          </p:txBody>
        </p:sp>
        <p:sp>
          <p:nvSpPr>
            <p:cNvPr id="72" name="Text 71">
              <a:extLst>
                <a:ext uri="{FF2B5EF4-FFF2-40B4-BE49-F238E27FC236}">
                  <a16:creationId xmlns:a16="http://schemas.microsoft.com/office/drawing/2014/main" id="{0988DD08-513E-09A5-78E6-DB56EF6F52A7}"/>
                </a:ext>
              </a:extLst>
            </p:cNvPr>
            <p:cNvSpPr/>
            <p:nvPr/>
          </p:nvSpPr>
          <p:spPr>
            <a:xfrm>
              <a:off x="8686800" y="3547800"/>
              <a:ext cx="214812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帳號權限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3" name="Text 72">
              <a:extLst>
                <a:ext uri="{FF2B5EF4-FFF2-40B4-BE49-F238E27FC236}">
                  <a16:creationId xmlns:a16="http://schemas.microsoft.com/office/drawing/2014/main" id="{3B2FF288-9505-977F-E368-8071A2549F4F}"/>
                </a:ext>
              </a:extLst>
            </p:cNvPr>
            <p:cNvSpPr/>
            <p:nvPr/>
          </p:nvSpPr>
          <p:spPr>
            <a:xfrm>
              <a:off x="8686800" y="3822120"/>
              <a:ext cx="306252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2FA </a:t>
              </a:r>
              <a:r>
                <a:rPr lang="zh-TW" b="0" strike="noStrike" spc="-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強制狀態與資安日誌</a:t>
              </a:r>
              <a:endParaRPr lang="en-US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C94B887-60F8-353D-A7EE-E85B3E2516D6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8F0ADC2F-976E-4346-BA12-EDA2D5F1B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47ADBC53-F292-13A4-15AE-E46191B53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13" y="5881038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88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3F8A2-AE26-4B20-14F0-EB80DFD14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82B7EE26-AD05-7820-E89D-56EC64D8F43B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4410723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altLang="zh-TW" sz="3200" spc="-1" dirty="0">
                <a:solidFill>
                  <a:srgbClr val="000000"/>
                </a:solidFill>
                <a:latin typeface="Microsoft JhengHei"/>
                <a:ea typeface="Microsoft JhengHei"/>
              </a:rPr>
              <a:t>📅</a:t>
            </a:r>
            <a:r>
              <a:rPr lang="zh-TW" altLang="zh-TW" sz="3200" b="1" spc="-1" dirty="0">
                <a:solidFill>
                  <a:srgbClr val="292C28"/>
                </a:solidFill>
                <a:latin typeface="Microsoft JhengHei"/>
                <a:ea typeface="Microsoft JhengHei"/>
              </a:rPr>
              <a:t>排班日曆與調度中心</a:t>
            </a:r>
            <a:endParaRPr lang="en-US" altLang="zh-TW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統一章節標記">
            <a:extLst>
              <a:ext uri="{FF2B5EF4-FFF2-40B4-BE49-F238E27FC236}">
                <a16:creationId xmlns:a16="http://schemas.microsoft.com/office/drawing/2014/main" id="{6617FC32-C7F1-BA13-28C8-8AF9E199503B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Shape 93">
            <a:extLst>
              <a:ext uri="{FF2B5EF4-FFF2-40B4-BE49-F238E27FC236}">
                <a16:creationId xmlns:a16="http://schemas.microsoft.com/office/drawing/2014/main" id="{DFEC985C-B463-8EB9-7C85-4C91F0738EB8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u="none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張琬偲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26C8C2-AE6D-CBA9-C64A-7819D06B3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7" b="11657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CD1F5A2-DA17-118F-730E-AF4FC129F072}"/>
              </a:ext>
            </a:extLst>
          </p:cNvPr>
          <p:cNvSpPr txBox="1"/>
          <p:nvPr/>
        </p:nvSpPr>
        <p:spPr>
          <a:xfrm>
            <a:off x="612832" y="1181395"/>
            <a:ext cx="74135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TW" sz="1400" b="0" strike="noStrike" spc="-1" dirty="0">
                <a:solidFill>
                  <a:srgbClr val="A66C4E"/>
                </a:solidFill>
                <a:latin typeface="Microsoft JhengHei"/>
                <a:ea typeface="Microsoft JhengHei"/>
              </a:rPr>
              <a:t>Scheduling &amp; Dispatch Center</a:t>
            </a:r>
            <a:r>
              <a:rPr lang="zh-TW" altLang="zh-TW" sz="1400" b="0" strike="noStrike" spc="-1" dirty="0">
                <a:solidFill>
                  <a:srgbClr val="A66C4E"/>
                </a:solidFill>
                <a:latin typeface="Microsoft JhengHei"/>
                <a:ea typeface="Microsoft JhengHei"/>
              </a:rPr>
              <a:t>　｜　甘特圖即時透視投影，一鍵完成出勤精算與代班調度</a:t>
            </a:r>
            <a:endParaRPr lang="en-US" altLang="zh-TW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CE9A666-6AA6-E21C-9D2F-DFCDBD4F0C8E}"/>
              </a:ext>
            </a:extLst>
          </p:cNvPr>
          <p:cNvSpPr/>
          <p:nvPr/>
        </p:nvSpPr>
        <p:spPr>
          <a:xfrm>
            <a:off x="515636" y="1647346"/>
            <a:ext cx="5988600" cy="3272760"/>
          </a:xfrm>
          <a:prstGeom prst="rect">
            <a:avLst/>
          </a:prstGeom>
          <a:solidFill>
            <a:srgbClr val="FFFFFF"/>
          </a:solidFill>
          <a:ln w="9525">
            <a:solidFill>
              <a:srgbClr val="6F70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DB89A17-21C8-292E-809E-749C5FDC5A8B}"/>
              </a:ext>
            </a:extLst>
          </p:cNvPr>
          <p:cNvSpPr/>
          <p:nvPr/>
        </p:nvSpPr>
        <p:spPr>
          <a:xfrm>
            <a:off x="515636" y="1647346"/>
            <a:ext cx="5988600" cy="328320"/>
          </a:xfrm>
          <a:prstGeom prst="rect">
            <a:avLst/>
          </a:prstGeom>
          <a:solidFill>
            <a:srgbClr val="D8C2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A8ED8B1-DD96-C392-C07A-561B5F51F66E}"/>
              </a:ext>
            </a:extLst>
          </p:cNvPr>
          <p:cNvSpPr/>
          <p:nvPr/>
        </p:nvSpPr>
        <p:spPr>
          <a:xfrm>
            <a:off x="643796" y="1770826"/>
            <a:ext cx="81720" cy="81720"/>
          </a:xfrm>
          <a:prstGeom prst="ellipse">
            <a:avLst/>
          </a:prstGeom>
          <a:solidFill>
            <a:srgbClr val="C0664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7007EDC-3D70-AD80-1B1E-20CD586F7DF6}"/>
              </a:ext>
            </a:extLst>
          </p:cNvPr>
          <p:cNvSpPr/>
          <p:nvPr/>
        </p:nvSpPr>
        <p:spPr>
          <a:xfrm>
            <a:off x="808316" y="1770826"/>
            <a:ext cx="81720" cy="81720"/>
          </a:xfrm>
          <a:prstGeom prst="ellipse">
            <a:avLst/>
          </a:prstGeom>
          <a:solidFill>
            <a:srgbClr val="C79A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237E94C-6E6F-D226-7673-BBC0E1BF615E}"/>
              </a:ext>
            </a:extLst>
          </p:cNvPr>
          <p:cNvSpPr/>
          <p:nvPr/>
        </p:nvSpPr>
        <p:spPr>
          <a:xfrm>
            <a:off x="972836" y="1770826"/>
            <a:ext cx="81720" cy="81720"/>
          </a:xfrm>
          <a:prstGeom prst="ellipse">
            <a:avLst/>
          </a:prstGeom>
          <a:solidFill>
            <a:srgbClr val="6C7D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6676FFAD-FB10-2334-2349-D2395F66291C}"/>
              </a:ext>
            </a:extLst>
          </p:cNvPr>
          <p:cNvSpPr/>
          <p:nvPr/>
        </p:nvSpPr>
        <p:spPr>
          <a:xfrm>
            <a:off x="1201436" y="1711426"/>
            <a:ext cx="5074200" cy="200520"/>
          </a:xfrm>
          <a:prstGeom prst="rect">
            <a:avLst/>
          </a:prstGeom>
          <a:solidFill>
            <a:srgbClr val="FFFFFF"/>
          </a:solidFill>
          <a:ln w="6350">
            <a:solidFill>
              <a:srgbClr val="6F70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A8847DB-D1CC-D34D-F05B-6901DBEA7B8A}"/>
              </a:ext>
            </a:extLst>
          </p:cNvPr>
          <p:cNvSpPr/>
          <p:nvPr/>
        </p:nvSpPr>
        <p:spPr>
          <a:xfrm>
            <a:off x="1292876" y="1711426"/>
            <a:ext cx="493704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6F70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localhost:5174/#scheduling</a:t>
            </a: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Text 24">
            <a:extLst>
              <a:ext uri="{FF2B5EF4-FFF2-40B4-BE49-F238E27FC236}">
                <a16:creationId xmlns:a16="http://schemas.microsoft.com/office/drawing/2014/main" id="{D8F31F32-4C1F-20B6-C233-8A6C14E742FE}"/>
              </a:ext>
            </a:extLst>
          </p:cNvPr>
          <p:cNvSpPr/>
          <p:nvPr/>
        </p:nvSpPr>
        <p:spPr>
          <a:xfrm>
            <a:off x="3235076" y="2707906"/>
            <a:ext cx="4456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15</a:t>
            </a: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A3C7D8A6-C870-60D6-9498-F4061C80A8CB}"/>
              </a:ext>
            </a:extLst>
          </p:cNvPr>
          <p:cNvGrpSpPr/>
          <p:nvPr/>
        </p:nvGrpSpPr>
        <p:grpSpPr>
          <a:xfrm>
            <a:off x="493496" y="5058886"/>
            <a:ext cx="5988600" cy="657720"/>
            <a:chOff x="515636" y="5835226"/>
            <a:chExt cx="5988600" cy="657720"/>
          </a:xfrm>
        </p:grpSpPr>
        <p:sp>
          <p:nvSpPr>
            <p:cNvPr id="16" name="Shape 53">
              <a:extLst>
                <a:ext uri="{FF2B5EF4-FFF2-40B4-BE49-F238E27FC236}">
                  <a16:creationId xmlns:a16="http://schemas.microsoft.com/office/drawing/2014/main" id="{FC390AC0-F6A1-AA29-611D-41D511265083}"/>
                </a:ext>
              </a:extLst>
            </p:cNvPr>
            <p:cNvSpPr/>
            <p:nvPr/>
          </p:nvSpPr>
          <p:spPr>
            <a:xfrm>
              <a:off x="515636" y="5835226"/>
              <a:ext cx="5988600" cy="657720"/>
            </a:xfrm>
            <a:prstGeom prst="rect">
              <a:avLst/>
            </a:prstGeom>
            <a:solidFill>
              <a:srgbClr val="D7CAB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4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7" name="Text 54">
              <a:extLst>
                <a:ext uri="{FF2B5EF4-FFF2-40B4-BE49-F238E27FC236}">
                  <a16:creationId xmlns:a16="http://schemas.microsoft.com/office/drawing/2014/main" id="{BC725B47-45B6-D260-077C-F7BBBC6B7B3E}"/>
                </a:ext>
              </a:extLst>
            </p:cNvPr>
            <p:cNvSpPr/>
            <p:nvPr/>
          </p:nvSpPr>
          <p:spPr>
            <a:xfrm>
              <a:off x="698516" y="5835226"/>
              <a:ext cx="5622840" cy="65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🔮 Ghost Projection</a:t>
              </a: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：選擇洽談中訂單即時投影至甘特圖，系統自動判斷每位月嫂「檔期完全空閒」或「撞期無法接單」，並提供一鍵預約鎖定。</a:t>
              </a:r>
              <a:endPara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" name="Text 55">
            <a:extLst>
              <a:ext uri="{FF2B5EF4-FFF2-40B4-BE49-F238E27FC236}">
                <a16:creationId xmlns:a16="http://schemas.microsoft.com/office/drawing/2014/main" id="{B84E3F5E-6D10-207B-0FE6-C0654C5B7D46}"/>
              </a:ext>
            </a:extLst>
          </p:cNvPr>
          <p:cNvSpPr/>
          <p:nvPr/>
        </p:nvSpPr>
        <p:spPr>
          <a:xfrm>
            <a:off x="6733556" y="1647346"/>
            <a:ext cx="49370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🎯 </a:t>
            </a:r>
            <a:r>
              <a:rPr lang="zh-TW" sz="1400" b="1" strike="noStrike" spc="-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頁面重點功能</a:t>
            </a: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Shape 56">
            <a:extLst>
              <a:ext uri="{FF2B5EF4-FFF2-40B4-BE49-F238E27FC236}">
                <a16:creationId xmlns:a16="http://schemas.microsoft.com/office/drawing/2014/main" id="{71CCDA75-8C51-E82C-8386-5FD28D15C339}"/>
              </a:ext>
            </a:extLst>
          </p:cNvPr>
          <p:cNvSpPr/>
          <p:nvPr/>
        </p:nvSpPr>
        <p:spPr>
          <a:xfrm>
            <a:off x="6733556" y="2013106"/>
            <a:ext cx="383400" cy="383400"/>
          </a:xfrm>
          <a:prstGeom prst="rect">
            <a:avLst/>
          </a:prstGeom>
          <a:solidFill>
            <a:srgbClr val="EDE3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F1B21808-EA57-7966-60DF-3553FDBED28E}"/>
              </a:ext>
            </a:extLst>
          </p:cNvPr>
          <p:cNvGrpSpPr/>
          <p:nvPr/>
        </p:nvGrpSpPr>
        <p:grpSpPr>
          <a:xfrm>
            <a:off x="6733556" y="1994746"/>
            <a:ext cx="4937040" cy="712440"/>
            <a:chOff x="6733556" y="1994746"/>
            <a:chExt cx="4937040" cy="712440"/>
          </a:xfrm>
        </p:grpSpPr>
        <p:sp>
          <p:nvSpPr>
            <p:cNvPr id="20" name="Text 57">
              <a:extLst>
                <a:ext uri="{FF2B5EF4-FFF2-40B4-BE49-F238E27FC236}">
                  <a16:creationId xmlns:a16="http://schemas.microsoft.com/office/drawing/2014/main" id="{AE2B5669-B52C-05D0-9F74-4DC25D053D60}"/>
                </a:ext>
              </a:extLst>
            </p:cNvPr>
            <p:cNvSpPr/>
            <p:nvPr/>
          </p:nvSpPr>
          <p:spPr>
            <a:xfrm>
              <a:off x="6733556" y="2013106"/>
              <a:ext cx="383400" cy="38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🔮</a:t>
              </a:r>
            </a:p>
          </p:txBody>
        </p:sp>
        <p:sp>
          <p:nvSpPr>
            <p:cNvPr id="21" name="Text 58">
              <a:extLst>
                <a:ext uri="{FF2B5EF4-FFF2-40B4-BE49-F238E27FC236}">
                  <a16:creationId xmlns:a16="http://schemas.microsoft.com/office/drawing/2014/main" id="{AC6306BF-9DE0-4910-F9A1-2CC56D71B7B5}"/>
                </a:ext>
              </a:extLst>
            </p:cNvPr>
            <p:cNvSpPr/>
            <p:nvPr/>
          </p:nvSpPr>
          <p:spPr>
            <a:xfrm>
              <a:off x="7236476" y="1994746"/>
              <a:ext cx="443412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Ghost Projection </a:t>
              </a:r>
              <a:r>
                <a:rPr lang="zh-TW" sz="1400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檔期投影</a:t>
              </a:r>
              <a:endParaRPr lang="en-US" sz="14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2" name="Text 59">
              <a:extLst>
                <a:ext uri="{FF2B5EF4-FFF2-40B4-BE49-F238E27FC236}">
                  <a16:creationId xmlns:a16="http://schemas.microsoft.com/office/drawing/2014/main" id="{2917F326-E2E5-E5A0-BFDF-C3844C69D81B}"/>
                </a:ext>
              </a:extLst>
            </p:cNvPr>
            <p:cNvSpPr/>
            <p:nvPr/>
          </p:nvSpPr>
          <p:spPr>
            <a:xfrm>
              <a:off x="7236476" y="2250706"/>
              <a:ext cx="443412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10000"/>
                </a:lnSpc>
                <a:tabLst>
                  <a:tab pos="0" algn="l"/>
                </a:tabLst>
              </a:pP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即時預覽洽談中訂單的檔期衝突，一鍵鎖定意願候選月嫂</a:t>
              </a:r>
              <a:endPara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3" name="Shape 60">
            <a:extLst>
              <a:ext uri="{FF2B5EF4-FFF2-40B4-BE49-F238E27FC236}">
                <a16:creationId xmlns:a16="http://schemas.microsoft.com/office/drawing/2014/main" id="{A8F6AD6F-68B7-7C05-4CA5-ED5B69C87BC3}"/>
              </a:ext>
            </a:extLst>
          </p:cNvPr>
          <p:cNvSpPr/>
          <p:nvPr/>
        </p:nvSpPr>
        <p:spPr>
          <a:xfrm>
            <a:off x="6733556" y="2661286"/>
            <a:ext cx="383400" cy="383400"/>
          </a:xfrm>
          <a:prstGeom prst="rect">
            <a:avLst/>
          </a:prstGeom>
          <a:solidFill>
            <a:srgbClr val="EDE3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B2C81C71-4914-AA67-AA36-DB00E6D373C3}"/>
              </a:ext>
            </a:extLst>
          </p:cNvPr>
          <p:cNvGrpSpPr/>
          <p:nvPr/>
        </p:nvGrpSpPr>
        <p:grpSpPr>
          <a:xfrm>
            <a:off x="6733556" y="2633683"/>
            <a:ext cx="4937040" cy="712440"/>
            <a:chOff x="6733556" y="2836066"/>
            <a:chExt cx="4937040" cy="712440"/>
          </a:xfrm>
        </p:grpSpPr>
        <p:sp>
          <p:nvSpPr>
            <p:cNvPr id="24" name="Text 61">
              <a:extLst>
                <a:ext uri="{FF2B5EF4-FFF2-40B4-BE49-F238E27FC236}">
                  <a16:creationId xmlns:a16="http://schemas.microsoft.com/office/drawing/2014/main" id="{19AE0EA8-2F5C-C9F8-86AE-8189EB82C377}"/>
                </a:ext>
              </a:extLst>
            </p:cNvPr>
            <p:cNvSpPr/>
            <p:nvPr/>
          </p:nvSpPr>
          <p:spPr>
            <a:xfrm>
              <a:off x="6733556" y="2854426"/>
              <a:ext cx="383400" cy="38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🚑</a:t>
              </a:r>
            </a:p>
          </p:txBody>
        </p:sp>
        <p:sp>
          <p:nvSpPr>
            <p:cNvPr id="25" name="Text 62">
              <a:extLst>
                <a:ext uri="{FF2B5EF4-FFF2-40B4-BE49-F238E27FC236}">
                  <a16:creationId xmlns:a16="http://schemas.microsoft.com/office/drawing/2014/main" id="{C4821CC6-2F9B-D49D-29BF-CA6031BDB7D6}"/>
                </a:ext>
              </a:extLst>
            </p:cNvPr>
            <p:cNvSpPr/>
            <p:nvPr/>
          </p:nvSpPr>
          <p:spPr>
            <a:xfrm>
              <a:off x="7236476" y="2836066"/>
              <a:ext cx="443412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sz="1400" b="1" strike="noStrike" spc="-1" dirty="0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突發請假與緊急代班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Text 63">
              <a:extLst>
                <a:ext uri="{FF2B5EF4-FFF2-40B4-BE49-F238E27FC236}">
                  <a16:creationId xmlns:a16="http://schemas.microsoft.com/office/drawing/2014/main" id="{661B6787-7C1E-0F34-AA67-511FD1D3AA95}"/>
                </a:ext>
              </a:extLst>
            </p:cNvPr>
            <p:cNvSpPr/>
            <p:nvPr/>
          </p:nvSpPr>
          <p:spPr>
            <a:xfrm>
              <a:off x="7236476" y="3092026"/>
              <a:ext cx="443412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10000"/>
                </a:lnSpc>
                <a:tabLst>
                  <a:tab pos="0" algn="l"/>
                </a:tabLst>
              </a:pP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指派代班（完工日不變）或順延方案（自動平移 </a:t>
              </a:r>
              <a:r>
                <a:rPr lang="en-US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7 </a:t>
              </a: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天 </a:t>
              </a:r>
              <a:r>
                <a:rPr lang="en-US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Buffer</a:t>
              </a: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）</a:t>
              </a:r>
              <a:endPara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7" name="Shape 64">
            <a:extLst>
              <a:ext uri="{FF2B5EF4-FFF2-40B4-BE49-F238E27FC236}">
                <a16:creationId xmlns:a16="http://schemas.microsoft.com/office/drawing/2014/main" id="{95FBA0D7-9C15-4701-A894-76E527A92FD4}"/>
              </a:ext>
            </a:extLst>
          </p:cNvPr>
          <p:cNvSpPr/>
          <p:nvPr/>
        </p:nvSpPr>
        <p:spPr>
          <a:xfrm>
            <a:off x="6733556" y="3355726"/>
            <a:ext cx="383400" cy="383400"/>
          </a:xfrm>
          <a:prstGeom prst="rect">
            <a:avLst/>
          </a:prstGeom>
          <a:solidFill>
            <a:srgbClr val="EDE3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9CD556FB-18C4-7E5D-DD97-367AA35CC6C2}"/>
              </a:ext>
            </a:extLst>
          </p:cNvPr>
          <p:cNvGrpSpPr/>
          <p:nvPr/>
        </p:nvGrpSpPr>
        <p:grpSpPr>
          <a:xfrm>
            <a:off x="6733556" y="3385166"/>
            <a:ext cx="4937040" cy="712440"/>
            <a:chOff x="6733556" y="3677386"/>
            <a:chExt cx="4937040" cy="712440"/>
          </a:xfrm>
        </p:grpSpPr>
        <p:sp>
          <p:nvSpPr>
            <p:cNvPr id="28" name="Text 65">
              <a:extLst>
                <a:ext uri="{FF2B5EF4-FFF2-40B4-BE49-F238E27FC236}">
                  <a16:creationId xmlns:a16="http://schemas.microsoft.com/office/drawing/2014/main" id="{CC40BDF9-8685-E30D-9E30-22AB33949383}"/>
                </a:ext>
              </a:extLst>
            </p:cNvPr>
            <p:cNvSpPr/>
            <p:nvPr/>
          </p:nvSpPr>
          <p:spPr>
            <a:xfrm>
              <a:off x="6733556" y="3695386"/>
              <a:ext cx="383400" cy="38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🗓️</a:t>
              </a:r>
            </a:p>
          </p:txBody>
        </p:sp>
        <p:sp>
          <p:nvSpPr>
            <p:cNvPr id="29" name="Text 66">
              <a:extLst>
                <a:ext uri="{FF2B5EF4-FFF2-40B4-BE49-F238E27FC236}">
                  <a16:creationId xmlns:a16="http://schemas.microsoft.com/office/drawing/2014/main" id="{22CADFCD-4B9D-0E27-D12F-F07557B4EEF0}"/>
                </a:ext>
              </a:extLst>
            </p:cNvPr>
            <p:cNvSpPr/>
            <p:nvPr/>
          </p:nvSpPr>
          <p:spPr>
            <a:xfrm>
              <a:off x="7236476" y="3677386"/>
              <a:ext cx="443412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sz="1400" b="1" strike="noStrike" spc="-1" dirty="0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國定假日與預設政策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Text 67">
              <a:extLst>
                <a:ext uri="{FF2B5EF4-FFF2-40B4-BE49-F238E27FC236}">
                  <a16:creationId xmlns:a16="http://schemas.microsoft.com/office/drawing/2014/main" id="{567A83CF-7AEE-A732-5838-31B1899A37A2}"/>
                </a:ext>
              </a:extLst>
            </p:cNvPr>
            <p:cNvSpPr/>
            <p:nvPr/>
          </p:nvSpPr>
          <p:spPr>
            <a:xfrm>
              <a:off x="7236476" y="3933346"/>
              <a:ext cx="443412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10000"/>
                </a:lnSpc>
                <a:tabLst>
                  <a:tab pos="0" algn="l"/>
                </a:tabLst>
              </a:pP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全域假日範本（放假順延／雙倍薪資），可逐案協商覆寫</a:t>
              </a:r>
              <a:endPara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31" name="Shape 68">
            <a:extLst>
              <a:ext uri="{FF2B5EF4-FFF2-40B4-BE49-F238E27FC236}">
                <a16:creationId xmlns:a16="http://schemas.microsoft.com/office/drawing/2014/main" id="{102BC54E-B784-E48A-5C1A-667E2539FA26}"/>
              </a:ext>
            </a:extLst>
          </p:cNvPr>
          <p:cNvSpPr/>
          <p:nvPr/>
        </p:nvSpPr>
        <p:spPr>
          <a:xfrm>
            <a:off x="6733556" y="4075861"/>
            <a:ext cx="383400" cy="383400"/>
          </a:xfrm>
          <a:prstGeom prst="rect">
            <a:avLst/>
          </a:prstGeom>
          <a:solidFill>
            <a:srgbClr val="EDE3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27A6A2F4-1976-AB11-E5A9-0C2E2A2DE69F}"/>
              </a:ext>
            </a:extLst>
          </p:cNvPr>
          <p:cNvGrpSpPr/>
          <p:nvPr/>
        </p:nvGrpSpPr>
        <p:grpSpPr>
          <a:xfrm>
            <a:off x="6733556" y="4096263"/>
            <a:ext cx="4937040" cy="712800"/>
            <a:chOff x="6733556" y="4518346"/>
            <a:chExt cx="4937040" cy="712800"/>
          </a:xfrm>
        </p:grpSpPr>
        <p:sp>
          <p:nvSpPr>
            <p:cNvPr id="32" name="Text 69">
              <a:extLst>
                <a:ext uri="{FF2B5EF4-FFF2-40B4-BE49-F238E27FC236}">
                  <a16:creationId xmlns:a16="http://schemas.microsoft.com/office/drawing/2014/main" id="{60FDA24B-1480-F85D-8CE6-6C7A136D230E}"/>
                </a:ext>
              </a:extLst>
            </p:cNvPr>
            <p:cNvSpPr/>
            <p:nvPr/>
          </p:nvSpPr>
          <p:spPr>
            <a:xfrm>
              <a:off x="6733556" y="4536706"/>
              <a:ext cx="383400" cy="38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⚙️</a:t>
              </a:r>
            </a:p>
          </p:txBody>
        </p:sp>
        <p:sp>
          <p:nvSpPr>
            <p:cNvPr id="33" name="Text 70">
              <a:extLst>
                <a:ext uri="{FF2B5EF4-FFF2-40B4-BE49-F238E27FC236}">
                  <a16:creationId xmlns:a16="http://schemas.microsoft.com/office/drawing/2014/main" id="{4B47210B-86D1-729B-862F-D0B6618E54BD}"/>
                </a:ext>
              </a:extLst>
            </p:cNvPr>
            <p:cNvSpPr/>
            <p:nvPr/>
          </p:nvSpPr>
          <p:spPr>
            <a:xfrm>
              <a:off x="7236476" y="4518346"/>
              <a:ext cx="443412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sz="1400" b="1" strike="noStrike" spc="-1" dirty="0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出勤天數精算工作台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Text 71">
              <a:extLst>
                <a:ext uri="{FF2B5EF4-FFF2-40B4-BE49-F238E27FC236}">
                  <a16:creationId xmlns:a16="http://schemas.microsoft.com/office/drawing/2014/main" id="{87BBE7F7-175E-CE20-BEC3-F874EFFE26AD}"/>
                </a:ext>
              </a:extLst>
            </p:cNvPr>
            <p:cNvSpPr/>
            <p:nvPr/>
          </p:nvSpPr>
          <p:spPr>
            <a:xfrm>
              <a:off x="7236476" y="4774666"/>
              <a:ext cx="4434120" cy="45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10000"/>
                </a:lnSpc>
                <a:tabLst>
                  <a:tab pos="0" algn="l"/>
                </a:tabLst>
              </a:pP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動態計算開工日、固定休、自訂放假與假日覆寫，推算完工日</a:t>
              </a:r>
              <a:endPara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35" name="Text 72">
            <a:extLst>
              <a:ext uri="{FF2B5EF4-FFF2-40B4-BE49-F238E27FC236}">
                <a16:creationId xmlns:a16="http://schemas.microsoft.com/office/drawing/2014/main" id="{25715E53-6C6B-4ADC-48E4-49A96EEDE289}"/>
              </a:ext>
            </a:extLst>
          </p:cNvPr>
          <p:cNvSpPr/>
          <p:nvPr/>
        </p:nvSpPr>
        <p:spPr>
          <a:xfrm>
            <a:off x="6733556" y="4679186"/>
            <a:ext cx="49370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 dirty="0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⚙️ </a:t>
            </a:r>
            <a:r>
              <a:rPr lang="zh-TW" sz="1400" b="1" strike="noStrike" spc="-1" dirty="0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使用技術</a:t>
            </a:r>
            <a:endParaRPr lang="en-US" sz="1400" b="0" strike="noStrike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08D431E0-F0E3-2410-F209-3C8F666B07A5}"/>
              </a:ext>
            </a:extLst>
          </p:cNvPr>
          <p:cNvGrpSpPr/>
          <p:nvPr/>
        </p:nvGrpSpPr>
        <p:grpSpPr>
          <a:xfrm>
            <a:off x="6733556" y="4994790"/>
            <a:ext cx="4093773" cy="762887"/>
            <a:chOff x="6726987" y="5798506"/>
            <a:chExt cx="4093773" cy="762887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E4156E10-3A23-9B28-084A-E84189141AB5}"/>
                </a:ext>
              </a:extLst>
            </p:cNvPr>
            <p:cNvGrpSpPr/>
            <p:nvPr/>
          </p:nvGrpSpPr>
          <p:grpSpPr>
            <a:xfrm>
              <a:off x="6726987" y="5798506"/>
              <a:ext cx="4093773" cy="762887"/>
              <a:chOff x="6733556" y="5820430"/>
              <a:chExt cx="4093773" cy="762887"/>
            </a:xfrm>
          </p:grpSpPr>
          <p:sp>
            <p:nvSpPr>
              <p:cNvPr id="36" name="Shape 73">
                <a:extLst>
                  <a:ext uri="{FF2B5EF4-FFF2-40B4-BE49-F238E27FC236}">
                    <a16:creationId xmlns:a16="http://schemas.microsoft.com/office/drawing/2014/main" id="{2313DE83-9676-BCC8-1095-26D294D5E5F8}"/>
                  </a:ext>
                </a:extLst>
              </p:cNvPr>
              <p:cNvSpPr/>
              <p:nvPr/>
            </p:nvSpPr>
            <p:spPr>
              <a:xfrm>
                <a:off x="6733556" y="5820430"/>
                <a:ext cx="4093773" cy="762887"/>
              </a:xfrm>
              <a:prstGeom prst="rect">
                <a:avLst/>
              </a:prstGeom>
              <a:solidFill>
                <a:srgbClr val="D7CAB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14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7" name="Shape 74">
                <a:extLst>
                  <a:ext uri="{FF2B5EF4-FFF2-40B4-BE49-F238E27FC236}">
                    <a16:creationId xmlns:a16="http://schemas.microsoft.com/office/drawing/2014/main" id="{B7C5C149-D7FA-02EE-0B90-64B6C6C4ED07}"/>
                  </a:ext>
                </a:extLst>
              </p:cNvPr>
              <p:cNvSpPr/>
              <p:nvPr/>
            </p:nvSpPr>
            <p:spPr>
              <a:xfrm>
                <a:off x="6861716" y="5926666"/>
                <a:ext cx="1771560" cy="255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66C4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14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Text 75">
                <a:extLst>
                  <a:ext uri="{FF2B5EF4-FFF2-40B4-BE49-F238E27FC236}">
                    <a16:creationId xmlns:a16="http://schemas.microsoft.com/office/drawing/2014/main" id="{743EC5F8-FE6B-E552-D71C-E6C924CB5BD4}"/>
                  </a:ext>
                </a:extLst>
              </p:cNvPr>
              <p:cNvSpPr/>
              <p:nvPr/>
            </p:nvSpPr>
            <p:spPr>
              <a:xfrm>
                <a:off x="6861716" y="5926666"/>
                <a:ext cx="1771560" cy="25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1" strike="noStrike" spc="-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React 18 + TypeScript</a:t>
                </a:r>
                <a:endParaRPr lang="en-US" sz="12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9" name="Shape 76">
                <a:extLst>
                  <a:ext uri="{FF2B5EF4-FFF2-40B4-BE49-F238E27FC236}">
                    <a16:creationId xmlns:a16="http://schemas.microsoft.com/office/drawing/2014/main" id="{53DFF4BA-9C69-A139-700F-B6DE73FAD217}"/>
                  </a:ext>
                </a:extLst>
              </p:cNvPr>
              <p:cNvSpPr/>
              <p:nvPr/>
            </p:nvSpPr>
            <p:spPr>
              <a:xfrm>
                <a:off x="8725076" y="5926666"/>
                <a:ext cx="1445760" cy="255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66C4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14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0" name="Text 77">
                <a:extLst>
                  <a:ext uri="{FF2B5EF4-FFF2-40B4-BE49-F238E27FC236}">
                    <a16:creationId xmlns:a16="http://schemas.microsoft.com/office/drawing/2014/main" id="{979F32B9-D02A-EB25-E686-ADA4E28E0BF8}"/>
                  </a:ext>
                </a:extLst>
              </p:cNvPr>
              <p:cNvSpPr/>
              <p:nvPr/>
            </p:nvSpPr>
            <p:spPr>
              <a:xfrm>
                <a:off x="8725076" y="5926666"/>
                <a:ext cx="1445760" cy="25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1" strike="noStrike" spc="-1" dirty="0" err="1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useState</a:t>
                </a:r>
                <a:r>
                  <a:rPr lang="en-US" sz="1200" b="1" strike="noStrike" spc="-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sz="1200" b="1" strike="noStrike" spc="-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本地狀態</a:t>
                </a:r>
                <a:endParaRPr lang="en-US" sz="12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1" name="Shape 78">
                <a:extLst>
                  <a:ext uri="{FF2B5EF4-FFF2-40B4-BE49-F238E27FC236}">
                    <a16:creationId xmlns:a16="http://schemas.microsoft.com/office/drawing/2014/main" id="{2A52E256-8E98-C742-5294-4EF894B4A4A5}"/>
                  </a:ext>
                </a:extLst>
              </p:cNvPr>
              <p:cNvSpPr/>
              <p:nvPr/>
            </p:nvSpPr>
            <p:spPr>
              <a:xfrm>
                <a:off x="6861716" y="6255706"/>
                <a:ext cx="1445760" cy="255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66C4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14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Text 79">
                <a:extLst>
                  <a:ext uri="{FF2B5EF4-FFF2-40B4-BE49-F238E27FC236}">
                    <a16:creationId xmlns:a16="http://schemas.microsoft.com/office/drawing/2014/main" id="{1C86E4A6-BA0D-DDF3-C140-66196AC22077}"/>
                  </a:ext>
                </a:extLst>
              </p:cNvPr>
              <p:cNvSpPr/>
              <p:nvPr/>
            </p:nvSpPr>
            <p:spPr>
              <a:xfrm>
                <a:off x="6861716" y="6255706"/>
                <a:ext cx="1445760" cy="25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1" strike="noStrike" spc="-1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CSS Grid </a:t>
                </a:r>
                <a:r>
                  <a:rPr lang="zh-TW" sz="1200" b="1" strike="noStrike" spc="-1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甘特渲染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3" name="Shape 80">
                <a:extLst>
                  <a:ext uri="{FF2B5EF4-FFF2-40B4-BE49-F238E27FC236}">
                    <a16:creationId xmlns:a16="http://schemas.microsoft.com/office/drawing/2014/main" id="{04453A45-4BAA-C884-02E4-CC4885DBEE41}"/>
                  </a:ext>
                </a:extLst>
              </p:cNvPr>
              <p:cNvSpPr/>
              <p:nvPr/>
            </p:nvSpPr>
            <p:spPr>
              <a:xfrm>
                <a:off x="8399636" y="6255706"/>
                <a:ext cx="1069200" cy="255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66C4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14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" name="Text 81">
                <a:extLst>
                  <a:ext uri="{FF2B5EF4-FFF2-40B4-BE49-F238E27FC236}">
                    <a16:creationId xmlns:a16="http://schemas.microsoft.com/office/drawing/2014/main" id="{0AB47CE2-9F63-F1EE-43D3-5D03E0F3FD81}"/>
                  </a:ext>
                </a:extLst>
              </p:cNvPr>
              <p:cNvSpPr/>
              <p:nvPr/>
            </p:nvSpPr>
            <p:spPr>
              <a:xfrm>
                <a:off x="8399636" y="6255706"/>
                <a:ext cx="1069200" cy="25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zh-TW" sz="1200" b="1" strike="noStrike" spc="-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日期動態運算</a:t>
                </a:r>
                <a:endParaRPr lang="en-US" sz="12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5" name="Shape 82">
                <a:extLst>
                  <a:ext uri="{FF2B5EF4-FFF2-40B4-BE49-F238E27FC236}">
                    <a16:creationId xmlns:a16="http://schemas.microsoft.com/office/drawing/2014/main" id="{B37408CD-43A6-1B84-36B9-528D5AFD778F}"/>
                  </a:ext>
                </a:extLst>
              </p:cNvPr>
              <p:cNvSpPr/>
              <p:nvPr/>
            </p:nvSpPr>
            <p:spPr>
              <a:xfrm>
                <a:off x="9560996" y="6255706"/>
                <a:ext cx="1170720" cy="255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66C4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14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46" name="Text 83">
              <a:extLst>
                <a:ext uri="{FF2B5EF4-FFF2-40B4-BE49-F238E27FC236}">
                  <a16:creationId xmlns:a16="http://schemas.microsoft.com/office/drawing/2014/main" id="{5D083129-A381-3151-83D7-5F98C1125E59}"/>
                </a:ext>
              </a:extLst>
            </p:cNvPr>
            <p:cNvSpPr/>
            <p:nvPr/>
          </p:nvSpPr>
          <p:spPr>
            <a:xfrm>
              <a:off x="9560996" y="6255706"/>
              <a:ext cx="1170720" cy="25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strike="noStrike" spc="-1" dirty="0">
                  <a:solidFill>
                    <a:srgbClr val="A66C4E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Drawer </a:t>
              </a:r>
              <a:r>
                <a:rPr lang="zh-TW" sz="1200" b="1" strike="noStrike" spc="-1" dirty="0">
                  <a:solidFill>
                    <a:srgbClr val="A66C4E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工作台</a:t>
              </a:r>
              <a:endPara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7" name="Text 85">
            <a:extLst>
              <a:ext uri="{FF2B5EF4-FFF2-40B4-BE49-F238E27FC236}">
                <a16:creationId xmlns:a16="http://schemas.microsoft.com/office/drawing/2014/main" id="{0DD3A61B-7D13-0394-E983-85F137280369}"/>
              </a:ext>
            </a:extLst>
          </p:cNvPr>
          <p:cNvSpPr/>
          <p:nvPr/>
        </p:nvSpPr>
        <p:spPr>
          <a:xfrm>
            <a:off x="11378636" y="6749626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F07F99CF-3A2E-3A3E-7E92-CC39F3D5C09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9996" y="2240266"/>
            <a:ext cx="5742360" cy="2519640"/>
          </a:xfrm>
          <a:prstGeom prst="rect">
            <a:avLst/>
          </a:prstGeom>
          <a:ln w="0">
            <a:noFill/>
          </a:ln>
        </p:spPr>
      </p:pic>
      <p:sp>
        <p:nvSpPr>
          <p:cNvPr id="59" name="文字方塊 58">
            <a:extLst>
              <a:ext uri="{FF2B5EF4-FFF2-40B4-BE49-F238E27FC236}">
                <a16:creationId xmlns:a16="http://schemas.microsoft.com/office/drawing/2014/main" id="{26063380-2B67-2FC1-7A80-09AF2CA93673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12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FADE888D-8BB9-0481-5896-DE1390198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244D8DDE-17B0-DDB9-8295-AAD4C7B013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13" y="5881038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7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5676-44FE-A6D8-B8B9-B1AB52E0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69495D6D-63AE-147B-BB7C-8AAEC3BCAA7D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4422011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altLang="zh-TW" sz="3200" spc="-1" dirty="0">
                <a:solidFill>
                  <a:srgbClr val="000000"/>
                </a:solidFill>
                <a:latin typeface="Microsoft JhengHei"/>
                <a:ea typeface="Microsoft JhengHei"/>
              </a:rPr>
              <a:t>🔺</a:t>
            </a:r>
            <a:r>
              <a:rPr lang="zh-TW" altLang="zh-TW" sz="3200" b="1" spc="-1" dirty="0">
                <a:solidFill>
                  <a:srgbClr val="292C28"/>
                </a:solidFill>
                <a:latin typeface="Microsoft JhengHei"/>
                <a:ea typeface="Microsoft JhengHei"/>
              </a:rPr>
              <a:t>異常與退款處理中心</a:t>
            </a:r>
            <a:endParaRPr lang="en-US" altLang="zh-TW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統一章節標記">
            <a:extLst>
              <a:ext uri="{FF2B5EF4-FFF2-40B4-BE49-F238E27FC236}">
                <a16:creationId xmlns:a16="http://schemas.microsoft.com/office/drawing/2014/main" id="{E1EAF340-E9DD-9C11-99DB-7E3FC4B2B01C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Shape 93">
            <a:extLst>
              <a:ext uri="{FF2B5EF4-FFF2-40B4-BE49-F238E27FC236}">
                <a16:creationId xmlns:a16="http://schemas.microsoft.com/office/drawing/2014/main" id="{7390283F-D2EA-53F9-EBA1-4955CB1B97B9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u="none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張琬偲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2F46F76-C64F-C5CE-1347-44E4D3A95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7" b="11657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grpSp>
        <p:nvGrpSpPr>
          <p:cNvPr id="59" name="群組 58">
            <a:extLst>
              <a:ext uri="{FF2B5EF4-FFF2-40B4-BE49-F238E27FC236}">
                <a16:creationId xmlns:a16="http://schemas.microsoft.com/office/drawing/2014/main" id="{FB2F217C-185B-69B7-48B6-1B8C71A82152}"/>
              </a:ext>
            </a:extLst>
          </p:cNvPr>
          <p:cNvGrpSpPr/>
          <p:nvPr/>
        </p:nvGrpSpPr>
        <p:grpSpPr>
          <a:xfrm>
            <a:off x="6571080" y="1151626"/>
            <a:ext cx="5644975" cy="4973400"/>
            <a:chOff x="6714959" y="1151626"/>
            <a:chExt cx="5644975" cy="4973400"/>
          </a:xfrm>
        </p:grpSpPr>
        <p:sp>
          <p:nvSpPr>
            <p:cNvPr id="30" name="Text 69">
              <a:extLst>
                <a:ext uri="{FF2B5EF4-FFF2-40B4-BE49-F238E27FC236}">
                  <a16:creationId xmlns:a16="http://schemas.microsoft.com/office/drawing/2014/main" id="{527F311C-7F95-E766-074F-ACDAE0B82E04}"/>
                </a:ext>
              </a:extLst>
            </p:cNvPr>
            <p:cNvSpPr/>
            <p:nvPr/>
          </p:nvSpPr>
          <p:spPr>
            <a:xfrm>
              <a:off x="7099079" y="2907346"/>
              <a:ext cx="5260855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GOVSUB-001 </a:t>
              </a:r>
              <a:r>
                <a:rPr lang="zh-TW" sz="1200" b="0" strike="noStrike" spc="-1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批次無法對應 ‧ </a:t>
              </a:r>
              <a:r>
                <a:rPr lang="en-US" sz="1200" b="0" strike="noStrike" spc="-1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GOVSUB-006</a:t>
              </a:r>
              <a:r>
                <a:rPr lang="zh-TW" sz="1200" b="0" strike="noStrike" spc="-1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／</a:t>
              </a:r>
              <a:r>
                <a:rPr lang="en-US" sz="1200" b="0" strike="noStrike" spc="-1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007 </a:t>
              </a:r>
              <a:r>
                <a:rPr lang="zh-TW" sz="1200" b="0" strike="noStrike" spc="-1">
                  <a:solidFill>
                    <a:srgbClr val="5D493D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溢撥、退匯超額（阻擋）</a:t>
              </a:r>
              <a:endParaRPr lang="en-US" sz="12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7855CEB1-8E24-ED5E-4E27-9EB126B2ADCD}"/>
                </a:ext>
              </a:extLst>
            </p:cNvPr>
            <p:cNvGrpSpPr/>
            <p:nvPr/>
          </p:nvGrpSpPr>
          <p:grpSpPr>
            <a:xfrm>
              <a:off x="6714959" y="1151626"/>
              <a:ext cx="5644975" cy="4973400"/>
              <a:chOff x="6714959" y="1151626"/>
              <a:chExt cx="5644975" cy="4973400"/>
            </a:xfrm>
          </p:grpSpPr>
          <p:sp>
            <p:nvSpPr>
              <p:cNvPr id="14" name="Text 53">
                <a:extLst>
                  <a:ext uri="{FF2B5EF4-FFF2-40B4-BE49-F238E27FC236}">
                    <a16:creationId xmlns:a16="http://schemas.microsoft.com/office/drawing/2014/main" id="{714D7E41-54AB-66D3-8112-34A7DE5A0AEB}"/>
                  </a:ext>
                </a:extLst>
              </p:cNvPr>
              <p:cNvSpPr/>
              <p:nvPr/>
            </p:nvSpPr>
            <p:spPr>
              <a:xfrm>
                <a:off x="6714959" y="1151626"/>
                <a:ext cx="5260855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1" strike="noStrike" spc="-1" dirty="0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🎯 </a:t>
                </a:r>
                <a:r>
                  <a:rPr lang="zh-TW" sz="1200" b="1" strike="noStrike" spc="-1" dirty="0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系統偵測重點異常類型</a:t>
                </a:r>
                <a:endParaRPr lang="en-US" sz="12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" name="Shape 54">
                <a:extLst>
                  <a:ext uri="{FF2B5EF4-FFF2-40B4-BE49-F238E27FC236}">
                    <a16:creationId xmlns:a16="http://schemas.microsoft.com/office/drawing/2014/main" id="{74F05708-3FE0-9316-6238-21808BEFDC1A}"/>
                  </a:ext>
                </a:extLst>
              </p:cNvPr>
              <p:cNvSpPr/>
              <p:nvPr/>
            </p:nvSpPr>
            <p:spPr>
              <a:xfrm>
                <a:off x="6714960" y="1389226"/>
                <a:ext cx="273600" cy="273600"/>
              </a:xfrm>
              <a:prstGeom prst="rect">
                <a:avLst/>
              </a:prstGeom>
              <a:solidFill>
                <a:srgbClr val="EDE3D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6" name="Text 55">
                <a:extLst>
                  <a:ext uri="{FF2B5EF4-FFF2-40B4-BE49-F238E27FC236}">
                    <a16:creationId xmlns:a16="http://schemas.microsoft.com/office/drawing/2014/main" id="{DA17567B-768F-D593-BBDA-2E574A0E8D4F}"/>
                  </a:ext>
                </a:extLst>
              </p:cNvPr>
              <p:cNvSpPr/>
              <p:nvPr/>
            </p:nvSpPr>
            <p:spPr>
              <a:xfrm>
                <a:off x="6714960" y="1389226"/>
                <a:ext cx="273600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💬</a:t>
                </a:r>
              </a:p>
            </p:txBody>
          </p:sp>
          <p:sp>
            <p:nvSpPr>
              <p:cNvPr id="17" name="Text 56">
                <a:extLst>
                  <a:ext uri="{FF2B5EF4-FFF2-40B4-BE49-F238E27FC236}">
                    <a16:creationId xmlns:a16="http://schemas.microsoft.com/office/drawing/2014/main" id="{CE54C740-F6C6-5F92-7EE1-CECEA746902D}"/>
                  </a:ext>
                </a:extLst>
              </p:cNvPr>
              <p:cNvSpPr/>
              <p:nvPr/>
            </p:nvSpPr>
            <p:spPr>
              <a:xfrm>
                <a:off x="7099080" y="1352866"/>
                <a:ext cx="126592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zh-TW" sz="1200" b="1" strike="noStrike" spc="-1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媒合推播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" name="Text 57">
                <a:extLst>
                  <a:ext uri="{FF2B5EF4-FFF2-40B4-BE49-F238E27FC236}">
                    <a16:creationId xmlns:a16="http://schemas.microsoft.com/office/drawing/2014/main" id="{6D5C649C-08DC-9DE0-6749-622310C6BA60}"/>
                  </a:ext>
                </a:extLst>
              </p:cNvPr>
              <p:cNvSpPr/>
              <p:nvPr/>
            </p:nvSpPr>
            <p:spPr>
              <a:xfrm>
                <a:off x="7099079" y="1563106"/>
                <a:ext cx="5260855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LINE-001 </a:t>
                </a:r>
                <a:r>
                  <a:rPr lang="zh-TW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客戶未綁定 ‧ </a:t>
                </a:r>
                <a:r>
                  <a:rPr lang="en-US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LINE-005 </a:t>
                </a:r>
                <a:r>
                  <a:rPr lang="zh-TW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月嫂未綁定 ‧ </a:t>
                </a:r>
                <a:r>
                  <a:rPr lang="en-US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LINE-004 </a:t>
                </a:r>
                <a:r>
                  <a:rPr lang="zh-TW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身分衝突</a:t>
                </a:r>
                <a:endParaRPr lang="en-US" sz="12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9" name="Shape 58">
                <a:extLst>
                  <a:ext uri="{FF2B5EF4-FFF2-40B4-BE49-F238E27FC236}">
                    <a16:creationId xmlns:a16="http://schemas.microsoft.com/office/drawing/2014/main" id="{54AB2BE7-FA56-8949-7EC5-2D74B5CD2DB6}"/>
                  </a:ext>
                </a:extLst>
              </p:cNvPr>
              <p:cNvSpPr/>
              <p:nvPr/>
            </p:nvSpPr>
            <p:spPr>
              <a:xfrm>
                <a:off x="6714960" y="1837426"/>
                <a:ext cx="273600" cy="273600"/>
              </a:xfrm>
              <a:prstGeom prst="rect">
                <a:avLst/>
              </a:prstGeom>
              <a:solidFill>
                <a:srgbClr val="EDE3D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Text 59">
                <a:extLst>
                  <a:ext uri="{FF2B5EF4-FFF2-40B4-BE49-F238E27FC236}">
                    <a16:creationId xmlns:a16="http://schemas.microsoft.com/office/drawing/2014/main" id="{62CAB1D9-D5BC-981B-3356-6B4BF06B8FF0}"/>
                  </a:ext>
                </a:extLst>
              </p:cNvPr>
              <p:cNvSpPr/>
              <p:nvPr/>
            </p:nvSpPr>
            <p:spPr>
              <a:xfrm>
                <a:off x="6714960" y="1837426"/>
                <a:ext cx="273600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📅</a:t>
                </a:r>
              </a:p>
            </p:txBody>
          </p:sp>
          <p:sp>
            <p:nvSpPr>
              <p:cNvPr id="21" name="Text 60">
                <a:extLst>
                  <a:ext uri="{FF2B5EF4-FFF2-40B4-BE49-F238E27FC236}">
                    <a16:creationId xmlns:a16="http://schemas.microsoft.com/office/drawing/2014/main" id="{E5BF03E4-1B08-F59B-E5FB-2D174B419D41}"/>
                  </a:ext>
                </a:extLst>
              </p:cNvPr>
              <p:cNvSpPr/>
              <p:nvPr/>
            </p:nvSpPr>
            <p:spPr>
              <a:xfrm>
                <a:off x="7099080" y="1800706"/>
                <a:ext cx="126592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zh-TW" sz="1200" b="1" strike="noStrike" spc="-1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排班調度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2" name="Text 61">
                <a:extLst>
                  <a:ext uri="{FF2B5EF4-FFF2-40B4-BE49-F238E27FC236}">
                    <a16:creationId xmlns:a16="http://schemas.microsoft.com/office/drawing/2014/main" id="{415376A9-56AC-AEA9-AA07-C63E8A5E5039}"/>
                  </a:ext>
                </a:extLst>
              </p:cNvPr>
              <p:cNvSpPr/>
              <p:nvPr/>
            </p:nvSpPr>
            <p:spPr>
              <a:xfrm>
                <a:off x="7099079" y="2010946"/>
                <a:ext cx="5260855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SCHEDULE-001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假日待確認 ‧ </a:t>
                </a: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SCHEDULE-006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檔期覆蓋衝突（阻擋）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3" name="Shape 62">
                <a:extLst>
                  <a:ext uri="{FF2B5EF4-FFF2-40B4-BE49-F238E27FC236}">
                    <a16:creationId xmlns:a16="http://schemas.microsoft.com/office/drawing/2014/main" id="{922CFF33-3EA5-36F1-F78F-D46703074F0A}"/>
                  </a:ext>
                </a:extLst>
              </p:cNvPr>
              <p:cNvSpPr/>
              <p:nvPr/>
            </p:nvSpPr>
            <p:spPr>
              <a:xfrm>
                <a:off x="6714960" y="2285266"/>
                <a:ext cx="273600" cy="273600"/>
              </a:xfrm>
              <a:prstGeom prst="rect">
                <a:avLst/>
              </a:prstGeom>
              <a:solidFill>
                <a:srgbClr val="EDE3D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" name="Text 63">
                <a:extLst>
                  <a:ext uri="{FF2B5EF4-FFF2-40B4-BE49-F238E27FC236}">
                    <a16:creationId xmlns:a16="http://schemas.microsoft.com/office/drawing/2014/main" id="{4712824B-CCD7-EC96-35C7-96A6E4562143}"/>
                  </a:ext>
                </a:extLst>
              </p:cNvPr>
              <p:cNvSpPr/>
              <p:nvPr/>
            </p:nvSpPr>
            <p:spPr>
              <a:xfrm>
                <a:off x="6714960" y="2285266"/>
                <a:ext cx="273600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💵</a:t>
                </a:r>
              </a:p>
            </p:txBody>
          </p:sp>
          <p:sp>
            <p:nvSpPr>
              <p:cNvPr id="25" name="Text 64">
                <a:extLst>
                  <a:ext uri="{FF2B5EF4-FFF2-40B4-BE49-F238E27FC236}">
                    <a16:creationId xmlns:a16="http://schemas.microsoft.com/office/drawing/2014/main" id="{71678F4F-EDBF-31C2-6C73-5D429BE2FA14}"/>
                  </a:ext>
                </a:extLst>
              </p:cNvPr>
              <p:cNvSpPr/>
              <p:nvPr/>
            </p:nvSpPr>
            <p:spPr>
              <a:xfrm>
                <a:off x="7099080" y="2248906"/>
                <a:ext cx="126592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zh-TW" sz="1200" b="1" strike="noStrike" spc="-1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月嫂薪資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Text 65">
                <a:extLst>
                  <a:ext uri="{FF2B5EF4-FFF2-40B4-BE49-F238E27FC236}">
                    <a16:creationId xmlns:a16="http://schemas.microsoft.com/office/drawing/2014/main" id="{C99B1486-D9B9-D563-C7AB-2DE7E7339E9F}"/>
                  </a:ext>
                </a:extLst>
              </p:cNvPr>
              <p:cNvSpPr/>
              <p:nvPr/>
            </p:nvSpPr>
            <p:spPr>
              <a:xfrm>
                <a:off x="7099079" y="2459146"/>
                <a:ext cx="5260855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PAYOUT-001 </a:t>
                </a:r>
                <a:r>
                  <a:rPr lang="zh-TW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逾期未撥款 ‧ </a:t>
                </a:r>
                <a:r>
                  <a:rPr lang="en-US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PAYOUT-002</a:t>
                </a:r>
                <a:r>
                  <a:rPr lang="zh-TW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／</a:t>
                </a:r>
                <a:r>
                  <a:rPr lang="en-US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003 </a:t>
                </a:r>
                <a:r>
                  <a:rPr lang="zh-TW" sz="1200" b="0" strike="noStrike" spc="-1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異動、銀行主檔異常（阻擋）</a:t>
                </a:r>
                <a:endParaRPr lang="en-US" sz="12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7" name="Shape 66">
                <a:extLst>
                  <a:ext uri="{FF2B5EF4-FFF2-40B4-BE49-F238E27FC236}">
                    <a16:creationId xmlns:a16="http://schemas.microsoft.com/office/drawing/2014/main" id="{3152F580-1D87-88EF-86B9-BD99D18C2AB1}"/>
                  </a:ext>
                </a:extLst>
              </p:cNvPr>
              <p:cNvSpPr/>
              <p:nvPr/>
            </p:nvSpPr>
            <p:spPr>
              <a:xfrm>
                <a:off x="6714960" y="2733466"/>
                <a:ext cx="273600" cy="273600"/>
              </a:xfrm>
              <a:prstGeom prst="rect">
                <a:avLst/>
              </a:prstGeom>
              <a:solidFill>
                <a:srgbClr val="EDE3D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8" name="Text 67">
                <a:extLst>
                  <a:ext uri="{FF2B5EF4-FFF2-40B4-BE49-F238E27FC236}">
                    <a16:creationId xmlns:a16="http://schemas.microsoft.com/office/drawing/2014/main" id="{448F99C8-F063-B25E-8786-54A1884FE5CC}"/>
                  </a:ext>
                </a:extLst>
              </p:cNvPr>
              <p:cNvSpPr/>
              <p:nvPr/>
            </p:nvSpPr>
            <p:spPr>
              <a:xfrm>
                <a:off x="6714960" y="2733466"/>
                <a:ext cx="273600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🏛️</a:t>
                </a:r>
              </a:p>
            </p:txBody>
          </p:sp>
          <p:sp>
            <p:nvSpPr>
              <p:cNvPr id="29" name="Text 68">
                <a:extLst>
                  <a:ext uri="{FF2B5EF4-FFF2-40B4-BE49-F238E27FC236}">
                    <a16:creationId xmlns:a16="http://schemas.microsoft.com/office/drawing/2014/main" id="{62C4FDD0-050B-DD5E-1C4D-2DD973DC82C2}"/>
                  </a:ext>
                </a:extLst>
              </p:cNvPr>
              <p:cNvSpPr/>
              <p:nvPr/>
            </p:nvSpPr>
            <p:spPr>
              <a:xfrm>
                <a:off x="7099080" y="2696746"/>
                <a:ext cx="126592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zh-TW" sz="1200" b="1" strike="noStrike" spc="-1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政府補助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1" name="Shape 70">
                <a:extLst>
                  <a:ext uri="{FF2B5EF4-FFF2-40B4-BE49-F238E27FC236}">
                    <a16:creationId xmlns:a16="http://schemas.microsoft.com/office/drawing/2014/main" id="{2CD510F3-9E14-9CDD-13BE-9D720390C469}"/>
                  </a:ext>
                </a:extLst>
              </p:cNvPr>
              <p:cNvSpPr/>
              <p:nvPr/>
            </p:nvSpPr>
            <p:spPr>
              <a:xfrm>
                <a:off x="6714960" y="3181666"/>
                <a:ext cx="273600" cy="273600"/>
              </a:xfrm>
              <a:prstGeom prst="rect">
                <a:avLst/>
              </a:prstGeom>
              <a:solidFill>
                <a:srgbClr val="EDE3D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Text 71">
                <a:extLst>
                  <a:ext uri="{FF2B5EF4-FFF2-40B4-BE49-F238E27FC236}">
                    <a16:creationId xmlns:a16="http://schemas.microsoft.com/office/drawing/2014/main" id="{1F923013-A423-B03A-CBF7-DFD57AD64526}"/>
                  </a:ext>
                </a:extLst>
              </p:cNvPr>
              <p:cNvSpPr/>
              <p:nvPr/>
            </p:nvSpPr>
            <p:spPr>
              <a:xfrm>
                <a:off x="6714960" y="3181666"/>
                <a:ext cx="273600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🧾</a:t>
                </a:r>
              </a:p>
            </p:txBody>
          </p:sp>
          <p:sp>
            <p:nvSpPr>
              <p:cNvPr id="33" name="Text 72">
                <a:extLst>
                  <a:ext uri="{FF2B5EF4-FFF2-40B4-BE49-F238E27FC236}">
                    <a16:creationId xmlns:a16="http://schemas.microsoft.com/office/drawing/2014/main" id="{71FF24F8-0C72-6310-7D6E-A953DA9CD31A}"/>
                  </a:ext>
                </a:extLst>
              </p:cNvPr>
              <p:cNvSpPr/>
              <p:nvPr/>
            </p:nvSpPr>
            <p:spPr>
              <a:xfrm>
                <a:off x="7099080" y="3144946"/>
                <a:ext cx="126592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zh-TW" sz="1200" b="1" strike="noStrike" spc="-1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客戶帳務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4" name="Text 73">
                <a:extLst>
                  <a:ext uri="{FF2B5EF4-FFF2-40B4-BE49-F238E27FC236}">
                    <a16:creationId xmlns:a16="http://schemas.microsoft.com/office/drawing/2014/main" id="{9E6C3B47-CCCA-7FBF-C60D-20D8834E0D9E}"/>
                  </a:ext>
                </a:extLst>
              </p:cNvPr>
              <p:cNvSpPr/>
              <p:nvPr/>
            </p:nvSpPr>
            <p:spPr>
              <a:xfrm>
                <a:off x="7099079" y="3355186"/>
                <a:ext cx="5260855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RECEIVABLE-001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應收逾期 ‧ 客戶超額退款待追償（阻擋）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5" name="Shape 74">
                <a:extLst>
                  <a:ext uri="{FF2B5EF4-FFF2-40B4-BE49-F238E27FC236}">
                    <a16:creationId xmlns:a16="http://schemas.microsoft.com/office/drawing/2014/main" id="{1D8684A9-487B-6FB6-4221-6A77D2B99076}"/>
                  </a:ext>
                </a:extLst>
              </p:cNvPr>
              <p:cNvSpPr/>
              <p:nvPr/>
            </p:nvSpPr>
            <p:spPr>
              <a:xfrm>
                <a:off x="6714960" y="3629506"/>
                <a:ext cx="273600" cy="273600"/>
              </a:xfrm>
              <a:prstGeom prst="rect">
                <a:avLst/>
              </a:prstGeom>
              <a:solidFill>
                <a:srgbClr val="EDE3D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6" name="Text 75">
                <a:extLst>
                  <a:ext uri="{FF2B5EF4-FFF2-40B4-BE49-F238E27FC236}">
                    <a16:creationId xmlns:a16="http://schemas.microsoft.com/office/drawing/2014/main" id="{F3BFFA69-BF5D-A5AA-E559-ABA9455E5416}"/>
                  </a:ext>
                </a:extLst>
              </p:cNvPr>
              <p:cNvSpPr/>
              <p:nvPr/>
            </p:nvSpPr>
            <p:spPr>
              <a:xfrm>
                <a:off x="6714960" y="3629506"/>
                <a:ext cx="273600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📥</a:t>
                </a:r>
              </a:p>
            </p:txBody>
          </p:sp>
          <p:sp>
            <p:nvSpPr>
              <p:cNvPr id="37" name="Text 76">
                <a:extLst>
                  <a:ext uri="{FF2B5EF4-FFF2-40B4-BE49-F238E27FC236}">
                    <a16:creationId xmlns:a16="http://schemas.microsoft.com/office/drawing/2014/main" id="{E79C56FB-1EB2-061A-04EA-6CBC49CD6332}"/>
                  </a:ext>
                </a:extLst>
              </p:cNvPr>
              <p:cNvSpPr/>
              <p:nvPr/>
            </p:nvSpPr>
            <p:spPr>
              <a:xfrm>
                <a:off x="7099080" y="3593146"/>
                <a:ext cx="126592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zh-TW" sz="1200" b="1" strike="noStrike" spc="-1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匯入資料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Text 77">
                <a:extLst>
                  <a:ext uri="{FF2B5EF4-FFF2-40B4-BE49-F238E27FC236}">
                    <a16:creationId xmlns:a16="http://schemas.microsoft.com/office/drawing/2014/main" id="{6543A507-06B3-B5B7-5A8B-C6E554F39F9F}"/>
                  </a:ext>
                </a:extLst>
              </p:cNvPr>
              <p:cNvSpPr/>
              <p:nvPr/>
            </p:nvSpPr>
            <p:spPr>
              <a:xfrm>
                <a:off x="7099079" y="3803386"/>
                <a:ext cx="5260855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IMPORT-001 BeClass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驗證錯誤（阻擋） ‧ </a:t>
                </a: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IMPORT-004 HCM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驗證失敗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9" name="Text 78">
                <a:extLst>
                  <a:ext uri="{FF2B5EF4-FFF2-40B4-BE49-F238E27FC236}">
                    <a16:creationId xmlns:a16="http://schemas.microsoft.com/office/drawing/2014/main" id="{0E373253-5F5D-9F15-E727-06B4F1C89CC5}"/>
                  </a:ext>
                </a:extLst>
              </p:cNvPr>
              <p:cNvSpPr/>
              <p:nvPr/>
            </p:nvSpPr>
            <p:spPr>
              <a:xfrm>
                <a:off x="6714959" y="4096066"/>
                <a:ext cx="5260855" cy="25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200" b="1" strike="noStrike" spc="-1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⚙️ </a:t>
                </a:r>
                <a:r>
                  <a:rPr lang="zh-TW" sz="1200" b="1" strike="noStrike" spc="-1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異常追蹤如何運作（資料流程）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0" name="Shape 79">
                <a:extLst>
                  <a:ext uri="{FF2B5EF4-FFF2-40B4-BE49-F238E27FC236}">
                    <a16:creationId xmlns:a16="http://schemas.microsoft.com/office/drawing/2014/main" id="{A7DDDC8D-6F7E-0D1A-5FEE-CA0C7C2E076E}"/>
                  </a:ext>
                </a:extLst>
              </p:cNvPr>
              <p:cNvSpPr/>
              <p:nvPr/>
            </p:nvSpPr>
            <p:spPr>
              <a:xfrm>
                <a:off x="6714960" y="4388386"/>
                <a:ext cx="4937040" cy="1736640"/>
              </a:xfrm>
              <a:prstGeom prst="rect">
                <a:avLst/>
              </a:prstGeom>
              <a:solidFill>
                <a:srgbClr val="D7CAB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1" name="Shape 80">
                <a:extLst>
                  <a:ext uri="{FF2B5EF4-FFF2-40B4-BE49-F238E27FC236}">
                    <a16:creationId xmlns:a16="http://schemas.microsoft.com/office/drawing/2014/main" id="{43004B9D-CFAE-DAA0-8FC7-E4868E55BD92}"/>
                  </a:ext>
                </a:extLst>
              </p:cNvPr>
              <p:cNvSpPr/>
              <p:nvPr/>
            </p:nvSpPr>
            <p:spPr>
              <a:xfrm>
                <a:off x="6861120" y="4507546"/>
                <a:ext cx="218880" cy="218880"/>
              </a:xfrm>
              <a:prstGeom prst="rect">
                <a:avLst/>
              </a:prstGeom>
              <a:solidFill>
                <a:srgbClr val="A66C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Text 81">
                <a:extLst>
                  <a:ext uri="{FF2B5EF4-FFF2-40B4-BE49-F238E27FC236}">
                    <a16:creationId xmlns:a16="http://schemas.microsoft.com/office/drawing/2014/main" id="{7DECBE65-805B-9A3F-8CC2-3EA2AD494D74}"/>
                  </a:ext>
                </a:extLst>
              </p:cNvPr>
              <p:cNvSpPr/>
              <p:nvPr/>
            </p:nvSpPr>
            <p:spPr>
              <a:xfrm>
                <a:off x="6861120" y="4507546"/>
                <a:ext cx="21888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1" strike="noStrike" spc="-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1</a:t>
                </a: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3" name="Text 82">
                <a:extLst>
                  <a:ext uri="{FF2B5EF4-FFF2-40B4-BE49-F238E27FC236}">
                    <a16:creationId xmlns:a16="http://schemas.microsoft.com/office/drawing/2014/main" id="{30D56414-B449-53BF-A2D7-501B807D5667}"/>
                  </a:ext>
                </a:extLst>
              </p:cNvPr>
              <p:cNvSpPr/>
              <p:nvPr/>
            </p:nvSpPr>
            <p:spPr>
              <a:xfrm>
                <a:off x="7172159" y="4479826"/>
                <a:ext cx="4617921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5000"/>
                  </a:lnSpc>
                  <a:tabLst>
                    <a:tab pos="0" algn="l"/>
                  </a:tabLst>
                </a:pP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網域事件觸發（訂單媒合／排班變更／財務匯入等）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" name="Shape 83">
                <a:extLst>
                  <a:ext uri="{FF2B5EF4-FFF2-40B4-BE49-F238E27FC236}">
                    <a16:creationId xmlns:a16="http://schemas.microsoft.com/office/drawing/2014/main" id="{F7AE8D7A-2F8C-273A-55AC-810840381AA4}"/>
                  </a:ext>
                </a:extLst>
              </p:cNvPr>
              <p:cNvSpPr/>
              <p:nvPr/>
            </p:nvSpPr>
            <p:spPr>
              <a:xfrm>
                <a:off x="6861120" y="4813906"/>
                <a:ext cx="218880" cy="218880"/>
              </a:xfrm>
              <a:prstGeom prst="rect">
                <a:avLst/>
              </a:prstGeom>
              <a:solidFill>
                <a:srgbClr val="A66C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5" name="Text 84">
                <a:extLst>
                  <a:ext uri="{FF2B5EF4-FFF2-40B4-BE49-F238E27FC236}">
                    <a16:creationId xmlns:a16="http://schemas.microsoft.com/office/drawing/2014/main" id="{968F0B31-547A-3B5E-0440-E8BE3FDED825}"/>
                  </a:ext>
                </a:extLst>
              </p:cNvPr>
              <p:cNvSpPr/>
              <p:nvPr/>
            </p:nvSpPr>
            <p:spPr>
              <a:xfrm>
                <a:off x="6861120" y="4813906"/>
                <a:ext cx="21888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1" strike="noStrike" spc="-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2</a:t>
                </a: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6" name="Text 85">
                <a:extLst>
                  <a:ext uri="{FF2B5EF4-FFF2-40B4-BE49-F238E27FC236}">
                    <a16:creationId xmlns:a16="http://schemas.microsoft.com/office/drawing/2014/main" id="{11F206F9-073B-E053-3317-819A6B0D5FE8}"/>
                  </a:ext>
                </a:extLst>
              </p:cNvPr>
              <p:cNvSpPr/>
              <p:nvPr/>
            </p:nvSpPr>
            <p:spPr>
              <a:xfrm>
                <a:off x="7172159" y="4786186"/>
                <a:ext cx="4617921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5000"/>
                  </a:lnSpc>
                  <a:tabLst>
                    <a:tab pos="0" algn="l"/>
                  </a:tabLst>
                </a:pP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reduce_current_alert()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即時運算，寫入 </a:t>
                </a: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MySQL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投影表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7" name="Shape 86">
                <a:extLst>
                  <a:ext uri="{FF2B5EF4-FFF2-40B4-BE49-F238E27FC236}">
                    <a16:creationId xmlns:a16="http://schemas.microsoft.com/office/drawing/2014/main" id="{AF20AE9F-230F-1BC1-2627-590B38DDDAD3}"/>
                  </a:ext>
                </a:extLst>
              </p:cNvPr>
              <p:cNvSpPr/>
              <p:nvPr/>
            </p:nvSpPr>
            <p:spPr>
              <a:xfrm>
                <a:off x="6861120" y="5119906"/>
                <a:ext cx="218880" cy="218880"/>
              </a:xfrm>
              <a:prstGeom prst="rect">
                <a:avLst/>
              </a:prstGeom>
              <a:solidFill>
                <a:srgbClr val="A66C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8" name="Text 87">
                <a:extLst>
                  <a:ext uri="{FF2B5EF4-FFF2-40B4-BE49-F238E27FC236}">
                    <a16:creationId xmlns:a16="http://schemas.microsoft.com/office/drawing/2014/main" id="{C1719882-FB98-D15B-15CE-DD4FFED51815}"/>
                  </a:ext>
                </a:extLst>
              </p:cNvPr>
              <p:cNvSpPr/>
              <p:nvPr/>
            </p:nvSpPr>
            <p:spPr>
              <a:xfrm>
                <a:off x="6861120" y="5119906"/>
                <a:ext cx="21888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1" strike="noStrike" spc="-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3</a:t>
                </a: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9" name="Text 88">
                <a:extLst>
                  <a:ext uri="{FF2B5EF4-FFF2-40B4-BE49-F238E27FC236}">
                    <a16:creationId xmlns:a16="http://schemas.microsoft.com/office/drawing/2014/main" id="{2D69D300-E02A-BDE9-7052-7335B595D853}"/>
                  </a:ext>
                </a:extLst>
              </p:cNvPr>
              <p:cNvSpPr/>
              <p:nvPr/>
            </p:nvSpPr>
            <p:spPr>
              <a:xfrm>
                <a:off x="7172159" y="5092546"/>
                <a:ext cx="4617921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5000"/>
                  </a:lnSpc>
                  <a:tabLst>
                    <a:tab pos="0" algn="l"/>
                  </a:tabLst>
                </a:pP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查詢時依 </a:t>
                </a: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definition_code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查表取得 </a:t>
                </a: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41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種規則之 </a:t>
                </a: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severity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50" name="Shape 89">
                <a:extLst>
                  <a:ext uri="{FF2B5EF4-FFF2-40B4-BE49-F238E27FC236}">
                    <a16:creationId xmlns:a16="http://schemas.microsoft.com/office/drawing/2014/main" id="{F0B13AE0-F5EB-2939-9364-62CF43BB648B}"/>
                  </a:ext>
                </a:extLst>
              </p:cNvPr>
              <p:cNvSpPr/>
              <p:nvPr/>
            </p:nvSpPr>
            <p:spPr>
              <a:xfrm>
                <a:off x="6861120" y="5426266"/>
                <a:ext cx="218880" cy="218880"/>
              </a:xfrm>
              <a:prstGeom prst="rect">
                <a:avLst/>
              </a:prstGeom>
              <a:solidFill>
                <a:srgbClr val="A66C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51" name="Text 90">
                <a:extLst>
                  <a:ext uri="{FF2B5EF4-FFF2-40B4-BE49-F238E27FC236}">
                    <a16:creationId xmlns:a16="http://schemas.microsoft.com/office/drawing/2014/main" id="{FCF94FED-83C6-4113-549F-0EFAF06F3E12}"/>
                  </a:ext>
                </a:extLst>
              </p:cNvPr>
              <p:cNvSpPr/>
              <p:nvPr/>
            </p:nvSpPr>
            <p:spPr>
              <a:xfrm>
                <a:off x="6861120" y="5426266"/>
                <a:ext cx="21888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1" strike="noStrike" spc="-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4</a:t>
                </a: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52" name="Text 91">
                <a:extLst>
                  <a:ext uri="{FF2B5EF4-FFF2-40B4-BE49-F238E27FC236}">
                    <a16:creationId xmlns:a16="http://schemas.microsoft.com/office/drawing/2014/main" id="{F21C3E02-43A0-AD10-121C-174AFDAD3312}"/>
                  </a:ext>
                </a:extLst>
              </p:cNvPr>
              <p:cNvSpPr/>
              <p:nvPr/>
            </p:nvSpPr>
            <p:spPr>
              <a:xfrm>
                <a:off x="7172159" y="5398906"/>
                <a:ext cx="4617921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5000"/>
                  </a:lnSpc>
                  <a:tabLst>
                    <a:tab pos="0" algn="l"/>
                  </a:tabLst>
                </a:pP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Zod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執行期驗證通過後，</a:t>
                </a: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Adapter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轉換為畫面 </a:t>
                </a: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View-Model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53" name="Shape 92">
                <a:extLst>
                  <a:ext uri="{FF2B5EF4-FFF2-40B4-BE49-F238E27FC236}">
                    <a16:creationId xmlns:a16="http://schemas.microsoft.com/office/drawing/2014/main" id="{D1FA9D6E-43FA-271C-B63A-C85F3DA65D8F}"/>
                  </a:ext>
                </a:extLst>
              </p:cNvPr>
              <p:cNvSpPr/>
              <p:nvPr/>
            </p:nvSpPr>
            <p:spPr>
              <a:xfrm>
                <a:off x="6861120" y="5732626"/>
                <a:ext cx="218880" cy="218880"/>
              </a:xfrm>
              <a:prstGeom prst="rect">
                <a:avLst/>
              </a:prstGeom>
              <a:solidFill>
                <a:srgbClr val="A66C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900" b="0" strike="noStrike" spc="-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54" name="Text 93">
                <a:extLst>
                  <a:ext uri="{FF2B5EF4-FFF2-40B4-BE49-F238E27FC236}">
                    <a16:creationId xmlns:a16="http://schemas.microsoft.com/office/drawing/2014/main" id="{D27EE658-1AD8-B40A-6A47-573826A60702}"/>
                  </a:ext>
                </a:extLst>
              </p:cNvPr>
              <p:cNvSpPr/>
              <p:nvPr/>
            </p:nvSpPr>
            <p:spPr>
              <a:xfrm>
                <a:off x="6861120" y="5732626"/>
                <a:ext cx="218880" cy="21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900" b="1" strike="noStrike" spc="-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5</a:t>
                </a:r>
                <a:endParaRPr lang="en-US" sz="9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55" name="Text 94">
                <a:extLst>
                  <a:ext uri="{FF2B5EF4-FFF2-40B4-BE49-F238E27FC236}">
                    <a16:creationId xmlns:a16="http://schemas.microsoft.com/office/drawing/2014/main" id="{A47A673B-7D22-0630-B64E-1A887B9E8F0A}"/>
                  </a:ext>
                </a:extLst>
              </p:cNvPr>
              <p:cNvSpPr/>
              <p:nvPr/>
            </p:nvSpPr>
            <p:spPr>
              <a:xfrm>
                <a:off x="7172159" y="5705266"/>
                <a:ext cx="4617921" cy="273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5000"/>
                  </a:lnSpc>
                  <a:tabLst>
                    <a:tab pos="0" algn="l"/>
                  </a:tabLst>
                </a:pPr>
                <a:r>
                  <a:rPr lang="en-US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React race-guard fetch </a:t>
                </a:r>
                <a:r>
                  <a:rPr lang="zh-TW" sz="1200" b="0" strike="noStrike" spc="-1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顯示 — 事件驅動，非輪詢掃描</a:t>
                </a:r>
                <a:endPara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13243599-33B4-1BA5-2841-74730798CFA2}"/>
              </a:ext>
            </a:extLst>
          </p:cNvPr>
          <p:cNvGrpSpPr/>
          <p:nvPr/>
        </p:nvGrpSpPr>
        <p:grpSpPr>
          <a:xfrm>
            <a:off x="449216" y="4571626"/>
            <a:ext cx="5988600" cy="657720"/>
            <a:chOff x="490322" y="4745396"/>
            <a:chExt cx="5988600" cy="657720"/>
          </a:xfrm>
        </p:grpSpPr>
        <p:sp>
          <p:nvSpPr>
            <p:cNvPr id="12" name="Shape 51">
              <a:extLst>
                <a:ext uri="{FF2B5EF4-FFF2-40B4-BE49-F238E27FC236}">
                  <a16:creationId xmlns:a16="http://schemas.microsoft.com/office/drawing/2014/main" id="{4A4D4072-E4FF-4BFF-09E1-737A5DF61DE2}"/>
                </a:ext>
              </a:extLst>
            </p:cNvPr>
            <p:cNvSpPr/>
            <p:nvPr/>
          </p:nvSpPr>
          <p:spPr>
            <a:xfrm>
              <a:off x="490322" y="4745396"/>
              <a:ext cx="5988600" cy="657720"/>
            </a:xfrm>
            <a:prstGeom prst="rect">
              <a:avLst/>
            </a:prstGeom>
            <a:solidFill>
              <a:srgbClr val="D7CAB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" name="Text 52">
              <a:extLst>
                <a:ext uri="{FF2B5EF4-FFF2-40B4-BE49-F238E27FC236}">
                  <a16:creationId xmlns:a16="http://schemas.microsoft.com/office/drawing/2014/main" id="{1A57C6A5-DCB7-5D9D-FA1D-180764AE3399}"/>
                </a:ext>
              </a:extLst>
            </p:cNvPr>
            <p:cNvSpPr/>
            <p:nvPr/>
          </p:nvSpPr>
          <p:spPr>
            <a:xfrm>
              <a:off x="636719" y="4745396"/>
              <a:ext cx="5695807" cy="65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200" b="0" strike="noStrike" spc="-1" dirty="0">
                  <a:solidFill>
                    <a:srgbClr val="5D493D"/>
                  </a:solidFill>
                  <a:latin typeface="Microsoft JhengHei"/>
                  <a:ea typeface="Microsoft JhengHei"/>
                </a:rPr>
                <a:t>🗂️ 8 </a:t>
              </a: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/>
                  <a:ea typeface="Microsoft JhengHei"/>
                </a:rPr>
                <a:t>大分類篩選：依 </a:t>
              </a:r>
              <a:r>
                <a:rPr lang="en-US" sz="1200" b="0" strike="noStrike" spc="-1" dirty="0" err="1">
                  <a:solidFill>
                    <a:srgbClr val="5D493D"/>
                  </a:solidFill>
                  <a:latin typeface="Microsoft JhengHei"/>
                  <a:ea typeface="Microsoft JhengHei"/>
                </a:rPr>
                <a:t>source_domain</a:t>
              </a:r>
              <a:r>
                <a:rPr lang="en-US" sz="1200" b="0" strike="noStrike" spc="-1" dirty="0">
                  <a:solidFill>
                    <a:srgbClr val="5D493D"/>
                  </a:solidFill>
                  <a:latin typeface="Microsoft JhengHei"/>
                  <a:ea typeface="Microsoft JhengHei"/>
                </a:rPr>
                <a:t> </a:t>
              </a:r>
              <a:r>
                <a:rPr lang="zh-TW" sz="1200" b="0" strike="noStrike" spc="-1" dirty="0">
                  <a:solidFill>
                    <a:srgbClr val="5D493D"/>
                  </a:solidFill>
                  <a:latin typeface="Microsoft JhengHei"/>
                  <a:ea typeface="Microsoft JhengHei"/>
                </a:rPr>
                <a:t>自動歸類（匯入資料／媒合推播／排班調度／客戶帳務／月嫂薪資／政府補助／其他），一鍵切換分頁即可快速定位跨領域異常。</a:t>
              </a:r>
              <a:endParaRPr lang="en-US" sz="12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63FC2A3F-5A5F-FAA6-998F-ACF681EEE09D}"/>
              </a:ext>
            </a:extLst>
          </p:cNvPr>
          <p:cNvGrpSpPr/>
          <p:nvPr/>
        </p:nvGrpSpPr>
        <p:grpSpPr>
          <a:xfrm>
            <a:off x="527220" y="1292049"/>
            <a:ext cx="5988600" cy="3187777"/>
            <a:chOff x="500042" y="1234435"/>
            <a:chExt cx="5988600" cy="3187777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2DE87A96-1335-BFB0-1D6F-7CB42114497A}"/>
                </a:ext>
              </a:extLst>
            </p:cNvPr>
            <p:cNvSpPr/>
            <p:nvPr/>
          </p:nvSpPr>
          <p:spPr>
            <a:xfrm>
              <a:off x="500042" y="1234435"/>
              <a:ext cx="5988600" cy="328320"/>
            </a:xfrm>
            <a:prstGeom prst="rect">
              <a:avLst/>
            </a:prstGeom>
            <a:solidFill>
              <a:srgbClr val="D8C2A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01A65003-72F3-1001-BFFD-A7731E275972}"/>
                </a:ext>
              </a:extLst>
            </p:cNvPr>
            <p:cNvGrpSpPr/>
            <p:nvPr/>
          </p:nvGrpSpPr>
          <p:grpSpPr>
            <a:xfrm>
              <a:off x="515636" y="1297772"/>
              <a:ext cx="5939640" cy="3124440"/>
              <a:chOff x="515636" y="1297772"/>
              <a:chExt cx="5939640" cy="3124440"/>
            </a:xfrm>
          </p:grpSpPr>
          <p:grpSp>
            <p:nvGrpSpPr>
              <p:cNvPr id="61" name="群組 60">
                <a:extLst>
                  <a:ext uri="{FF2B5EF4-FFF2-40B4-BE49-F238E27FC236}">
                    <a16:creationId xmlns:a16="http://schemas.microsoft.com/office/drawing/2014/main" id="{F55CD45F-77F8-A052-412E-AA4280DE7670}"/>
                  </a:ext>
                </a:extLst>
              </p:cNvPr>
              <p:cNvGrpSpPr/>
              <p:nvPr/>
            </p:nvGrpSpPr>
            <p:grpSpPr>
              <a:xfrm>
                <a:off x="515636" y="1297772"/>
                <a:ext cx="5939640" cy="3124440"/>
                <a:chOff x="540000" y="1271160"/>
                <a:chExt cx="5939640" cy="3124440"/>
              </a:xfrm>
            </p:grpSpPr>
            <p:sp>
              <p:nvSpPr>
                <p:cNvPr id="7" name="Shape 6">
                  <a:extLst>
                    <a:ext uri="{FF2B5EF4-FFF2-40B4-BE49-F238E27FC236}">
                      <a16:creationId xmlns:a16="http://schemas.microsoft.com/office/drawing/2014/main" id="{EDF84BD1-606E-DD25-A988-ED9F6E479974}"/>
                    </a:ext>
                  </a:extLst>
                </p:cNvPr>
                <p:cNvSpPr/>
                <p:nvPr/>
              </p:nvSpPr>
              <p:spPr>
                <a:xfrm>
                  <a:off x="631080" y="1330560"/>
                  <a:ext cx="81720" cy="81720"/>
                </a:xfrm>
                <a:prstGeom prst="ellipse">
                  <a:avLst/>
                </a:prstGeom>
                <a:solidFill>
                  <a:srgbClr val="C0664C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13320" rIns="90000" bIns="13320" anchor="t">
                  <a:noAutofit/>
                </a:bodyPr>
                <a:lstStyle/>
                <a:p>
                  <a:pPr>
                    <a:lnSpc>
                      <a:spcPct val="100000"/>
                    </a:lnSpc>
                  </a:pPr>
                  <a:endParaRPr lang="en-US" sz="1800" b="0" strike="noStrike" spc="-1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8" name="Shape 7">
                  <a:extLst>
                    <a:ext uri="{FF2B5EF4-FFF2-40B4-BE49-F238E27FC236}">
                      <a16:creationId xmlns:a16="http://schemas.microsoft.com/office/drawing/2014/main" id="{268C7B8E-74F3-634A-984D-4E3E44E3ED91}"/>
                    </a:ext>
                  </a:extLst>
                </p:cNvPr>
                <p:cNvSpPr/>
                <p:nvPr/>
              </p:nvSpPr>
              <p:spPr>
                <a:xfrm>
                  <a:off x="795600" y="1330560"/>
                  <a:ext cx="81720" cy="81720"/>
                </a:xfrm>
                <a:prstGeom prst="ellipse">
                  <a:avLst/>
                </a:prstGeom>
                <a:solidFill>
                  <a:srgbClr val="C79A4B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13320" rIns="90000" bIns="13320" anchor="t">
                  <a:noAutofit/>
                </a:bodyPr>
                <a:lstStyle/>
                <a:p>
                  <a:pPr>
                    <a:lnSpc>
                      <a:spcPct val="100000"/>
                    </a:lnSpc>
                  </a:pPr>
                  <a:endParaRPr lang="en-US" sz="18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9" name="Shape 8">
                  <a:extLst>
                    <a:ext uri="{FF2B5EF4-FFF2-40B4-BE49-F238E27FC236}">
                      <a16:creationId xmlns:a16="http://schemas.microsoft.com/office/drawing/2014/main" id="{6D7C015E-4233-A055-A5A9-FA6BA68FE186}"/>
                    </a:ext>
                  </a:extLst>
                </p:cNvPr>
                <p:cNvSpPr/>
                <p:nvPr/>
              </p:nvSpPr>
              <p:spPr>
                <a:xfrm>
                  <a:off x="960120" y="1330560"/>
                  <a:ext cx="81720" cy="81720"/>
                </a:xfrm>
                <a:prstGeom prst="ellipse">
                  <a:avLst/>
                </a:prstGeom>
                <a:solidFill>
                  <a:srgbClr val="6C7D5C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13320" rIns="90000" bIns="13320" anchor="t">
                  <a:noAutofit/>
                </a:bodyPr>
                <a:lstStyle/>
                <a:p>
                  <a:pPr>
                    <a:lnSpc>
                      <a:spcPct val="100000"/>
                    </a:lnSpc>
                  </a:pPr>
                  <a:endParaRPr lang="en-US" sz="1800" b="0" strike="noStrike" spc="-1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grpSp>
              <p:nvGrpSpPr>
                <p:cNvPr id="60" name="群組 59">
                  <a:extLst>
                    <a:ext uri="{FF2B5EF4-FFF2-40B4-BE49-F238E27FC236}">
                      <a16:creationId xmlns:a16="http://schemas.microsoft.com/office/drawing/2014/main" id="{95BBF2FD-EC17-93A1-8042-B27DCD8F1734}"/>
                    </a:ext>
                  </a:extLst>
                </p:cNvPr>
                <p:cNvGrpSpPr/>
                <p:nvPr/>
              </p:nvGrpSpPr>
              <p:grpSpPr>
                <a:xfrm>
                  <a:off x="540000" y="1271160"/>
                  <a:ext cx="5939640" cy="3124440"/>
                  <a:chOff x="540000" y="1271160"/>
                  <a:chExt cx="5939640" cy="3124440"/>
                </a:xfrm>
              </p:grpSpPr>
              <p:sp>
                <p:nvSpPr>
                  <p:cNvPr id="10" name="Shape 9">
                    <a:extLst>
                      <a:ext uri="{FF2B5EF4-FFF2-40B4-BE49-F238E27FC236}">
                        <a16:creationId xmlns:a16="http://schemas.microsoft.com/office/drawing/2014/main" id="{9DBE84B0-B116-8D40-7273-BC3CB77D7E9C}"/>
                      </a:ext>
                    </a:extLst>
                  </p:cNvPr>
                  <p:cNvSpPr/>
                  <p:nvPr/>
                </p:nvSpPr>
                <p:spPr>
                  <a:xfrm>
                    <a:off x="1188720" y="1271160"/>
                    <a:ext cx="5074200" cy="200520"/>
                  </a:xfrm>
                  <a:prstGeom prst="rect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6F7069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pic>
                <p:nvPicPr>
                  <p:cNvPr id="56" name="圖片 55">
                    <a:extLst>
                      <a:ext uri="{FF2B5EF4-FFF2-40B4-BE49-F238E27FC236}">
                        <a16:creationId xmlns:a16="http://schemas.microsoft.com/office/drawing/2014/main" id="{A5619B4D-C6BC-60BE-E381-4356D2275781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540000" y="1620000"/>
                    <a:ext cx="5939640" cy="27756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grpSp>
          </p:grpSp>
          <p:sp>
            <p:nvSpPr>
              <p:cNvPr id="11" name="Text 10">
                <a:extLst>
                  <a:ext uri="{FF2B5EF4-FFF2-40B4-BE49-F238E27FC236}">
                    <a16:creationId xmlns:a16="http://schemas.microsoft.com/office/drawing/2014/main" id="{72B592F3-64B8-8F74-ED61-C4E25AA9FC20}"/>
                  </a:ext>
                </a:extLst>
              </p:cNvPr>
              <p:cNvSpPr/>
              <p:nvPr/>
            </p:nvSpPr>
            <p:spPr>
              <a:xfrm>
                <a:off x="1266302" y="1303089"/>
                <a:ext cx="4937040" cy="20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850" b="0" strike="noStrike" spc="-1" dirty="0">
                    <a:solidFill>
                      <a:srgbClr val="6F7069"/>
                    </a:solidFill>
                    <a:latin typeface="Microsoft JhengHei"/>
                    <a:ea typeface="Microsoft JhengHei"/>
                  </a:rPr>
                  <a:t>localhost:5174/#anomalies</a:t>
                </a:r>
                <a:endParaRPr lang="en-US" sz="85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6B4BF2ED-0E7D-9D65-9370-7C0A7EB4DC86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13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8" name="圖片 67">
            <a:extLst>
              <a:ext uri="{FF2B5EF4-FFF2-40B4-BE49-F238E27FC236}">
                <a16:creationId xmlns:a16="http://schemas.microsoft.com/office/drawing/2014/main" id="{BBBF6737-6277-2DDB-719E-5DF13AD7B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41EF8942-4D72-C36E-21BA-4BE1BB418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13" y="5881038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7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88CC-B208-A172-6238-BB33EBBA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9195A15B-1115-28D0-F3BB-B034F2F50D19}"/>
              </a:ext>
            </a:extLst>
          </p:cNvPr>
          <p:cNvSpPr>
            <a:spLocks noGrp="1"/>
          </p:cNvSpPr>
          <p:nvPr/>
        </p:nvSpPr>
        <p:spPr>
          <a:xfrm>
            <a:off x="612834" y="597198"/>
            <a:ext cx="279944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zh-TW" altLang="zh-TW" sz="3200" b="1" spc="-1" dirty="0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技術架構總覽</a:t>
            </a:r>
            <a:endParaRPr lang="en-US" altLang="zh-TW" sz="3200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統一章節標記">
            <a:extLst>
              <a:ext uri="{FF2B5EF4-FFF2-40B4-BE49-F238E27FC236}">
                <a16:creationId xmlns:a16="http://schemas.microsoft.com/office/drawing/2014/main" id="{5A585656-B2BD-0C68-8426-CCC5F5A24540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4" name="Shape 93">
            <a:extLst>
              <a:ext uri="{FF2B5EF4-FFF2-40B4-BE49-F238E27FC236}">
                <a16:creationId xmlns:a16="http://schemas.microsoft.com/office/drawing/2014/main" id="{C65B1EA4-92D5-6954-5814-437B23267EE0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u="none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張琬偲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F5FF9F8-53AD-861D-7C35-60962F0C5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57" b="11657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20" name="Shape 18">
            <a:extLst>
              <a:ext uri="{FF2B5EF4-FFF2-40B4-BE49-F238E27FC236}">
                <a16:creationId xmlns:a16="http://schemas.microsoft.com/office/drawing/2014/main" id="{9592FFA0-C56E-E905-979B-56C57C636948}"/>
              </a:ext>
            </a:extLst>
          </p:cNvPr>
          <p:cNvSpPr/>
          <p:nvPr/>
        </p:nvSpPr>
        <p:spPr>
          <a:xfrm>
            <a:off x="7463688" y="1691639"/>
            <a:ext cx="2173750" cy="1954809"/>
          </a:xfrm>
          <a:prstGeom prst="rect">
            <a:avLst/>
          </a:prstGeom>
          <a:solidFill>
            <a:srgbClr val="D8C2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3035ED89-FC84-B179-3C8E-624400569C71}"/>
              </a:ext>
            </a:extLst>
          </p:cNvPr>
          <p:cNvSpPr/>
          <p:nvPr/>
        </p:nvSpPr>
        <p:spPr>
          <a:xfrm>
            <a:off x="538154" y="4035036"/>
            <a:ext cx="1429774" cy="365040"/>
          </a:xfrm>
          <a:prstGeom prst="rect">
            <a:avLst/>
          </a:prstGeom>
          <a:solidFill>
            <a:srgbClr val="E4E9DF"/>
          </a:solidFill>
          <a:ln w="952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US" altLang="zh-TW" sz="1600" b="1" spc="-1" dirty="0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Python 3.11</a:t>
            </a:r>
            <a:endParaRPr lang="en-US" altLang="zh-TW" sz="1600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8E27FB1C-6587-FD9F-4F61-F0AE719E49EE}"/>
              </a:ext>
            </a:extLst>
          </p:cNvPr>
          <p:cNvSpPr/>
          <p:nvPr/>
        </p:nvSpPr>
        <p:spPr>
          <a:xfrm>
            <a:off x="2276377" y="4027328"/>
            <a:ext cx="962337" cy="365040"/>
          </a:xfrm>
          <a:prstGeom prst="rect">
            <a:avLst/>
          </a:prstGeom>
          <a:solidFill>
            <a:srgbClr val="E4E9DF"/>
          </a:solidFill>
          <a:ln w="952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altLang="zh-TW" sz="1600" b="1" spc="-1" dirty="0" err="1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FastAPI</a:t>
            </a:r>
            <a:endParaRPr lang="en-US" altLang="zh-TW" sz="1600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B93510C9-0BE2-0378-E3CC-B78E555CCE78}"/>
              </a:ext>
            </a:extLst>
          </p:cNvPr>
          <p:cNvSpPr/>
          <p:nvPr/>
        </p:nvSpPr>
        <p:spPr>
          <a:xfrm>
            <a:off x="3547163" y="4024540"/>
            <a:ext cx="772673" cy="365040"/>
          </a:xfrm>
          <a:prstGeom prst="rect">
            <a:avLst/>
          </a:prstGeom>
          <a:solidFill>
            <a:srgbClr val="E4E9DF"/>
          </a:solidFill>
          <a:ln w="952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US" altLang="zh-TW" sz="1600" b="1" spc="-1" dirty="0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React</a:t>
            </a:r>
            <a:endParaRPr lang="en-US" altLang="zh-TW" sz="1600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A9B125D5-3D85-FA8A-90A4-C37530E73FA7}"/>
              </a:ext>
            </a:extLst>
          </p:cNvPr>
          <p:cNvSpPr/>
          <p:nvPr/>
        </p:nvSpPr>
        <p:spPr>
          <a:xfrm>
            <a:off x="4628285" y="4024540"/>
            <a:ext cx="1976673" cy="365040"/>
          </a:xfrm>
          <a:prstGeom prst="rect">
            <a:avLst/>
          </a:prstGeom>
          <a:solidFill>
            <a:srgbClr val="E4E9DF"/>
          </a:solidFill>
          <a:ln w="952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US" altLang="zh-TW" sz="1600" b="1" spc="-1" dirty="0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MySQL (</a:t>
            </a:r>
            <a:r>
              <a:rPr lang="en-US" altLang="zh-TW" sz="1600" b="1" spc="-1" dirty="0" err="1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pymysql</a:t>
            </a:r>
            <a:r>
              <a:rPr lang="en-US" altLang="zh-TW" sz="1600" b="1" spc="-1" dirty="0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-US" altLang="zh-TW" sz="1600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0A579950-4BFC-6620-152E-C46201C7B0F7}"/>
              </a:ext>
            </a:extLst>
          </p:cNvPr>
          <p:cNvSpPr/>
          <p:nvPr/>
        </p:nvSpPr>
        <p:spPr>
          <a:xfrm>
            <a:off x="6913407" y="4024540"/>
            <a:ext cx="1392910" cy="365040"/>
          </a:xfrm>
          <a:prstGeom prst="rect">
            <a:avLst/>
          </a:prstGeom>
          <a:solidFill>
            <a:srgbClr val="E4E9DF"/>
          </a:solidFill>
          <a:ln w="952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600" b="1" spc="-1" dirty="0" err="1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ChromaDB</a:t>
            </a:r>
            <a:endParaRPr lang="en-US" sz="1600" b="0" strike="noStrike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BDF3B77A-EB93-F6C0-DC9B-2E9C543C5EF0}"/>
              </a:ext>
            </a:extLst>
          </p:cNvPr>
          <p:cNvSpPr/>
          <p:nvPr/>
        </p:nvSpPr>
        <p:spPr>
          <a:xfrm>
            <a:off x="8614766" y="4035036"/>
            <a:ext cx="1345277" cy="365040"/>
          </a:xfrm>
          <a:prstGeom prst="rect">
            <a:avLst/>
          </a:prstGeom>
          <a:solidFill>
            <a:srgbClr val="E4E9DF"/>
          </a:solidFill>
          <a:ln w="952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600" b="1" spc="-1" dirty="0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Playwright</a:t>
            </a:r>
            <a:endParaRPr lang="en-US" sz="1600" b="0" strike="noStrike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70D5AB6E-FBEF-FA41-A4F5-5535F55BFE88}"/>
              </a:ext>
            </a:extLst>
          </p:cNvPr>
          <p:cNvSpPr/>
          <p:nvPr/>
        </p:nvSpPr>
        <p:spPr>
          <a:xfrm>
            <a:off x="528001" y="4780956"/>
            <a:ext cx="2249999" cy="450111"/>
          </a:xfrm>
          <a:prstGeom prst="rect">
            <a:avLst/>
          </a:prstGeom>
          <a:solidFill>
            <a:srgbClr val="E4E9DF"/>
          </a:solidFill>
          <a:ln w="9525">
            <a:solidFill>
              <a:srgbClr val="65735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6573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Messaging API</a:t>
            </a:r>
            <a:endParaRPr lang="en-US" sz="1600" b="0" strike="noStrike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64CF00A-8F0E-2E29-5E5D-B50BF9438442}"/>
              </a:ext>
            </a:extLst>
          </p:cNvPr>
          <p:cNvGrpSpPr/>
          <p:nvPr/>
        </p:nvGrpSpPr>
        <p:grpSpPr>
          <a:xfrm>
            <a:off x="379881" y="1691639"/>
            <a:ext cx="11573188" cy="1954809"/>
            <a:chOff x="379881" y="1691639"/>
            <a:chExt cx="11573188" cy="1954809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177672F1-0848-6D8B-6A4E-50F6AE303695}"/>
                </a:ext>
              </a:extLst>
            </p:cNvPr>
            <p:cNvSpPr/>
            <p:nvPr/>
          </p:nvSpPr>
          <p:spPr>
            <a:xfrm>
              <a:off x="2741150" y="1691639"/>
              <a:ext cx="2173750" cy="1954809"/>
            </a:xfrm>
            <a:prstGeom prst="rect">
              <a:avLst/>
            </a:prstGeom>
            <a:solidFill>
              <a:srgbClr val="D8C2A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2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3D6B9A20-D3BF-3F36-9CC3-0E2FF029D6C6}"/>
                </a:ext>
              </a:extLst>
            </p:cNvPr>
            <p:cNvSpPr/>
            <p:nvPr/>
          </p:nvSpPr>
          <p:spPr>
            <a:xfrm>
              <a:off x="2741150" y="1837800"/>
              <a:ext cx="2084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🔎</a:t>
              </a: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57FD696F-F212-D559-5C15-03D959C11FFC}"/>
                </a:ext>
              </a:extLst>
            </p:cNvPr>
            <p:cNvSpPr/>
            <p:nvPr/>
          </p:nvSpPr>
          <p:spPr>
            <a:xfrm>
              <a:off x="2832590" y="2240280"/>
              <a:ext cx="190116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sz="2000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匯入與驗證</a:t>
              </a:r>
              <a:endParaRPr lang="en-US" sz="20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9F27F2AB-69AC-57DB-C56A-49BDF632062C}"/>
                </a:ext>
              </a:extLst>
            </p:cNvPr>
            <p:cNvSpPr/>
            <p:nvPr/>
          </p:nvSpPr>
          <p:spPr>
            <a:xfrm>
              <a:off x="2850770" y="2609314"/>
              <a:ext cx="1864800" cy="93165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HTTP 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上傳＋</a:t>
              </a: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Preview 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審核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LINE Webhook Intake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（簽章驗證＋去重）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7E5E686F-FA65-4BC2-B196-1406FF772DDD}"/>
                </a:ext>
              </a:extLst>
            </p:cNvPr>
            <p:cNvSpPr/>
            <p:nvPr/>
          </p:nvSpPr>
          <p:spPr>
            <a:xfrm>
              <a:off x="4886471" y="2560320"/>
              <a:ext cx="20052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strike="noStrike" spc="-1" dirty="0">
                  <a:solidFill>
                    <a:srgbClr val="A66C4E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➜</a:t>
              </a:r>
              <a:endParaRPr lang="en-US" sz="20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C88AB634-9D80-42B6-CCA0-B1F01F525C82}"/>
                </a:ext>
              </a:extLst>
            </p:cNvPr>
            <p:cNvSpPr/>
            <p:nvPr/>
          </p:nvSpPr>
          <p:spPr>
            <a:xfrm>
              <a:off x="5102419" y="1691639"/>
              <a:ext cx="2173750" cy="1954809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2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73AB716F-054B-19E1-C74E-4F3B01A608C1}"/>
                </a:ext>
              </a:extLst>
            </p:cNvPr>
            <p:cNvSpPr/>
            <p:nvPr/>
          </p:nvSpPr>
          <p:spPr>
            <a:xfrm>
              <a:off x="5102419" y="1837800"/>
              <a:ext cx="2084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⚙️</a:t>
              </a:r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344C2A47-24C5-6430-0339-156622230C8D}"/>
                </a:ext>
              </a:extLst>
            </p:cNvPr>
            <p:cNvSpPr/>
            <p:nvPr/>
          </p:nvSpPr>
          <p:spPr>
            <a:xfrm>
              <a:off x="5193859" y="2240280"/>
              <a:ext cx="190116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sz="2000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應用層</a:t>
              </a:r>
              <a:endParaRPr lang="en-US" sz="20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A5F1411B-13BA-FBFA-CCDF-0B6B447C16BC}"/>
                </a:ext>
              </a:extLst>
            </p:cNvPr>
            <p:cNvSpPr/>
            <p:nvPr/>
          </p:nvSpPr>
          <p:spPr>
            <a:xfrm>
              <a:off x="5211859" y="2709739"/>
              <a:ext cx="1864800" cy="73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 err="1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FastAPI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Query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／</a:t>
              </a: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Preview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／</a:t>
              </a: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Apply 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分層指令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A1266574-9E0E-6D05-2C16-D153B5AB9931}"/>
                </a:ext>
              </a:extLst>
            </p:cNvPr>
            <p:cNvSpPr/>
            <p:nvPr/>
          </p:nvSpPr>
          <p:spPr>
            <a:xfrm>
              <a:off x="7241496" y="2560320"/>
              <a:ext cx="20052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strike="noStrike" spc="-1" dirty="0">
                  <a:solidFill>
                    <a:srgbClr val="A66C4E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➜</a:t>
              </a:r>
              <a:endParaRPr lang="en-US" sz="20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57DEB2E0-75D8-9B89-9656-70E0A98BB7D8}"/>
                </a:ext>
              </a:extLst>
            </p:cNvPr>
            <p:cNvSpPr/>
            <p:nvPr/>
          </p:nvSpPr>
          <p:spPr>
            <a:xfrm>
              <a:off x="7463688" y="1837800"/>
              <a:ext cx="2084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🗄️</a:t>
              </a: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BCE71CA9-B421-03D2-EC1D-38E84640D21B}"/>
                </a:ext>
              </a:extLst>
            </p:cNvPr>
            <p:cNvSpPr/>
            <p:nvPr/>
          </p:nvSpPr>
          <p:spPr>
            <a:xfrm>
              <a:off x="7555128" y="2240280"/>
              <a:ext cx="190116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sz="2000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資料庫</a:t>
              </a:r>
              <a:endParaRPr lang="en-US" sz="20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DC8E9090-09CB-B493-3B1B-44A219C7926B}"/>
                </a:ext>
              </a:extLst>
            </p:cNvPr>
            <p:cNvSpPr/>
            <p:nvPr/>
          </p:nvSpPr>
          <p:spPr>
            <a:xfrm>
              <a:off x="7573128" y="2709739"/>
              <a:ext cx="1864800" cy="73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MySQL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41 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種異常註冊表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A38A07C9-FD0B-B78B-3835-B60C0883A3A3}"/>
                </a:ext>
              </a:extLst>
            </p:cNvPr>
            <p:cNvSpPr/>
            <p:nvPr/>
          </p:nvSpPr>
          <p:spPr>
            <a:xfrm>
              <a:off x="9779319" y="1691639"/>
              <a:ext cx="2173750" cy="195480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A66C4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2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720B3FED-B681-4A66-D829-B790998B74E0}"/>
                </a:ext>
              </a:extLst>
            </p:cNvPr>
            <p:cNvSpPr/>
            <p:nvPr/>
          </p:nvSpPr>
          <p:spPr>
            <a:xfrm>
              <a:off x="9779319" y="1837800"/>
              <a:ext cx="2084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strike="noStrike" spc="-1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🖥️</a:t>
              </a: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1DDB9C0B-46BB-050F-0969-FF0A82C23CC0}"/>
                </a:ext>
              </a:extLst>
            </p:cNvPr>
            <p:cNvSpPr/>
            <p:nvPr/>
          </p:nvSpPr>
          <p:spPr>
            <a:xfrm>
              <a:off x="9870759" y="2240280"/>
              <a:ext cx="190116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sz="2000" b="1" strike="noStrike" spc="-1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使用介面</a:t>
              </a:r>
              <a:endParaRPr lang="en-US" sz="20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8AF78A5A-5E94-D8E1-8206-101E57CFFE4D}"/>
                </a:ext>
              </a:extLst>
            </p:cNvPr>
            <p:cNvSpPr/>
            <p:nvPr/>
          </p:nvSpPr>
          <p:spPr>
            <a:xfrm>
              <a:off x="9933794" y="2709739"/>
              <a:ext cx="1864800" cy="73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React 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新版前端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＋ </a:t>
              </a: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LINE Bot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4E18413F-7F7E-6853-8977-5152D012BB22}"/>
                </a:ext>
              </a:extLst>
            </p:cNvPr>
            <p:cNvSpPr/>
            <p:nvPr/>
          </p:nvSpPr>
          <p:spPr>
            <a:xfrm>
              <a:off x="379881" y="1691639"/>
              <a:ext cx="2173750" cy="1954809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2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95D92CD3-B415-0C05-32D2-BA817693AF6D}"/>
                </a:ext>
              </a:extLst>
            </p:cNvPr>
            <p:cNvSpPr/>
            <p:nvPr/>
          </p:nvSpPr>
          <p:spPr>
            <a:xfrm>
              <a:off x="471321" y="2240280"/>
              <a:ext cx="190116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TW" sz="2000" b="1" strike="noStrike" spc="-1" dirty="0">
                  <a:solidFill>
                    <a:srgbClr val="292C2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資料來源</a:t>
              </a:r>
              <a:endParaRPr lang="en-US" sz="20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A1727A3-88C3-43B4-5A89-D7E38085EE8E}"/>
                </a:ext>
              </a:extLst>
            </p:cNvPr>
            <p:cNvSpPr/>
            <p:nvPr/>
          </p:nvSpPr>
          <p:spPr>
            <a:xfrm>
              <a:off x="489501" y="2608559"/>
              <a:ext cx="1864800" cy="9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Excel 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名冊／對帳單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（人工上傳）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LINE 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事件（</a:t>
              </a:r>
              <a:r>
                <a:rPr lang="en-US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Webhook</a:t>
              </a:r>
              <a:r>
                <a:rPr lang="zh-TW" sz="1400" b="0" strike="noStrike" spc="-1" dirty="0">
                  <a:solidFill>
                    <a:srgbClr val="6F7069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）</a:t>
              </a:r>
              <a:endParaRPr lang="en-US" sz="14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0EC15B7F-D09E-E4E9-A409-73DFFBB4F252}"/>
                </a:ext>
              </a:extLst>
            </p:cNvPr>
            <p:cNvSpPr/>
            <p:nvPr/>
          </p:nvSpPr>
          <p:spPr>
            <a:xfrm>
              <a:off x="379881" y="1837800"/>
              <a:ext cx="208404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0" strike="noStrike" spc="-1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📂</a:t>
              </a: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5A369785-214D-6692-0DF6-3B7C0C9D4458}"/>
                </a:ext>
              </a:extLst>
            </p:cNvPr>
            <p:cNvSpPr/>
            <p:nvPr/>
          </p:nvSpPr>
          <p:spPr>
            <a:xfrm>
              <a:off x="2535790" y="2560320"/>
              <a:ext cx="20052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strike="noStrike" spc="-1" dirty="0">
                  <a:solidFill>
                    <a:srgbClr val="A66C4E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➜</a:t>
              </a:r>
              <a:endParaRPr lang="en-US" sz="20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CF8765C9-9BF2-ECD3-26E9-2F33C1455CCE}"/>
                </a:ext>
              </a:extLst>
            </p:cNvPr>
            <p:cNvSpPr/>
            <p:nvPr/>
          </p:nvSpPr>
          <p:spPr>
            <a:xfrm>
              <a:off x="9628232" y="2528377"/>
              <a:ext cx="20052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strike="noStrike" spc="-1" dirty="0">
                  <a:solidFill>
                    <a:srgbClr val="A66C4E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➜</a:t>
              </a:r>
              <a:endParaRPr lang="en-US" sz="20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A509CE4-F93B-8EBA-271A-EB98AC02D215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14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7771082B-AA40-764E-DAAE-A9191D9F7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A58B467E-9B4F-02CB-BA8C-86A48FB145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13" y="5881038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18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16">
            <a:extLst>
              <a:ext uri="{FF2B5EF4-FFF2-40B4-BE49-F238E27FC236}">
                <a16:creationId xmlns:a16="http://schemas.microsoft.com/office/drawing/2014/main" id="{FF863FCA-E70A-6E61-51DE-F2F7E497F1AC}"/>
              </a:ext>
            </a:extLst>
          </p:cNvPr>
          <p:cNvSpPr>
            <a:spLocks noGrp="1"/>
          </p:cNvSpPr>
          <p:nvPr/>
        </p:nvSpPr>
        <p:spPr>
          <a:xfrm>
            <a:off x="777240" y="1965960"/>
            <a:ext cx="1023948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 117">
            <a:extLst>
              <a:ext uri="{FF2B5EF4-FFF2-40B4-BE49-F238E27FC236}">
                <a16:creationId xmlns:a16="http://schemas.microsoft.com/office/drawing/2014/main" id="{BB1542E8-22CF-8775-DE61-621B1A9ED7EF}"/>
              </a:ext>
            </a:extLst>
          </p:cNvPr>
          <p:cNvSpPr>
            <a:spLocks noGrp="1"/>
          </p:cNvSpPr>
          <p:nvPr/>
        </p:nvSpPr>
        <p:spPr>
          <a:xfrm>
            <a:off x="822960" y="3794760"/>
            <a:ext cx="9599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0" u="none" dirty="0" err="1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從人工作業到自動化治理系統的建置歷程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hape 94">
            <a:extLst>
              <a:ext uri="{FF2B5EF4-FFF2-40B4-BE49-F238E27FC236}">
                <a16:creationId xmlns:a16="http://schemas.microsoft.com/office/drawing/2014/main" id="{D53B20DB-BAA7-F6A8-3853-C8CA1B7E8ED1}"/>
              </a:ext>
            </a:extLst>
          </p:cNvPr>
          <p:cNvSpPr>
            <a:spLocks noGrp="1"/>
          </p:cNvSpPr>
          <p:nvPr/>
        </p:nvSpPr>
        <p:spPr>
          <a:xfrm>
            <a:off x="822959" y="4434840"/>
            <a:ext cx="7492365" cy="43920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C5E26E3-6CCC-B60A-00CA-3271DA18EE31}"/>
              </a:ext>
            </a:extLst>
          </p:cNvPr>
          <p:cNvSpPr txBox="1"/>
          <p:nvPr/>
        </p:nvSpPr>
        <p:spPr>
          <a:xfrm>
            <a:off x="762120" y="4755240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整體設計理念：以安全性為主，凡走過必留痕</a:t>
            </a:r>
            <a:endParaRPr kumimoji="1"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6C86BE7-43A5-EF87-1E1F-34F2669EE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9" name="Shape 93">
            <a:extLst>
              <a:ext uri="{FF2B5EF4-FFF2-40B4-BE49-F238E27FC236}">
                <a16:creationId xmlns:a16="http://schemas.microsoft.com/office/drawing/2014/main" id="{1C732721-9888-199A-109D-CF2754FA64DD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A0A3161-EA66-81E2-FCB9-A979287EC23B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2000" b="1" dirty="0" err="1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一句話：LINE</a:t>
            </a:r>
            <a:r>
              <a:rPr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sz="2000" b="1" dirty="0" err="1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負責方便，LIFF</a:t>
            </a:r>
            <a:r>
              <a:rPr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sz="2000" b="1" dirty="0" err="1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負責收資料，API</a:t>
            </a:r>
            <a:r>
              <a:rPr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sz="2000" b="1" dirty="0" err="1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負責檢查，DB</a:t>
            </a:r>
            <a:r>
              <a:rPr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sz="2000" b="1" dirty="0" err="1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負責保存，後台負責審核</a:t>
            </a:r>
            <a:r>
              <a:rPr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3BA40616-E981-7804-28CD-43CEE8AAC3F8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128567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sz="3200" b="1" dirty="0">
                <a:solidFill>
                  <a:srgbClr val="D982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</a:rPr>
              <a:t>Line</a:t>
            </a:r>
            <a:r>
              <a:rPr lang="en-US" altLang="zh-TW" sz="3200" b="1" dirty="0">
                <a:solidFill>
                  <a:srgbClr val="D982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</a:rPr>
              <a:t> BOT</a:t>
            </a:r>
            <a:endParaRPr sz="3200" b="1" dirty="0">
              <a:solidFill>
                <a:srgbClr val="D9825B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12" name="統一章節標記">
            <a:extLst>
              <a:ext uri="{FF2B5EF4-FFF2-40B4-BE49-F238E27FC236}">
                <a16:creationId xmlns:a16="http://schemas.microsoft.com/office/drawing/2014/main" id="{6F615142-4D30-1B39-BE4B-E8865F416BC2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68D3C95-BDD1-CFAC-F8DB-F01DD4A5EB7C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15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892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3FBE-6FAB-BEE1-5363-EB32B650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Shape 93">
            <a:extLst>
              <a:ext uri="{FF2B5EF4-FFF2-40B4-BE49-F238E27FC236}">
                <a16:creationId xmlns:a16="http://schemas.microsoft.com/office/drawing/2014/main" id="{626AFB21-9907-DDF5-407E-02F343A98185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683523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line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管理後台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657" name="Text 116">
            <a:extLst>
              <a:ext uri="{FF2B5EF4-FFF2-40B4-BE49-F238E27FC236}">
                <a16:creationId xmlns:a16="http://schemas.microsoft.com/office/drawing/2014/main" id="{29D339B0-54A4-0711-728C-20631CA58C47}"/>
              </a:ext>
            </a:extLst>
          </p:cNvPr>
          <p:cNvSpPr>
            <a:spLocks noGrp="1"/>
          </p:cNvSpPr>
          <p:nvPr/>
        </p:nvSpPr>
        <p:spPr>
          <a:xfrm>
            <a:off x="777240" y="1965960"/>
            <a:ext cx="1023948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659" name="Shape 94">
            <a:extLst>
              <a:ext uri="{FF2B5EF4-FFF2-40B4-BE49-F238E27FC236}">
                <a16:creationId xmlns:a16="http://schemas.microsoft.com/office/drawing/2014/main" id="{EFF8B672-8D25-CA78-0B12-C66582494CFE}"/>
              </a:ext>
            </a:extLst>
          </p:cNvPr>
          <p:cNvSpPr>
            <a:spLocks noGrp="1"/>
          </p:cNvSpPr>
          <p:nvPr/>
        </p:nvSpPr>
        <p:spPr>
          <a:xfrm flipV="1">
            <a:off x="779071" y="2129883"/>
            <a:ext cx="10633859" cy="7805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60" name="統一章節標記">
            <a:extLst>
              <a:ext uri="{FF2B5EF4-FFF2-40B4-BE49-F238E27FC236}">
                <a16:creationId xmlns:a16="http://schemas.microsoft.com/office/drawing/2014/main" id="{45119D07-81E9-7447-1190-3112B1208B4A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469E2C1-9791-FFF0-AA5A-D05FD8A7B287}"/>
              </a:ext>
            </a:extLst>
          </p:cNvPr>
          <p:cNvSpPr txBox="1"/>
          <p:nvPr/>
        </p:nvSpPr>
        <p:spPr>
          <a:xfrm>
            <a:off x="4378751" y="1596628"/>
            <a:ext cx="3434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使用者角色區分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863E94-BDB9-67E6-F353-375ADA6BD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591" y="2717610"/>
            <a:ext cx="6596818" cy="3596487"/>
          </a:xfrm>
          <a:prstGeom prst="rect">
            <a:avLst/>
          </a:prstGeom>
        </p:spPr>
      </p:pic>
      <p:sp>
        <p:nvSpPr>
          <p:cNvPr id="10" name="Shape 93">
            <a:extLst>
              <a:ext uri="{FF2B5EF4-FFF2-40B4-BE49-F238E27FC236}">
                <a16:creationId xmlns:a16="http://schemas.microsoft.com/office/drawing/2014/main" id="{2E63728F-C946-6B3B-BEE1-852FB99E0031}"/>
              </a:ext>
            </a:extLst>
          </p:cNvPr>
          <p:cNvSpPr>
            <a:spLocks noGrp="1"/>
          </p:cNvSpPr>
          <p:nvPr/>
        </p:nvSpPr>
        <p:spPr>
          <a:xfrm>
            <a:off x="3089382" y="2240888"/>
            <a:ext cx="1667083" cy="52322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800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客戶</a:t>
            </a:r>
            <a:endParaRPr kumimoji="0" sz="2800" i="0" u="none" strike="noStrike" kern="1200" cap="none" spc="0" normalizeH="0" baseline="0" noProof="0" dirty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9BB6D703-EF25-2EFF-45B2-BB24B0ACD6AB}"/>
              </a:ext>
            </a:extLst>
          </p:cNvPr>
          <p:cNvSpPr>
            <a:spLocks noGrp="1"/>
          </p:cNvSpPr>
          <p:nvPr/>
        </p:nvSpPr>
        <p:spPr>
          <a:xfrm>
            <a:off x="5262458" y="2240888"/>
            <a:ext cx="1667084" cy="52322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800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月嫂</a:t>
            </a:r>
            <a:endParaRPr kumimoji="0" sz="2800" i="0" u="none" strike="noStrike" kern="1200" cap="none" spc="0" normalizeH="0" baseline="0" noProof="0" dirty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2" name="Shape 93">
            <a:extLst>
              <a:ext uri="{FF2B5EF4-FFF2-40B4-BE49-F238E27FC236}">
                <a16:creationId xmlns:a16="http://schemas.microsoft.com/office/drawing/2014/main" id="{CCB2336F-4E94-0BF0-C7F8-47979F1FC787}"/>
              </a:ext>
            </a:extLst>
          </p:cNvPr>
          <p:cNvSpPr>
            <a:spLocks noGrp="1"/>
          </p:cNvSpPr>
          <p:nvPr/>
        </p:nvSpPr>
        <p:spPr>
          <a:xfrm>
            <a:off x="7435535" y="2245410"/>
            <a:ext cx="1667084" cy="523220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800" i="0" u="none" strike="noStrike" kern="1200" cap="none" spc="0" normalizeH="0" baseline="0" noProof="0" dirty="0" err="1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工會</a:t>
            </a:r>
            <a:endParaRPr kumimoji="0" sz="2800" i="0" u="none" strike="noStrike" kern="1200" cap="none" spc="0" normalizeH="0" baseline="0" noProof="0" dirty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59D9EF0-BECF-ED98-F04D-E3D6FA59E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4" name="Shape 93">
            <a:extLst>
              <a:ext uri="{FF2B5EF4-FFF2-40B4-BE49-F238E27FC236}">
                <a16:creationId xmlns:a16="http://schemas.microsoft.com/office/drawing/2014/main" id="{7060608D-D88C-1CC4-93D6-EFAF72BA768E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5C0B36-594C-331C-783B-0B3F4233DC0C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16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EA9B1FF-EC89-57C4-4349-933170E15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B7D065D-2366-F9EA-2D5B-1BE0091688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46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736DD156-4C73-9945-3FAC-6CE71AB2826B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760625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line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管理後台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3" name="Text 116">
            <a:extLst>
              <a:ext uri="{FF2B5EF4-FFF2-40B4-BE49-F238E27FC236}">
                <a16:creationId xmlns:a16="http://schemas.microsoft.com/office/drawing/2014/main" id="{14AB8205-B0FB-24A1-D850-976F7200E7EC}"/>
              </a:ext>
            </a:extLst>
          </p:cNvPr>
          <p:cNvSpPr>
            <a:spLocks noGrp="1"/>
          </p:cNvSpPr>
          <p:nvPr/>
        </p:nvSpPr>
        <p:spPr>
          <a:xfrm>
            <a:off x="777240" y="1965960"/>
            <a:ext cx="1023948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Shape 94">
            <a:extLst>
              <a:ext uri="{FF2B5EF4-FFF2-40B4-BE49-F238E27FC236}">
                <a16:creationId xmlns:a16="http://schemas.microsoft.com/office/drawing/2014/main" id="{B0497597-AA97-735F-7AB4-7F16C0A08F0F}"/>
              </a:ext>
            </a:extLst>
          </p:cNvPr>
          <p:cNvSpPr>
            <a:spLocks noGrp="1"/>
          </p:cNvSpPr>
          <p:nvPr/>
        </p:nvSpPr>
        <p:spPr>
          <a:xfrm flipV="1">
            <a:off x="779071" y="2129883"/>
            <a:ext cx="10633859" cy="7805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BDABDF3F-4156-4C53-C0F4-B44AEC2E2BEA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66FCC4-A4D8-B62A-D37A-D4D7F06846C2}"/>
              </a:ext>
            </a:extLst>
          </p:cNvPr>
          <p:cNvSpPr txBox="1"/>
          <p:nvPr/>
        </p:nvSpPr>
        <p:spPr>
          <a:xfrm>
            <a:off x="3901044" y="1596628"/>
            <a:ext cx="4389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使用者介面介紹</a:t>
            </a:r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3D24633-CC6E-632F-38E3-F0ED2AD0F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66" y="2301611"/>
            <a:ext cx="1816915" cy="392655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B8C4C6B-18EC-0919-2D97-4A366D377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458" y="2308565"/>
            <a:ext cx="1793816" cy="3882002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9DE8B7C0-19AF-3282-1491-6AE5E8F26009}"/>
              </a:ext>
            </a:extLst>
          </p:cNvPr>
          <p:cNvSpPr/>
          <p:nvPr/>
        </p:nvSpPr>
        <p:spPr>
          <a:xfrm>
            <a:off x="1395761" y="5771084"/>
            <a:ext cx="814039" cy="24532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D26DE24-B635-69A6-AB03-DEEE8F711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829" y="2970908"/>
            <a:ext cx="5967133" cy="275476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E77DB1F-4B51-7624-20AA-E7E04E1735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12" name="Shape 93">
            <a:extLst>
              <a:ext uri="{FF2B5EF4-FFF2-40B4-BE49-F238E27FC236}">
                <a16:creationId xmlns:a16="http://schemas.microsoft.com/office/drawing/2014/main" id="{3833F667-9A93-374A-903E-61771FA38473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1B5452D-430F-3DD2-EF8F-1B65019A4864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17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40DAB0D-D66C-F82B-922E-D31B2BAFC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B870C50-4D06-AA6A-9742-84EBCB9019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28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6">
            <a:extLst>
              <a:ext uri="{FF2B5EF4-FFF2-40B4-BE49-F238E27FC236}">
                <a16:creationId xmlns:a16="http://schemas.microsoft.com/office/drawing/2014/main" id="{82C07748-4C1E-3287-88E5-00ED630ADBCC}"/>
              </a:ext>
            </a:extLst>
          </p:cNvPr>
          <p:cNvSpPr>
            <a:spLocks noGrp="1"/>
          </p:cNvSpPr>
          <p:nvPr/>
        </p:nvSpPr>
        <p:spPr>
          <a:xfrm>
            <a:off x="777240" y="1965960"/>
            <a:ext cx="1023948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3" name="Shape 94">
            <a:extLst>
              <a:ext uri="{FF2B5EF4-FFF2-40B4-BE49-F238E27FC236}">
                <a16:creationId xmlns:a16="http://schemas.microsoft.com/office/drawing/2014/main" id="{18A18E60-6E27-F277-0CB1-5E15B09D53EB}"/>
              </a:ext>
            </a:extLst>
          </p:cNvPr>
          <p:cNvSpPr>
            <a:spLocks noGrp="1"/>
          </p:cNvSpPr>
          <p:nvPr/>
        </p:nvSpPr>
        <p:spPr>
          <a:xfrm flipV="1">
            <a:off x="779071" y="2129883"/>
            <a:ext cx="10633859" cy="7805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統一章節標記">
            <a:extLst>
              <a:ext uri="{FF2B5EF4-FFF2-40B4-BE49-F238E27FC236}">
                <a16:creationId xmlns:a16="http://schemas.microsoft.com/office/drawing/2014/main" id="{E8B6DE2B-EC3E-F329-0BD5-A5493E27C558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6C59F4E-A302-74BC-6C28-7571B98F47EF}"/>
              </a:ext>
            </a:extLst>
          </p:cNvPr>
          <p:cNvSpPr txBox="1"/>
          <p:nvPr/>
        </p:nvSpPr>
        <p:spPr>
          <a:xfrm>
            <a:off x="3901044" y="1596628"/>
            <a:ext cx="4389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使用者介面介紹</a:t>
            </a:r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月嫂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F44E76E-DFBC-A3BE-8F56-635CB524A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80" y="2213463"/>
            <a:ext cx="1812438" cy="3916880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BEFE7F11-2791-C686-5916-01E1C6014604}"/>
              </a:ext>
            </a:extLst>
          </p:cNvPr>
          <p:cNvSpPr/>
          <p:nvPr/>
        </p:nvSpPr>
        <p:spPr>
          <a:xfrm>
            <a:off x="1778658" y="5725544"/>
            <a:ext cx="691375" cy="23417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98A1C88-7A38-6160-1C13-85FF599EB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080" y="2213463"/>
            <a:ext cx="1808253" cy="39168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A7C17D6-82E4-6BD3-26F1-33C0A7409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373" y="2213463"/>
            <a:ext cx="1809933" cy="391688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22FBFD3-48DF-CF7F-54EA-2F283BBC1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555" y="2213463"/>
            <a:ext cx="1809933" cy="391688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528E074-1FE3-A47F-DE42-76830432FE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12" name="Shape 93">
            <a:extLst>
              <a:ext uri="{FF2B5EF4-FFF2-40B4-BE49-F238E27FC236}">
                <a16:creationId xmlns:a16="http://schemas.microsoft.com/office/drawing/2014/main" id="{4F9589E0-9D46-2367-C04D-7DB7DCABE584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3" name="Shape 93">
            <a:extLst>
              <a:ext uri="{FF2B5EF4-FFF2-40B4-BE49-F238E27FC236}">
                <a16:creationId xmlns:a16="http://schemas.microsoft.com/office/drawing/2014/main" id="{CC6E5045-48FA-2507-5430-7C7DD613E419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760625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line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管理後台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BA6F43B-9737-2113-3328-8C97C65873FE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F2D6BFC-F900-D36C-55A7-AAAF4C17B2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F89886A-838C-F9FE-8898-D05ADE4E20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15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6">
            <a:extLst>
              <a:ext uri="{FF2B5EF4-FFF2-40B4-BE49-F238E27FC236}">
                <a16:creationId xmlns:a16="http://schemas.microsoft.com/office/drawing/2014/main" id="{BCA8E7AF-EC95-F43C-8831-F71148A0530B}"/>
              </a:ext>
            </a:extLst>
          </p:cNvPr>
          <p:cNvSpPr>
            <a:spLocks noGrp="1"/>
          </p:cNvSpPr>
          <p:nvPr/>
        </p:nvSpPr>
        <p:spPr>
          <a:xfrm>
            <a:off x="777240" y="1965960"/>
            <a:ext cx="1023948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3" name="Shape 94">
            <a:extLst>
              <a:ext uri="{FF2B5EF4-FFF2-40B4-BE49-F238E27FC236}">
                <a16:creationId xmlns:a16="http://schemas.microsoft.com/office/drawing/2014/main" id="{D6D20679-8D02-464F-4DD1-07FE8952D8F7}"/>
              </a:ext>
            </a:extLst>
          </p:cNvPr>
          <p:cNvSpPr>
            <a:spLocks noGrp="1"/>
          </p:cNvSpPr>
          <p:nvPr/>
        </p:nvSpPr>
        <p:spPr>
          <a:xfrm flipV="1">
            <a:off x="779071" y="2129883"/>
            <a:ext cx="10633859" cy="7805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統一章節標記">
            <a:extLst>
              <a:ext uri="{FF2B5EF4-FFF2-40B4-BE49-F238E27FC236}">
                <a16:creationId xmlns:a16="http://schemas.microsoft.com/office/drawing/2014/main" id="{A5098014-7F57-94AE-C351-A46A677741B6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D8DB106-8950-D397-0F02-B9F2C9362B5B}"/>
              </a:ext>
            </a:extLst>
          </p:cNvPr>
          <p:cNvSpPr txBox="1"/>
          <p:nvPr/>
        </p:nvSpPr>
        <p:spPr>
          <a:xfrm>
            <a:off x="3901044" y="1596628"/>
            <a:ext cx="4389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使用者介面介紹</a:t>
            </a:r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工會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0BDF5E0-C89C-37DC-D9FF-C4716CA68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88" y="2202179"/>
            <a:ext cx="1882871" cy="4074725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D44D8DE2-F057-450D-BD3F-8FCC53BA095B}"/>
              </a:ext>
            </a:extLst>
          </p:cNvPr>
          <p:cNvSpPr/>
          <p:nvPr/>
        </p:nvSpPr>
        <p:spPr>
          <a:xfrm>
            <a:off x="1586125" y="5902364"/>
            <a:ext cx="814039" cy="24532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61A9493-E826-32F6-4DAE-976C69FCE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9" name="Shape 93">
            <a:extLst>
              <a:ext uri="{FF2B5EF4-FFF2-40B4-BE49-F238E27FC236}">
                <a16:creationId xmlns:a16="http://schemas.microsoft.com/office/drawing/2014/main" id="{5B97D568-8140-C3AE-4D16-7B166A536712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0" name="Shape 93">
            <a:extLst>
              <a:ext uri="{FF2B5EF4-FFF2-40B4-BE49-F238E27FC236}">
                <a16:creationId xmlns:a16="http://schemas.microsoft.com/office/drawing/2014/main" id="{AC809B7F-235C-5121-55CE-77EEE22F2238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760625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line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管理後台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1BE358C-8480-1C29-E1B7-9E9D4DD5E68E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01D4E82-6D4E-7728-B36A-5B737F94E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269" y="2489892"/>
            <a:ext cx="8276798" cy="383097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0ADD880-4BA8-B356-2DD6-F7816CA0DD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A36BB78-B1D9-F20D-FE08-E2516F80C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98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6">
            <a:extLst>
              <a:ext uri="{FF2B5EF4-FFF2-40B4-BE49-F238E27FC236}">
                <a16:creationId xmlns:a16="http://schemas.microsoft.com/office/drawing/2014/main" id="{31DFC680-8301-4476-16CA-61002C6B353F}"/>
              </a:ext>
            </a:extLst>
          </p:cNvPr>
          <p:cNvSpPr>
            <a:spLocks noGrp="1"/>
          </p:cNvSpPr>
          <p:nvPr/>
        </p:nvSpPr>
        <p:spPr>
          <a:xfrm>
            <a:off x="777240" y="1965960"/>
            <a:ext cx="1023948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3" name="Shape 94">
            <a:extLst>
              <a:ext uri="{FF2B5EF4-FFF2-40B4-BE49-F238E27FC236}">
                <a16:creationId xmlns:a16="http://schemas.microsoft.com/office/drawing/2014/main" id="{70F02CC0-6D70-2404-CD99-99D187AFBCD7}"/>
              </a:ext>
            </a:extLst>
          </p:cNvPr>
          <p:cNvSpPr>
            <a:spLocks noGrp="1"/>
          </p:cNvSpPr>
          <p:nvPr/>
        </p:nvSpPr>
        <p:spPr>
          <a:xfrm flipV="1">
            <a:off x="779071" y="2129883"/>
            <a:ext cx="10633859" cy="7805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統一章節標記">
            <a:extLst>
              <a:ext uri="{FF2B5EF4-FFF2-40B4-BE49-F238E27FC236}">
                <a16:creationId xmlns:a16="http://schemas.microsoft.com/office/drawing/2014/main" id="{F0ACA4AB-1CE6-6D9E-45A8-0710EE210138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053F2E1-244A-DC06-4B82-0EC6E3914966}"/>
              </a:ext>
            </a:extLst>
          </p:cNvPr>
          <p:cNvSpPr txBox="1"/>
          <p:nvPr/>
        </p:nvSpPr>
        <p:spPr>
          <a:xfrm>
            <a:off x="2518686" y="1596628"/>
            <a:ext cx="7154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使用者介面介紹</a:t>
            </a:r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工會（身份進階管理）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3CFA92D-57E0-4151-5C07-A9C030BCD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7" name="Shape 93">
            <a:extLst>
              <a:ext uri="{FF2B5EF4-FFF2-40B4-BE49-F238E27FC236}">
                <a16:creationId xmlns:a16="http://schemas.microsoft.com/office/drawing/2014/main" id="{2B0DCDEE-307F-A86D-6FBA-1629B7A2F82E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8" name="Shape 93">
            <a:extLst>
              <a:ext uri="{FF2B5EF4-FFF2-40B4-BE49-F238E27FC236}">
                <a16:creationId xmlns:a16="http://schemas.microsoft.com/office/drawing/2014/main" id="{8A483C6A-9F4A-F29A-66ED-AA962322EAA5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760625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line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43545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管理後台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292C28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892FD61-F7C3-99F5-14DE-01CF9CF22B3E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2B1D3DE-634B-191C-210B-6D3E0C18B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96" y="2234705"/>
            <a:ext cx="8994008" cy="395849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D08A7B5-0601-917E-1A5F-086FC066D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0F08E41-3E70-F8B6-B477-0C549DAFB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08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橢圓 662">
            <a:extLst>
              <a:ext uri="{FF2B5EF4-FFF2-40B4-BE49-F238E27FC236}">
                <a16:creationId xmlns:a16="http://schemas.microsoft.com/office/drawing/2014/main" id="{1D798E38-168F-4DF5-9250-EF10322D6289}"/>
              </a:ext>
            </a:extLst>
          </p:cNvPr>
          <p:cNvSpPr>
            <a:spLocks noGrp="1"/>
          </p:cNvSpPr>
          <p:nvPr/>
        </p:nvSpPr>
        <p:spPr>
          <a:xfrm>
            <a:off x="905040" y="1635415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5880" tIns="45000" rIns="6588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sp>
        <p:nvSpPr>
          <p:cNvPr id="664" name="矩形 663">
            <a:extLst>
              <a:ext uri="{FF2B5EF4-FFF2-40B4-BE49-F238E27FC236}">
                <a16:creationId xmlns:a16="http://schemas.microsoft.com/office/drawing/2014/main" id="{7E836FD3-795D-49EF-BF70-8A2E880D6160}"/>
              </a:ext>
            </a:extLst>
          </p:cNvPr>
          <p:cNvSpPr>
            <a:spLocks noGrp="1"/>
          </p:cNvSpPr>
          <p:nvPr/>
        </p:nvSpPr>
        <p:spPr>
          <a:xfrm>
            <a:off x="1228680" y="1635415"/>
            <a:ext cx="5986508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Before｜</a:t>
            </a:r>
            <a:endParaRPr lang="en-US" sz="2800" dirty="0">
              <a:solidFill>
                <a:srgbClr val="5D493D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訊息分散，身分與案件需人工核對</a:t>
            </a:r>
            <a:endParaRPr sz="2800" b="0" u="none" dirty="0">
              <a:solidFill>
                <a:srgbClr val="000000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sp>
        <p:nvSpPr>
          <p:cNvPr id="665" name="橢圓 664">
            <a:extLst>
              <a:ext uri="{FF2B5EF4-FFF2-40B4-BE49-F238E27FC236}">
                <a16:creationId xmlns:a16="http://schemas.microsoft.com/office/drawing/2014/main" id="{6179B11D-BF82-45A8-8F11-20BD54F1AB04}"/>
              </a:ext>
            </a:extLst>
          </p:cNvPr>
          <p:cNvSpPr>
            <a:spLocks noGrp="1"/>
          </p:cNvSpPr>
          <p:nvPr/>
        </p:nvSpPr>
        <p:spPr>
          <a:xfrm>
            <a:off x="905040" y="2728011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5880" tIns="45000" rIns="6588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sp>
        <p:nvSpPr>
          <p:cNvPr id="666" name="矩形 665">
            <a:extLst>
              <a:ext uri="{FF2B5EF4-FFF2-40B4-BE49-F238E27FC236}">
                <a16:creationId xmlns:a16="http://schemas.microsoft.com/office/drawing/2014/main" id="{50BBEAFD-21CD-457C-9161-2DFD3BC60206}"/>
              </a:ext>
            </a:extLst>
          </p:cNvPr>
          <p:cNvSpPr>
            <a:spLocks noGrp="1"/>
          </p:cNvSpPr>
          <p:nvPr/>
        </p:nvSpPr>
        <p:spPr>
          <a:xfrm>
            <a:off x="1228680" y="2728011"/>
            <a:ext cx="5986508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After｜</a:t>
            </a:r>
            <a:br>
              <a:rPr 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身分綁定、待審與通知集中處理</a:t>
            </a:r>
            <a:endParaRPr sz="2800" b="0" u="none" dirty="0">
              <a:solidFill>
                <a:srgbClr val="000000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sp>
        <p:nvSpPr>
          <p:cNvPr id="667" name="橢圓 666">
            <a:extLst>
              <a:ext uri="{FF2B5EF4-FFF2-40B4-BE49-F238E27FC236}">
                <a16:creationId xmlns:a16="http://schemas.microsoft.com/office/drawing/2014/main" id="{EAEB1A58-B27F-4411-B157-5ACBDB5A020B}"/>
              </a:ext>
            </a:extLst>
          </p:cNvPr>
          <p:cNvSpPr>
            <a:spLocks noGrp="1"/>
          </p:cNvSpPr>
          <p:nvPr/>
        </p:nvSpPr>
        <p:spPr>
          <a:xfrm>
            <a:off x="905040" y="5464779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5880" tIns="45000" rIns="6588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sp>
        <p:nvSpPr>
          <p:cNvPr id="668" name="矩形 667">
            <a:extLst>
              <a:ext uri="{FF2B5EF4-FFF2-40B4-BE49-F238E27FC236}">
                <a16:creationId xmlns:a16="http://schemas.microsoft.com/office/drawing/2014/main" id="{5CDF488E-8CF8-404A-886D-E83EB9806DB5}"/>
              </a:ext>
            </a:extLst>
          </p:cNvPr>
          <p:cNvSpPr>
            <a:spLocks noGrp="1"/>
          </p:cNvSpPr>
          <p:nvPr/>
        </p:nvSpPr>
        <p:spPr>
          <a:xfrm>
            <a:off x="1228680" y="5464779"/>
            <a:ext cx="5986508" cy="495754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zh-TW" altLang="en-US" sz="28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設計理念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</a:t>
            </a:r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資訊安全保證</a:t>
            </a:r>
            <a:endParaRPr sz="2800" b="0" u="none" dirty="0">
              <a:solidFill>
                <a:srgbClr val="000000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sp>
        <p:nvSpPr>
          <p:cNvPr id="669" name="矩形 668">
            <a:extLst>
              <a:ext uri="{FF2B5EF4-FFF2-40B4-BE49-F238E27FC236}">
                <a16:creationId xmlns:a16="http://schemas.microsoft.com/office/drawing/2014/main" id="{3F996665-8839-4F35-A2A4-360DF7E47D05}"/>
              </a:ext>
            </a:extLst>
          </p:cNvPr>
          <p:cNvSpPr>
            <a:spLocks noGrp="1"/>
          </p:cNvSpPr>
          <p:nvPr/>
        </p:nvSpPr>
        <p:spPr>
          <a:xfrm>
            <a:off x="7429680" y="1762200"/>
            <a:ext cx="3713040" cy="337968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sp>
        <p:nvSpPr>
          <p:cNvPr id="670" name="矩形 669">
            <a:extLst>
              <a:ext uri="{FF2B5EF4-FFF2-40B4-BE49-F238E27FC236}">
                <a16:creationId xmlns:a16="http://schemas.microsoft.com/office/drawing/2014/main" id="{C892F3D2-2BA0-4A62-BBD9-7B5EA22B4B78}"/>
              </a:ext>
            </a:extLst>
          </p:cNvPr>
          <p:cNvSpPr>
            <a:spLocks noGrp="1"/>
          </p:cNvSpPr>
          <p:nvPr/>
        </p:nvSpPr>
        <p:spPr>
          <a:xfrm>
            <a:off x="7953480" y="2523960"/>
            <a:ext cx="2665080" cy="18079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入口保持熟悉，交接開始留下證據</a:t>
            </a:r>
            <a:endParaRPr sz="2400" b="0" u="none" dirty="0">
              <a:solidFill>
                <a:srgbClr val="000000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4F5F695-FD2F-B1BF-5D1F-587D64201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4" name="Shape 93">
            <a:extLst>
              <a:ext uri="{FF2B5EF4-FFF2-40B4-BE49-F238E27FC236}">
                <a16:creationId xmlns:a16="http://schemas.microsoft.com/office/drawing/2014/main" id="{15457B6C-84BE-24A0-CCE8-414EAD70FA33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AFD786B-7144-2F24-63E2-8E017F7F4017}"/>
              </a:ext>
            </a:extLst>
          </p:cNvPr>
          <p:cNvSpPr>
            <a:spLocks noGrp="1"/>
          </p:cNvSpPr>
          <p:nvPr/>
        </p:nvSpPr>
        <p:spPr>
          <a:xfrm>
            <a:off x="905040" y="3820607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5880" tIns="45000" rIns="6588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Heiti SC Medium" pitchFamily="2" charset="-128"/>
              <a:cs typeface="Arial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DE7F3-EA7E-A668-658A-3EC5781182E9}"/>
              </a:ext>
            </a:extLst>
          </p:cNvPr>
          <p:cNvSpPr>
            <a:spLocks noGrp="1"/>
          </p:cNvSpPr>
          <p:nvPr/>
        </p:nvSpPr>
        <p:spPr>
          <a:xfrm>
            <a:off x="1228680" y="3820607"/>
            <a:ext cx="5986508" cy="1534014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zh-TW" altLang="zh-TW" sz="2600" dirty="0">
                <a:solidFill>
                  <a:srgbClr val="5D493D"/>
                </a:solidFill>
                <a:latin typeface="Microsoft JhengHei"/>
                <a:ea typeface="Microsoft JhengHei"/>
              </a:rPr>
              <a:t>身份綁定、敏感資料修改</a:t>
            </a:r>
            <a:r>
              <a:rPr lang="zh-TW" altLang="en-US" sz="2600" dirty="0">
                <a:solidFill>
                  <a:srgbClr val="5D493D"/>
                </a:solidFill>
                <a:latin typeface="Microsoft JhengHei"/>
                <a:ea typeface="Microsoft JhengHei"/>
              </a:rPr>
              <a:t>｜</a:t>
            </a:r>
            <a:br>
              <a:rPr lang="en-US" altLang="zh-TW" sz="2600" dirty="0">
                <a:solidFill>
                  <a:srgbClr val="5D493D"/>
                </a:solidFill>
                <a:latin typeface="Microsoft JhengHei"/>
                <a:ea typeface="Microsoft JhengHei"/>
              </a:rPr>
            </a:br>
            <a:r>
              <a:rPr lang="zh-TW" altLang="en-US" sz="2600" dirty="0">
                <a:solidFill>
                  <a:srgbClr val="5D493D"/>
                </a:solidFill>
                <a:latin typeface="Microsoft JhengHei"/>
                <a:ea typeface="Microsoft JhengHei"/>
              </a:rPr>
              <a:t>使用</a:t>
            </a:r>
            <a:r>
              <a:rPr lang="zh-TW" altLang="zh-TW" sz="2600" dirty="0">
                <a:solidFill>
                  <a:srgbClr val="5D493D"/>
                </a:solidFill>
                <a:latin typeface="Microsoft JhengHei"/>
                <a:ea typeface="Microsoft JhengHei"/>
              </a:rPr>
              <a:t>後端在確認 LINE id_token 後產生的</a:t>
            </a:r>
            <a:r>
              <a:rPr lang="zh-TW" altLang="zh-TW" sz="2600" b="1" dirty="0">
                <a:solidFill>
                  <a:srgbClr val="5D493D"/>
                </a:solidFill>
                <a:latin typeface="Microsoft JhengHei"/>
                <a:ea typeface="Microsoft JhengHei"/>
              </a:rPr>
              <a:t>短效通行</a:t>
            </a:r>
            <a:r>
              <a:rPr lang="zh-TW" altLang="en-US" sz="2600" b="1" dirty="0">
                <a:solidFill>
                  <a:srgbClr val="5D493D"/>
                </a:solidFill>
                <a:latin typeface="Microsoft JhengHei"/>
                <a:ea typeface="Microsoft JhengHei"/>
              </a:rPr>
              <a:t>碼</a:t>
            </a:r>
            <a:r>
              <a:rPr lang="zh-TW" altLang="zh-TW" sz="2600" dirty="0">
                <a:solidFill>
                  <a:srgbClr val="5D493D"/>
                </a:solidFill>
                <a:latin typeface="Microsoft JhengHei"/>
                <a:ea typeface="Microsoft JhengHei"/>
              </a:rPr>
              <a:t>，不</a:t>
            </a:r>
            <a:r>
              <a:rPr lang="zh-TW" altLang="en-US" sz="2600" dirty="0">
                <a:solidFill>
                  <a:srgbClr val="5D493D"/>
                </a:solidFill>
                <a:latin typeface="Microsoft JhengHei"/>
                <a:ea typeface="Microsoft JhengHei"/>
              </a:rPr>
              <a:t>單</a:t>
            </a:r>
            <a:r>
              <a:rPr lang="zh-TW" altLang="zh-TW" sz="2600" dirty="0">
                <a:solidFill>
                  <a:srgbClr val="5D493D"/>
                </a:solidFill>
                <a:latin typeface="Microsoft JhengHei"/>
                <a:ea typeface="Microsoft JhengHei"/>
              </a:rPr>
              <a:t>只靠 URL 的 userId</a:t>
            </a:r>
            <a:endParaRPr sz="2600" dirty="0">
              <a:solidFill>
                <a:srgbClr val="5D493D"/>
              </a:solidFill>
              <a:latin typeface="Microsoft JhengHei"/>
              <a:ea typeface="Microsoft JhengHei"/>
            </a:endParaRPr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DF1CF32F-5112-B8AC-469E-A5363D193F64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5350328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altLang="zh-TW" sz="3200" b="1" dirty="0">
                <a:solidFill>
                  <a:srgbClr val="243545"/>
                </a:solidFill>
                <a:latin typeface="Noto Sans TC"/>
                <a:ea typeface="Microsoft JhengHei" panose="020B0604030504040204" pitchFamily="34" charset="-120"/>
                <a:cs typeface="Noto Sans TC"/>
              </a:rPr>
              <a:t>LINE</a:t>
            </a:r>
            <a:r>
              <a:rPr lang="zh-TW" altLang="en-US" sz="3200" b="1" dirty="0">
                <a:solidFill>
                  <a:srgbClr val="243545"/>
                </a:solidFill>
                <a:latin typeface="Noto Sans TC"/>
                <a:ea typeface="Microsoft JhengHei" panose="020B0604030504040204" pitchFamily="34" charset="-120"/>
                <a:cs typeface="Noto Sans TC"/>
              </a:rPr>
              <a:t>使用者身份綁定與審核</a:t>
            </a:r>
            <a:endParaRPr lang="zh-TW" altLang="en-US" sz="3200" dirty="0">
              <a:solidFill>
                <a:srgbClr val="000000"/>
              </a:solidFill>
              <a:latin typeface="Arial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8" name="統一章節標記">
            <a:extLst>
              <a:ext uri="{FF2B5EF4-FFF2-40B4-BE49-F238E27FC236}">
                <a16:creationId xmlns:a16="http://schemas.microsoft.com/office/drawing/2014/main" id="{8426B798-737D-067D-7136-9541A2852B0B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126652D-EF09-10A2-A60B-6F0DBB496D39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13036C2-EA2D-ED05-7DBA-2117FD54C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16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橢圓 673">
            <a:extLst>
              <a:ext uri="{FF2B5EF4-FFF2-40B4-BE49-F238E27FC236}">
                <a16:creationId xmlns:a16="http://schemas.microsoft.com/office/drawing/2014/main" id="{86F2E687-23AA-44D1-83B7-B92266727F1D}"/>
              </a:ext>
            </a:extLst>
          </p:cNvPr>
          <p:cNvSpPr>
            <a:spLocks noGrp="1"/>
          </p:cNvSpPr>
          <p:nvPr/>
        </p:nvSpPr>
        <p:spPr>
          <a:xfrm>
            <a:off x="905040" y="1652890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5" name="矩形 674">
            <a:extLst>
              <a:ext uri="{FF2B5EF4-FFF2-40B4-BE49-F238E27FC236}">
                <a16:creationId xmlns:a16="http://schemas.microsoft.com/office/drawing/2014/main" id="{1AEFFA43-D2CA-4BD4-A4DD-AE884342BBB0}"/>
              </a:ext>
            </a:extLst>
          </p:cNvPr>
          <p:cNvSpPr>
            <a:spLocks noGrp="1"/>
          </p:cNvSpPr>
          <p:nvPr/>
        </p:nvSpPr>
        <p:spPr>
          <a:xfrm>
            <a:off x="1228679" y="1652890"/>
            <a:ext cx="6057945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入口分成</a:t>
            </a:r>
            <a:r>
              <a:rPr sz="28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已登記服務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sz="28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新客戶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，避免既有資料被重複建立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6" name="橢圓 675">
            <a:extLst>
              <a:ext uri="{FF2B5EF4-FFF2-40B4-BE49-F238E27FC236}">
                <a16:creationId xmlns:a16="http://schemas.microsoft.com/office/drawing/2014/main" id="{D4D1B73B-7BE4-4AF7-95AD-9EBB93AC1C92}"/>
              </a:ext>
            </a:extLst>
          </p:cNvPr>
          <p:cNvSpPr>
            <a:spLocks noGrp="1"/>
          </p:cNvSpPr>
          <p:nvPr/>
        </p:nvSpPr>
        <p:spPr>
          <a:xfrm>
            <a:off x="905040" y="2780436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7" name="矩形 676">
            <a:extLst>
              <a:ext uri="{FF2B5EF4-FFF2-40B4-BE49-F238E27FC236}">
                <a16:creationId xmlns:a16="http://schemas.microsoft.com/office/drawing/2014/main" id="{07EDF3B2-4F50-440C-83A7-0F60B6D25E5E}"/>
              </a:ext>
            </a:extLst>
          </p:cNvPr>
          <p:cNvSpPr>
            <a:spLocks noGrp="1"/>
          </p:cNvSpPr>
          <p:nvPr/>
        </p:nvSpPr>
        <p:spPr>
          <a:xfrm>
            <a:off x="1228679" y="2780436"/>
            <a:ext cx="6057945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LIFF 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表單負責收集姓名、手機、地址、日期與服務天數</a:t>
            </a:r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等基本資料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8" name="橢圓 677">
            <a:extLst>
              <a:ext uri="{FF2B5EF4-FFF2-40B4-BE49-F238E27FC236}">
                <a16:creationId xmlns:a16="http://schemas.microsoft.com/office/drawing/2014/main" id="{4CF34102-8C1A-4240-98D6-FD58CACF8989}"/>
              </a:ext>
            </a:extLst>
          </p:cNvPr>
          <p:cNvSpPr>
            <a:spLocks noGrp="1"/>
          </p:cNvSpPr>
          <p:nvPr/>
        </p:nvSpPr>
        <p:spPr>
          <a:xfrm>
            <a:off x="905040" y="3907982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9" name="矩形 678">
            <a:extLst>
              <a:ext uri="{FF2B5EF4-FFF2-40B4-BE49-F238E27FC236}">
                <a16:creationId xmlns:a16="http://schemas.microsoft.com/office/drawing/2014/main" id="{37F31B7F-5573-4247-876B-3BE091AC8178}"/>
              </a:ext>
            </a:extLst>
          </p:cNvPr>
          <p:cNvSpPr>
            <a:spLocks noGrp="1"/>
          </p:cNvSpPr>
          <p:nvPr/>
        </p:nvSpPr>
        <p:spPr>
          <a:xfrm>
            <a:off x="1228679" y="3907982"/>
            <a:ext cx="6298394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資料格式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API 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先檢查格式與資格，通過後才寫入正式資料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0" name="矩形 679">
            <a:extLst>
              <a:ext uri="{FF2B5EF4-FFF2-40B4-BE49-F238E27FC236}">
                <a16:creationId xmlns:a16="http://schemas.microsoft.com/office/drawing/2014/main" id="{A61945DD-2BE2-4A55-9D0B-B7D75856D047}"/>
              </a:ext>
            </a:extLst>
          </p:cNvPr>
          <p:cNvSpPr>
            <a:spLocks noGrp="1"/>
          </p:cNvSpPr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1" name="矩形 680">
            <a:extLst>
              <a:ext uri="{FF2B5EF4-FFF2-40B4-BE49-F238E27FC236}">
                <a16:creationId xmlns:a16="http://schemas.microsoft.com/office/drawing/2014/main" id="{683D8C29-96B5-488B-B1AD-23704A95AAD2}"/>
              </a:ext>
            </a:extLst>
          </p:cNvPr>
          <p:cNvSpPr>
            <a:spLocks noGrp="1"/>
          </p:cNvSpPr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4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負責方便，資料正確性由</a:t>
            </a:r>
            <a:r>
              <a:rPr sz="24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LIFF </a:t>
            </a: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sz="24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API </a:t>
            </a: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接手</a:t>
            </a:r>
            <a:endParaRPr sz="2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A82C141-D72D-CD21-9757-49A6D083F872}"/>
              </a:ext>
            </a:extLst>
          </p:cNvPr>
          <p:cNvSpPr>
            <a:spLocks noGrp="1"/>
          </p:cNvSpPr>
          <p:nvPr/>
        </p:nvSpPr>
        <p:spPr>
          <a:xfrm>
            <a:off x="905760" y="5034807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5880" tIns="45000" rIns="6588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870022-6E31-66EE-216F-72523CC205D7}"/>
              </a:ext>
            </a:extLst>
          </p:cNvPr>
          <p:cNvSpPr>
            <a:spLocks noGrp="1"/>
          </p:cNvSpPr>
          <p:nvPr/>
        </p:nvSpPr>
        <p:spPr>
          <a:xfrm>
            <a:off x="1229399" y="5034807"/>
            <a:ext cx="6057150" cy="553193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zh-TW" altLang="en-US" sz="28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設計理念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</a:t>
            </a:r>
            <a:r>
              <a:rPr lang="en" altLang="zh-TW" sz="2800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lang="zh-TW" altLang="en-US" sz="2800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不直接改寫</a:t>
            </a:r>
            <a:r>
              <a:rPr lang="en-US" altLang="zh-TW" sz="2800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DB</a:t>
            </a:r>
            <a:endParaRPr kumimoji="1" lang="zh-TW" altLang="en-US" sz="28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2CFA9BE-46C0-9F67-01E0-42799F0B8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3" name="Shape 93">
            <a:extLst>
              <a:ext uri="{FF2B5EF4-FFF2-40B4-BE49-F238E27FC236}">
                <a16:creationId xmlns:a16="http://schemas.microsoft.com/office/drawing/2014/main" id="{D144054D-F505-3141-F3D2-5A4DD5FFF99C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8E78C3F5-0D32-F9F4-56DB-588F03FA301F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6673716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" altLang="zh-TW" sz="3200" b="1" dirty="0">
                <a:solidFill>
                  <a:srgbClr val="243545"/>
                </a:solidFill>
                <a:latin typeface="Noto Sans TC"/>
                <a:ea typeface="Microsoft JhengHei" panose="020B0604030504040204" pitchFamily="34" charset="-120"/>
                <a:cs typeface="Noto Sans TC"/>
              </a:rPr>
              <a:t>LINE </a:t>
            </a:r>
            <a:r>
              <a:rPr lang="zh-TW" altLang="en-US" sz="3200" b="1" dirty="0">
                <a:solidFill>
                  <a:srgbClr val="243545"/>
                </a:solidFill>
                <a:latin typeface="Noto Sans TC"/>
                <a:ea typeface="Microsoft JhengHei" panose="020B0604030504040204" pitchFamily="34" charset="-120"/>
                <a:cs typeface="Noto Sans Syriac" panose="020B0502040504020204" pitchFamily="34" charset="0"/>
              </a:rPr>
              <a:t>入口把使用者先分流再收資料</a:t>
            </a:r>
            <a:endParaRPr lang="zh-TW" altLang="en-US" sz="3200" dirty="0">
              <a:solidFill>
                <a:srgbClr val="000000"/>
              </a:solidFill>
              <a:latin typeface="Arial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8" name="統一章節標記">
            <a:extLst>
              <a:ext uri="{FF2B5EF4-FFF2-40B4-BE49-F238E27FC236}">
                <a16:creationId xmlns:a16="http://schemas.microsoft.com/office/drawing/2014/main" id="{22D9D2D6-3F89-E351-441D-6CCACCCF81F6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3CA1E3-BFDF-439E-2FDE-21D80A577244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22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9E42D70-7157-C9D4-9710-6C7E8B854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C796A34-574C-7919-14C9-267A956282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71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橢圓 684">
            <a:extLst>
              <a:ext uri="{FF2B5EF4-FFF2-40B4-BE49-F238E27FC236}">
                <a16:creationId xmlns:a16="http://schemas.microsoft.com/office/drawing/2014/main" id="{2269378E-3D2E-46AC-90FB-4F6E9E352662}"/>
              </a:ext>
            </a:extLst>
          </p:cNvPr>
          <p:cNvSpPr>
            <a:spLocks noGrp="1"/>
          </p:cNvSpPr>
          <p:nvPr/>
        </p:nvSpPr>
        <p:spPr>
          <a:xfrm>
            <a:off x="905040" y="1673457"/>
            <a:ext cx="143338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6" name="矩形 685">
            <a:extLst>
              <a:ext uri="{FF2B5EF4-FFF2-40B4-BE49-F238E27FC236}">
                <a16:creationId xmlns:a16="http://schemas.microsoft.com/office/drawing/2014/main" id="{EDDBCD0D-90A7-43CC-9351-A25267C671F2}"/>
              </a:ext>
            </a:extLst>
          </p:cNvPr>
          <p:cNvSpPr>
            <a:spLocks noGrp="1"/>
          </p:cNvSpPr>
          <p:nvPr/>
        </p:nvSpPr>
        <p:spPr>
          <a:xfrm>
            <a:off x="1228679" y="1673457"/>
            <a:ext cx="595105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客戶輸入姓名與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09 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開頭手機，系統比對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clients 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既有資料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7" name="橢圓 686">
            <a:extLst>
              <a:ext uri="{FF2B5EF4-FFF2-40B4-BE49-F238E27FC236}">
                <a16:creationId xmlns:a16="http://schemas.microsoft.com/office/drawing/2014/main" id="{923D0865-5CCF-4F56-A092-AB152EE301AB}"/>
              </a:ext>
            </a:extLst>
          </p:cNvPr>
          <p:cNvSpPr>
            <a:spLocks noGrp="1"/>
          </p:cNvSpPr>
          <p:nvPr/>
        </p:nvSpPr>
        <p:spPr>
          <a:xfrm>
            <a:off x="905040" y="2848497"/>
            <a:ext cx="143338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8" name="矩形 687">
            <a:extLst>
              <a:ext uri="{FF2B5EF4-FFF2-40B4-BE49-F238E27FC236}">
                <a16:creationId xmlns:a16="http://schemas.microsoft.com/office/drawing/2014/main" id="{71F9FB7F-8AA9-4D1A-BD92-5AA15E67ABCB}"/>
              </a:ext>
            </a:extLst>
          </p:cNvPr>
          <p:cNvSpPr>
            <a:spLocks noGrp="1"/>
          </p:cNvSpPr>
          <p:nvPr/>
        </p:nvSpPr>
        <p:spPr>
          <a:xfrm>
            <a:off x="1228679" y="2848497"/>
            <a:ext cx="595105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找到既有服務登記後，才把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LINE 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userId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綁到該客戶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9" name="橢圓 688">
            <a:extLst>
              <a:ext uri="{FF2B5EF4-FFF2-40B4-BE49-F238E27FC236}">
                <a16:creationId xmlns:a16="http://schemas.microsoft.com/office/drawing/2014/main" id="{AE700D9E-50D2-48EB-B11B-D342BD7096DC}"/>
              </a:ext>
            </a:extLst>
          </p:cNvPr>
          <p:cNvSpPr>
            <a:spLocks noGrp="1"/>
          </p:cNvSpPr>
          <p:nvPr/>
        </p:nvSpPr>
        <p:spPr>
          <a:xfrm>
            <a:off x="905040" y="4023177"/>
            <a:ext cx="143338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1" name="矩形 690">
            <a:extLst>
              <a:ext uri="{FF2B5EF4-FFF2-40B4-BE49-F238E27FC236}">
                <a16:creationId xmlns:a16="http://schemas.microsoft.com/office/drawing/2014/main" id="{0141FE0C-5D34-4977-9E66-8F3FD736D21A}"/>
              </a:ext>
            </a:extLst>
          </p:cNvPr>
          <p:cNvSpPr>
            <a:spLocks noGrp="1"/>
          </p:cNvSpPr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2" name="矩形 691">
            <a:extLst>
              <a:ext uri="{FF2B5EF4-FFF2-40B4-BE49-F238E27FC236}">
                <a16:creationId xmlns:a16="http://schemas.microsoft.com/office/drawing/2014/main" id="{D1F69FCF-FE50-47AC-BCCE-E4C4800CF782}"/>
              </a:ext>
            </a:extLst>
          </p:cNvPr>
          <p:cNvSpPr>
            <a:spLocks noGrp="1"/>
          </p:cNvSpPr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綁定不是重填表，而是把熟悉入口接到既有資料</a:t>
            </a:r>
            <a:endParaRPr sz="2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56BB41-B220-5C69-4B97-02C446AD1536}"/>
              </a:ext>
            </a:extLst>
          </p:cNvPr>
          <p:cNvSpPr>
            <a:spLocks noGrp="1"/>
          </p:cNvSpPr>
          <p:nvPr/>
        </p:nvSpPr>
        <p:spPr>
          <a:xfrm>
            <a:off x="1228680" y="4023176"/>
            <a:ext cx="5950272" cy="1372913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zh-TW" altLang="en-US" sz="28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設計理念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</a:t>
            </a:r>
            <a:endParaRPr lang="en-US" sz="2800" b="0" u="none" dirty="0">
              <a:solidFill>
                <a:srgbClr val="5D493D"/>
              </a:solidFill>
              <a:latin typeface="Microsoft JhengHei"/>
              <a:ea typeface="Microsoft JhengHei"/>
              <a:cs typeface="Microsoft JhengHei"/>
            </a:endParaRPr>
          </a:p>
          <a:p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查不到就阻擋綁定，提示改走新客戶登記表單</a:t>
            </a:r>
            <a:endParaRPr lang="zh-TW" altLang="en-US" sz="28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47DDD40-3FE7-E3FD-08AF-8E224A2FC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4" name="Shape 93">
            <a:extLst>
              <a:ext uri="{FF2B5EF4-FFF2-40B4-BE49-F238E27FC236}">
                <a16:creationId xmlns:a16="http://schemas.microsoft.com/office/drawing/2014/main" id="{82F4A082-6F33-B03B-2AE8-750CE5A53381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5" name="Shape 93">
            <a:extLst>
              <a:ext uri="{FF2B5EF4-FFF2-40B4-BE49-F238E27FC236}">
                <a16:creationId xmlns:a16="http://schemas.microsoft.com/office/drawing/2014/main" id="{F8271E23-A5B3-3F93-EFA7-6060FEAE5056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6673716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TW" altLang="en-US" sz="3200" b="1" dirty="0">
                <a:solidFill>
                  <a:srgbClr val="243545"/>
                </a:solidFill>
                <a:latin typeface="Noto Sans TC"/>
                <a:ea typeface="Microsoft JhengHei" panose="020B0604030504040204" pitchFamily="34" charset="-120"/>
                <a:cs typeface="Noto Sans TC"/>
              </a:rPr>
              <a:t>已登記服務：以 </a:t>
            </a:r>
            <a:r>
              <a:rPr lang="en" altLang="zh-TW" sz="3200" b="1" dirty="0">
                <a:solidFill>
                  <a:srgbClr val="243545"/>
                </a:solidFill>
                <a:latin typeface="Noto Sans TC"/>
                <a:ea typeface="Microsoft JhengHei" panose="020B0604030504040204" pitchFamily="34" charset="-120"/>
                <a:cs typeface="Noto Sans TC"/>
              </a:rPr>
              <a:t>LINE </a:t>
            </a:r>
            <a:r>
              <a:rPr lang="zh-TW" altLang="en-US" sz="3200" b="1" dirty="0">
                <a:solidFill>
                  <a:srgbClr val="243545"/>
                </a:solidFill>
                <a:latin typeface="Noto Sans TC"/>
                <a:ea typeface="Microsoft JhengHei" panose="020B0604030504040204" pitchFamily="34" charset="-120"/>
                <a:cs typeface="Noto Sans TC"/>
              </a:rPr>
              <a:t>綁定既有紀錄</a:t>
            </a:r>
            <a:endParaRPr lang="zh-TW" altLang="en-US" sz="3200" dirty="0">
              <a:solidFill>
                <a:srgbClr val="000000"/>
              </a:solidFill>
              <a:latin typeface="Arial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6" name="統一章節標記">
            <a:extLst>
              <a:ext uri="{FF2B5EF4-FFF2-40B4-BE49-F238E27FC236}">
                <a16:creationId xmlns:a16="http://schemas.microsoft.com/office/drawing/2014/main" id="{54E2B0EC-E498-5DDB-CEBA-2F28F3A21E7F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7E39451-607A-C4AD-8AAA-F0C1525AB0B0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23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C7796DF-D6CE-E622-3527-F4C448847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3D37EA5-35CD-156C-37A3-1CE6894B0B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36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橢圓 695">
            <a:extLst>
              <a:ext uri="{FF2B5EF4-FFF2-40B4-BE49-F238E27FC236}">
                <a16:creationId xmlns:a16="http://schemas.microsoft.com/office/drawing/2014/main" id="{5D141BC8-CBFA-4E28-95D0-C777D432EE4B}"/>
              </a:ext>
            </a:extLst>
          </p:cNvPr>
          <p:cNvSpPr>
            <a:spLocks noGrp="1"/>
          </p:cNvSpPr>
          <p:nvPr/>
        </p:nvSpPr>
        <p:spPr>
          <a:xfrm>
            <a:off x="905040" y="1650879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7" name="矩形 696">
            <a:extLst>
              <a:ext uri="{FF2B5EF4-FFF2-40B4-BE49-F238E27FC236}">
                <a16:creationId xmlns:a16="http://schemas.microsoft.com/office/drawing/2014/main" id="{5B6F9A85-4F57-445E-B6F9-EDF54D782969}"/>
              </a:ext>
            </a:extLst>
          </p:cNvPr>
          <p:cNvSpPr>
            <a:spLocks noGrp="1"/>
          </p:cNvSpPr>
          <p:nvPr/>
        </p:nvSpPr>
        <p:spPr>
          <a:xfrm>
            <a:off x="1228679" y="1650879"/>
            <a:ext cx="628724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u="none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LIFF</a:t>
            </a:r>
            <a:r>
              <a:rPr sz="2800" b="0" u="none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端即時檢查</a:t>
            </a:r>
            <a:r>
              <a:rPr lang="en-US" sz="280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填寫資訊（</a:t>
            </a:r>
            <a:r>
              <a:rPr sz="2800" b="0" u="none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手機、服務天數</a:t>
            </a:r>
            <a:r>
              <a:rPr lang="zh-TW" altLang="en-US" sz="2800" b="0" u="none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等）</a:t>
            </a:r>
            <a:r>
              <a:rPr sz="2800" b="0" u="none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、</a:t>
            </a:r>
            <a:r>
              <a:rPr sz="2800" b="0" u="none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退費原則與必填欄位</a:t>
            </a:r>
            <a:endParaRPr sz="2800" b="0" u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698" name="橢圓 697">
            <a:extLst>
              <a:ext uri="{FF2B5EF4-FFF2-40B4-BE49-F238E27FC236}">
                <a16:creationId xmlns:a16="http://schemas.microsoft.com/office/drawing/2014/main" id="{05687181-C773-42E7-B6D4-2CB61CECA47B}"/>
              </a:ext>
            </a:extLst>
          </p:cNvPr>
          <p:cNvSpPr>
            <a:spLocks noGrp="1"/>
          </p:cNvSpPr>
          <p:nvPr/>
        </p:nvSpPr>
        <p:spPr>
          <a:xfrm>
            <a:off x="905040" y="2825739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9" name="矩形 698">
            <a:extLst>
              <a:ext uri="{FF2B5EF4-FFF2-40B4-BE49-F238E27FC236}">
                <a16:creationId xmlns:a16="http://schemas.microsoft.com/office/drawing/2014/main" id="{0BB9E02C-5D66-428C-B86C-2A3F1B61C4C1}"/>
              </a:ext>
            </a:extLst>
          </p:cNvPr>
          <p:cNvSpPr>
            <a:spLocks noGrp="1"/>
          </p:cNvSpPr>
          <p:nvPr/>
        </p:nvSpPr>
        <p:spPr>
          <a:xfrm>
            <a:off x="1228679" y="2825739"/>
            <a:ext cx="628724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API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端再檢查一次，避免繞過網頁送入不合理資料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0" name="橢圓 699">
            <a:extLst>
              <a:ext uri="{FF2B5EF4-FFF2-40B4-BE49-F238E27FC236}">
                <a16:creationId xmlns:a16="http://schemas.microsoft.com/office/drawing/2014/main" id="{59696B96-A265-40A8-A5B6-1C0D89BAFE64}"/>
              </a:ext>
            </a:extLst>
          </p:cNvPr>
          <p:cNvSpPr>
            <a:spLocks noGrp="1"/>
          </p:cNvSpPr>
          <p:nvPr/>
        </p:nvSpPr>
        <p:spPr>
          <a:xfrm>
            <a:off x="905040" y="4000599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2" name="矩形 701">
            <a:extLst>
              <a:ext uri="{FF2B5EF4-FFF2-40B4-BE49-F238E27FC236}">
                <a16:creationId xmlns:a16="http://schemas.microsoft.com/office/drawing/2014/main" id="{2B6D9B19-7D9D-4867-8383-F850801DF512}"/>
              </a:ext>
            </a:extLst>
          </p:cNvPr>
          <p:cNvSpPr>
            <a:spLocks noGrp="1"/>
          </p:cNvSpPr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3" name="矩形 702">
            <a:extLst>
              <a:ext uri="{FF2B5EF4-FFF2-40B4-BE49-F238E27FC236}">
                <a16:creationId xmlns:a16="http://schemas.microsoft.com/office/drawing/2014/main" id="{4F89EBEA-6717-4DAC-BF96-E82C6751C20A}"/>
              </a:ext>
            </a:extLst>
          </p:cNvPr>
          <p:cNvSpPr>
            <a:spLocks noGrp="1"/>
          </p:cNvSpPr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表單不是資料終點，而是正式案件的安全入口</a:t>
            </a:r>
            <a:endParaRPr sz="2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8FE5B6-FC54-A274-CF14-F914F328F387}"/>
              </a:ext>
            </a:extLst>
          </p:cNvPr>
          <p:cNvSpPr>
            <a:spLocks noGrp="1"/>
          </p:cNvSpPr>
          <p:nvPr/>
        </p:nvSpPr>
        <p:spPr>
          <a:xfrm>
            <a:off x="1228680" y="4000599"/>
            <a:ext cx="6543720" cy="1339046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zh-TW" altLang="en-US" sz="28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設計理念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</a:t>
            </a:r>
            <a:endParaRPr lang="en-US" sz="2800" b="0" u="none" dirty="0">
              <a:solidFill>
                <a:srgbClr val="5D493D"/>
              </a:solidFill>
              <a:latin typeface="Microsoft JhengHei"/>
              <a:ea typeface="Microsoft JhengHei"/>
              <a:cs typeface="Microsoft JhengHei"/>
            </a:endParaRPr>
          </a:p>
          <a:p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通過後才建立客戶、訂單與表單紀錄，成為可追蹤案件</a:t>
            </a:r>
            <a:endParaRPr lang="zh-TW" altLang="en-US" sz="28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17D8A6-875B-D361-EBD6-BBDA18A75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5" name="Shape 93">
            <a:extLst>
              <a:ext uri="{FF2B5EF4-FFF2-40B4-BE49-F238E27FC236}">
                <a16:creationId xmlns:a16="http://schemas.microsoft.com/office/drawing/2014/main" id="{F49A3F41-4D15-863D-7157-B3CB8BC54073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6" name="Shape 93">
            <a:extLst>
              <a:ext uri="{FF2B5EF4-FFF2-40B4-BE49-F238E27FC236}">
                <a16:creationId xmlns:a16="http://schemas.microsoft.com/office/drawing/2014/main" id="{F557B090-9586-3268-F0FA-B9136C52D330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6148154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TW" altLang="en-US" sz="3200" b="1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新客戶登記先擋錯，再建立案件</a:t>
            </a:r>
            <a:endParaRPr lang="zh-TW" altLang="en-US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7" name="統一章節標記">
            <a:extLst>
              <a:ext uri="{FF2B5EF4-FFF2-40B4-BE49-F238E27FC236}">
                <a16:creationId xmlns:a16="http://schemas.microsoft.com/office/drawing/2014/main" id="{157CFC56-969D-2A85-138E-8B29E9E03A77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A4580C-9CD6-AC1B-D197-AC82596705E2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24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DCF3825-65FE-A91B-C50A-F6196E2B9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F135E51-BDFE-2C3D-B851-EF23BBC1E2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40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橢圓 706">
            <a:extLst>
              <a:ext uri="{FF2B5EF4-FFF2-40B4-BE49-F238E27FC236}">
                <a16:creationId xmlns:a16="http://schemas.microsoft.com/office/drawing/2014/main" id="{F9B9F95D-903B-4767-AEB9-93D3B527FF56}"/>
              </a:ext>
            </a:extLst>
          </p:cNvPr>
          <p:cNvSpPr>
            <a:spLocks noGrp="1"/>
          </p:cNvSpPr>
          <p:nvPr/>
        </p:nvSpPr>
        <p:spPr>
          <a:xfrm>
            <a:off x="905040" y="162830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8" name="矩形 707">
            <a:extLst>
              <a:ext uri="{FF2B5EF4-FFF2-40B4-BE49-F238E27FC236}">
                <a16:creationId xmlns:a16="http://schemas.microsoft.com/office/drawing/2014/main" id="{8976393B-A941-4BCC-897A-1C1C2D2BCCFD}"/>
              </a:ext>
            </a:extLst>
          </p:cNvPr>
          <p:cNvSpPr>
            <a:spLocks noGrp="1"/>
          </p:cNvSpPr>
          <p:nvPr/>
        </p:nvSpPr>
        <p:spPr>
          <a:xfrm>
            <a:off x="1228679" y="1628301"/>
            <a:ext cx="595793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客戶可</a:t>
            </a:r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於</a:t>
            </a:r>
            <a:r>
              <a:rPr lang="en-US" altLang="zh-TW"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申請修改電話、地址、預產期或服務天數等資料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9" name="橢圓 708">
            <a:extLst>
              <a:ext uri="{FF2B5EF4-FFF2-40B4-BE49-F238E27FC236}">
                <a16:creationId xmlns:a16="http://schemas.microsoft.com/office/drawing/2014/main" id="{BEB4478D-A72A-4301-85CF-1EDAECB1AF51}"/>
              </a:ext>
            </a:extLst>
          </p:cNvPr>
          <p:cNvSpPr>
            <a:spLocks noGrp="1"/>
          </p:cNvSpPr>
          <p:nvPr/>
        </p:nvSpPr>
        <p:spPr>
          <a:xfrm>
            <a:off x="905040" y="280334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0" name="矩形 709">
            <a:extLst>
              <a:ext uri="{FF2B5EF4-FFF2-40B4-BE49-F238E27FC236}">
                <a16:creationId xmlns:a16="http://schemas.microsoft.com/office/drawing/2014/main" id="{5EC494F6-6A16-4A3B-923F-97BDC4102EFD}"/>
              </a:ext>
            </a:extLst>
          </p:cNvPr>
          <p:cNvSpPr>
            <a:spLocks noGrp="1"/>
          </p:cNvSpPr>
          <p:nvPr/>
        </p:nvSpPr>
        <p:spPr>
          <a:xfrm>
            <a:off x="1228679" y="2803341"/>
            <a:ext cx="595793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新內容先建立異動申請，不直接覆蓋原始紀錄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1" name="橢圓 710">
            <a:extLst>
              <a:ext uri="{FF2B5EF4-FFF2-40B4-BE49-F238E27FC236}">
                <a16:creationId xmlns:a16="http://schemas.microsoft.com/office/drawing/2014/main" id="{1CA4159C-9FB2-4949-9762-50DCA5E18E05}"/>
              </a:ext>
            </a:extLst>
          </p:cNvPr>
          <p:cNvSpPr>
            <a:spLocks noGrp="1"/>
          </p:cNvSpPr>
          <p:nvPr/>
        </p:nvSpPr>
        <p:spPr>
          <a:xfrm>
            <a:off x="905040" y="397802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2" name="矩形 711">
            <a:extLst>
              <a:ext uri="{FF2B5EF4-FFF2-40B4-BE49-F238E27FC236}">
                <a16:creationId xmlns:a16="http://schemas.microsoft.com/office/drawing/2014/main" id="{186F5D8F-6F3C-41F9-AF2A-E408BBD595A1}"/>
              </a:ext>
            </a:extLst>
          </p:cNvPr>
          <p:cNvSpPr>
            <a:spLocks noGrp="1"/>
          </p:cNvSpPr>
          <p:nvPr/>
        </p:nvSpPr>
        <p:spPr>
          <a:xfrm>
            <a:off x="1228679" y="3978021"/>
            <a:ext cx="595793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工會後台可同意部分項目、拒絕並填寫原因，再通知客戶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3" name="矩形 712">
            <a:extLst>
              <a:ext uri="{FF2B5EF4-FFF2-40B4-BE49-F238E27FC236}">
                <a16:creationId xmlns:a16="http://schemas.microsoft.com/office/drawing/2014/main" id="{34EBA3A8-D164-4B95-BC68-7BEC08884ED0}"/>
              </a:ext>
            </a:extLst>
          </p:cNvPr>
          <p:cNvSpPr>
            <a:spLocks noGrp="1"/>
          </p:cNvSpPr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4" name="矩形 713">
            <a:extLst>
              <a:ext uri="{FF2B5EF4-FFF2-40B4-BE49-F238E27FC236}">
                <a16:creationId xmlns:a16="http://schemas.microsoft.com/office/drawing/2014/main" id="{705FFFEF-027B-460D-AA76-0C3127ABC53A}"/>
              </a:ext>
            </a:extLst>
          </p:cNvPr>
          <p:cNvSpPr>
            <a:spLocks noGrp="1"/>
          </p:cNvSpPr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避免誤填直接影響媒合、補助、契約與後續帳務</a:t>
            </a:r>
            <a:endParaRPr sz="2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2F845C-6985-87CC-C3F2-4B0C85D149EA}"/>
              </a:ext>
            </a:extLst>
          </p:cNvPr>
          <p:cNvSpPr>
            <a:spLocks noGrp="1"/>
          </p:cNvSpPr>
          <p:nvPr/>
        </p:nvSpPr>
        <p:spPr>
          <a:xfrm>
            <a:off x="1229399" y="5077898"/>
            <a:ext cx="6057150" cy="1356769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zh-TW" altLang="en-US" sz="28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設計理念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</a:t>
            </a:r>
            <a:endParaRPr lang="en-US" sz="2800" b="0" u="none" dirty="0">
              <a:solidFill>
                <a:srgbClr val="5D493D"/>
              </a:solidFill>
              <a:latin typeface="Microsoft JhengHei"/>
              <a:ea typeface="Microsoft JhengHei"/>
              <a:cs typeface="Microsoft JhengHei"/>
            </a:endParaRPr>
          </a:p>
          <a:p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工會擁有審核權，</a:t>
            </a:r>
            <a:r>
              <a:rPr lang="en-US" altLang="zh-TW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DB</a:t>
            </a:r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同時</a:t>
            </a:r>
            <a:r>
              <a:rPr lang="zh-TW" altLang="en-US" sz="2800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建立新資料且保留舊資料</a:t>
            </a:r>
            <a:endParaRPr kumimoji="1" lang="zh-TW" altLang="en-US" sz="2800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F67BB97-5F11-4FAD-4AAB-8CDEDA265BCC}"/>
              </a:ext>
            </a:extLst>
          </p:cNvPr>
          <p:cNvSpPr>
            <a:spLocks noGrp="1"/>
          </p:cNvSpPr>
          <p:nvPr/>
        </p:nvSpPr>
        <p:spPr>
          <a:xfrm>
            <a:off x="905760" y="5077899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5880" tIns="45000" rIns="6588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9242E5-C716-727C-9D89-ACFB921C9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6" name="Shape 93">
            <a:extLst>
              <a:ext uri="{FF2B5EF4-FFF2-40B4-BE49-F238E27FC236}">
                <a16:creationId xmlns:a16="http://schemas.microsoft.com/office/drawing/2014/main" id="{40BDDF26-BF28-D357-5F9C-34EBD6B6B887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A14FDAB5-4550-33E7-D508-25CC3ABBE90C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6148154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TW" altLang="en-US" sz="3200" b="1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</a:rPr>
              <a:t>資料異動先暫存，審核後才套用</a:t>
            </a:r>
            <a:endParaRPr lang="zh-TW" altLang="en-US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</a:endParaRPr>
          </a:p>
        </p:txBody>
      </p:sp>
      <p:sp>
        <p:nvSpPr>
          <p:cNvPr id="8" name="統一章節標記">
            <a:extLst>
              <a:ext uri="{FF2B5EF4-FFF2-40B4-BE49-F238E27FC236}">
                <a16:creationId xmlns:a16="http://schemas.microsoft.com/office/drawing/2014/main" id="{DF22ECE9-C898-C272-BBFF-E766CCF03F08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13A3799-BCAD-86AA-6338-90F8DD53784C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25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C1CD897-D6A2-832E-0CAA-A4985C4D8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06553AF-67BE-29CA-3368-683D5F4527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79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橢圓 717">
            <a:extLst>
              <a:ext uri="{FF2B5EF4-FFF2-40B4-BE49-F238E27FC236}">
                <a16:creationId xmlns:a16="http://schemas.microsoft.com/office/drawing/2014/main" id="{06AA0745-374E-4788-88C1-A5B95DCE0DCC}"/>
              </a:ext>
            </a:extLst>
          </p:cNvPr>
          <p:cNvSpPr>
            <a:spLocks noGrp="1"/>
          </p:cNvSpPr>
          <p:nvPr/>
        </p:nvSpPr>
        <p:spPr>
          <a:xfrm>
            <a:off x="905040" y="162830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9" name="矩形 718">
            <a:extLst>
              <a:ext uri="{FF2B5EF4-FFF2-40B4-BE49-F238E27FC236}">
                <a16:creationId xmlns:a16="http://schemas.microsoft.com/office/drawing/2014/main" id="{B72A5095-F55F-434B-88B0-E3CA4B494F2F}"/>
              </a:ext>
            </a:extLst>
          </p:cNvPr>
          <p:cNvSpPr>
            <a:spLocks noGrp="1"/>
          </p:cNvSpPr>
          <p:nvPr/>
        </p:nvSpPr>
        <p:spPr>
          <a:xfrm>
            <a:off x="1228679" y="1628301"/>
            <a:ext cx="601508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使用者傳送「我是月嫂」後，系統建立身分申請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0" name="橢圓 719">
            <a:extLst>
              <a:ext uri="{FF2B5EF4-FFF2-40B4-BE49-F238E27FC236}">
                <a16:creationId xmlns:a16="http://schemas.microsoft.com/office/drawing/2014/main" id="{124BC63D-C822-4112-979D-7659821312C3}"/>
              </a:ext>
            </a:extLst>
          </p:cNvPr>
          <p:cNvSpPr>
            <a:spLocks noGrp="1"/>
          </p:cNvSpPr>
          <p:nvPr/>
        </p:nvSpPr>
        <p:spPr>
          <a:xfrm>
            <a:off x="905040" y="280334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1" name="矩形 720">
            <a:extLst>
              <a:ext uri="{FF2B5EF4-FFF2-40B4-BE49-F238E27FC236}">
                <a16:creationId xmlns:a16="http://schemas.microsoft.com/office/drawing/2014/main" id="{A91A4337-3271-4BDD-8BF3-0A769EB87905}"/>
              </a:ext>
            </a:extLst>
          </p:cNvPr>
          <p:cNvSpPr>
            <a:spLocks noGrp="1"/>
          </p:cNvSpPr>
          <p:nvPr/>
        </p:nvSpPr>
        <p:spPr>
          <a:xfrm>
            <a:off x="1228679" y="2803341"/>
            <a:ext cx="601508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工會後台確認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LINE 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帳號對應哪一位月嫂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2" name="橢圓 721">
            <a:extLst>
              <a:ext uri="{FF2B5EF4-FFF2-40B4-BE49-F238E27FC236}">
                <a16:creationId xmlns:a16="http://schemas.microsoft.com/office/drawing/2014/main" id="{732029A6-E95D-44EC-A209-F158F66BB6DE}"/>
              </a:ext>
            </a:extLst>
          </p:cNvPr>
          <p:cNvSpPr>
            <a:spLocks noGrp="1"/>
          </p:cNvSpPr>
          <p:nvPr/>
        </p:nvSpPr>
        <p:spPr>
          <a:xfrm>
            <a:off x="905040" y="397802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3" name="矩形 722">
            <a:extLst>
              <a:ext uri="{FF2B5EF4-FFF2-40B4-BE49-F238E27FC236}">
                <a16:creationId xmlns:a16="http://schemas.microsoft.com/office/drawing/2014/main" id="{AA99B7B6-5261-4951-8D2A-EA58AB1AF846}"/>
              </a:ext>
            </a:extLst>
          </p:cNvPr>
          <p:cNvSpPr>
            <a:spLocks noGrp="1"/>
          </p:cNvSpPr>
          <p:nvPr/>
        </p:nvSpPr>
        <p:spPr>
          <a:xfrm>
            <a:off x="1228679" y="3978021"/>
            <a:ext cx="601508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通過後才切換月嫂選單，開放訂單查詢與排班資訊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4" name="矩形 723">
            <a:extLst>
              <a:ext uri="{FF2B5EF4-FFF2-40B4-BE49-F238E27FC236}">
                <a16:creationId xmlns:a16="http://schemas.microsoft.com/office/drawing/2014/main" id="{1B5F6B8D-8C2F-4AC0-9F42-1E0A7B1091E4}"/>
              </a:ext>
            </a:extLst>
          </p:cNvPr>
          <p:cNvSpPr>
            <a:spLocks noGrp="1"/>
          </p:cNvSpPr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5" name="矩形 724">
            <a:extLst>
              <a:ext uri="{FF2B5EF4-FFF2-40B4-BE49-F238E27FC236}">
                <a16:creationId xmlns:a16="http://schemas.microsoft.com/office/drawing/2014/main" id="{C03DEAFF-C0CA-41C2-9B06-279BB8EA377B}"/>
              </a:ext>
            </a:extLst>
          </p:cNvPr>
          <p:cNvSpPr>
            <a:spLocks noGrp="1"/>
          </p:cNvSpPr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月嫂入口牽涉案件與個資，不能只靠一句文字判定</a:t>
            </a:r>
            <a:endParaRPr sz="2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5BD791-EAB4-98D3-DF3F-31FECF06D562}"/>
              </a:ext>
            </a:extLst>
          </p:cNvPr>
          <p:cNvSpPr>
            <a:spLocks noGrp="1"/>
          </p:cNvSpPr>
          <p:nvPr/>
        </p:nvSpPr>
        <p:spPr>
          <a:xfrm>
            <a:off x="1229398" y="5077899"/>
            <a:ext cx="6342279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zh-TW" altLang="en-US" sz="28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設計理念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</a:t>
            </a:r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身份審核，且僅可查看個人相關資訊（配對訂單、個人班表等）</a:t>
            </a:r>
            <a:endParaRPr kumimoji="1" lang="zh-TW" altLang="en-US" sz="2800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60E036D5-B6EA-F14F-CF34-46ACD3B597F7}"/>
              </a:ext>
            </a:extLst>
          </p:cNvPr>
          <p:cNvSpPr>
            <a:spLocks noGrp="1"/>
          </p:cNvSpPr>
          <p:nvPr/>
        </p:nvSpPr>
        <p:spPr>
          <a:xfrm>
            <a:off x="905760" y="5077899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5880" tIns="45000" rIns="6588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C1BADA-D700-BFC4-E401-A49166A8D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6" name="Shape 93">
            <a:extLst>
              <a:ext uri="{FF2B5EF4-FFF2-40B4-BE49-F238E27FC236}">
                <a16:creationId xmlns:a16="http://schemas.microsoft.com/office/drawing/2014/main" id="{BD526389-ADB6-E298-0CC7-A01E7B956973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9E204D58-874A-2113-2EEC-A621A0289735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5234811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TW" altLang="en-US" sz="3200" b="1" dirty="0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月嫂功能先確認身分再開放</a:t>
            </a:r>
            <a:endParaRPr lang="zh-TW" altLang="en-US" sz="32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統一章節標記">
            <a:extLst>
              <a:ext uri="{FF2B5EF4-FFF2-40B4-BE49-F238E27FC236}">
                <a16:creationId xmlns:a16="http://schemas.microsoft.com/office/drawing/2014/main" id="{2A0C5944-EAF7-AE9B-9A8F-859862CF27DB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D8F51DA-2682-2CB1-4916-20CF031CB7F6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26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3CBDD84-6685-A075-3DCD-7BDFF3B1C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1F1AE58-004D-E3BE-3D3E-E219D9B1A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579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橢圓 728">
            <a:extLst>
              <a:ext uri="{FF2B5EF4-FFF2-40B4-BE49-F238E27FC236}">
                <a16:creationId xmlns:a16="http://schemas.microsoft.com/office/drawing/2014/main" id="{078A69BB-3F69-4211-96BD-1DFE58BBB812}"/>
              </a:ext>
            </a:extLst>
          </p:cNvPr>
          <p:cNvSpPr>
            <a:spLocks noGrp="1"/>
          </p:cNvSpPr>
          <p:nvPr/>
        </p:nvSpPr>
        <p:spPr>
          <a:xfrm>
            <a:off x="905040" y="162830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0" name="矩形 729">
            <a:extLst>
              <a:ext uri="{FF2B5EF4-FFF2-40B4-BE49-F238E27FC236}">
                <a16:creationId xmlns:a16="http://schemas.microsoft.com/office/drawing/2014/main" id="{76C520B3-FF51-46CD-809A-39C969390DB7}"/>
              </a:ext>
            </a:extLst>
          </p:cNvPr>
          <p:cNvSpPr>
            <a:spLocks noGrp="1"/>
          </p:cNvSpPr>
          <p:nvPr/>
        </p:nvSpPr>
        <p:spPr>
          <a:xfrm>
            <a:off x="1228679" y="1628301"/>
            <a:ext cx="6015083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月嫂身分、客戶重新綁定、資料異動與請假代班都進入</a:t>
            </a:r>
            <a:r>
              <a:rPr sz="28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待審</a:t>
            </a:r>
            <a:endParaRPr sz="2800" b="1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1" name="橢圓 730">
            <a:extLst>
              <a:ext uri="{FF2B5EF4-FFF2-40B4-BE49-F238E27FC236}">
                <a16:creationId xmlns:a16="http://schemas.microsoft.com/office/drawing/2014/main" id="{19C620D0-138C-4138-BC62-2CF6FE15D429}"/>
              </a:ext>
            </a:extLst>
          </p:cNvPr>
          <p:cNvSpPr>
            <a:spLocks noGrp="1"/>
          </p:cNvSpPr>
          <p:nvPr/>
        </p:nvSpPr>
        <p:spPr>
          <a:xfrm>
            <a:off x="905040" y="280334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2" name="矩形 731">
            <a:extLst>
              <a:ext uri="{FF2B5EF4-FFF2-40B4-BE49-F238E27FC236}">
                <a16:creationId xmlns:a16="http://schemas.microsoft.com/office/drawing/2014/main" id="{9F40814E-CECB-457B-AC19-C584BD931C6B}"/>
              </a:ext>
            </a:extLst>
          </p:cNvPr>
          <p:cNvSpPr>
            <a:spLocks noGrp="1"/>
          </p:cNvSpPr>
          <p:nvPr/>
        </p:nvSpPr>
        <p:spPr>
          <a:xfrm>
            <a:off x="1228679" y="2803341"/>
            <a:ext cx="5774287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後台決定通過、部分通過或退回，系統同步保存理由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3" name="橢圓 732">
            <a:extLst>
              <a:ext uri="{FF2B5EF4-FFF2-40B4-BE49-F238E27FC236}">
                <a16:creationId xmlns:a16="http://schemas.microsoft.com/office/drawing/2014/main" id="{CBDFD64E-310C-4D9E-B8FF-630A770917D1}"/>
              </a:ext>
            </a:extLst>
          </p:cNvPr>
          <p:cNvSpPr>
            <a:spLocks noGrp="1"/>
          </p:cNvSpPr>
          <p:nvPr/>
        </p:nvSpPr>
        <p:spPr>
          <a:xfrm>
            <a:off x="905040" y="3978021"/>
            <a:ext cx="132120" cy="13212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6240" tIns="45000" rIns="6624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4" name="矩形 733">
            <a:extLst>
              <a:ext uri="{FF2B5EF4-FFF2-40B4-BE49-F238E27FC236}">
                <a16:creationId xmlns:a16="http://schemas.microsoft.com/office/drawing/2014/main" id="{4D415146-40C1-4274-9B84-F69841183B8D}"/>
              </a:ext>
            </a:extLst>
          </p:cNvPr>
          <p:cNvSpPr>
            <a:spLocks noGrp="1"/>
          </p:cNvSpPr>
          <p:nvPr/>
        </p:nvSpPr>
        <p:spPr>
          <a:xfrm>
            <a:off x="1228679" y="3978021"/>
            <a:ext cx="5676841" cy="983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審核結果再由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UI發送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800" b="0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通知，形成可查詢、可追蹤的閉環</a:t>
            </a:r>
            <a:endParaRPr sz="28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5" name="矩形 734">
            <a:extLst>
              <a:ext uri="{FF2B5EF4-FFF2-40B4-BE49-F238E27FC236}">
                <a16:creationId xmlns:a16="http://schemas.microsoft.com/office/drawing/2014/main" id="{40F5D04E-6763-4793-8A44-29C0463B5E3F}"/>
              </a:ext>
            </a:extLst>
          </p:cNvPr>
          <p:cNvSpPr>
            <a:spLocks noGrp="1"/>
          </p:cNvSpPr>
          <p:nvPr/>
        </p:nvSpPr>
        <p:spPr>
          <a:xfrm>
            <a:off x="7429680" y="1762200"/>
            <a:ext cx="3713760" cy="3380400"/>
          </a:xfrm>
          <a:prstGeom prst="rect">
            <a:avLst/>
          </a:prstGeom>
          <a:solidFill>
            <a:srgbClr val="E7E0D3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6" name="矩形 735">
            <a:extLst>
              <a:ext uri="{FF2B5EF4-FFF2-40B4-BE49-F238E27FC236}">
                <a16:creationId xmlns:a16="http://schemas.microsoft.com/office/drawing/2014/main" id="{7EA94E58-F764-44A4-A665-6EC9377A8E85}"/>
              </a:ext>
            </a:extLst>
          </p:cNvPr>
          <p:cNvSpPr>
            <a:spLocks noGrp="1"/>
          </p:cNvSpPr>
          <p:nvPr/>
        </p:nvSpPr>
        <p:spPr>
          <a:xfrm>
            <a:off x="7953480" y="2523960"/>
            <a:ext cx="2665800" cy="1808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400" b="1" u="none" dirty="0" err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自動化負責整理與通知，正式判斷仍留給工會</a:t>
            </a:r>
            <a:endParaRPr sz="2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BD92E2-A4D6-3F83-BEE7-A0F9D1F4B51D}"/>
              </a:ext>
            </a:extLst>
          </p:cNvPr>
          <p:cNvSpPr>
            <a:spLocks noGrp="1"/>
          </p:cNvSpPr>
          <p:nvPr/>
        </p:nvSpPr>
        <p:spPr>
          <a:xfrm>
            <a:off x="1229399" y="5077899"/>
            <a:ext cx="6057150" cy="98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zh-TW" altLang="en-US" sz="2800" b="1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設計理念</a:t>
            </a:r>
            <a:r>
              <a:rPr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｜</a:t>
            </a:r>
            <a:r>
              <a:rPr lang="zh-TW" altLang="en-US" sz="2800" b="0" u="none" dirty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任何（人事物）有任何異動，皆需記載（人、事、時）</a:t>
            </a:r>
            <a:endParaRPr kumimoji="1" lang="zh-TW" altLang="en-US" sz="2800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4EEAB233-32B0-3CC3-56A0-A58A1737D9FF}"/>
              </a:ext>
            </a:extLst>
          </p:cNvPr>
          <p:cNvSpPr>
            <a:spLocks noGrp="1"/>
          </p:cNvSpPr>
          <p:nvPr/>
        </p:nvSpPr>
        <p:spPr>
          <a:xfrm>
            <a:off x="905760" y="5077899"/>
            <a:ext cx="131400" cy="131400"/>
          </a:xfrm>
          <a:prstGeom prst="ellipse">
            <a:avLst/>
          </a:prstGeom>
          <a:solidFill>
            <a:srgbClr val="A66C4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5880" tIns="45000" rIns="6588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hape 93">
            <a:extLst>
              <a:ext uri="{FF2B5EF4-FFF2-40B4-BE49-F238E27FC236}">
                <a16:creationId xmlns:a16="http://schemas.microsoft.com/office/drawing/2014/main" id="{22216619-DE4B-CBE4-ED55-D3414CD8AC32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u="none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陳翊庭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4A918FE-73AD-0445-FEF3-6DA96D2C4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34"/>
          <a:stretch>
            <a:fillRect/>
          </a:stretch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7" name="Shape 93">
            <a:extLst>
              <a:ext uri="{FF2B5EF4-FFF2-40B4-BE49-F238E27FC236}">
                <a16:creationId xmlns:a16="http://schemas.microsoft.com/office/drawing/2014/main" id="{EDB2DD2F-C26F-9E54-51E0-F5E201D09754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6502342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TW" altLang="en-US" sz="3200" b="1" dirty="0">
                <a:solidFill>
                  <a:srgbClr val="243545"/>
                </a:solidFill>
                <a:latin typeface="Noto Sans TC"/>
                <a:ea typeface="Noto Sans TC"/>
                <a:cs typeface="Noto Sans TC"/>
              </a:rPr>
              <a:t>後台保留人工判斷，系統負責留痕</a:t>
            </a:r>
            <a:endParaRPr lang="zh-TW" altLang="en-US" sz="32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統一章節標記">
            <a:extLst>
              <a:ext uri="{FF2B5EF4-FFF2-40B4-BE49-F238E27FC236}">
                <a16:creationId xmlns:a16="http://schemas.microsoft.com/office/drawing/2014/main" id="{24FDA125-A901-0267-BEBE-882584BF24FE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C4FB81-F496-88C7-81C8-D5D500C5D548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27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D469EC8-856E-F184-04ED-D7190DC2F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DA33128-9E68-35FA-0E3C-9737E70FB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8560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04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17">
            <a:extLst>
              <a:ext uri="{FF2B5EF4-FFF2-40B4-BE49-F238E27FC236}">
                <a16:creationId xmlns:a16="http://schemas.microsoft.com/office/drawing/2014/main" id="{1F01B661-8E3A-3E08-5D85-8D2373B4CD91}"/>
              </a:ext>
            </a:extLst>
          </p:cNvPr>
          <p:cNvSpPr>
            <a:spLocks noGrp="1"/>
          </p:cNvSpPr>
          <p:nvPr/>
        </p:nvSpPr>
        <p:spPr>
          <a:xfrm>
            <a:off x="822960" y="3794760"/>
            <a:ext cx="9599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altLang="zh-TW" sz="2800" dirty="0" err="1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幫程式自動把關的「品管員</a:t>
            </a:r>
            <a:r>
              <a:rPr lang="en-US" altLang="zh-TW" sz="2800" dirty="0">
                <a:solidFill>
                  <a:srgbClr val="5D49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altLang="zh-TW" sz="2800" dirty="0"/>
          </a:p>
        </p:txBody>
      </p:sp>
      <p:sp>
        <p:nvSpPr>
          <p:cNvPr id="6" name="Shape 94">
            <a:extLst>
              <a:ext uri="{FF2B5EF4-FFF2-40B4-BE49-F238E27FC236}">
                <a16:creationId xmlns:a16="http://schemas.microsoft.com/office/drawing/2014/main" id="{C5F3B594-CDC3-0845-C94D-C0AA8C4F5038}"/>
              </a:ext>
            </a:extLst>
          </p:cNvPr>
          <p:cNvSpPr>
            <a:spLocks noGrp="1"/>
          </p:cNvSpPr>
          <p:nvPr/>
        </p:nvSpPr>
        <p:spPr>
          <a:xfrm>
            <a:off x="822959" y="4480740"/>
            <a:ext cx="7492365" cy="43920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292C2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CC9E75-967F-6DD4-997D-4947CC2DE8DB}"/>
              </a:ext>
            </a:extLst>
          </p:cNvPr>
          <p:cNvSpPr txBox="1"/>
          <p:nvPr/>
        </p:nvSpPr>
        <p:spPr>
          <a:xfrm>
            <a:off x="762120" y="4755240"/>
            <a:ext cx="8158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</a:t>
            </a:r>
            <a:r>
              <a:rPr lang="en-US" altLang="zh-TW" sz="28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</a:t>
            </a:r>
            <a:r>
              <a:rPr lang="en-US" altLang="zh-TW" sz="28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r>
              <a:rPr lang="en-US" altLang="zh-TW" sz="28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</a:t>
            </a:r>
            <a:r>
              <a:rPr lang="en-US" altLang="zh-TW" sz="28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特點</a:t>
            </a:r>
            <a:r>
              <a:rPr lang="en-US" altLang="zh-TW" sz="28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</a:t>
            </a:r>
            <a:r>
              <a:rPr lang="en-US" altLang="zh-TW" sz="28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</a:t>
            </a:r>
            <a:r>
              <a:rPr lang="zh-TW" altLang="en-US" sz="28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</a:t>
            </a:r>
            <a:r>
              <a:rPr lang="en-US" altLang="zh-TW" sz="2800" dirty="0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CI → </a:t>
            </a:r>
            <a:r>
              <a:rPr lang="en-US" altLang="zh-TW" sz="2800" dirty="0" err="1">
                <a:solidFill>
                  <a:srgbClr val="6F70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實際成果</a:t>
            </a:r>
            <a:endParaRPr lang="en-US" altLang="zh-TW" sz="2800" dirty="0"/>
          </a:p>
        </p:txBody>
      </p:sp>
      <p:sp>
        <p:nvSpPr>
          <p:cNvPr id="9" name="Shape 93">
            <a:extLst>
              <a:ext uri="{FF2B5EF4-FFF2-40B4-BE49-F238E27FC236}">
                <a16:creationId xmlns:a16="http://schemas.microsoft.com/office/drawing/2014/main" id="{028AC703-F464-119F-065F-6144EE46E109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蔡欣怡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813CA126-9837-C754-095E-BFCE689763F5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5483167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(</a:t>
            </a:r>
            <a:r>
              <a:rPr lang="en-US" altLang="zh-TW" sz="3200" dirty="0" err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ContinuousIntegration</a:t>
            </a:r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</a:p>
        </p:txBody>
      </p:sp>
      <p:sp>
        <p:nvSpPr>
          <p:cNvPr id="12" name="統一章節標記">
            <a:extLst>
              <a:ext uri="{FF2B5EF4-FFF2-40B4-BE49-F238E27FC236}">
                <a16:creationId xmlns:a16="http://schemas.microsoft.com/office/drawing/2014/main" id="{C1A92A22-6198-9B36-3679-F8F370557F50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4B214E4-7626-9BCE-BC1D-506B6156D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" b="5291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0CD7C472-CD99-2C89-63E2-0B133B4AC8E5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28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7273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92E5F525-EF32-CC7A-AE2E-2ED4AF91005B}"/>
              </a:ext>
            </a:extLst>
          </p:cNvPr>
          <p:cNvSpPr/>
          <p:nvPr/>
        </p:nvSpPr>
        <p:spPr>
          <a:xfrm>
            <a:off x="777240" y="1600199"/>
            <a:ext cx="10607040" cy="1596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CI</a:t>
            </a:r>
            <a:r>
              <a:rPr lang="zh-TW" altLang="en-US" sz="2800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 </a:t>
            </a:r>
            <a:r>
              <a:rPr lang="en-US" sz="2800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(</a:t>
            </a:r>
            <a:r>
              <a:rPr lang="en-US" sz="280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持續整合</a:t>
            </a:r>
            <a:r>
              <a:rPr lang="en-US" sz="2800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80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會在每一次程式更新後</a:t>
            </a:r>
            <a:r>
              <a:rPr lang="zh-TW" altLang="en-US" sz="2800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，</a:t>
            </a:r>
            <a:r>
              <a:rPr lang="en-US" sz="280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自動做一輪「檢查</a:t>
            </a:r>
            <a:r>
              <a:rPr lang="en-US" sz="2800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 + </a:t>
            </a:r>
            <a:r>
              <a:rPr lang="en-US" sz="2800" dirty="0" err="1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測試</a:t>
            </a:r>
            <a:r>
              <a:rPr lang="en-US" sz="2800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」</a:t>
            </a:r>
            <a:endParaRPr 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5D49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確保新的改動不會把原本正常的功能弄壞。</a:t>
            </a:r>
            <a:endParaRPr lang="en-US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04FB33E8-AE27-ACD2-C006-AE679D02B172}"/>
              </a:ext>
            </a:extLst>
          </p:cNvPr>
          <p:cNvGrpSpPr/>
          <p:nvPr/>
        </p:nvGrpSpPr>
        <p:grpSpPr>
          <a:xfrm>
            <a:off x="778764" y="3333609"/>
            <a:ext cx="10634472" cy="2377440"/>
            <a:chOff x="777240" y="3017520"/>
            <a:chExt cx="10634472" cy="237744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947B48FB-847F-7232-7E3F-ADBF393ECC79}"/>
                </a:ext>
              </a:extLst>
            </p:cNvPr>
            <p:cNvSpPr/>
            <p:nvPr/>
          </p:nvSpPr>
          <p:spPr>
            <a:xfrm>
              <a:off x="777240" y="3017520"/>
              <a:ext cx="10634472" cy="2377440"/>
            </a:xfrm>
            <a:prstGeom prst="rect">
              <a:avLst/>
            </a:prstGeom>
            <a:solidFill>
              <a:srgbClr val="E7E0D3"/>
            </a:solidFill>
            <a:ln/>
          </p:spPr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BB0A1BE6-21ED-8E87-CE9A-5EC435ED9A0E}"/>
                </a:ext>
              </a:extLst>
            </p:cNvPr>
            <p:cNvSpPr/>
            <p:nvPr/>
          </p:nvSpPr>
          <p:spPr>
            <a:xfrm>
              <a:off x="1143000" y="3291840"/>
              <a:ext cx="4572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A66C4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一句話比喻</a:t>
              </a:r>
              <a:endParaRPr lang="en-US" sz="16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A4A3BF2C-A97E-D36E-E2CA-DBCB4F8D614B}"/>
                </a:ext>
              </a:extLst>
            </p:cNvPr>
            <p:cNvSpPr/>
            <p:nvPr/>
          </p:nvSpPr>
          <p:spPr>
            <a:xfrm>
              <a:off x="1143000" y="3703320"/>
              <a:ext cx="98755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292C28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就像一位「自動品管員」</a:t>
              </a:r>
              <a:endParaRPr lang="en-US" sz="28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0FBD234B-6BAB-7CE8-A011-91EC452DEA3B}"/>
                </a:ext>
              </a:extLst>
            </p:cNvPr>
            <p:cNvSpPr/>
            <p:nvPr/>
          </p:nvSpPr>
          <p:spPr>
            <a:xfrm>
              <a:off x="1143000" y="4480560"/>
              <a:ext cx="98755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 err="1">
                  <a:solidFill>
                    <a:srgbClr val="5D493D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新東西一做好就自動檢查</a:t>
              </a:r>
              <a:r>
                <a:rPr lang="zh-TW" altLang="en-US" sz="2000" dirty="0">
                  <a:solidFill>
                    <a:srgbClr val="5D493D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，</a:t>
              </a:r>
              <a:r>
                <a:rPr lang="en-US" sz="2000" dirty="0" err="1">
                  <a:solidFill>
                    <a:srgbClr val="5D493D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沒問題才放行、有問題就退回</a:t>
              </a:r>
              <a:r>
                <a:rPr lang="en-US" sz="2000" dirty="0">
                  <a:solidFill>
                    <a:srgbClr val="5D493D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——全程不用人一直盯。</a:t>
              </a:r>
              <a:endParaRPr lang="en-US" sz="2000" dirty="0"/>
            </a:p>
          </p:txBody>
        </p:sp>
      </p:grpSp>
      <p:sp>
        <p:nvSpPr>
          <p:cNvPr id="8" name="Shape 93">
            <a:extLst>
              <a:ext uri="{FF2B5EF4-FFF2-40B4-BE49-F238E27FC236}">
                <a16:creationId xmlns:a16="http://schemas.microsoft.com/office/drawing/2014/main" id="{67F05616-EAD0-DDE0-1FB9-F8483FBF5302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7255523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</a:t>
            </a:r>
            <a:r>
              <a:rPr lang="en-US" altLang="zh-TW" sz="32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是什麼</a:t>
            </a:r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32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每次改完</a:t>
            </a:r>
            <a:r>
              <a:rPr lang="zh-TW" altLang="en-US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32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系統自動幫</a:t>
            </a:r>
            <a:r>
              <a:rPr lang="zh-TW" altLang="en-US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忙</a:t>
            </a:r>
            <a:r>
              <a:rPr lang="en-US" altLang="zh-TW" sz="32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</a:t>
            </a:r>
            <a:endParaRPr lang="en-US" altLang="zh-TW" sz="3200" dirty="0"/>
          </a:p>
        </p:txBody>
      </p:sp>
      <p:sp>
        <p:nvSpPr>
          <p:cNvPr id="9" name="統一章節標記">
            <a:extLst>
              <a:ext uri="{FF2B5EF4-FFF2-40B4-BE49-F238E27FC236}">
                <a16:creationId xmlns:a16="http://schemas.microsoft.com/office/drawing/2014/main" id="{4E410560-4AA3-44C2-8A18-A6EFD64685EF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10" name="Shape 93">
            <a:extLst>
              <a:ext uri="{FF2B5EF4-FFF2-40B4-BE49-F238E27FC236}">
                <a16:creationId xmlns:a16="http://schemas.microsoft.com/office/drawing/2014/main" id="{63E7D3FC-A398-38D1-D37C-2B177EBD91C8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蔡欣怡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0CFFD66-30F0-C81B-9CB0-03459BF85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" b="5291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F8498B8-4180-9873-4957-CE16BB17BE02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29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A78DB455-CD56-FCC3-7AF0-5459DB24A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2224E98-E79E-C5A5-B0DD-F6433B6DF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80" y="5838555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49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633F5CB8-27AE-3BB9-5A2B-C3C8EB511B23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蔡欣怡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5E7630-4863-B229-83C6-B7640CE1F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" b="5291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grpSp>
        <p:nvGrpSpPr>
          <p:cNvPr id="27" name="群組 26">
            <a:extLst>
              <a:ext uri="{FF2B5EF4-FFF2-40B4-BE49-F238E27FC236}">
                <a16:creationId xmlns:a16="http://schemas.microsoft.com/office/drawing/2014/main" id="{1B4F2C88-D37D-73EF-CC4C-056FE2A581E7}"/>
              </a:ext>
            </a:extLst>
          </p:cNvPr>
          <p:cNvGrpSpPr/>
          <p:nvPr/>
        </p:nvGrpSpPr>
        <p:grpSpPr>
          <a:xfrm>
            <a:off x="815340" y="2354580"/>
            <a:ext cx="10561320" cy="2148840"/>
            <a:chOff x="815340" y="2148840"/>
            <a:chExt cx="10561320" cy="2148840"/>
          </a:xfrm>
        </p:grpSpPr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74EE99D5-93E8-D7EE-BAAC-4AE75D3FA4A7}"/>
                </a:ext>
              </a:extLst>
            </p:cNvPr>
            <p:cNvSpPr/>
            <p:nvPr/>
          </p:nvSpPr>
          <p:spPr>
            <a:xfrm>
              <a:off x="6263640" y="2148840"/>
              <a:ext cx="2331720" cy="2148840"/>
            </a:xfrm>
            <a:prstGeom prst="rect">
              <a:avLst/>
            </a:prstGeom>
            <a:solidFill>
              <a:srgbClr val="E7E0D3"/>
            </a:solidFill>
            <a:ln/>
          </p:spPr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6194A9E3-539B-0B8A-4EED-B9100D75D0E6}"/>
                </a:ext>
              </a:extLst>
            </p:cNvPr>
            <p:cNvGrpSpPr/>
            <p:nvPr/>
          </p:nvGrpSpPr>
          <p:grpSpPr>
            <a:xfrm>
              <a:off x="815340" y="2148840"/>
              <a:ext cx="10561320" cy="2148840"/>
              <a:chOff x="777240" y="2148840"/>
              <a:chExt cx="10561320" cy="2148840"/>
            </a:xfrm>
          </p:grpSpPr>
          <p:sp>
            <p:nvSpPr>
              <p:cNvPr id="5" name="Shape 2">
                <a:extLst>
                  <a:ext uri="{FF2B5EF4-FFF2-40B4-BE49-F238E27FC236}">
                    <a16:creationId xmlns:a16="http://schemas.microsoft.com/office/drawing/2014/main" id="{B5A0F5F7-BBFE-88D6-2045-282F95B15790}"/>
                  </a:ext>
                </a:extLst>
              </p:cNvPr>
              <p:cNvSpPr/>
              <p:nvPr/>
            </p:nvSpPr>
            <p:spPr>
              <a:xfrm>
                <a:off x="777240" y="2148840"/>
                <a:ext cx="2331720" cy="2148840"/>
              </a:xfrm>
              <a:prstGeom prst="rect">
                <a:avLst/>
              </a:prstGeom>
              <a:solidFill>
                <a:srgbClr val="E7E0D3"/>
              </a:solidFill>
              <a:ln/>
            </p:spPr>
          </p:sp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235660A6-6FFB-63B7-3519-6A1A304E5941}"/>
                  </a:ext>
                </a:extLst>
              </p:cNvPr>
              <p:cNvSpPr/>
              <p:nvPr/>
            </p:nvSpPr>
            <p:spPr>
              <a:xfrm>
                <a:off x="777240" y="2404872"/>
                <a:ext cx="233172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1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7C2FBE0B-9A1B-8A12-130B-D50AA66FBF7A}"/>
                  </a:ext>
                </a:extLst>
              </p:cNvPr>
              <p:cNvSpPr/>
              <p:nvPr/>
            </p:nvSpPr>
            <p:spPr>
              <a:xfrm>
                <a:off x="868680" y="3200400"/>
                <a:ext cx="21488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改好東西</a:t>
                </a:r>
                <a:endParaRPr lang="en-US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8" name="Text 5">
                <a:extLst>
                  <a:ext uri="{FF2B5EF4-FFF2-40B4-BE49-F238E27FC236}">
                    <a16:creationId xmlns:a16="http://schemas.microsoft.com/office/drawing/2014/main" id="{4C1A18C2-FFC4-5B46-3F02-BD809DB5D0AC}"/>
                  </a:ext>
                </a:extLst>
              </p:cNvPr>
              <p:cNvSpPr/>
              <p:nvPr/>
            </p:nvSpPr>
            <p:spPr>
              <a:xfrm>
                <a:off x="868680" y="3657600"/>
                <a:ext cx="21488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修改或新增功能</a:t>
                </a:r>
                <a:endPara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3B491601-F740-803B-0F70-709C04D10DD1}"/>
                  </a:ext>
                </a:extLst>
              </p:cNvPr>
              <p:cNvSpPr/>
              <p:nvPr/>
            </p:nvSpPr>
            <p:spPr>
              <a:xfrm>
                <a:off x="3090672" y="2148840"/>
                <a:ext cx="448056" cy="21488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→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0" name="Shape 7">
                <a:extLst>
                  <a:ext uri="{FF2B5EF4-FFF2-40B4-BE49-F238E27FC236}">
                    <a16:creationId xmlns:a16="http://schemas.microsoft.com/office/drawing/2014/main" id="{49A6B9B5-89D2-A993-918D-2C0E7BD2C255}"/>
                  </a:ext>
                </a:extLst>
              </p:cNvPr>
              <p:cNvSpPr/>
              <p:nvPr/>
            </p:nvSpPr>
            <p:spPr>
              <a:xfrm>
                <a:off x="3520440" y="2148840"/>
                <a:ext cx="2331720" cy="2148840"/>
              </a:xfrm>
              <a:prstGeom prst="rect">
                <a:avLst/>
              </a:prstGeom>
              <a:solidFill>
                <a:srgbClr val="E7E0D3"/>
              </a:solidFill>
              <a:ln/>
            </p:spPr>
          </p:sp>
          <p:sp>
            <p:nvSpPr>
              <p:cNvPr id="11" name="Text 8">
                <a:extLst>
                  <a:ext uri="{FF2B5EF4-FFF2-40B4-BE49-F238E27FC236}">
                    <a16:creationId xmlns:a16="http://schemas.microsoft.com/office/drawing/2014/main" id="{53D3D378-EE3F-FE57-74AD-BCE8689DD1AB}"/>
                  </a:ext>
                </a:extLst>
              </p:cNvPr>
              <p:cNvSpPr/>
              <p:nvPr/>
            </p:nvSpPr>
            <p:spPr>
              <a:xfrm>
                <a:off x="3520440" y="2404872"/>
                <a:ext cx="233172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2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69B9D7D2-ED2C-1772-F82A-C8E6AB4980CE}"/>
                  </a:ext>
                </a:extLst>
              </p:cNvPr>
              <p:cNvSpPr/>
              <p:nvPr/>
            </p:nvSpPr>
            <p:spPr>
              <a:xfrm>
                <a:off x="3611880" y="3200400"/>
                <a:ext cx="21488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自動送檢</a:t>
                </a:r>
                <a:endParaRPr lang="en-US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3" name="Text 10">
                <a:extLst>
                  <a:ext uri="{FF2B5EF4-FFF2-40B4-BE49-F238E27FC236}">
                    <a16:creationId xmlns:a16="http://schemas.microsoft.com/office/drawing/2014/main" id="{E4F1F39C-2412-271D-3421-AE42507F3225}"/>
                  </a:ext>
                </a:extLst>
              </p:cNvPr>
              <p:cNvSpPr/>
              <p:nvPr/>
            </p:nvSpPr>
            <p:spPr>
              <a:xfrm>
                <a:off x="3611880" y="3657600"/>
                <a:ext cx="21488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不需人工提醒</a:t>
                </a:r>
                <a:endPara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4" name="Text 11">
                <a:extLst>
                  <a:ext uri="{FF2B5EF4-FFF2-40B4-BE49-F238E27FC236}">
                    <a16:creationId xmlns:a16="http://schemas.microsoft.com/office/drawing/2014/main" id="{7B3DF968-2558-5239-3364-2993F6630D93}"/>
                  </a:ext>
                </a:extLst>
              </p:cNvPr>
              <p:cNvSpPr/>
              <p:nvPr/>
            </p:nvSpPr>
            <p:spPr>
              <a:xfrm>
                <a:off x="5833872" y="2148840"/>
                <a:ext cx="448056" cy="21488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→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6" name="Text 13">
                <a:extLst>
                  <a:ext uri="{FF2B5EF4-FFF2-40B4-BE49-F238E27FC236}">
                    <a16:creationId xmlns:a16="http://schemas.microsoft.com/office/drawing/2014/main" id="{7E4BF3EB-0C18-FFC4-A644-1F5B1112ACB1}"/>
                  </a:ext>
                </a:extLst>
              </p:cNvPr>
              <p:cNvSpPr/>
              <p:nvPr/>
            </p:nvSpPr>
            <p:spPr>
              <a:xfrm>
                <a:off x="6263640" y="2404872"/>
                <a:ext cx="233172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3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7" name="Text 14">
                <a:extLst>
                  <a:ext uri="{FF2B5EF4-FFF2-40B4-BE49-F238E27FC236}">
                    <a16:creationId xmlns:a16="http://schemas.microsoft.com/office/drawing/2014/main" id="{C515FE0D-15ED-F3CB-8B89-16954FA6643A}"/>
                  </a:ext>
                </a:extLst>
              </p:cNvPr>
              <p:cNvSpPr/>
              <p:nvPr/>
            </p:nvSpPr>
            <p:spPr>
              <a:xfrm>
                <a:off x="6355080" y="3200400"/>
                <a:ext cx="21488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自動把關</a:t>
                </a:r>
                <a:endParaRPr lang="en-US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" name="Text 15">
                <a:extLst>
                  <a:ext uri="{FF2B5EF4-FFF2-40B4-BE49-F238E27FC236}">
                    <a16:creationId xmlns:a16="http://schemas.microsoft.com/office/drawing/2014/main" id="{7A107E0E-85B1-A777-67C3-EAC7109C340E}"/>
                  </a:ext>
                </a:extLst>
              </p:cNvPr>
              <p:cNvSpPr/>
              <p:nvPr/>
            </p:nvSpPr>
            <p:spPr>
              <a:xfrm>
                <a:off x="6355080" y="3657600"/>
                <a:ext cx="21488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檢查格式與功能</a:t>
                </a:r>
                <a:endPara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2316CB81-7F54-10A1-B4B7-57AC5FEA96B3}"/>
                  </a:ext>
                </a:extLst>
              </p:cNvPr>
              <p:cNvSpPr/>
              <p:nvPr/>
            </p:nvSpPr>
            <p:spPr>
              <a:xfrm>
                <a:off x="8577072" y="2148840"/>
                <a:ext cx="448056" cy="21488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→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Shape 17">
                <a:extLst>
                  <a:ext uri="{FF2B5EF4-FFF2-40B4-BE49-F238E27FC236}">
                    <a16:creationId xmlns:a16="http://schemas.microsoft.com/office/drawing/2014/main" id="{10BA5908-B3D7-4928-BAA7-6E770A0E3C3B}"/>
                  </a:ext>
                </a:extLst>
              </p:cNvPr>
              <p:cNvSpPr/>
              <p:nvPr/>
            </p:nvSpPr>
            <p:spPr>
              <a:xfrm>
                <a:off x="9006840" y="2148840"/>
                <a:ext cx="2331720" cy="2148840"/>
              </a:xfrm>
              <a:prstGeom prst="rect">
                <a:avLst/>
              </a:prstGeom>
              <a:solidFill>
                <a:srgbClr val="D8C2AE"/>
              </a:solidFill>
              <a:ln/>
            </p:spPr>
          </p:sp>
          <p:sp>
            <p:nvSpPr>
              <p:cNvPr id="21" name="Text 18">
                <a:extLst>
                  <a:ext uri="{FF2B5EF4-FFF2-40B4-BE49-F238E27FC236}">
                    <a16:creationId xmlns:a16="http://schemas.microsoft.com/office/drawing/2014/main" id="{23FB2005-456E-4873-0C22-0ADDBCFE6F28}"/>
                  </a:ext>
                </a:extLst>
              </p:cNvPr>
              <p:cNvSpPr/>
              <p:nvPr/>
            </p:nvSpPr>
            <p:spPr>
              <a:xfrm>
                <a:off x="9006840" y="2404872"/>
                <a:ext cx="2331720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4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2" name="Text 19">
                <a:extLst>
                  <a:ext uri="{FF2B5EF4-FFF2-40B4-BE49-F238E27FC236}">
                    <a16:creationId xmlns:a16="http://schemas.microsoft.com/office/drawing/2014/main" id="{15DCF3DE-1B24-C5D8-5455-4EC16FC56B69}"/>
                  </a:ext>
                </a:extLst>
              </p:cNvPr>
              <p:cNvSpPr/>
              <p:nvPr/>
            </p:nvSpPr>
            <p:spPr>
              <a:xfrm>
                <a:off x="9098280" y="3200400"/>
                <a:ext cx="21488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過關才放行</a:t>
                </a:r>
                <a:endParaRPr lang="en-US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3" name="Text 20">
                <a:extLst>
                  <a:ext uri="{FF2B5EF4-FFF2-40B4-BE49-F238E27FC236}">
                    <a16:creationId xmlns:a16="http://schemas.microsoft.com/office/drawing/2014/main" id="{BCDBCDD9-AA67-6C6A-908C-E5944A057DB4}"/>
                  </a:ext>
                </a:extLst>
              </p:cNvPr>
              <p:cNvSpPr/>
              <p:nvPr/>
            </p:nvSpPr>
            <p:spPr>
              <a:xfrm>
                <a:off x="9098280" y="3657600"/>
                <a:ext cx="21488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沒過自動退回</a:t>
                </a:r>
                <a:endPara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24" name="Shape 93">
            <a:extLst>
              <a:ext uri="{FF2B5EF4-FFF2-40B4-BE49-F238E27FC236}">
                <a16:creationId xmlns:a16="http://schemas.microsoft.com/office/drawing/2014/main" id="{266DA5DB-74E7-3F8B-5856-369783B4A7D7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3428589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</a:t>
            </a:r>
            <a:r>
              <a:rPr lang="en-US" altLang="zh-TW" sz="32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是怎麼運作的</a:t>
            </a:r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altLang="zh-TW" sz="3200" dirty="0"/>
          </a:p>
        </p:txBody>
      </p:sp>
      <p:sp>
        <p:nvSpPr>
          <p:cNvPr id="25" name="統一章節標記">
            <a:extLst>
              <a:ext uri="{FF2B5EF4-FFF2-40B4-BE49-F238E27FC236}">
                <a16:creationId xmlns:a16="http://schemas.microsoft.com/office/drawing/2014/main" id="{4CE6FF97-FF96-843A-8B58-B1C2B7CAC5CD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3998FE5-344D-C7CC-0874-51E7931FCCE7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A0BDC5D2-92C8-4C9F-E716-810B3B550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D4A9B11D-91DF-69D1-9ADD-4B58FBA12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80" y="5838555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6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39014811-AA53-04B8-8660-A1CC8B4A3C23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蔡欣怡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C5E2E56-5584-0D32-DC7C-ECCF52530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" b="5291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9DE0FB2-B0E1-D574-1421-6535E90A041C}"/>
              </a:ext>
            </a:extLst>
          </p:cNvPr>
          <p:cNvSpPr/>
          <p:nvPr/>
        </p:nvSpPr>
        <p:spPr>
          <a:xfrm>
            <a:off x="777240" y="1371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20846952-4564-37E3-EB4B-FD229D35C749}"/>
              </a:ext>
            </a:extLst>
          </p:cNvPr>
          <p:cNvGrpSpPr/>
          <p:nvPr/>
        </p:nvGrpSpPr>
        <p:grpSpPr>
          <a:xfrm>
            <a:off x="778764" y="2057400"/>
            <a:ext cx="10634472" cy="3429000"/>
            <a:chOff x="777240" y="2057400"/>
            <a:chExt cx="10634472" cy="3429000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5DE2105-5372-DCFA-C867-3905730BBFF2}"/>
                </a:ext>
              </a:extLst>
            </p:cNvPr>
            <p:cNvSpPr/>
            <p:nvPr/>
          </p:nvSpPr>
          <p:spPr>
            <a:xfrm>
              <a:off x="777240" y="2057400"/>
              <a:ext cx="10634472" cy="16002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/>
          </p:spPr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5F148726-9097-A131-B779-78AE3192B9D0}"/>
                </a:ext>
              </a:extLst>
            </p:cNvPr>
            <p:cNvGrpSpPr/>
            <p:nvPr/>
          </p:nvGrpSpPr>
          <p:grpSpPr>
            <a:xfrm>
              <a:off x="777240" y="2057400"/>
              <a:ext cx="10634472" cy="3429000"/>
              <a:chOff x="777240" y="2057400"/>
              <a:chExt cx="10634472" cy="3429000"/>
            </a:xfrm>
          </p:grpSpPr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BD4BFA2D-50A1-E6C4-F4E5-C19C9A38E611}"/>
                  </a:ext>
                </a:extLst>
              </p:cNvPr>
              <p:cNvSpPr/>
              <p:nvPr/>
            </p:nvSpPr>
            <p:spPr>
              <a:xfrm>
                <a:off x="1097280" y="2057400"/>
                <a:ext cx="914400" cy="1600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1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8" name="Text 5">
                <a:extLst>
                  <a:ext uri="{FF2B5EF4-FFF2-40B4-BE49-F238E27FC236}">
                    <a16:creationId xmlns:a16="http://schemas.microsoft.com/office/drawing/2014/main" id="{62821997-4DF4-CF13-D7BD-835A8F5E487E}"/>
                  </a:ext>
                </a:extLst>
              </p:cNvPr>
              <p:cNvSpPr/>
              <p:nvPr/>
            </p:nvSpPr>
            <p:spPr>
              <a:xfrm>
                <a:off x="2194560" y="2221992"/>
                <a:ext cx="8897112" cy="708660"/>
              </a:xfrm>
              <a:prstGeom prst="rect">
                <a:avLst/>
              </a:prstGeom>
              <a:noFill/>
              <a:ln/>
            </p:spPr>
            <p:txBody>
              <a:bodyPr wrap="square" rtlCol="0" anchor="b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自動化,不用人盯</a:t>
                </a:r>
                <a:endParaRPr lang="en-US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AD7454EE-B1F6-AC91-C0E9-892FCA04A120}"/>
                  </a:ext>
                </a:extLst>
              </p:cNvPr>
              <p:cNvSpPr/>
              <p:nvPr/>
            </p:nvSpPr>
            <p:spPr>
              <a:xfrm>
                <a:off x="2194560" y="2811780"/>
                <a:ext cx="8897112" cy="7543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系統自己檢查、自己回報,工程師不用一直看著。  →  好處:省時間、省人力</a:t>
                </a:r>
                <a:endParaRPr 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0" name="Shape 7">
                <a:extLst>
                  <a:ext uri="{FF2B5EF4-FFF2-40B4-BE49-F238E27FC236}">
                    <a16:creationId xmlns:a16="http://schemas.microsoft.com/office/drawing/2014/main" id="{908CFDB5-D44B-2C4D-D359-6AAD7A74E3E5}"/>
                  </a:ext>
                </a:extLst>
              </p:cNvPr>
              <p:cNvSpPr/>
              <p:nvPr/>
            </p:nvSpPr>
            <p:spPr>
              <a:xfrm>
                <a:off x="777240" y="3886200"/>
                <a:ext cx="10634472" cy="1600200"/>
              </a:xfrm>
              <a:prstGeom prst="rect">
                <a:avLst/>
              </a:prstGeom>
              <a:solidFill>
                <a:srgbClr val="D8C2AE"/>
              </a:solidFill>
              <a:ln/>
            </p:spPr>
          </p:sp>
          <p:sp>
            <p:nvSpPr>
              <p:cNvPr id="11" name="Text 8">
                <a:extLst>
                  <a:ext uri="{FF2B5EF4-FFF2-40B4-BE49-F238E27FC236}">
                    <a16:creationId xmlns:a16="http://schemas.microsoft.com/office/drawing/2014/main" id="{59C98FF1-02A2-D7D7-28B8-2D1E6A8DA1A4}"/>
                  </a:ext>
                </a:extLst>
              </p:cNvPr>
              <p:cNvSpPr/>
              <p:nvPr/>
            </p:nvSpPr>
            <p:spPr>
              <a:xfrm>
                <a:off x="1097280" y="3886200"/>
                <a:ext cx="914400" cy="1600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2</a:t>
                </a:r>
                <a:endParaRPr 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44A971CD-4DEB-9C80-B471-2DE9912DEBC3}"/>
                  </a:ext>
                </a:extLst>
              </p:cNvPr>
              <p:cNvSpPr/>
              <p:nvPr/>
            </p:nvSpPr>
            <p:spPr>
              <a:xfrm>
                <a:off x="2194560" y="4050792"/>
                <a:ext cx="8897112" cy="708660"/>
              </a:xfrm>
              <a:prstGeom prst="rect">
                <a:avLst/>
              </a:prstGeom>
              <a:noFill/>
              <a:ln/>
            </p:spPr>
            <p:txBody>
              <a:bodyPr wrap="square" rtlCol="0" anchor="b"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292C28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及早抓錯,品質穩</a:t>
                </a:r>
                <a:endParaRPr lang="en-US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3" name="Text 10">
                <a:extLst>
                  <a:ext uri="{FF2B5EF4-FFF2-40B4-BE49-F238E27FC236}">
                    <a16:creationId xmlns:a16="http://schemas.microsoft.com/office/drawing/2014/main" id="{F21070C4-2C40-012D-57B4-734B88B0E848}"/>
                  </a:ext>
                </a:extLst>
              </p:cNvPr>
              <p:cNvSpPr/>
              <p:nvPr/>
            </p:nvSpPr>
            <p:spPr>
              <a:xfrm>
                <a:off x="2194560" y="4640580"/>
                <a:ext cx="8897112" cy="7543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每次改完就馬上檢查,問題早發現、早修。  →  好處:不會拖到最後才爆炸</a:t>
                </a:r>
                <a:endParaRPr 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16" name="Shape 93">
            <a:extLst>
              <a:ext uri="{FF2B5EF4-FFF2-40B4-BE49-F238E27FC236}">
                <a16:creationId xmlns:a16="http://schemas.microsoft.com/office/drawing/2014/main" id="{D1FAAFA2-B9E4-E471-8532-CB0628825EED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1678811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</a:t>
            </a:r>
            <a:r>
              <a:rPr lang="zh-TW" altLang="en-US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特點</a:t>
            </a:r>
            <a:endParaRPr lang="en-US" altLang="zh-TW" sz="3200" dirty="0"/>
          </a:p>
        </p:txBody>
      </p:sp>
      <p:sp>
        <p:nvSpPr>
          <p:cNvPr id="17" name="統一章節標記">
            <a:extLst>
              <a:ext uri="{FF2B5EF4-FFF2-40B4-BE49-F238E27FC236}">
                <a16:creationId xmlns:a16="http://schemas.microsoft.com/office/drawing/2014/main" id="{2225977F-7000-45C2-EE26-740790FC02B3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C948DE-3F09-41C0-D63A-B61CB6989D89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150FACB3-F622-E6C3-98C9-B57D330D3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0DA59AC7-6A48-8DD2-31F7-9E0A420DF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80" y="5838555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78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F5DF9EF2-8CFC-10DA-0971-16317D7EFEA4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蔡欣怡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AD83BF8-1438-6E8F-9349-FC72DA85F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" b="5291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0183A8E9-A11C-4D89-B913-A9882AA68E32}"/>
              </a:ext>
            </a:extLst>
          </p:cNvPr>
          <p:cNvGrpSpPr/>
          <p:nvPr/>
        </p:nvGrpSpPr>
        <p:grpSpPr>
          <a:xfrm>
            <a:off x="778764" y="1600200"/>
            <a:ext cx="10634472" cy="4023360"/>
            <a:chOff x="777240" y="1600200"/>
            <a:chExt cx="10634472" cy="4023360"/>
          </a:xfrm>
        </p:grpSpPr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F6FB874E-003F-BB58-A69C-2B3D3DF107FF}"/>
                </a:ext>
              </a:extLst>
            </p:cNvPr>
            <p:cNvSpPr/>
            <p:nvPr/>
          </p:nvSpPr>
          <p:spPr>
            <a:xfrm>
              <a:off x="777240" y="3520440"/>
              <a:ext cx="10634472" cy="2103120"/>
            </a:xfrm>
            <a:prstGeom prst="rect">
              <a:avLst/>
            </a:prstGeom>
            <a:solidFill>
              <a:srgbClr val="A66C4E"/>
            </a:solidFill>
            <a:ln/>
          </p:spPr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4B6556BB-DEFD-63B5-9FDF-600FD5872510}"/>
                </a:ext>
              </a:extLst>
            </p:cNvPr>
            <p:cNvGrpSpPr/>
            <p:nvPr/>
          </p:nvGrpSpPr>
          <p:grpSpPr>
            <a:xfrm>
              <a:off x="777240" y="1600200"/>
              <a:ext cx="10634472" cy="3840480"/>
              <a:chOff x="777240" y="1600200"/>
              <a:chExt cx="10634472" cy="3840480"/>
            </a:xfrm>
          </p:grpSpPr>
          <p:sp>
            <p:nvSpPr>
              <p:cNvPr id="5" name="Shape 2">
                <a:extLst>
                  <a:ext uri="{FF2B5EF4-FFF2-40B4-BE49-F238E27FC236}">
                    <a16:creationId xmlns:a16="http://schemas.microsoft.com/office/drawing/2014/main" id="{9C696352-2B58-FC5F-6197-CBA20A5A108B}"/>
                  </a:ext>
                </a:extLst>
              </p:cNvPr>
              <p:cNvSpPr/>
              <p:nvPr/>
            </p:nvSpPr>
            <p:spPr>
              <a:xfrm>
                <a:off x="777240" y="1600200"/>
                <a:ext cx="5212080" cy="1554480"/>
              </a:xfrm>
              <a:prstGeom prst="rect">
                <a:avLst/>
              </a:prstGeom>
              <a:solidFill>
                <a:srgbClr val="E7E0D3"/>
              </a:solidFill>
              <a:ln/>
            </p:spPr>
          </p:sp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E038FA1B-C5D3-C2FF-3187-A39849D482C9}"/>
                  </a:ext>
                </a:extLst>
              </p:cNvPr>
              <p:cNvSpPr/>
              <p:nvPr/>
            </p:nvSpPr>
            <p:spPr>
              <a:xfrm>
                <a:off x="1051560" y="1783080"/>
                <a:ext cx="4754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CI</a:t>
                </a:r>
                <a:r>
                  <a:rPr lang="en-US" sz="2200" b="1" dirty="0">
                    <a:solidFill>
                      <a:srgbClr val="A66C4E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  </a:t>
                </a:r>
                <a:r>
                  <a:rPr lang="en-US" sz="2000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持續整合</a:t>
                </a:r>
                <a:endParaRPr lang="en-US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6B36074B-FE34-75D6-8989-C7DD5CB7CA7F}"/>
                  </a:ext>
                </a:extLst>
              </p:cNvPr>
              <p:cNvSpPr/>
              <p:nvPr/>
            </p:nvSpPr>
            <p:spPr>
              <a:xfrm>
                <a:off x="1051560" y="2377440"/>
                <a:ext cx="47548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負責「自動檢查」程式有沒有問題</a:t>
                </a:r>
                <a:endParaRPr lang="en-US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8" name="Shape 5">
                <a:extLst>
                  <a:ext uri="{FF2B5EF4-FFF2-40B4-BE49-F238E27FC236}">
                    <a16:creationId xmlns:a16="http://schemas.microsoft.com/office/drawing/2014/main" id="{5BA51251-D4AB-EA4F-78F7-0E74DC8D27AF}"/>
                  </a:ext>
                </a:extLst>
              </p:cNvPr>
              <p:cNvSpPr/>
              <p:nvPr/>
            </p:nvSpPr>
            <p:spPr>
              <a:xfrm>
                <a:off x="6199632" y="1600200"/>
                <a:ext cx="5212080" cy="1554480"/>
              </a:xfrm>
              <a:prstGeom prst="rect">
                <a:avLst/>
              </a:prstGeom>
              <a:solidFill>
                <a:srgbClr val="E7E0D3"/>
              </a:solidFill>
              <a:ln/>
            </p:spPr>
          </p:sp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830D415C-EDDD-009C-E375-C9D0C315B7F8}"/>
                  </a:ext>
                </a:extLst>
              </p:cNvPr>
              <p:cNvSpPr/>
              <p:nvPr/>
            </p:nvSpPr>
            <p:spPr>
              <a:xfrm>
                <a:off x="6473952" y="1783080"/>
                <a:ext cx="4754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6F706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CD</a:t>
                </a:r>
                <a:r>
                  <a:rPr lang="en-US" sz="2200" b="1" dirty="0">
                    <a:solidFill>
                      <a:srgbClr val="6F706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Arial" pitchFamily="34" charset="-120"/>
                  </a:rPr>
                  <a:t>  </a:t>
                </a:r>
                <a:r>
                  <a:rPr lang="en-US" sz="2000" dirty="0" err="1">
                    <a:solidFill>
                      <a:srgbClr val="6F706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自動部署</a:t>
                </a:r>
                <a:endParaRPr lang="en-US" sz="22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D9926104-7EC1-7BA5-C44A-4E64A1F22F7F}"/>
                  </a:ext>
                </a:extLst>
              </p:cNvPr>
              <p:cNvSpPr/>
              <p:nvPr/>
            </p:nvSpPr>
            <p:spPr>
              <a:xfrm>
                <a:off x="6473952" y="2377440"/>
                <a:ext cx="47548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6F706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負責把程式</a:t>
                </a:r>
                <a:r>
                  <a:rPr lang="en-US" sz="1600" dirty="0">
                    <a:solidFill>
                      <a:srgbClr val="6F706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「自動送上線」</a:t>
                </a:r>
                <a:endParaRPr 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3FC92FA0-63E6-556F-648F-02DFAA310D08}"/>
                  </a:ext>
                </a:extLst>
              </p:cNvPr>
              <p:cNvSpPr/>
              <p:nvPr/>
            </p:nvSpPr>
            <p:spPr>
              <a:xfrm>
                <a:off x="1143000" y="3794760"/>
                <a:ext cx="457200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3E4DA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我們的選擇</a:t>
                </a:r>
                <a:endParaRPr lang="en-US" sz="15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3" name="Text 10">
                <a:extLst>
                  <a:ext uri="{FF2B5EF4-FFF2-40B4-BE49-F238E27FC236}">
                    <a16:creationId xmlns:a16="http://schemas.microsoft.com/office/drawing/2014/main" id="{DECC89C9-266F-FC91-7A31-F627CB099E3A}"/>
                  </a:ext>
                </a:extLst>
              </p:cNvPr>
              <p:cNvSpPr/>
              <p:nvPr/>
            </p:nvSpPr>
            <p:spPr>
              <a:xfrm>
                <a:off x="1143000" y="4251960"/>
                <a:ext cx="9966960" cy="11887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CD </a:t>
                </a:r>
                <a:r>
                  <a:rPr lang="en-US" sz="2400" b="1" dirty="0" err="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是直接把程式送上線</a:t>
                </a:r>
                <a:r>
                  <a:rPr lang="zh-TW" altLang="en-US" sz="2000" b="1" dirty="0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，</a:t>
                </a:r>
                <a:r>
                  <a:rPr lang="en-US" sz="2000" b="1" dirty="0" err="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風險比較高</a:t>
                </a:r>
                <a:r>
                  <a:rPr lang="en-US" sz="2000" b="1" dirty="0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。</a:t>
                </a:r>
                <a:endParaRPr lang="en-US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2000" b="1" dirty="0" err="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這次我們選擇先保留「人工確認」這一關</a:t>
                </a:r>
                <a:r>
                  <a:rPr lang="en-US" sz="2000" b="1" dirty="0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——</a:t>
                </a:r>
                <a:r>
                  <a:rPr lang="zh-TW" altLang="en-US" sz="2000" b="1" dirty="0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 </a:t>
                </a:r>
                <a:r>
                  <a:rPr lang="en-US" sz="2000" b="1" dirty="0" err="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確保驗證完整後再部署</a:t>
                </a:r>
                <a:r>
                  <a:rPr lang="zh-TW" altLang="en-US" sz="2000" b="1" dirty="0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，</a:t>
                </a:r>
                <a:r>
                  <a:rPr lang="en-US" sz="2000" b="1" dirty="0" err="1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更安全</a:t>
                </a:r>
                <a:r>
                  <a:rPr lang="en-US" sz="2000" b="1" dirty="0">
                    <a:solidFill>
                      <a:srgbClr val="FFFFF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 panose="020B0604030504040204" pitchFamily="34" charset="-120"/>
                  </a:rPr>
                  <a:t>。</a:t>
                </a:r>
                <a:endParaRPr lang="en-US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14" name="Shape 93">
            <a:extLst>
              <a:ext uri="{FF2B5EF4-FFF2-40B4-BE49-F238E27FC236}">
                <a16:creationId xmlns:a16="http://schemas.microsoft.com/office/drawing/2014/main" id="{DD024D2B-5E4E-7EC9-4984-EC2DBA18314B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4726811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32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這次為什麼先聚焦在</a:t>
            </a:r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CI?</a:t>
            </a:r>
            <a:endParaRPr lang="en-US" altLang="zh-TW" sz="3200" dirty="0"/>
          </a:p>
        </p:txBody>
      </p:sp>
      <p:sp>
        <p:nvSpPr>
          <p:cNvPr id="15" name="統一章節標記">
            <a:extLst>
              <a:ext uri="{FF2B5EF4-FFF2-40B4-BE49-F238E27FC236}">
                <a16:creationId xmlns:a16="http://schemas.microsoft.com/office/drawing/2014/main" id="{7A823128-83CB-9641-F9F4-6CB22055048B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8E2E0D8-9149-AD17-A36C-C76C6F9BDB09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32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3AF4B57D-80AE-9B9F-FA0D-B0F5E4EA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83059B3-E937-A626-08C4-4CF01605E6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80" y="5838555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59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1288D11F-2A3E-B9EB-1F4B-1575FF5F4118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蔡欣怡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941596E-4BDC-8297-AD8E-2F25B8B6F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" b="5291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487322C-8242-4337-813C-68E29C7C98D6}"/>
              </a:ext>
            </a:extLst>
          </p:cNvPr>
          <p:cNvSpPr/>
          <p:nvPr/>
        </p:nvSpPr>
        <p:spPr>
          <a:xfrm>
            <a:off x="81431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38B22BA-F2B4-A78F-1924-A94EBA61FC2D}"/>
              </a:ext>
            </a:extLst>
          </p:cNvPr>
          <p:cNvSpPr/>
          <p:nvPr/>
        </p:nvSpPr>
        <p:spPr>
          <a:xfrm>
            <a:off x="777240" y="3383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10948BD-D566-AD96-9A87-041F49490481}"/>
              </a:ext>
            </a:extLst>
          </p:cNvPr>
          <p:cNvSpPr/>
          <p:nvPr/>
        </p:nvSpPr>
        <p:spPr>
          <a:xfrm>
            <a:off x="777240" y="39776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A651358-B1BD-CF6F-EB2B-B109BEB34BCC}"/>
              </a:ext>
            </a:extLst>
          </p:cNvPr>
          <p:cNvSpPr/>
          <p:nvPr/>
        </p:nvSpPr>
        <p:spPr>
          <a:xfrm>
            <a:off x="850392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058C78A-48EF-16D6-30FB-B805D0577A99}"/>
              </a:ext>
            </a:extLst>
          </p:cNvPr>
          <p:cNvSpPr/>
          <p:nvPr/>
        </p:nvSpPr>
        <p:spPr>
          <a:xfrm>
            <a:off x="8503920" y="27432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69EDCCBE-F581-BDA3-8ADF-0548D1F8410A}"/>
              </a:ext>
            </a:extLst>
          </p:cNvPr>
          <p:cNvGrpSpPr/>
          <p:nvPr/>
        </p:nvGrpSpPr>
        <p:grpSpPr>
          <a:xfrm>
            <a:off x="1468297" y="1596413"/>
            <a:ext cx="9255407" cy="3665175"/>
            <a:chOff x="1240449" y="1980714"/>
            <a:chExt cx="9255407" cy="3665175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A4049ED0-8102-5CDE-9F06-1E2F79BC0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0449" y="1980714"/>
              <a:ext cx="9255407" cy="1422781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2F9C1B8D-D09F-BCC8-EBF7-BFA71A455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0449" y="4223108"/>
              <a:ext cx="9255406" cy="1422781"/>
            </a:xfrm>
            <a:prstGeom prst="rect">
              <a:avLst/>
            </a:prstGeom>
          </p:spPr>
        </p:pic>
      </p:grpSp>
      <p:sp>
        <p:nvSpPr>
          <p:cNvPr id="14" name="Shape 93">
            <a:extLst>
              <a:ext uri="{FF2B5EF4-FFF2-40B4-BE49-F238E27FC236}">
                <a16:creationId xmlns:a16="http://schemas.microsoft.com/office/drawing/2014/main" id="{1D99ACC1-0A65-77F8-12A5-AEAE6CC310AE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2390011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3200" b="1" dirty="0" err="1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實際的成果</a:t>
            </a:r>
            <a:r>
              <a:rPr lang="en-US" altLang="zh-TW" sz="3200" b="1" dirty="0">
                <a:solidFill>
                  <a:srgbClr val="292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altLang="zh-TW" sz="3200" dirty="0"/>
          </a:p>
        </p:txBody>
      </p:sp>
      <p:sp>
        <p:nvSpPr>
          <p:cNvPr id="15" name="統一章節標記">
            <a:extLst>
              <a:ext uri="{FF2B5EF4-FFF2-40B4-BE49-F238E27FC236}">
                <a16:creationId xmlns:a16="http://schemas.microsoft.com/office/drawing/2014/main" id="{A2D1565D-7AA8-7DE5-8119-D9C0D5831FAC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7EEED2D-82F4-E712-31F4-F2EA6187A0DA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33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DAB34FC-2396-4723-1739-E000461947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9B3193C-6B5B-3E07-5140-1D8769C5BA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80" y="5838555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99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3DF6-8DCB-2247-B5AF-B778ADB1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22DE2BED-D954-2447-F4D0-ED5C77CE6128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蔡欣怡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4DADA40-8323-EE68-0359-59D9DF529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" b="5291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2557C00-24B9-EBDB-9531-3EF7ED7A02A6}"/>
              </a:ext>
            </a:extLst>
          </p:cNvPr>
          <p:cNvSpPr/>
          <p:nvPr/>
        </p:nvSpPr>
        <p:spPr>
          <a:xfrm>
            <a:off x="77724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6C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一句話帶走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89C760-14DA-B942-6285-3D23487CB85E}"/>
              </a:ext>
            </a:extLst>
          </p:cNvPr>
          <p:cNvSpPr/>
          <p:nvPr/>
        </p:nvSpPr>
        <p:spPr>
          <a:xfrm>
            <a:off x="73152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92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</a:t>
            </a:r>
            <a:r>
              <a:rPr lang="en-US" sz="3200" b="1" dirty="0">
                <a:solidFill>
                  <a:srgbClr val="A66C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自動品管員</a:t>
            </a:r>
            <a:endParaRPr lang="en-US" sz="320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31442DC-BF2C-F65A-AE60-4418F79467A3}"/>
              </a:ext>
            </a:extLst>
          </p:cNvPr>
          <p:cNvGrpSpPr/>
          <p:nvPr/>
        </p:nvGrpSpPr>
        <p:grpSpPr>
          <a:xfrm>
            <a:off x="777240" y="3383280"/>
            <a:ext cx="7315200" cy="1828800"/>
            <a:chOff x="777240" y="3383280"/>
            <a:chExt cx="7315200" cy="182880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4A6F3149-28E4-767D-C49C-767249227F1C}"/>
                </a:ext>
              </a:extLst>
            </p:cNvPr>
            <p:cNvSpPr/>
            <p:nvPr/>
          </p:nvSpPr>
          <p:spPr>
            <a:xfrm>
              <a:off x="777240" y="3383280"/>
              <a:ext cx="2286000" cy="1828800"/>
            </a:xfrm>
            <a:prstGeom prst="rect">
              <a:avLst/>
            </a:prstGeom>
            <a:solidFill>
              <a:srgbClr val="E7E0D3"/>
            </a:solidFill>
            <a:ln/>
          </p:spPr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10EDAF91-6641-8E2B-25DD-2918F4F8187B}"/>
                </a:ext>
              </a:extLst>
            </p:cNvPr>
            <p:cNvSpPr/>
            <p:nvPr/>
          </p:nvSpPr>
          <p:spPr>
            <a:xfrm>
              <a:off x="777240" y="3749040"/>
              <a:ext cx="22860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92C28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省人力</a:t>
              </a:r>
              <a:endParaRPr lang="en-US" sz="28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9C6D26F3-8F12-CAC3-4960-BBE223AE379A}"/>
                </a:ext>
              </a:extLst>
            </p:cNvPr>
            <p:cNvSpPr/>
            <p:nvPr/>
          </p:nvSpPr>
          <p:spPr>
            <a:xfrm>
              <a:off x="914400" y="438912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600" dirty="0">
                  <a:solidFill>
                    <a:srgbClr val="5D493D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不用人一直盯</a:t>
              </a:r>
              <a:endParaRPr lang="en-US" sz="1600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56DC3D77-EA07-A67B-8403-177D2D10A98D}"/>
                </a:ext>
              </a:extLst>
            </p:cNvPr>
            <p:cNvSpPr/>
            <p:nvPr/>
          </p:nvSpPr>
          <p:spPr>
            <a:xfrm>
              <a:off x="3291840" y="3383280"/>
              <a:ext cx="2286000" cy="1828800"/>
            </a:xfrm>
            <a:prstGeom prst="rect">
              <a:avLst/>
            </a:prstGeom>
            <a:solidFill>
              <a:srgbClr val="D8C2AE"/>
            </a:solidFill>
            <a:ln/>
          </p:spPr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13A7B803-B846-2491-D2E7-36467D2290F3}"/>
                </a:ext>
              </a:extLst>
            </p:cNvPr>
            <p:cNvSpPr/>
            <p:nvPr/>
          </p:nvSpPr>
          <p:spPr>
            <a:xfrm>
              <a:off x="3291840" y="3749040"/>
              <a:ext cx="22860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92C28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少出錯</a:t>
              </a:r>
              <a:endParaRPr lang="en-US" sz="28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DC0E367C-FFC6-1EBA-DCCF-621ABED8DBA0}"/>
                </a:ext>
              </a:extLst>
            </p:cNvPr>
            <p:cNvSpPr/>
            <p:nvPr/>
          </p:nvSpPr>
          <p:spPr>
            <a:xfrm>
              <a:off x="3429000" y="438912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600" dirty="0">
                  <a:solidFill>
                    <a:srgbClr val="5D493D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問題早發現早修</a:t>
              </a:r>
              <a:endParaRPr lang="en-US" sz="16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A834B014-C752-3326-89CB-768D0F0BCF7C}"/>
                </a:ext>
              </a:extLst>
            </p:cNvPr>
            <p:cNvSpPr/>
            <p:nvPr/>
          </p:nvSpPr>
          <p:spPr>
            <a:xfrm>
              <a:off x="5806440" y="3383280"/>
              <a:ext cx="2286000" cy="1828800"/>
            </a:xfrm>
            <a:prstGeom prst="rect">
              <a:avLst/>
            </a:prstGeom>
            <a:solidFill>
              <a:srgbClr val="E7E0D3"/>
            </a:solidFill>
            <a:ln/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CD9481D-A54C-BCCA-A69F-A1D7A5528E9D}"/>
                </a:ext>
              </a:extLst>
            </p:cNvPr>
            <p:cNvSpPr/>
            <p:nvPr/>
          </p:nvSpPr>
          <p:spPr>
            <a:xfrm>
              <a:off x="5806440" y="3749040"/>
              <a:ext cx="22860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92C28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品質一致</a:t>
              </a:r>
              <a:endParaRPr lang="en-US" sz="28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18F2744C-7927-BDE0-3545-0201A9196355}"/>
                </a:ext>
              </a:extLst>
            </p:cNvPr>
            <p:cNvSpPr/>
            <p:nvPr/>
          </p:nvSpPr>
          <p:spPr>
            <a:xfrm>
              <a:off x="5943600" y="438912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1600" dirty="0">
                  <a:solidFill>
                    <a:srgbClr val="5D493D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每次照同樣標準檢查</a:t>
              </a:r>
              <a:endParaRPr lang="en-US" sz="1600" dirty="0"/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B390151-487F-4E26-B7B5-3D2B2BDDB895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34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3A6D8519-989D-5B94-134A-8D53A6977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12194E7A-5D73-9A62-7C24-69CB6DEA4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13" y="5881038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534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1">
            <a:extLst>
              <a:ext uri="{FF2B5EF4-FFF2-40B4-BE49-F238E27FC236}">
                <a16:creationId xmlns:a16="http://schemas.microsoft.com/office/drawing/2014/main" id="{920136F7-BB92-449F-7A79-BC533221B6E2}"/>
              </a:ext>
            </a:extLst>
          </p:cNvPr>
          <p:cNvSpPr/>
          <p:nvPr/>
        </p:nvSpPr>
        <p:spPr>
          <a:xfrm>
            <a:off x="674511" y="3062071"/>
            <a:ext cx="5963356" cy="57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單一</a:t>
            </a:r>
            <a:r>
              <a:rPr lang="en-US" sz="28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Cloud VPN</a:t>
            </a:r>
            <a:r>
              <a:rPr lang="zh-TW" altLang="en-US" sz="2800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雲端部署方案</a:t>
            </a:r>
            <a:endParaRPr sz="28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" name="Google Shape;23;p1">
            <a:extLst>
              <a:ext uri="{FF2B5EF4-FFF2-40B4-BE49-F238E27FC236}">
                <a16:creationId xmlns:a16="http://schemas.microsoft.com/office/drawing/2014/main" id="{07064B97-B363-DB53-CEDB-39444EC5F7C5}"/>
              </a:ext>
            </a:extLst>
          </p:cNvPr>
          <p:cNvSpPr/>
          <p:nvPr/>
        </p:nvSpPr>
        <p:spPr>
          <a:xfrm>
            <a:off x="674511" y="4061133"/>
            <a:ext cx="7692620" cy="986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TW" altLang="en-US"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Noto Sans TC"/>
              </a:rPr>
              <a:t>核心結論</a:t>
            </a:r>
            <a:endParaRPr lang="en-US" altLang="zh-TW" sz="2000" b="1" dirty="0">
              <a:solidFill>
                <a:srgbClr val="3D8D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Noto Sans TC"/>
            </a:endParaRPr>
          </a:p>
          <a:p>
            <a:r>
              <a:rPr lang="zh-TW" altLang="en-US"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Noto Sans TC"/>
              </a:rPr>
              <a:t>採納「雲端應用 </a:t>
            </a:r>
            <a:r>
              <a:rPr lang="en-US" altLang="zh-TW"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Noto Sans TC"/>
              </a:rPr>
              <a:t>+ </a:t>
            </a:r>
            <a:r>
              <a:rPr lang="zh-TW" altLang="en-US"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Noto Sans TC"/>
              </a:rPr>
              <a:t>地端資料庫」混合架構，確保 </a:t>
            </a:r>
            <a:r>
              <a:rPr lang="en-US" altLang="zh-TW"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Noto Sans TC"/>
              </a:rPr>
              <a:t>LINE </a:t>
            </a:r>
            <a:r>
              <a:rPr lang="zh-TW" altLang="en-US"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Noto Sans TC"/>
              </a:rPr>
              <a:t>服務不中斷，同時資料主權 </a:t>
            </a:r>
            <a:r>
              <a:rPr lang="en-US" altLang="zh-TW"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Noto Sans TC"/>
              </a:rPr>
              <a:t>100% </a:t>
            </a:r>
            <a:r>
              <a:rPr lang="zh-TW" altLang="en-US" sz="2000" b="1" dirty="0">
                <a:solidFill>
                  <a:srgbClr val="3D8D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Noto Sans TC"/>
              </a:rPr>
              <a:t>保留在地端。</a:t>
            </a:r>
            <a:endParaRPr lang="zh-TW" altLang="en-US" sz="2000" b="1" dirty="0">
              <a:solidFill>
                <a:srgbClr val="3D8D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Arial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C7F9E62-8E27-467A-833C-D96DF7A10C8F}"/>
              </a:ext>
            </a:extLst>
          </p:cNvPr>
          <p:cNvGrpSpPr/>
          <p:nvPr/>
        </p:nvGrpSpPr>
        <p:grpSpPr>
          <a:xfrm>
            <a:off x="8367545" y="1908564"/>
            <a:ext cx="3384187" cy="3850004"/>
            <a:chOff x="8096400" y="1102792"/>
            <a:chExt cx="2952000" cy="3428280"/>
          </a:xfrm>
        </p:grpSpPr>
        <p:sp>
          <p:nvSpPr>
            <p:cNvPr id="5" name="Google Shape;24;p1">
              <a:extLst>
                <a:ext uri="{FF2B5EF4-FFF2-40B4-BE49-F238E27FC236}">
                  <a16:creationId xmlns:a16="http://schemas.microsoft.com/office/drawing/2014/main" id="{AB0CEA7F-7531-55E5-8CFF-E13B0E601FEF}"/>
                </a:ext>
              </a:extLst>
            </p:cNvPr>
            <p:cNvSpPr/>
            <p:nvPr/>
          </p:nvSpPr>
          <p:spPr>
            <a:xfrm>
              <a:off x="8096400" y="1102792"/>
              <a:ext cx="2952000" cy="3428280"/>
            </a:xfrm>
            <a:prstGeom prst="roundRect">
              <a:avLst>
                <a:gd name="adj" fmla="val 3871"/>
              </a:avLst>
            </a:prstGeom>
            <a:solidFill>
              <a:srgbClr val="F5DFD6"/>
            </a:solidFill>
            <a:ln w="9525" cap="flat" cmpd="sng">
              <a:solidFill>
                <a:srgbClr val="D9825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6" name="Google Shape;25;p1">
              <a:extLst>
                <a:ext uri="{FF2B5EF4-FFF2-40B4-BE49-F238E27FC236}">
                  <a16:creationId xmlns:a16="http://schemas.microsoft.com/office/drawing/2014/main" id="{1E78D53C-2E1E-33F0-2DB0-AE2A93EA0919}"/>
                </a:ext>
              </a:extLst>
            </p:cNvPr>
            <p:cNvSpPr/>
            <p:nvPr/>
          </p:nvSpPr>
          <p:spPr>
            <a:xfrm>
              <a:off x="8572679" y="1380766"/>
              <a:ext cx="1999440" cy="399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 err="1">
                  <a:solidFill>
                    <a:srgbClr val="D9825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雲端</a:t>
              </a:r>
              <a:endParaRPr sz="28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7" name="Google Shape;26;p1">
              <a:extLst>
                <a:ext uri="{FF2B5EF4-FFF2-40B4-BE49-F238E27FC236}">
                  <a16:creationId xmlns:a16="http://schemas.microsoft.com/office/drawing/2014/main" id="{67A427D7-D9BF-B187-D401-0EDDEFCFEE8D}"/>
                </a:ext>
              </a:extLst>
            </p:cNvPr>
            <p:cNvSpPr/>
            <p:nvPr/>
          </p:nvSpPr>
          <p:spPr>
            <a:xfrm>
              <a:off x="8572679" y="1885395"/>
              <a:ext cx="1999440" cy="780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3B302C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Cloud Run</a:t>
              </a:r>
              <a:endParaRPr sz="28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 err="1">
                  <a:solidFill>
                    <a:srgbClr val="3B302C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應用與服務</a:t>
              </a:r>
              <a:endParaRPr sz="28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8" name="Google Shape;27;p1">
              <a:extLst>
                <a:ext uri="{FF2B5EF4-FFF2-40B4-BE49-F238E27FC236}">
                  <a16:creationId xmlns:a16="http://schemas.microsoft.com/office/drawing/2014/main" id="{BBBD9F13-FCB8-9C02-1001-C9A6557040FF}"/>
                </a:ext>
              </a:extLst>
            </p:cNvPr>
            <p:cNvSpPr/>
            <p:nvPr/>
          </p:nvSpPr>
          <p:spPr>
            <a:xfrm>
              <a:off x="9143999" y="2771265"/>
              <a:ext cx="856440" cy="513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70AD47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⇅</a:t>
              </a:r>
              <a:endParaRPr sz="28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9" name="Google Shape;28;p1">
              <a:extLst>
                <a:ext uri="{FF2B5EF4-FFF2-40B4-BE49-F238E27FC236}">
                  <a16:creationId xmlns:a16="http://schemas.microsoft.com/office/drawing/2014/main" id="{5A8DD076-D709-95D9-675E-7EAC6F0472B7}"/>
                </a:ext>
              </a:extLst>
            </p:cNvPr>
            <p:cNvSpPr/>
            <p:nvPr/>
          </p:nvSpPr>
          <p:spPr>
            <a:xfrm>
              <a:off x="8572679" y="3390374"/>
              <a:ext cx="1999440" cy="342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地端</a:t>
              </a:r>
              <a:endParaRPr sz="28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0" name="Google Shape;29;p1">
              <a:extLst>
                <a:ext uri="{FF2B5EF4-FFF2-40B4-BE49-F238E27FC236}">
                  <a16:creationId xmlns:a16="http://schemas.microsoft.com/office/drawing/2014/main" id="{D7B3CD12-EFE2-4004-F61A-E2B80995C9EB}"/>
                </a:ext>
              </a:extLst>
            </p:cNvPr>
            <p:cNvSpPr/>
            <p:nvPr/>
          </p:nvSpPr>
          <p:spPr>
            <a:xfrm>
              <a:off x="8572679" y="3838125"/>
              <a:ext cx="1999440" cy="32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3B302C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NAS MySQL</a:t>
              </a:r>
              <a:endParaRPr sz="28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11" name="Google Shape;30;p1">
            <a:extLst>
              <a:ext uri="{FF2B5EF4-FFF2-40B4-BE49-F238E27FC236}">
                <a16:creationId xmlns:a16="http://schemas.microsoft.com/office/drawing/2014/main" id="{68578C7E-3443-69C3-0103-B41CCD3AFDC6}"/>
              </a:ext>
            </a:extLst>
          </p:cNvPr>
          <p:cNvSpPr/>
          <p:nvPr/>
        </p:nvSpPr>
        <p:spPr>
          <a:xfrm>
            <a:off x="723960" y="6114960"/>
            <a:ext cx="619056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2" name="Shape 93">
            <a:extLst>
              <a:ext uri="{FF2B5EF4-FFF2-40B4-BE49-F238E27FC236}">
                <a16:creationId xmlns:a16="http://schemas.microsoft.com/office/drawing/2014/main" id="{F468FE59-B85A-FFDE-1E65-01B2C00D7A83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4" name="Shape 94">
            <a:extLst>
              <a:ext uri="{FF2B5EF4-FFF2-40B4-BE49-F238E27FC236}">
                <a16:creationId xmlns:a16="http://schemas.microsoft.com/office/drawing/2014/main" id="{D06592F4-FEB1-450D-DF80-672A83ED5257}"/>
              </a:ext>
            </a:extLst>
          </p:cNvPr>
          <p:cNvSpPr>
            <a:spLocks noGrp="1"/>
          </p:cNvSpPr>
          <p:nvPr/>
        </p:nvSpPr>
        <p:spPr>
          <a:xfrm>
            <a:off x="685800" y="3822586"/>
            <a:ext cx="6087533" cy="21960"/>
          </a:xfrm>
          <a:prstGeom prst="line">
            <a:avLst/>
          </a:prstGeom>
          <a:ln w="25400">
            <a:solidFill>
              <a:srgbClr val="A66C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sp>
        <p:nvSpPr>
          <p:cNvPr id="15" name="Shape 93">
            <a:extLst>
              <a:ext uri="{FF2B5EF4-FFF2-40B4-BE49-F238E27FC236}">
                <a16:creationId xmlns:a16="http://schemas.microsoft.com/office/drawing/2014/main" id="{06491FAD-28C7-C362-5291-09B8E13517DA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5155789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en-US" altLang="zh-TW" sz="3200" b="1" dirty="0">
                <a:solidFill>
                  <a:srgbClr val="D982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CLOUD RUN × </a:t>
            </a:r>
            <a:r>
              <a:rPr lang="zh-TW" altLang="en-US" sz="3200" b="1" dirty="0">
                <a:solidFill>
                  <a:srgbClr val="D982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地端 </a:t>
            </a:r>
            <a:r>
              <a:rPr lang="en-US" altLang="zh-TW" sz="3200" b="1" dirty="0">
                <a:solidFill>
                  <a:srgbClr val="D982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NAS</a:t>
            </a:r>
            <a:endParaRPr lang="en-US" altLang="zh-TW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6" name="統一章節標記">
            <a:extLst>
              <a:ext uri="{FF2B5EF4-FFF2-40B4-BE49-F238E27FC236}">
                <a16:creationId xmlns:a16="http://schemas.microsoft.com/office/drawing/2014/main" id="{C15654DF-1D45-49E1-075C-6F7A8F36962D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4CF57B55-3186-87EA-BA48-EDFA10F9B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5DB77127-0C62-E6E2-D99F-47004F8BF8ED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35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99F31F4B-C4D5-0825-4437-42D8FB32C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BBA33DF0-36FB-8A68-8AE6-6ED35B4AE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74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;p2">
            <a:extLst>
              <a:ext uri="{FF2B5EF4-FFF2-40B4-BE49-F238E27FC236}">
                <a16:creationId xmlns:a16="http://schemas.microsoft.com/office/drawing/2014/main" id="{3667ACB7-A7C6-BE43-85A6-F1A35A3DE379}"/>
              </a:ext>
            </a:extLst>
          </p:cNvPr>
          <p:cNvSpPr/>
          <p:nvPr/>
        </p:nvSpPr>
        <p:spPr>
          <a:xfrm>
            <a:off x="764391" y="1259145"/>
            <a:ext cx="8402187" cy="34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strike="noStrik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在規劃工會系統部署架構的三項核心維護原則，成爲本次架構決策關鍵因素</a:t>
            </a:r>
            <a:r>
              <a:rPr lang="en-US" b="0" strike="noStrik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。</a:t>
            </a:r>
            <a:endParaRPr b="0" strike="noStrik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DDDBCF89-202F-F9A2-8ADD-977D981C82F1}"/>
              </a:ext>
            </a:extLst>
          </p:cNvPr>
          <p:cNvGrpSpPr/>
          <p:nvPr/>
        </p:nvGrpSpPr>
        <p:grpSpPr>
          <a:xfrm>
            <a:off x="661735" y="1966319"/>
            <a:ext cx="10868529" cy="2654508"/>
            <a:chOff x="496073" y="2199715"/>
            <a:chExt cx="10868529" cy="2654508"/>
          </a:xfrm>
        </p:grpSpPr>
        <p:pic>
          <p:nvPicPr>
            <p:cNvPr id="5" name="Google Shape;42;p2" descr="preencoded.png">
              <a:extLst>
                <a:ext uri="{FF2B5EF4-FFF2-40B4-BE49-F238E27FC236}">
                  <a16:creationId xmlns:a16="http://schemas.microsoft.com/office/drawing/2014/main" id="{6E93955C-FB04-E6A2-DF8F-E7468B561F0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96073" y="2199715"/>
              <a:ext cx="3512561" cy="2654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43;p2">
              <a:extLst>
                <a:ext uri="{FF2B5EF4-FFF2-40B4-BE49-F238E27FC236}">
                  <a16:creationId xmlns:a16="http://schemas.microsoft.com/office/drawing/2014/main" id="{314150B4-7915-0FC6-9111-2D6E6C5AE3F3}"/>
                </a:ext>
              </a:extLst>
            </p:cNvPr>
            <p:cNvSpPr/>
            <p:nvPr/>
          </p:nvSpPr>
          <p:spPr>
            <a:xfrm>
              <a:off x="756712" y="2384032"/>
              <a:ext cx="3067200" cy="7204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原則</a:t>
              </a:r>
              <a:r>
                <a:rPr lang="en-US" b="1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一：LINE</a:t>
              </a:r>
              <a:r>
                <a:rPr lang="en-US" b="1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b="1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Bot服務不中斷</a:t>
              </a:r>
              <a:endParaRPr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7" name="Google Shape;44;p2">
              <a:extLst>
                <a:ext uri="{FF2B5EF4-FFF2-40B4-BE49-F238E27FC236}">
                  <a16:creationId xmlns:a16="http://schemas.microsoft.com/office/drawing/2014/main" id="{8CC2B036-73D8-92D2-C5EF-718AA32A6320}"/>
                </a:ext>
              </a:extLst>
            </p:cNvPr>
            <p:cNvSpPr/>
            <p:nvPr/>
          </p:nvSpPr>
          <p:spPr>
            <a:xfrm>
              <a:off x="756712" y="3000351"/>
              <a:ext cx="3067200" cy="16526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辦公室停電、斷網或電腦誤關機，會導致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LINE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官方帳號漏接訊息。工會服務對象為廣大會員，任何服務中斷均直接影響會員權益與信任度，不可接受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。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8" name="Google Shape;45;p2" descr="preencoded.png">
              <a:extLst>
                <a:ext uri="{FF2B5EF4-FFF2-40B4-BE49-F238E27FC236}">
                  <a16:creationId xmlns:a16="http://schemas.microsoft.com/office/drawing/2014/main" id="{D1226842-FFDC-6E58-2274-7BDFF26FFCC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174297" y="2199715"/>
              <a:ext cx="3512561" cy="2654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46;p2">
              <a:extLst>
                <a:ext uri="{FF2B5EF4-FFF2-40B4-BE49-F238E27FC236}">
                  <a16:creationId xmlns:a16="http://schemas.microsoft.com/office/drawing/2014/main" id="{676474E6-66BD-937E-F733-068075BF40FC}"/>
                </a:ext>
              </a:extLst>
            </p:cNvPr>
            <p:cNvSpPr/>
            <p:nvPr/>
          </p:nvSpPr>
          <p:spPr>
            <a:xfrm>
              <a:off x="4434456" y="2384033"/>
              <a:ext cx="3067500" cy="51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原則</a:t>
              </a:r>
              <a:r>
                <a:rPr lang="en-US" b="1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二：敏感帳務與會員資料的資安防護</a:t>
              </a:r>
              <a:endParaRPr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0" name="Google Shape;47;p2">
              <a:extLst>
                <a:ext uri="{FF2B5EF4-FFF2-40B4-BE49-F238E27FC236}">
                  <a16:creationId xmlns:a16="http://schemas.microsoft.com/office/drawing/2014/main" id="{F3088370-B341-9333-39E6-874851BB33F7}"/>
                </a:ext>
              </a:extLst>
            </p:cNvPr>
            <p:cNvSpPr/>
            <p:nvPr/>
          </p:nvSpPr>
          <p:spPr>
            <a:xfrm>
              <a:off x="4434456" y="3000351"/>
              <a:ext cx="3067500" cy="13345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嚴格的資料主權要求，財務與個資不宜直接裸露於公網雲端資料庫。工會依法對會員個人資料負有保管責任，資料外洩風險不可承擔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。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11" name="Google Shape;48;p2" descr="preencoded.png">
              <a:extLst>
                <a:ext uri="{FF2B5EF4-FFF2-40B4-BE49-F238E27FC236}">
                  <a16:creationId xmlns:a16="http://schemas.microsoft.com/office/drawing/2014/main" id="{9E65F31B-B8F5-B72A-0BB7-CA1C58C6C61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852041" y="2199715"/>
              <a:ext cx="3512561" cy="2654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49;p2">
              <a:extLst>
                <a:ext uri="{FF2B5EF4-FFF2-40B4-BE49-F238E27FC236}">
                  <a16:creationId xmlns:a16="http://schemas.microsoft.com/office/drawing/2014/main" id="{EEBC36EC-1276-E317-FD93-809B7BF91841}"/>
                </a:ext>
              </a:extLst>
            </p:cNvPr>
            <p:cNvSpPr/>
            <p:nvPr/>
          </p:nvSpPr>
          <p:spPr>
            <a:xfrm>
              <a:off x="8112680" y="2384033"/>
              <a:ext cx="3067200" cy="25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原則</a:t>
              </a:r>
              <a:r>
                <a:rPr lang="en-US" b="1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三：硬體與維運成本控制</a:t>
              </a:r>
              <a:endParaRPr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3" name="Google Shape;50;p2">
              <a:extLst>
                <a:ext uri="{FF2B5EF4-FFF2-40B4-BE49-F238E27FC236}">
                  <a16:creationId xmlns:a16="http://schemas.microsoft.com/office/drawing/2014/main" id="{148E9906-A7B9-DBBA-D717-21F0C2DAF7D9}"/>
                </a:ext>
              </a:extLst>
            </p:cNvPr>
            <p:cNvSpPr/>
            <p:nvPr/>
          </p:nvSpPr>
          <p:spPr>
            <a:xfrm>
              <a:off x="8112680" y="2996566"/>
              <a:ext cx="3067200" cy="13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在地端運行高規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AI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模型硬體成本極高；若雲端資料庫突發流量費用不可控。需在服務品質與總擁有成本（TCO）之間取得最佳平衡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。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32" name="Shape 93">
            <a:extLst>
              <a:ext uri="{FF2B5EF4-FFF2-40B4-BE49-F238E27FC236}">
                <a16:creationId xmlns:a16="http://schemas.microsoft.com/office/drawing/2014/main" id="{C9D4E1F4-927C-4E28-C2F5-3CE699DB4F88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8073126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>
              <a:lnSpc>
                <a:spcPct val="104000"/>
              </a:lnSpc>
            </a:pPr>
            <a:r>
              <a:rPr lang="zh-TW" altLang="en-US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部署決策的兩難：數據隱私 </a:t>
            </a:r>
            <a:r>
              <a:rPr lang="en-US" altLang="zh-TW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vs. </a:t>
            </a:r>
            <a:r>
              <a:rPr lang="zh-TW" altLang="en-US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服務可用性</a:t>
            </a:r>
            <a:endParaRPr lang="zh-TW" altLang="en-US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3" name="統一章節標記">
            <a:extLst>
              <a:ext uri="{FF2B5EF4-FFF2-40B4-BE49-F238E27FC236}">
                <a16:creationId xmlns:a16="http://schemas.microsoft.com/office/drawing/2014/main" id="{39BC1BA4-B418-9572-E29A-2F64EF906450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5B53869-FE9B-FF44-AA4F-326CB90F338D}"/>
              </a:ext>
            </a:extLst>
          </p:cNvPr>
          <p:cNvGrpSpPr/>
          <p:nvPr/>
        </p:nvGrpSpPr>
        <p:grpSpPr>
          <a:xfrm>
            <a:off x="724260" y="4975660"/>
            <a:ext cx="10743480" cy="990000"/>
            <a:chOff x="612833" y="4986910"/>
            <a:chExt cx="10743480" cy="990000"/>
          </a:xfrm>
        </p:grpSpPr>
        <p:sp>
          <p:nvSpPr>
            <p:cNvPr id="34" name="Google Shape;100;p5">
              <a:extLst>
                <a:ext uri="{FF2B5EF4-FFF2-40B4-BE49-F238E27FC236}">
                  <a16:creationId xmlns:a16="http://schemas.microsoft.com/office/drawing/2014/main" id="{6377159B-36A9-9BA8-364D-6DAA28E372F0}"/>
                </a:ext>
              </a:extLst>
            </p:cNvPr>
            <p:cNvSpPr/>
            <p:nvPr/>
          </p:nvSpPr>
          <p:spPr>
            <a:xfrm>
              <a:off x="612833" y="4986910"/>
              <a:ext cx="10743480" cy="990000"/>
            </a:xfrm>
            <a:prstGeom prst="roundRect">
              <a:avLst>
                <a:gd name="adj" fmla="val 11538"/>
              </a:avLst>
            </a:prstGeom>
            <a:solidFill>
              <a:srgbClr val="F5DFD6"/>
            </a:solidFill>
            <a:ln w="9525" cap="flat" cmpd="sng">
              <a:solidFill>
                <a:srgbClr val="C950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01;p5">
              <a:extLst>
                <a:ext uri="{FF2B5EF4-FFF2-40B4-BE49-F238E27FC236}">
                  <a16:creationId xmlns:a16="http://schemas.microsoft.com/office/drawing/2014/main" id="{0DC74A2E-3496-8D93-1669-9B4E81914A1C}"/>
                </a:ext>
              </a:extLst>
            </p:cNvPr>
            <p:cNvSpPr/>
            <p:nvPr/>
          </p:nvSpPr>
          <p:spPr>
            <a:xfrm>
              <a:off x="755573" y="5062832"/>
              <a:ext cx="10458001" cy="839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lvl="0">
                <a:lnSpc>
                  <a:spcPct val="133000"/>
                </a:lnSpc>
              </a:pPr>
              <a:r>
                <a:rPr lang="zh-TW" altLang="en-US" sz="2000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提升可用性往往需要雲端化，但雲端化又引發資安疑慮；強化地端資安則增加硬體成本與維運複雜度。</a:t>
              </a:r>
              <a:r>
                <a:rPr lang="zh-TW" altLang="en-US" sz="2000" dirty="0">
                  <a:solidFill>
                    <a:srgbClr val="FF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混合架構正是破解此三角困境的關鍵。</a:t>
              </a:r>
              <a:endParaRPr lang="zh-TW" altLang="en-US" sz="2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Shape 93">
            <a:extLst>
              <a:ext uri="{FF2B5EF4-FFF2-40B4-BE49-F238E27FC236}">
                <a16:creationId xmlns:a16="http://schemas.microsoft.com/office/drawing/2014/main" id="{803D0216-D1B1-48DA-7062-0204E7F959D1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9913F27-9D88-007C-7A8E-5833CEA48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E3A8A65-A90B-375D-F5DF-9D5D53797B4A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36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B54984C-A221-047D-59C1-97312A2A0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3BFE434-08A7-675A-0540-17CCA8C95B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04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群組 44">
            <a:extLst>
              <a:ext uri="{FF2B5EF4-FFF2-40B4-BE49-F238E27FC236}">
                <a16:creationId xmlns:a16="http://schemas.microsoft.com/office/drawing/2014/main" id="{9ECEC346-6B91-9EA2-1547-BDB616B3284F}"/>
              </a:ext>
            </a:extLst>
          </p:cNvPr>
          <p:cNvGrpSpPr/>
          <p:nvPr/>
        </p:nvGrpSpPr>
        <p:grpSpPr>
          <a:xfrm>
            <a:off x="431405" y="1478434"/>
            <a:ext cx="11329191" cy="3561000"/>
            <a:chOff x="527361" y="1557457"/>
            <a:chExt cx="11329191" cy="3561000"/>
          </a:xfrm>
        </p:grpSpPr>
        <p:sp>
          <p:nvSpPr>
            <p:cNvPr id="17" name="Google Shape;74;p3">
              <a:extLst>
                <a:ext uri="{FF2B5EF4-FFF2-40B4-BE49-F238E27FC236}">
                  <a16:creationId xmlns:a16="http://schemas.microsoft.com/office/drawing/2014/main" id="{B726B180-32A3-84C1-C32F-C71172479A33}"/>
                </a:ext>
              </a:extLst>
            </p:cNvPr>
            <p:cNvSpPr/>
            <p:nvPr/>
          </p:nvSpPr>
          <p:spPr>
            <a:xfrm>
              <a:off x="7421882" y="1563815"/>
              <a:ext cx="4096368" cy="488508"/>
            </a:xfrm>
            <a:custGeom>
              <a:avLst/>
              <a:gdLst/>
              <a:ahLst/>
              <a:cxnLst/>
              <a:rect l="l" t="t" r="r" b="b"/>
              <a:pathLst>
                <a:path w="2931170" h="359197" extrusionOk="0">
                  <a:moveTo>
                    <a:pt x="0" y="0"/>
                  </a:moveTo>
                  <a:lnTo>
                    <a:pt x="2887754" y="0"/>
                  </a:lnTo>
                  <a:cubicBezTo>
                    <a:pt x="2899269" y="0"/>
                    <a:pt x="2910312" y="4574"/>
                    <a:pt x="2918454" y="12716"/>
                  </a:cubicBezTo>
                  <a:cubicBezTo>
                    <a:pt x="2926596" y="20858"/>
                    <a:pt x="2931170" y="31901"/>
                    <a:pt x="2931170" y="43416"/>
                  </a:cubicBezTo>
                  <a:lnTo>
                    <a:pt x="2931170" y="359197"/>
                  </a:lnTo>
                  <a:lnTo>
                    <a:pt x="0" y="359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825B"/>
            </a:solidFill>
            <a:ln>
              <a:noFill/>
            </a:ln>
          </p:spPr>
          <p:txBody>
            <a:bodyPr spcFirstLastPara="1" wrap="square" lIns="122275" tIns="61150" rIns="122275" bIns="61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8" name="Google Shape;75;p3">
              <a:extLst>
                <a:ext uri="{FF2B5EF4-FFF2-40B4-BE49-F238E27FC236}">
                  <a16:creationId xmlns:a16="http://schemas.microsoft.com/office/drawing/2014/main" id="{8DAC48EA-5968-12CF-23B4-DC5E283CDA2B}"/>
                </a:ext>
              </a:extLst>
            </p:cNvPr>
            <p:cNvSpPr/>
            <p:nvPr/>
          </p:nvSpPr>
          <p:spPr>
            <a:xfrm>
              <a:off x="7593552" y="1671415"/>
              <a:ext cx="42630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 dirty="0" err="1">
                  <a:solidFill>
                    <a:srgbClr val="27252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方案</a:t>
              </a:r>
              <a:r>
                <a:rPr lang="en-US" sz="1600" b="1" strike="noStrike" dirty="0">
                  <a:solidFill>
                    <a:srgbClr val="27252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</a:t>
              </a:r>
              <a:r>
                <a:rPr lang="en-US" sz="1600" b="1" strike="noStrike" dirty="0" err="1">
                  <a:solidFill>
                    <a:srgbClr val="27252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B：雲端主體混合架構（最終選型</a:t>
              </a:r>
              <a:r>
                <a:rPr lang="en-US" sz="1600" b="1" strike="noStrike" dirty="0">
                  <a:solidFill>
                    <a:srgbClr val="27252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）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Syriac" panose="020B0502040504020204" pitchFamily="34" charset="0"/>
                <a:sym typeface="Arial"/>
              </a:endParaRPr>
            </a:p>
          </p:txBody>
        </p:sp>
        <p:sp>
          <p:nvSpPr>
            <p:cNvPr id="21" name="Google Shape;78;p3">
              <a:extLst>
                <a:ext uri="{FF2B5EF4-FFF2-40B4-BE49-F238E27FC236}">
                  <a16:creationId xmlns:a16="http://schemas.microsoft.com/office/drawing/2014/main" id="{E21D908C-4D09-5388-5229-2544AFC59F28}"/>
                </a:ext>
              </a:extLst>
            </p:cNvPr>
            <p:cNvSpPr/>
            <p:nvPr/>
          </p:nvSpPr>
          <p:spPr>
            <a:xfrm>
              <a:off x="7593552" y="2162462"/>
              <a:ext cx="42630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💵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現有電腦即可，雲端訂閱制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Syriac" panose="020B0502040504020204" pitchFamily="34" charset="0"/>
                <a:sym typeface="Arial"/>
              </a:endParaRPr>
            </a:p>
          </p:txBody>
        </p:sp>
        <p:sp>
          <p:nvSpPr>
            <p:cNvPr id="24" name="Google Shape;81;p3">
              <a:extLst>
                <a:ext uri="{FF2B5EF4-FFF2-40B4-BE49-F238E27FC236}">
                  <a16:creationId xmlns:a16="http://schemas.microsoft.com/office/drawing/2014/main" id="{7983D75D-2B2F-2CFD-F817-62436A4719F0}"/>
                </a:ext>
              </a:extLst>
            </p:cNvPr>
            <p:cNvSpPr/>
            <p:nvPr/>
          </p:nvSpPr>
          <p:spPr>
            <a:xfrm>
              <a:off x="7593552" y="2673072"/>
              <a:ext cx="42630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99.9%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雲端高可用性（穩定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）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Syriac" panose="020B0502040504020204" pitchFamily="34" charset="0"/>
                <a:sym typeface="Arial"/>
              </a:endParaRPr>
            </a:p>
          </p:txBody>
        </p:sp>
        <p:sp>
          <p:nvSpPr>
            <p:cNvPr id="27" name="Google Shape;84;p3">
              <a:extLst>
                <a:ext uri="{FF2B5EF4-FFF2-40B4-BE49-F238E27FC236}">
                  <a16:creationId xmlns:a16="http://schemas.microsoft.com/office/drawing/2014/main" id="{034FF5F2-22EB-18D6-ABA5-2B919734CAFC}"/>
                </a:ext>
              </a:extLst>
            </p:cNvPr>
            <p:cNvSpPr/>
            <p:nvPr/>
          </p:nvSpPr>
          <p:spPr>
            <a:xfrm>
              <a:off x="7593552" y="3183683"/>
              <a:ext cx="42630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🟢</a:t>
              </a:r>
              <a:r>
                <a:rPr lang="en-US" sz="1600" b="0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工程團隊可隨時遠端修補升級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Syriac" panose="020B0502040504020204" pitchFamily="34" charset="0"/>
                <a:sym typeface="Arial"/>
              </a:endParaRPr>
            </a:p>
          </p:txBody>
        </p:sp>
        <p:sp>
          <p:nvSpPr>
            <p:cNvPr id="33" name="Google Shape;90;p3">
              <a:extLst>
                <a:ext uri="{FF2B5EF4-FFF2-40B4-BE49-F238E27FC236}">
                  <a16:creationId xmlns:a16="http://schemas.microsoft.com/office/drawing/2014/main" id="{9A370C39-2530-AA94-CDA5-6F1A249EF99D}"/>
                </a:ext>
              </a:extLst>
            </p:cNvPr>
            <p:cNvSpPr/>
            <p:nvPr/>
          </p:nvSpPr>
          <p:spPr>
            <a:xfrm>
              <a:off x="7593552" y="4204904"/>
              <a:ext cx="42630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🟢</a:t>
              </a:r>
              <a:r>
                <a:rPr lang="en-US" sz="1600" b="0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雲端 LLM API 彈性串接，按需付費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Syriac" panose="020B0502040504020204" pitchFamily="34" charset="0"/>
                <a:sym typeface="Arial"/>
              </a:endParaRPr>
            </a:p>
          </p:txBody>
        </p:sp>
        <p:sp>
          <p:nvSpPr>
            <p:cNvPr id="4" name="Google Shape;61;p3">
              <a:extLst>
                <a:ext uri="{FF2B5EF4-FFF2-40B4-BE49-F238E27FC236}">
                  <a16:creationId xmlns:a16="http://schemas.microsoft.com/office/drawing/2014/main" id="{45FCE545-3419-4E43-B672-A63436F28332}"/>
                </a:ext>
              </a:extLst>
            </p:cNvPr>
            <p:cNvSpPr/>
            <p:nvPr/>
          </p:nvSpPr>
          <p:spPr>
            <a:xfrm>
              <a:off x="527361" y="1557457"/>
              <a:ext cx="10990890" cy="3561000"/>
            </a:xfrm>
            <a:prstGeom prst="roundRect">
              <a:avLst>
                <a:gd name="adj" fmla="val 1987"/>
              </a:avLst>
            </a:prstGeom>
            <a:noFill/>
            <a:ln w="12950" cap="flat" cmpd="sng">
              <a:solidFill>
                <a:srgbClr val="000000">
                  <a:alpha val="784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2275" tIns="61150" rIns="122275" bIns="61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5" name="Google Shape;62;p3">
              <a:extLst>
                <a:ext uri="{FF2B5EF4-FFF2-40B4-BE49-F238E27FC236}">
                  <a16:creationId xmlns:a16="http://schemas.microsoft.com/office/drawing/2014/main" id="{960B88D2-F3C7-9677-0E35-010E24D1A04D}"/>
                </a:ext>
              </a:extLst>
            </p:cNvPr>
            <p:cNvSpPr/>
            <p:nvPr/>
          </p:nvSpPr>
          <p:spPr>
            <a:xfrm>
              <a:off x="527361" y="2051927"/>
              <a:ext cx="10874527" cy="102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2275" tIns="0" rIns="122275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6" name="Google Shape;63;p3">
              <a:extLst>
                <a:ext uri="{FF2B5EF4-FFF2-40B4-BE49-F238E27FC236}">
                  <a16:creationId xmlns:a16="http://schemas.microsoft.com/office/drawing/2014/main" id="{32107B4C-81C2-EBDC-1F8C-83BB138A6B60}"/>
                </a:ext>
              </a:extLst>
            </p:cNvPr>
            <p:cNvSpPr/>
            <p:nvPr/>
          </p:nvSpPr>
          <p:spPr>
            <a:xfrm>
              <a:off x="527361" y="2562538"/>
              <a:ext cx="10874527" cy="102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2275" tIns="0" rIns="122275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7" name="Google Shape;64;p3">
              <a:extLst>
                <a:ext uri="{FF2B5EF4-FFF2-40B4-BE49-F238E27FC236}">
                  <a16:creationId xmlns:a16="http://schemas.microsoft.com/office/drawing/2014/main" id="{B55D602A-0AA5-F658-1F83-F30CA3C9B364}"/>
                </a:ext>
              </a:extLst>
            </p:cNvPr>
            <p:cNvSpPr/>
            <p:nvPr/>
          </p:nvSpPr>
          <p:spPr>
            <a:xfrm>
              <a:off x="527361" y="3073149"/>
              <a:ext cx="10874527" cy="102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2275" tIns="0" rIns="122275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8" name="Google Shape;65;p3">
              <a:extLst>
                <a:ext uri="{FF2B5EF4-FFF2-40B4-BE49-F238E27FC236}">
                  <a16:creationId xmlns:a16="http://schemas.microsoft.com/office/drawing/2014/main" id="{958E043A-447D-5703-C2B0-4689A225B10A}"/>
                </a:ext>
              </a:extLst>
            </p:cNvPr>
            <p:cNvSpPr/>
            <p:nvPr/>
          </p:nvSpPr>
          <p:spPr>
            <a:xfrm>
              <a:off x="527361" y="3583759"/>
              <a:ext cx="10874527" cy="102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2275" tIns="0" rIns="122275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9" name="Google Shape;66;p3">
              <a:extLst>
                <a:ext uri="{FF2B5EF4-FFF2-40B4-BE49-F238E27FC236}">
                  <a16:creationId xmlns:a16="http://schemas.microsoft.com/office/drawing/2014/main" id="{04A11022-D2B7-1A25-25C1-CB3F6D7C4952}"/>
                </a:ext>
              </a:extLst>
            </p:cNvPr>
            <p:cNvSpPr/>
            <p:nvPr/>
          </p:nvSpPr>
          <p:spPr>
            <a:xfrm>
              <a:off x="527361" y="4094370"/>
              <a:ext cx="10874527" cy="102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2275" tIns="0" rIns="122275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0" name="Google Shape;67;p3">
              <a:extLst>
                <a:ext uri="{FF2B5EF4-FFF2-40B4-BE49-F238E27FC236}">
                  <a16:creationId xmlns:a16="http://schemas.microsoft.com/office/drawing/2014/main" id="{C62473DB-FF92-CAF5-A306-458E1D9A6DFD}"/>
                </a:ext>
              </a:extLst>
            </p:cNvPr>
            <p:cNvSpPr/>
            <p:nvPr/>
          </p:nvSpPr>
          <p:spPr>
            <a:xfrm>
              <a:off x="527361" y="4604981"/>
              <a:ext cx="10874527" cy="102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2275" tIns="0" rIns="122275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1" name="Google Shape;68;p3">
              <a:extLst>
                <a:ext uri="{FF2B5EF4-FFF2-40B4-BE49-F238E27FC236}">
                  <a16:creationId xmlns:a16="http://schemas.microsoft.com/office/drawing/2014/main" id="{47285064-C007-5ECC-8502-8BE069E06178}"/>
                </a:ext>
              </a:extLst>
            </p:cNvPr>
            <p:cNvSpPr/>
            <p:nvPr/>
          </p:nvSpPr>
          <p:spPr>
            <a:xfrm>
              <a:off x="3439217" y="1557457"/>
              <a:ext cx="10200" cy="35610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2275" tIns="61150" rIns="122275" bIns="61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2" name="Google Shape;69;p3">
              <a:extLst>
                <a:ext uri="{FF2B5EF4-FFF2-40B4-BE49-F238E27FC236}">
                  <a16:creationId xmlns:a16="http://schemas.microsoft.com/office/drawing/2014/main" id="{0EED1EB1-4250-61A7-1BE5-79FF9DB0E1F7}"/>
                </a:ext>
              </a:extLst>
            </p:cNvPr>
            <p:cNvSpPr/>
            <p:nvPr/>
          </p:nvSpPr>
          <p:spPr>
            <a:xfrm>
              <a:off x="7421882" y="1557457"/>
              <a:ext cx="10200" cy="35610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2275" tIns="61150" rIns="122275" bIns="61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3" name="Google Shape;70;p3">
              <a:extLst>
                <a:ext uri="{FF2B5EF4-FFF2-40B4-BE49-F238E27FC236}">
                  <a16:creationId xmlns:a16="http://schemas.microsoft.com/office/drawing/2014/main" id="{1836C287-DAA3-FF4F-9601-AE11B20F7E3C}"/>
                </a:ext>
              </a:extLst>
            </p:cNvPr>
            <p:cNvSpPr/>
            <p:nvPr/>
          </p:nvSpPr>
          <p:spPr>
            <a:xfrm>
              <a:off x="534208" y="1563815"/>
              <a:ext cx="2898000" cy="488508"/>
            </a:xfrm>
            <a:custGeom>
              <a:avLst/>
              <a:gdLst/>
              <a:ahLst/>
              <a:cxnLst/>
              <a:rect l="l" t="t" r="r" b="b"/>
              <a:pathLst>
                <a:path w="2279824" h="359197" extrusionOk="0">
                  <a:moveTo>
                    <a:pt x="43416" y="0"/>
                  </a:moveTo>
                  <a:lnTo>
                    <a:pt x="2279824" y="0"/>
                  </a:lnTo>
                  <a:lnTo>
                    <a:pt x="2279824" y="359197"/>
                  </a:lnTo>
                  <a:lnTo>
                    <a:pt x="0" y="359197"/>
                  </a:lnTo>
                  <a:lnTo>
                    <a:pt x="0" y="43416"/>
                  </a:lnTo>
                  <a:cubicBezTo>
                    <a:pt x="0" y="19438"/>
                    <a:pt x="19438" y="0"/>
                    <a:pt x="43416" y="0"/>
                  </a:cubicBezTo>
                  <a:close/>
                </a:path>
              </a:pathLst>
            </a:custGeom>
            <a:solidFill>
              <a:srgbClr val="3C312D"/>
            </a:solidFill>
            <a:ln>
              <a:noFill/>
            </a:ln>
          </p:spPr>
          <p:txBody>
            <a:bodyPr spcFirstLastPara="1" wrap="square" lIns="122275" tIns="61150" rIns="122275" bIns="61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4" name="Google Shape;71;p3">
              <a:extLst>
                <a:ext uri="{FF2B5EF4-FFF2-40B4-BE49-F238E27FC236}">
                  <a16:creationId xmlns:a16="http://schemas.microsoft.com/office/drawing/2014/main" id="{F959C628-2C52-D46D-32AC-DB3FA6CD4E2A}"/>
                </a:ext>
              </a:extLst>
            </p:cNvPr>
            <p:cNvSpPr/>
            <p:nvPr/>
          </p:nvSpPr>
          <p:spPr>
            <a:xfrm>
              <a:off x="702455" y="1671415"/>
              <a:ext cx="28980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評估維度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5" name="Google Shape;72;p3">
              <a:extLst>
                <a:ext uri="{FF2B5EF4-FFF2-40B4-BE49-F238E27FC236}">
                  <a16:creationId xmlns:a16="http://schemas.microsoft.com/office/drawing/2014/main" id="{373EC600-46AE-5690-26D4-38C17FB68D94}"/>
                </a:ext>
              </a:extLst>
            </p:cNvPr>
            <p:cNvSpPr/>
            <p:nvPr/>
          </p:nvSpPr>
          <p:spPr>
            <a:xfrm>
              <a:off x="3439217" y="1563815"/>
              <a:ext cx="3981600" cy="487500"/>
            </a:xfrm>
            <a:prstGeom prst="rect">
              <a:avLst/>
            </a:prstGeom>
            <a:solidFill>
              <a:srgbClr val="776660"/>
            </a:solidFill>
            <a:ln>
              <a:noFill/>
            </a:ln>
          </p:spPr>
          <p:txBody>
            <a:bodyPr spcFirstLastPara="1" wrap="square" lIns="122275" tIns="61150" rIns="122275" bIns="611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6" name="Google Shape;73;p3">
              <a:extLst>
                <a:ext uri="{FF2B5EF4-FFF2-40B4-BE49-F238E27FC236}">
                  <a16:creationId xmlns:a16="http://schemas.microsoft.com/office/drawing/2014/main" id="{FA650000-7D70-4FD0-908F-7139639CFD69}"/>
                </a:ext>
              </a:extLst>
            </p:cNvPr>
            <p:cNvSpPr/>
            <p:nvPr/>
          </p:nvSpPr>
          <p:spPr>
            <a:xfrm>
              <a:off x="3610888" y="1671415"/>
              <a:ext cx="42597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 dirty="0" err="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方案</a:t>
              </a:r>
              <a:r>
                <a:rPr lang="en-US" sz="1600" b="1" strike="noStrike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1" strike="noStrike" dirty="0" err="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A：全地端雙機架構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9" name="Google Shape;76;p3">
              <a:extLst>
                <a:ext uri="{FF2B5EF4-FFF2-40B4-BE49-F238E27FC236}">
                  <a16:creationId xmlns:a16="http://schemas.microsoft.com/office/drawing/2014/main" id="{865BCA8C-0D9C-23BF-F272-BAD829879755}"/>
                </a:ext>
              </a:extLst>
            </p:cNvPr>
            <p:cNvSpPr/>
            <p:nvPr/>
          </p:nvSpPr>
          <p:spPr>
            <a:xfrm>
              <a:off x="702455" y="2162462"/>
              <a:ext cx="28980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初期硬體成本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0" name="Google Shape;77;p3">
              <a:extLst>
                <a:ext uri="{FF2B5EF4-FFF2-40B4-BE49-F238E27FC236}">
                  <a16:creationId xmlns:a16="http://schemas.microsoft.com/office/drawing/2014/main" id="{9CEF01D1-7B98-D5E0-0300-1CE6F8E426F3}"/>
                </a:ext>
              </a:extLst>
            </p:cNvPr>
            <p:cNvSpPr/>
            <p:nvPr/>
          </p:nvSpPr>
          <p:spPr>
            <a:xfrm>
              <a:off x="3610888" y="2162462"/>
              <a:ext cx="42597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💵💵💵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需採購高規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Laptop /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工作站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2" name="Google Shape;79;p3">
              <a:extLst>
                <a:ext uri="{FF2B5EF4-FFF2-40B4-BE49-F238E27FC236}">
                  <a16:creationId xmlns:a16="http://schemas.microsoft.com/office/drawing/2014/main" id="{B10372A6-2347-D530-FCCA-EEA6AA091480}"/>
                </a:ext>
              </a:extLst>
            </p:cNvPr>
            <p:cNvSpPr/>
            <p:nvPr/>
          </p:nvSpPr>
          <p:spPr>
            <a:xfrm>
              <a:off x="702455" y="2673072"/>
              <a:ext cx="28980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服務可用性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3" name="Google Shape;80;p3">
              <a:extLst>
                <a:ext uri="{FF2B5EF4-FFF2-40B4-BE49-F238E27FC236}">
                  <a16:creationId xmlns:a16="http://schemas.microsoft.com/office/drawing/2014/main" id="{F825BA00-CAB1-2C05-4E75-AE49AA359588}"/>
                </a:ext>
              </a:extLst>
            </p:cNvPr>
            <p:cNvSpPr/>
            <p:nvPr/>
          </p:nvSpPr>
          <p:spPr>
            <a:xfrm>
              <a:off x="3610888" y="2673072"/>
              <a:ext cx="42597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🟡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受限於辦公室電力與網路穩定度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5" name="Google Shape;82;p3">
              <a:extLst>
                <a:ext uri="{FF2B5EF4-FFF2-40B4-BE49-F238E27FC236}">
                  <a16:creationId xmlns:a16="http://schemas.microsoft.com/office/drawing/2014/main" id="{EB956E0B-D272-EA8F-E48A-1485034679BC}"/>
                </a:ext>
              </a:extLst>
            </p:cNvPr>
            <p:cNvSpPr/>
            <p:nvPr/>
          </p:nvSpPr>
          <p:spPr>
            <a:xfrm>
              <a:off x="702455" y="3183683"/>
              <a:ext cx="28980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遠端維運性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6" name="Google Shape;83;p3">
              <a:extLst>
                <a:ext uri="{FF2B5EF4-FFF2-40B4-BE49-F238E27FC236}">
                  <a16:creationId xmlns:a16="http://schemas.microsoft.com/office/drawing/2014/main" id="{9EF6F1D7-4D51-3854-7EB1-E4135E2C822B}"/>
                </a:ext>
              </a:extLst>
            </p:cNvPr>
            <p:cNvSpPr/>
            <p:nvPr/>
          </p:nvSpPr>
          <p:spPr>
            <a:xfrm>
              <a:off x="3610888" y="3183683"/>
              <a:ext cx="42597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🟡</a:t>
              </a:r>
              <a:r>
                <a:rPr lang="en-US" sz="1600" b="0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斷網時需現場實體排查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8" name="Google Shape;85;p3">
              <a:extLst>
                <a:ext uri="{FF2B5EF4-FFF2-40B4-BE49-F238E27FC236}">
                  <a16:creationId xmlns:a16="http://schemas.microsoft.com/office/drawing/2014/main" id="{05577759-E269-2C82-28E8-AB8B500FBF1A}"/>
                </a:ext>
              </a:extLst>
            </p:cNvPr>
            <p:cNvSpPr/>
            <p:nvPr/>
          </p:nvSpPr>
          <p:spPr>
            <a:xfrm>
              <a:off x="702455" y="3694294"/>
              <a:ext cx="28980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資料庫資安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9" name="Google Shape;86;p3">
              <a:extLst>
                <a:ext uri="{FF2B5EF4-FFF2-40B4-BE49-F238E27FC236}">
                  <a16:creationId xmlns:a16="http://schemas.microsoft.com/office/drawing/2014/main" id="{A75E9058-10AE-4ED6-A957-19168E68CF87}"/>
                </a:ext>
              </a:extLst>
            </p:cNvPr>
            <p:cNvSpPr/>
            <p:nvPr/>
          </p:nvSpPr>
          <p:spPr>
            <a:xfrm>
              <a:off x="3610888" y="3694294"/>
              <a:ext cx="42597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資料完全留在內部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NAS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30" name="Google Shape;87;p3">
              <a:extLst>
                <a:ext uri="{FF2B5EF4-FFF2-40B4-BE49-F238E27FC236}">
                  <a16:creationId xmlns:a16="http://schemas.microsoft.com/office/drawing/2014/main" id="{03536321-1587-728B-D20B-DEBE6B97E4AB}"/>
                </a:ext>
              </a:extLst>
            </p:cNvPr>
            <p:cNvSpPr/>
            <p:nvPr/>
          </p:nvSpPr>
          <p:spPr>
            <a:xfrm>
              <a:off x="7593552" y="3694294"/>
              <a:ext cx="42630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資料完全留在地端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NAS（經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VPN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隔離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）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Syriac" panose="020B0502040504020204" pitchFamily="34" charset="0"/>
                <a:sym typeface="Arial"/>
              </a:endParaRPr>
            </a:p>
          </p:txBody>
        </p:sp>
        <p:sp>
          <p:nvSpPr>
            <p:cNvPr id="31" name="Google Shape;88;p3">
              <a:extLst>
                <a:ext uri="{FF2B5EF4-FFF2-40B4-BE49-F238E27FC236}">
                  <a16:creationId xmlns:a16="http://schemas.microsoft.com/office/drawing/2014/main" id="{13FE1975-8F0A-8AEA-DC0B-61B291535969}"/>
                </a:ext>
              </a:extLst>
            </p:cNvPr>
            <p:cNvSpPr/>
            <p:nvPr/>
          </p:nvSpPr>
          <p:spPr>
            <a:xfrm>
              <a:off x="702455" y="4204904"/>
              <a:ext cx="28980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AI 模型運算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32" name="Google Shape;89;p3">
              <a:extLst>
                <a:ext uri="{FF2B5EF4-FFF2-40B4-BE49-F238E27FC236}">
                  <a16:creationId xmlns:a16="http://schemas.microsoft.com/office/drawing/2014/main" id="{B5B4E006-B33B-C1AB-11C2-7FD181733714}"/>
                </a:ext>
              </a:extLst>
            </p:cNvPr>
            <p:cNvSpPr/>
            <p:nvPr/>
          </p:nvSpPr>
          <p:spPr>
            <a:xfrm>
              <a:off x="3610888" y="4204904"/>
              <a:ext cx="42597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🟡</a:t>
              </a:r>
              <a:r>
                <a:rPr lang="en-US" sz="1600" b="0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地端高規硬體成本極高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34" name="Google Shape;91;p3">
              <a:extLst>
                <a:ext uri="{FF2B5EF4-FFF2-40B4-BE49-F238E27FC236}">
                  <a16:creationId xmlns:a16="http://schemas.microsoft.com/office/drawing/2014/main" id="{BF9C7585-7C00-84B1-205D-F39A3EA939D8}"/>
                </a:ext>
              </a:extLst>
            </p:cNvPr>
            <p:cNvSpPr/>
            <p:nvPr/>
          </p:nvSpPr>
          <p:spPr>
            <a:xfrm>
              <a:off x="702455" y="4715515"/>
              <a:ext cx="28980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擴充彈性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35" name="Google Shape;92;p3">
              <a:extLst>
                <a:ext uri="{FF2B5EF4-FFF2-40B4-BE49-F238E27FC236}">
                  <a16:creationId xmlns:a16="http://schemas.microsoft.com/office/drawing/2014/main" id="{C665E96C-EB7C-AF5D-143F-D1EA522E1980}"/>
                </a:ext>
              </a:extLst>
            </p:cNvPr>
            <p:cNvSpPr/>
            <p:nvPr/>
          </p:nvSpPr>
          <p:spPr>
            <a:xfrm>
              <a:off x="3610888" y="4715515"/>
              <a:ext cx="42597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🟡</a:t>
              </a:r>
              <a:r>
                <a:rPr lang="en-US" sz="1600" b="0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受限於實體硬體規格上限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36" name="Google Shape;93;p3">
              <a:extLst>
                <a:ext uri="{FF2B5EF4-FFF2-40B4-BE49-F238E27FC236}">
                  <a16:creationId xmlns:a16="http://schemas.microsoft.com/office/drawing/2014/main" id="{CCEC2C37-D6E2-4DB3-58C4-40BDFCE9CA53}"/>
                </a:ext>
              </a:extLst>
            </p:cNvPr>
            <p:cNvSpPr/>
            <p:nvPr/>
          </p:nvSpPr>
          <p:spPr>
            <a:xfrm>
              <a:off x="7593552" y="4715515"/>
              <a:ext cx="4263000" cy="2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Syriac" panose="020B0502040504020204" pitchFamily="34" charset="0"/>
                  <a:sym typeface="Noto Sans TC"/>
                </a:rPr>
                <a:t>雲端運算資源可彈性擴充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Syriac" panose="020B0502040504020204" pitchFamily="34" charset="0"/>
                <a:sym typeface="Arial"/>
              </a:endParaRPr>
            </a:p>
          </p:txBody>
        </p:sp>
      </p:grpSp>
      <p:sp>
        <p:nvSpPr>
          <p:cNvPr id="40" name="Shape 93">
            <a:extLst>
              <a:ext uri="{FF2B5EF4-FFF2-40B4-BE49-F238E27FC236}">
                <a16:creationId xmlns:a16="http://schemas.microsoft.com/office/drawing/2014/main" id="{937A7456-2943-4B29-4CB3-0CBA4859A199}"/>
              </a:ext>
            </a:extLst>
          </p:cNvPr>
          <p:cNvSpPr>
            <a:spLocks noGrp="1"/>
          </p:cNvSpPr>
          <p:nvPr/>
        </p:nvSpPr>
        <p:spPr>
          <a:xfrm>
            <a:off x="612832" y="597198"/>
            <a:ext cx="8384411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>
              <a:lnSpc>
                <a:spcPct val="104000"/>
              </a:lnSpc>
            </a:pPr>
            <a:r>
              <a:rPr lang="zh-TW" altLang="en-US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方案評估：全地端雙機 </a:t>
            </a:r>
            <a:r>
              <a:rPr lang="en-US" altLang="zh-TW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vs. </a:t>
            </a:r>
            <a:r>
              <a:rPr lang="zh-TW" altLang="en-US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雲端主體混合架構</a:t>
            </a:r>
            <a:endParaRPr lang="zh-TW" alt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統一章節標記">
            <a:extLst>
              <a:ext uri="{FF2B5EF4-FFF2-40B4-BE49-F238E27FC236}">
                <a16:creationId xmlns:a16="http://schemas.microsoft.com/office/drawing/2014/main" id="{98B7807F-B6FF-6456-4810-E90D33730866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0227710A-EA67-0A6E-939D-0486CE0EAD65}"/>
              </a:ext>
            </a:extLst>
          </p:cNvPr>
          <p:cNvGrpSpPr/>
          <p:nvPr/>
        </p:nvGrpSpPr>
        <p:grpSpPr>
          <a:xfrm>
            <a:off x="514979" y="5280188"/>
            <a:ext cx="11162042" cy="990000"/>
            <a:chOff x="305698" y="5524289"/>
            <a:chExt cx="11162042" cy="990000"/>
          </a:xfrm>
        </p:grpSpPr>
        <p:pic>
          <p:nvPicPr>
            <p:cNvPr id="38" name="Google Shape;95;p3" descr="preencoded.png">
              <a:extLst>
                <a:ext uri="{FF2B5EF4-FFF2-40B4-BE49-F238E27FC236}">
                  <a16:creationId xmlns:a16="http://schemas.microsoft.com/office/drawing/2014/main" id="{7A825D9D-5683-91FB-08DB-B4D6F18193C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05698" y="5524289"/>
              <a:ext cx="384494" cy="3443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100;p5">
              <a:extLst>
                <a:ext uri="{FF2B5EF4-FFF2-40B4-BE49-F238E27FC236}">
                  <a16:creationId xmlns:a16="http://schemas.microsoft.com/office/drawing/2014/main" id="{242F3E36-DDA8-0D00-509D-8E0BB27BB6B4}"/>
                </a:ext>
              </a:extLst>
            </p:cNvPr>
            <p:cNvSpPr/>
            <p:nvPr/>
          </p:nvSpPr>
          <p:spPr>
            <a:xfrm>
              <a:off x="724260" y="5524289"/>
              <a:ext cx="10743480" cy="990000"/>
            </a:xfrm>
            <a:prstGeom prst="roundRect">
              <a:avLst>
                <a:gd name="adj" fmla="val 11538"/>
              </a:avLst>
            </a:prstGeom>
            <a:solidFill>
              <a:srgbClr val="F5DFD6"/>
            </a:solidFill>
            <a:ln w="9525" cap="flat" cmpd="sng">
              <a:solidFill>
                <a:srgbClr val="C950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lvl="0">
                <a:lnSpc>
                  <a:spcPct val="133000"/>
                </a:lnSpc>
              </a:pPr>
              <a:r>
                <a:rPr lang="zh-TW" altLang="en-US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方案 </a:t>
              </a:r>
              <a:r>
                <a:rPr lang="en-US" altLang="zh-TW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B </a:t>
              </a:r>
              <a:r>
                <a:rPr lang="zh-TW" altLang="en-US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在服務可用性、遠端維運性、成本效益與擴充彈性四個維度全面優於方案 </a:t>
              </a:r>
              <a:r>
                <a:rPr lang="en-US" altLang="zh-TW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A</a:t>
              </a:r>
              <a:r>
                <a:rPr lang="zh-TW" altLang="en-US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，且在資料庫資安維度達到同等保護水準，因此確定為最終選型。</a:t>
              </a:r>
              <a:endParaRPr lang="zh-TW" alt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Shape 93">
            <a:extLst>
              <a:ext uri="{FF2B5EF4-FFF2-40B4-BE49-F238E27FC236}">
                <a16:creationId xmlns:a16="http://schemas.microsoft.com/office/drawing/2014/main" id="{CC73AA18-EE45-F922-2F08-73EC93F75012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124D808-0F74-40CD-1EE5-3B0CF0790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C179C939-BCB9-0915-78DD-E0CB25FE0283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37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E6962396-C5F5-F1FC-C1B2-2AF3AC46B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A52CBA55-8972-6FA9-69BD-1F7040780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844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g3f7377a157b_0_62">
            <a:extLst>
              <a:ext uri="{FF2B5EF4-FFF2-40B4-BE49-F238E27FC236}">
                <a16:creationId xmlns:a16="http://schemas.microsoft.com/office/drawing/2014/main" id="{B8DDADDE-C7D1-1E6E-8FB2-7230459A3199}"/>
              </a:ext>
            </a:extLst>
          </p:cNvPr>
          <p:cNvSpPr/>
          <p:nvPr/>
        </p:nvSpPr>
        <p:spPr>
          <a:xfrm>
            <a:off x="157282" y="4033704"/>
            <a:ext cx="11407200" cy="96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spcFirstLastPara="1" wrap="square" lIns="125950" tIns="0" rIns="12595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strike="noStrike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44664752-F565-D0A9-D75A-4C7F96503D15}"/>
              </a:ext>
            </a:extLst>
          </p:cNvPr>
          <p:cNvGrpSpPr/>
          <p:nvPr/>
        </p:nvGrpSpPr>
        <p:grpSpPr>
          <a:xfrm>
            <a:off x="423201" y="1467219"/>
            <a:ext cx="11345598" cy="3358200"/>
            <a:chOff x="689119" y="1399485"/>
            <a:chExt cx="11345598" cy="3358200"/>
          </a:xfrm>
        </p:grpSpPr>
        <p:sp>
          <p:nvSpPr>
            <p:cNvPr id="4" name="Google Shape;104;g3f7377a157b_0_62">
              <a:extLst>
                <a:ext uri="{FF2B5EF4-FFF2-40B4-BE49-F238E27FC236}">
                  <a16:creationId xmlns:a16="http://schemas.microsoft.com/office/drawing/2014/main" id="{C826E9D7-CB1E-F654-EA7E-D532215E06E9}"/>
                </a:ext>
              </a:extLst>
            </p:cNvPr>
            <p:cNvSpPr/>
            <p:nvPr/>
          </p:nvSpPr>
          <p:spPr>
            <a:xfrm>
              <a:off x="689119" y="1399485"/>
              <a:ext cx="10875363" cy="3358200"/>
            </a:xfrm>
            <a:prstGeom prst="roundRect">
              <a:avLst>
                <a:gd name="adj" fmla="val 2035"/>
              </a:avLst>
            </a:prstGeom>
            <a:noFill/>
            <a:ln w="13325" cap="flat" cmpd="sng">
              <a:solidFill>
                <a:srgbClr val="000000">
                  <a:alpha val="784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5950" tIns="62975" rIns="125950" bIns="629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5" name="Google Shape;105;g3f7377a157b_0_62">
              <a:extLst>
                <a:ext uri="{FF2B5EF4-FFF2-40B4-BE49-F238E27FC236}">
                  <a16:creationId xmlns:a16="http://schemas.microsoft.com/office/drawing/2014/main" id="{CDEABD25-5786-8603-6020-705EF2332059}"/>
                </a:ext>
              </a:extLst>
            </p:cNvPr>
            <p:cNvSpPr/>
            <p:nvPr/>
          </p:nvSpPr>
          <p:spPr>
            <a:xfrm>
              <a:off x="699154" y="1871518"/>
              <a:ext cx="10836000" cy="96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5950" tIns="0" rIns="12595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6" name="Google Shape;106;g3f7377a157b_0_62">
              <a:extLst>
                <a:ext uri="{FF2B5EF4-FFF2-40B4-BE49-F238E27FC236}">
                  <a16:creationId xmlns:a16="http://schemas.microsoft.com/office/drawing/2014/main" id="{0D4795DB-199C-1245-ED40-613BDE38E824}"/>
                </a:ext>
              </a:extLst>
            </p:cNvPr>
            <p:cNvSpPr/>
            <p:nvPr/>
          </p:nvSpPr>
          <p:spPr>
            <a:xfrm>
              <a:off x="710443" y="2714714"/>
              <a:ext cx="10836000" cy="96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5950" tIns="0" rIns="12595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7" name="Google Shape;107;g3f7377a157b_0_62">
              <a:extLst>
                <a:ext uri="{FF2B5EF4-FFF2-40B4-BE49-F238E27FC236}">
                  <a16:creationId xmlns:a16="http://schemas.microsoft.com/office/drawing/2014/main" id="{4E5E1EB2-F7E8-CEFD-8767-8EE8398BB1AF}"/>
                </a:ext>
              </a:extLst>
            </p:cNvPr>
            <p:cNvSpPr/>
            <p:nvPr/>
          </p:nvSpPr>
          <p:spPr>
            <a:xfrm>
              <a:off x="721728" y="3312807"/>
              <a:ext cx="10836000" cy="96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5950" tIns="0" rIns="12595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9" name="Google Shape;109;g3f7377a157b_0_62">
              <a:extLst>
                <a:ext uri="{FF2B5EF4-FFF2-40B4-BE49-F238E27FC236}">
                  <a16:creationId xmlns:a16="http://schemas.microsoft.com/office/drawing/2014/main" id="{CDB24AF8-F82E-9E46-F5C1-CF6395C40522}"/>
                </a:ext>
              </a:extLst>
            </p:cNvPr>
            <p:cNvSpPr/>
            <p:nvPr/>
          </p:nvSpPr>
          <p:spPr>
            <a:xfrm>
              <a:off x="3582423" y="1399485"/>
              <a:ext cx="9600" cy="33582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5950" tIns="62975" rIns="125950" bIns="629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0" name="Google Shape;110;g3f7377a157b_0_62">
              <a:extLst>
                <a:ext uri="{FF2B5EF4-FFF2-40B4-BE49-F238E27FC236}">
                  <a16:creationId xmlns:a16="http://schemas.microsoft.com/office/drawing/2014/main" id="{0F5BC991-F2DB-7E03-1F43-9C9A4386F3F2}"/>
                </a:ext>
              </a:extLst>
            </p:cNvPr>
            <p:cNvSpPr/>
            <p:nvPr/>
          </p:nvSpPr>
          <p:spPr>
            <a:xfrm>
              <a:off x="7570276" y="1399485"/>
              <a:ext cx="9600" cy="3358200"/>
            </a:xfrm>
            <a:prstGeom prst="rect">
              <a:avLst/>
            </a:prstGeom>
            <a:solidFill>
              <a:srgbClr val="000000">
                <a:alpha val="7840"/>
              </a:srgbClr>
            </a:solidFill>
            <a:ln>
              <a:noFill/>
            </a:ln>
          </p:spPr>
          <p:txBody>
            <a:bodyPr spcFirstLastPara="1" wrap="square" lIns="125950" tIns="62975" rIns="125950" bIns="629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1" name="Google Shape;111;g3f7377a157b_0_62">
              <a:extLst>
                <a:ext uri="{FF2B5EF4-FFF2-40B4-BE49-F238E27FC236}">
                  <a16:creationId xmlns:a16="http://schemas.microsoft.com/office/drawing/2014/main" id="{BB4B2769-29BA-E442-FC86-51F9BD72A72D}"/>
                </a:ext>
              </a:extLst>
            </p:cNvPr>
            <p:cNvSpPr/>
            <p:nvPr/>
          </p:nvSpPr>
          <p:spPr>
            <a:xfrm>
              <a:off x="689119" y="1406034"/>
              <a:ext cx="2894915" cy="465475"/>
            </a:xfrm>
            <a:custGeom>
              <a:avLst/>
              <a:gdLst/>
              <a:ahLst/>
              <a:cxnLst/>
              <a:rect l="l" t="t" r="r" b="b"/>
              <a:pathLst>
                <a:path w="2442642" h="332482" extrusionOk="0">
                  <a:moveTo>
                    <a:pt x="40703" y="0"/>
                  </a:moveTo>
                  <a:lnTo>
                    <a:pt x="2442642" y="0"/>
                  </a:lnTo>
                  <a:lnTo>
                    <a:pt x="2442642" y="332482"/>
                  </a:lnTo>
                  <a:lnTo>
                    <a:pt x="0" y="332482"/>
                  </a:lnTo>
                  <a:lnTo>
                    <a:pt x="0" y="40703"/>
                  </a:lnTo>
                  <a:cubicBezTo>
                    <a:pt x="0" y="18223"/>
                    <a:pt x="18223" y="0"/>
                    <a:pt x="40703" y="0"/>
                  </a:cubicBezTo>
                  <a:close/>
                </a:path>
              </a:pathLst>
            </a:custGeom>
            <a:solidFill>
              <a:srgbClr val="3C312D"/>
            </a:solidFill>
            <a:ln>
              <a:noFill/>
            </a:ln>
          </p:spPr>
          <p:txBody>
            <a:bodyPr spcFirstLastPara="1" wrap="square" lIns="125950" tIns="62975" rIns="125950" bIns="629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2" name="Google Shape;112;g3f7377a157b_0_62">
              <a:extLst>
                <a:ext uri="{FF2B5EF4-FFF2-40B4-BE49-F238E27FC236}">
                  <a16:creationId xmlns:a16="http://schemas.microsoft.com/office/drawing/2014/main" id="{28A2FBA4-46F4-3481-2749-120A3D8EC993}"/>
                </a:ext>
              </a:extLst>
            </p:cNvPr>
            <p:cNvSpPr/>
            <p:nvPr/>
          </p:nvSpPr>
          <p:spPr>
            <a:xfrm>
              <a:off x="898751" y="1504269"/>
              <a:ext cx="3156497" cy="25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評估維度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3" name="Google Shape;113;g3f7377a157b_0_62">
              <a:extLst>
                <a:ext uri="{FF2B5EF4-FFF2-40B4-BE49-F238E27FC236}">
                  <a16:creationId xmlns:a16="http://schemas.microsoft.com/office/drawing/2014/main" id="{5583B12E-E7E4-9C40-CCAA-3F768AE7E103}"/>
                </a:ext>
              </a:extLst>
            </p:cNvPr>
            <p:cNvSpPr/>
            <p:nvPr/>
          </p:nvSpPr>
          <p:spPr>
            <a:xfrm>
              <a:off x="3582423" y="1406034"/>
              <a:ext cx="3987300" cy="465000"/>
            </a:xfrm>
            <a:prstGeom prst="rect">
              <a:avLst/>
            </a:prstGeom>
            <a:solidFill>
              <a:srgbClr val="776660"/>
            </a:solidFill>
            <a:ln>
              <a:noFill/>
            </a:ln>
          </p:spPr>
          <p:txBody>
            <a:bodyPr spcFirstLastPara="1" wrap="square" lIns="125950" tIns="62975" rIns="125950" bIns="629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4" name="Google Shape;114;g3f7377a157b_0_62">
              <a:extLst>
                <a:ext uri="{FF2B5EF4-FFF2-40B4-BE49-F238E27FC236}">
                  <a16:creationId xmlns:a16="http://schemas.microsoft.com/office/drawing/2014/main" id="{EE306310-6154-130F-B6B0-05E09E5D4063}"/>
                </a:ext>
              </a:extLst>
            </p:cNvPr>
            <p:cNvSpPr/>
            <p:nvPr/>
          </p:nvSpPr>
          <p:spPr>
            <a:xfrm>
              <a:off x="3748164" y="1504269"/>
              <a:ext cx="42951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 dirty="0" err="1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傳統虛擬主機</a:t>
              </a:r>
              <a:r>
                <a:rPr lang="en-US" sz="1600" b="1" strike="noStrike" dirty="0">
                  <a:solidFill>
                    <a:srgbClr val="FFFFFF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(Compute Engine VM)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5" name="Google Shape;115;g3f7377a157b_0_62">
              <a:extLst>
                <a:ext uri="{FF2B5EF4-FFF2-40B4-BE49-F238E27FC236}">
                  <a16:creationId xmlns:a16="http://schemas.microsoft.com/office/drawing/2014/main" id="{FA8A1599-F76C-869F-EA21-023590EFE172}"/>
                </a:ext>
              </a:extLst>
            </p:cNvPr>
            <p:cNvSpPr/>
            <p:nvPr/>
          </p:nvSpPr>
          <p:spPr>
            <a:xfrm>
              <a:off x="7570276" y="1406034"/>
              <a:ext cx="3989665" cy="465475"/>
            </a:xfrm>
            <a:custGeom>
              <a:avLst/>
              <a:gdLst/>
              <a:ahLst/>
              <a:cxnLst/>
              <a:rect l="l" t="t" r="r" b="b"/>
              <a:pathLst>
                <a:path w="2849761" h="332482" extrusionOk="0">
                  <a:moveTo>
                    <a:pt x="0" y="0"/>
                  </a:moveTo>
                  <a:lnTo>
                    <a:pt x="2809058" y="0"/>
                  </a:lnTo>
                  <a:cubicBezTo>
                    <a:pt x="2819853" y="0"/>
                    <a:pt x="2830206" y="4288"/>
                    <a:pt x="2837839" y="11922"/>
                  </a:cubicBezTo>
                  <a:cubicBezTo>
                    <a:pt x="2845473" y="19555"/>
                    <a:pt x="2849761" y="29908"/>
                    <a:pt x="2849761" y="40703"/>
                  </a:cubicBezTo>
                  <a:lnTo>
                    <a:pt x="2849761" y="332482"/>
                  </a:lnTo>
                  <a:lnTo>
                    <a:pt x="0" y="332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825B"/>
            </a:solidFill>
            <a:ln>
              <a:noFill/>
            </a:ln>
          </p:spPr>
          <p:txBody>
            <a:bodyPr spcFirstLastPara="1" wrap="square" lIns="125950" tIns="62975" rIns="125950" bIns="629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6" name="Google Shape;116;g3f7377a157b_0_62">
              <a:extLst>
                <a:ext uri="{FF2B5EF4-FFF2-40B4-BE49-F238E27FC236}">
                  <a16:creationId xmlns:a16="http://schemas.microsoft.com/office/drawing/2014/main" id="{F371FB5D-3A97-03C9-D2A3-1FFD271A4E8E}"/>
                </a:ext>
              </a:extLst>
            </p:cNvPr>
            <p:cNvSpPr/>
            <p:nvPr/>
          </p:nvSpPr>
          <p:spPr>
            <a:xfrm>
              <a:off x="7736017" y="1504269"/>
              <a:ext cx="42987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272525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託管容器平台 (Google Cloud Run) </a:t>
              </a:r>
              <a:r>
                <a:rPr lang="en-US" sz="1600" b="0" strike="noStrik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🌟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7" name="Google Shape;117;g3f7377a157b_0_62">
              <a:extLst>
                <a:ext uri="{FF2B5EF4-FFF2-40B4-BE49-F238E27FC236}">
                  <a16:creationId xmlns:a16="http://schemas.microsoft.com/office/drawing/2014/main" id="{83EC634A-C03C-D41A-56C0-AFCB65717CFC}"/>
                </a:ext>
              </a:extLst>
            </p:cNvPr>
            <p:cNvSpPr/>
            <p:nvPr/>
          </p:nvSpPr>
          <p:spPr>
            <a:xfrm>
              <a:off x="898751" y="1972776"/>
              <a:ext cx="3156497" cy="25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維運負擔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8" name="Google Shape;118;g3f7377a157b_0_62">
              <a:extLst>
                <a:ext uri="{FF2B5EF4-FFF2-40B4-BE49-F238E27FC236}">
                  <a16:creationId xmlns:a16="http://schemas.microsoft.com/office/drawing/2014/main" id="{894C05DA-5EED-420D-0005-9F8A6D84306E}"/>
                </a:ext>
              </a:extLst>
            </p:cNvPr>
            <p:cNvSpPr/>
            <p:nvPr/>
          </p:nvSpPr>
          <p:spPr>
            <a:xfrm>
              <a:off x="3748164" y="1972776"/>
              <a:ext cx="36552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🔴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高。需自行更新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OS、安裝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Nginx、維護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SSL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憑證與資安修補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9" name="Google Shape;119;g3f7377a157b_0_62">
              <a:extLst>
                <a:ext uri="{FF2B5EF4-FFF2-40B4-BE49-F238E27FC236}">
                  <a16:creationId xmlns:a16="http://schemas.microsoft.com/office/drawing/2014/main" id="{653FADF2-18FB-D0FC-0669-9D43C857DA37}"/>
                </a:ext>
              </a:extLst>
            </p:cNvPr>
            <p:cNvSpPr/>
            <p:nvPr/>
          </p:nvSpPr>
          <p:spPr>
            <a:xfrm>
              <a:off x="7736017" y="1972776"/>
              <a:ext cx="36591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🟢</a:t>
              </a:r>
              <a:r>
                <a:rPr lang="en-US" sz="1600" b="0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零維運。Google 全託管，僅需提供 Docker Image，自動生成 HTTPS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0" name="Google Shape;120;g3f7377a157b_0_62">
              <a:extLst>
                <a:ext uri="{FF2B5EF4-FFF2-40B4-BE49-F238E27FC236}">
                  <a16:creationId xmlns:a16="http://schemas.microsoft.com/office/drawing/2014/main" id="{A6CE42F7-F947-AABA-50A9-629CA179F1C1}"/>
                </a:ext>
              </a:extLst>
            </p:cNvPr>
            <p:cNvSpPr/>
            <p:nvPr/>
          </p:nvSpPr>
          <p:spPr>
            <a:xfrm>
              <a:off x="898751" y="2693673"/>
              <a:ext cx="3156497" cy="25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計費模式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1" name="Google Shape;121;g3f7377a157b_0_62">
              <a:extLst>
                <a:ext uri="{FF2B5EF4-FFF2-40B4-BE49-F238E27FC236}">
                  <a16:creationId xmlns:a16="http://schemas.microsoft.com/office/drawing/2014/main" id="{3976B2DD-0BF9-DFF5-54AA-0C88FE55DBCD}"/>
                </a:ext>
              </a:extLst>
            </p:cNvPr>
            <p:cNvSpPr/>
            <p:nvPr/>
          </p:nvSpPr>
          <p:spPr>
            <a:xfrm>
              <a:off x="3748164" y="2693673"/>
              <a:ext cx="42951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🔴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持續扣款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。</a:t>
              </a:r>
            </a:p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閒置時（如深夜）仍需付費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2" name="Google Shape;122;g3f7377a157b_0_62">
              <a:extLst>
                <a:ext uri="{FF2B5EF4-FFF2-40B4-BE49-F238E27FC236}">
                  <a16:creationId xmlns:a16="http://schemas.microsoft.com/office/drawing/2014/main" id="{8B1C09CD-F955-AC13-A0FC-7465FA3290DA}"/>
                </a:ext>
              </a:extLst>
            </p:cNvPr>
            <p:cNvSpPr/>
            <p:nvPr/>
          </p:nvSpPr>
          <p:spPr>
            <a:xfrm>
              <a:off x="7736017" y="2693673"/>
              <a:ext cx="36591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按量計費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(Scale to Zero)。</a:t>
              </a:r>
            </a:p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離峰無流量時費用自動降至趨近於零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3" name="Google Shape;123;g3f7377a157b_0_62">
              <a:extLst>
                <a:ext uri="{FF2B5EF4-FFF2-40B4-BE49-F238E27FC236}">
                  <a16:creationId xmlns:a16="http://schemas.microsoft.com/office/drawing/2014/main" id="{0F8CC157-BE64-9086-F221-DE9DF3495DFE}"/>
                </a:ext>
              </a:extLst>
            </p:cNvPr>
            <p:cNvSpPr/>
            <p:nvPr/>
          </p:nvSpPr>
          <p:spPr>
            <a:xfrm>
              <a:off x="898751" y="3414569"/>
              <a:ext cx="3156497" cy="25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彈性擴展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4" name="Google Shape;124;g3f7377a157b_0_62">
              <a:extLst>
                <a:ext uri="{FF2B5EF4-FFF2-40B4-BE49-F238E27FC236}">
                  <a16:creationId xmlns:a16="http://schemas.microsoft.com/office/drawing/2014/main" id="{E65A7E5D-C0D5-28BB-0D26-5FB404D93CF4}"/>
                </a:ext>
              </a:extLst>
            </p:cNvPr>
            <p:cNvSpPr/>
            <p:nvPr/>
          </p:nvSpPr>
          <p:spPr>
            <a:xfrm>
              <a:off x="3748164" y="3414569"/>
              <a:ext cx="36552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🟡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較慢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(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分級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)。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需複雜設定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Load Balancer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與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Instance Group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5" name="Google Shape;125;g3f7377a157b_0_62">
              <a:extLst>
                <a:ext uri="{FF2B5EF4-FFF2-40B4-BE49-F238E27FC236}">
                  <a16:creationId xmlns:a16="http://schemas.microsoft.com/office/drawing/2014/main" id="{1B302993-5CB9-CC9C-3293-49C5E3B1B99C}"/>
                </a:ext>
              </a:extLst>
            </p:cNvPr>
            <p:cNvSpPr/>
            <p:nvPr/>
          </p:nvSpPr>
          <p:spPr>
            <a:xfrm>
              <a:off x="7736016" y="3414569"/>
              <a:ext cx="3828465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秒級自動擴展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。</a:t>
              </a:r>
            </a:p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輕鬆因應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LINE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訊息推播時的突發峰值流量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6" name="Google Shape;126;g3f7377a157b_0_62">
              <a:extLst>
                <a:ext uri="{FF2B5EF4-FFF2-40B4-BE49-F238E27FC236}">
                  <a16:creationId xmlns:a16="http://schemas.microsoft.com/office/drawing/2014/main" id="{0ADD1C98-89A0-CE2F-45E0-7B9D5BE8A8C6}"/>
                </a:ext>
              </a:extLst>
            </p:cNvPr>
            <p:cNvSpPr/>
            <p:nvPr/>
          </p:nvSpPr>
          <p:spPr>
            <a:xfrm>
              <a:off x="898751" y="4135466"/>
              <a:ext cx="3156497" cy="25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strike="noStrike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部署體驗</a:t>
              </a:r>
              <a:endParaRPr sz="1600" b="0" strike="noStrik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7" name="Google Shape;127;g3f7377a157b_0_62">
              <a:extLst>
                <a:ext uri="{FF2B5EF4-FFF2-40B4-BE49-F238E27FC236}">
                  <a16:creationId xmlns:a16="http://schemas.microsoft.com/office/drawing/2014/main" id="{93846995-5781-6923-7DE4-F7614A837994}"/>
                </a:ext>
              </a:extLst>
            </p:cNvPr>
            <p:cNvSpPr/>
            <p:nvPr/>
          </p:nvSpPr>
          <p:spPr>
            <a:xfrm>
              <a:off x="3748164" y="4135466"/>
              <a:ext cx="42951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🟡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較繁瑣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。</a:t>
              </a:r>
            </a:p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需手動或撰寫腳本配置主機環境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8" name="Google Shape;128;g3f7377a157b_0_62">
              <a:extLst>
                <a:ext uri="{FF2B5EF4-FFF2-40B4-BE49-F238E27FC236}">
                  <a16:creationId xmlns:a16="http://schemas.microsoft.com/office/drawing/2014/main" id="{E1ED419A-A032-45D5-4731-673D7300028D}"/>
                </a:ext>
              </a:extLst>
            </p:cNvPr>
            <p:cNvSpPr/>
            <p:nvPr/>
          </p:nvSpPr>
          <p:spPr>
            <a:xfrm>
              <a:off x="7736017" y="4135466"/>
              <a:ext cx="36591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🟢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原生容器化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。</a:t>
              </a:r>
            </a:p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與專案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Docker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架構</a:t>
              </a:r>
              <a:r>
                <a:rPr lang="en-US" sz="1600" b="0" strike="noStrik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 100% </a:t>
              </a:r>
              <a:r>
                <a:rPr lang="en-US" sz="1600" b="0" strike="noStrik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Noto Sans TC"/>
                  <a:sym typeface="Noto Sans TC"/>
                </a:rPr>
                <a:t>完美契合</a:t>
              </a:r>
              <a:endParaRPr sz="1600" b="0" strike="noStrik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33" name="統一章節標記">
            <a:extLst>
              <a:ext uri="{FF2B5EF4-FFF2-40B4-BE49-F238E27FC236}">
                <a16:creationId xmlns:a16="http://schemas.microsoft.com/office/drawing/2014/main" id="{C47ADE11-F2A3-3211-4057-1289AF24C912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34" name="Shape 93">
            <a:extLst>
              <a:ext uri="{FF2B5EF4-FFF2-40B4-BE49-F238E27FC236}">
                <a16:creationId xmlns:a16="http://schemas.microsoft.com/office/drawing/2014/main" id="{D0A64BC0-626E-6A41-380A-25CBEFF0C465}"/>
              </a:ext>
            </a:extLst>
          </p:cNvPr>
          <p:cNvSpPr>
            <a:spLocks noGrp="1"/>
          </p:cNvSpPr>
          <p:nvPr/>
        </p:nvSpPr>
        <p:spPr>
          <a:xfrm>
            <a:off x="612832" y="597198"/>
            <a:ext cx="7007168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>
              <a:lnSpc>
                <a:spcPct val="104000"/>
              </a:lnSpc>
            </a:pPr>
            <a:r>
              <a:rPr lang="zh-TW" altLang="en-US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雲端平台選型：</a:t>
            </a:r>
            <a:r>
              <a:rPr lang="en-US" altLang="zh-TW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Cloud Run</a:t>
            </a:r>
            <a:r>
              <a:rPr lang="zh-TW" altLang="en-US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 </a:t>
            </a:r>
            <a:r>
              <a:rPr lang="en-US" altLang="zh-TW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vs. </a:t>
            </a:r>
            <a:r>
              <a:rPr lang="zh-TW" altLang="en-US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傳統</a:t>
            </a:r>
            <a:r>
              <a:rPr lang="en-US" altLang="zh-TW" sz="3200" b="1" dirty="0">
                <a:solidFill>
                  <a:srgbClr val="3B302C"/>
                </a:solidFill>
                <a:latin typeface="Noto Sans TC"/>
                <a:ea typeface="Noto Sans TC"/>
                <a:cs typeface="Noto Sans TC"/>
                <a:sym typeface="Noto Sans TC"/>
              </a:rPr>
              <a:t>VM</a:t>
            </a:r>
            <a:endParaRPr lang="en-US" altLang="zh-TW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4250EE67-F539-808A-A70D-8C8597931D4F}"/>
              </a:ext>
            </a:extLst>
          </p:cNvPr>
          <p:cNvGrpSpPr/>
          <p:nvPr/>
        </p:nvGrpSpPr>
        <p:grpSpPr>
          <a:xfrm>
            <a:off x="514979" y="5029116"/>
            <a:ext cx="11162042" cy="990000"/>
            <a:chOff x="305698" y="5524289"/>
            <a:chExt cx="11162042" cy="990000"/>
          </a:xfrm>
        </p:grpSpPr>
        <p:pic>
          <p:nvPicPr>
            <p:cNvPr id="38" name="Google Shape;95;p3" descr="preencoded.png">
              <a:extLst>
                <a:ext uri="{FF2B5EF4-FFF2-40B4-BE49-F238E27FC236}">
                  <a16:creationId xmlns:a16="http://schemas.microsoft.com/office/drawing/2014/main" id="{DB82F2CC-7ADC-C59B-F3F3-4E62BF00BD2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05698" y="5524289"/>
              <a:ext cx="384494" cy="3443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100;p5">
              <a:extLst>
                <a:ext uri="{FF2B5EF4-FFF2-40B4-BE49-F238E27FC236}">
                  <a16:creationId xmlns:a16="http://schemas.microsoft.com/office/drawing/2014/main" id="{4D0B247D-8AC3-E773-7BBC-42467BDC760B}"/>
                </a:ext>
              </a:extLst>
            </p:cNvPr>
            <p:cNvSpPr/>
            <p:nvPr/>
          </p:nvSpPr>
          <p:spPr>
            <a:xfrm>
              <a:off x="724260" y="5524289"/>
              <a:ext cx="10743480" cy="990000"/>
            </a:xfrm>
            <a:prstGeom prst="roundRect">
              <a:avLst>
                <a:gd name="adj" fmla="val 11538"/>
              </a:avLst>
            </a:prstGeom>
            <a:solidFill>
              <a:srgbClr val="F5DFD6"/>
            </a:solidFill>
            <a:ln w="9525" cap="flat" cmpd="sng">
              <a:solidFill>
                <a:srgbClr val="C950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lvl="0">
                <a:lnSpc>
                  <a:spcPct val="129000"/>
                </a:lnSpc>
              </a:pPr>
              <a:r>
                <a:rPr lang="zh-TW" altLang="en-US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綜合評估維運、成本、擴展與部署體驗，</a:t>
              </a:r>
              <a:r>
                <a:rPr lang="en-US" altLang="zh-TW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Google Cloud Run </a:t>
              </a:r>
              <a:r>
                <a:rPr lang="zh-TW" altLang="en-US" dirty="0">
                  <a:solidFill>
                    <a:srgbClr val="000000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以其高度託管、彈性計費及原生容器支援的優勢，成為雲端運算層的最佳選擇，大幅簡化管理並最佳化成本。</a:t>
              </a:r>
              <a:endParaRPr lang="zh-TW" alt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Shape 93">
            <a:extLst>
              <a:ext uri="{FF2B5EF4-FFF2-40B4-BE49-F238E27FC236}">
                <a16:creationId xmlns:a16="http://schemas.microsoft.com/office/drawing/2014/main" id="{C31A0939-5232-0398-A0BF-3A3E0F2973AC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E92B50D-43F2-2E96-113D-2B70DAAB1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3BE644F9-63A5-5286-E483-8AD75208D4E2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38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CF4E2F19-660C-CEEF-DD97-E4052194B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F1FC20EA-5C59-D985-BC32-4329A4F5F1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225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8209818-F21F-6BC7-0556-1221CDC2D36C}"/>
              </a:ext>
            </a:extLst>
          </p:cNvPr>
          <p:cNvSpPr txBox="1"/>
          <p:nvPr/>
        </p:nvSpPr>
        <p:spPr>
          <a:xfrm>
            <a:off x="612834" y="1197311"/>
            <a:ext cx="1033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400" b="1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結論｜安全與省錢平衡首選「單一</a:t>
            </a:r>
            <a:r>
              <a:rPr kumimoji="1" lang="en-US" altLang="zh-TW" sz="1400" b="1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Cloud VPN tunnel</a:t>
            </a:r>
            <a:r>
              <a:rPr kumimoji="1" lang="zh-TW" altLang="en-US" sz="1400" b="1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」；預算壓力更高且可接受可用性下降時，才選</a:t>
            </a:r>
            <a:r>
              <a:rPr kumimoji="1" lang="en-US" altLang="zh-TW" sz="1400" b="1" dirty="0" err="1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Tailscaie</a:t>
            </a:r>
            <a:r>
              <a:rPr kumimoji="1" lang="zh-TW" altLang="en-US" sz="1400" b="1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。公開</a:t>
            </a:r>
            <a:r>
              <a:rPr kumimoji="1" lang="en-US" altLang="zh-TW" sz="1400" b="1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3306</a:t>
            </a:r>
            <a:r>
              <a:rPr kumimoji="1" lang="zh-TW" altLang="en-US" sz="1400" b="1" dirty="0">
                <a:solidFill>
                  <a:schemeClr val="accent2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不建議</a:t>
            </a:r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B9AAFD75-6B23-1B57-8A63-6AC9A028E6EF}"/>
              </a:ext>
            </a:extLst>
          </p:cNvPr>
          <p:cNvSpPr>
            <a:spLocks noGrp="1"/>
          </p:cNvSpPr>
          <p:nvPr/>
        </p:nvSpPr>
        <p:spPr>
          <a:xfrm>
            <a:off x="612834" y="597198"/>
            <a:ext cx="6160499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en-US" altLang="zh-TW" sz="32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Cloud Run </a:t>
            </a:r>
            <a:r>
              <a:rPr lang="en-US" altLang="zh-TW" sz="32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Wingdings" pitchFamily="2" charset="2"/>
              </a:rPr>
              <a:t></a:t>
            </a:r>
            <a:r>
              <a:rPr lang="zh-TW" altLang="en-US" sz="32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Wingdings" pitchFamily="2" charset="2"/>
              </a:rPr>
              <a:t>地端</a:t>
            </a:r>
            <a:r>
              <a:rPr lang="en-US" altLang="zh-TW" sz="32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Wingdings" pitchFamily="2" charset="2"/>
              </a:rPr>
              <a:t>NAS MySQL</a:t>
            </a:r>
            <a:endParaRPr lang="zh-TW" altLang="en-US" sz="3200" b="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" name="統一章節標記">
            <a:extLst>
              <a:ext uri="{FF2B5EF4-FFF2-40B4-BE49-F238E27FC236}">
                <a16:creationId xmlns:a16="http://schemas.microsoft.com/office/drawing/2014/main" id="{6C6E6453-DB86-3913-167C-53956065A1FB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9" name="Shape 93">
            <a:extLst>
              <a:ext uri="{FF2B5EF4-FFF2-40B4-BE49-F238E27FC236}">
                <a16:creationId xmlns:a16="http://schemas.microsoft.com/office/drawing/2014/main" id="{E0AAF9EE-A5E2-6CA9-C018-915078708686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5B039DA-932C-B523-2F95-C3EBDB825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72495FE-7FA4-D5D4-ECFB-7DB0A3029194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39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A175278-FB11-7612-010A-7D02D01B1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9DAB7AD9-01D2-7F04-8416-879DD1177723}"/>
              </a:ext>
            </a:extLst>
          </p:cNvPr>
          <p:cNvPicPr/>
          <p:nvPr/>
        </p:nvPicPr>
        <p:blipFill>
          <a:blip r:embed="rId4"/>
          <a:srcRect t="17158" b="19960"/>
          <a:stretch>
            <a:fillRect/>
          </a:stretch>
        </p:blipFill>
        <p:spPr>
          <a:xfrm rot="1800">
            <a:off x="1866286" y="1502873"/>
            <a:ext cx="8459428" cy="4562952"/>
          </a:xfrm>
          <a:prstGeom prst="rect">
            <a:avLst/>
          </a:prstGeom>
          <a:ln w="0">
            <a:noFill/>
          </a:ln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7022257-1BDF-BF22-FA5B-5EC3CDEAE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5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5">
            <a:extLst>
              <a:ext uri="{FF2B5EF4-FFF2-40B4-BE49-F238E27FC236}">
                <a16:creationId xmlns:a16="http://schemas.microsoft.com/office/drawing/2014/main" id="{E99C5382-4E5B-C0C1-F911-8117E2B6F8C6}"/>
              </a:ext>
            </a:extLst>
          </p:cNvPr>
          <p:cNvSpPr/>
          <p:nvPr/>
        </p:nvSpPr>
        <p:spPr>
          <a:xfrm>
            <a:off x="552600" y="1619280"/>
            <a:ext cx="3332880" cy="2856960"/>
          </a:xfrm>
          <a:prstGeom prst="roundRect">
            <a:avLst>
              <a:gd name="adj" fmla="val 4000"/>
            </a:avLst>
          </a:prstGeom>
          <a:solidFill>
            <a:srgbClr val="F5DFD6"/>
          </a:solidFill>
          <a:ln w="9525" cap="flat" cmpd="sng">
            <a:solidFill>
              <a:srgbClr val="D982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" name="Google Shape;89;p5">
            <a:extLst>
              <a:ext uri="{FF2B5EF4-FFF2-40B4-BE49-F238E27FC236}">
                <a16:creationId xmlns:a16="http://schemas.microsoft.com/office/drawing/2014/main" id="{7632FF89-5A4B-8ACC-FE1C-9906B4797320}"/>
              </a:ext>
            </a:extLst>
          </p:cNvPr>
          <p:cNvSpPr/>
          <p:nvPr/>
        </p:nvSpPr>
        <p:spPr>
          <a:xfrm>
            <a:off x="800280" y="1847880"/>
            <a:ext cx="761400" cy="39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D982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01</a:t>
            </a:r>
            <a:endParaRPr sz="28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4" name="Google Shape;90;p5">
            <a:extLst>
              <a:ext uri="{FF2B5EF4-FFF2-40B4-BE49-F238E27FC236}">
                <a16:creationId xmlns:a16="http://schemas.microsoft.com/office/drawing/2014/main" id="{9F695DC0-A95F-5945-9808-91FBEDBF18B3}"/>
              </a:ext>
            </a:extLst>
          </p:cNvPr>
          <p:cNvSpPr/>
          <p:nvPr/>
        </p:nvSpPr>
        <p:spPr>
          <a:xfrm>
            <a:off x="800280" y="2476440"/>
            <a:ext cx="2837880" cy="39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安全不退讓</a:t>
            </a:r>
            <a:endParaRPr sz="28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5" name="Google Shape;91;p5">
            <a:extLst>
              <a:ext uri="{FF2B5EF4-FFF2-40B4-BE49-F238E27FC236}">
                <a16:creationId xmlns:a16="http://schemas.microsoft.com/office/drawing/2014/main" id="{9CCDF3D1-4CBF-38F8-6CFB-DCE433EB1DB6}"/>
              </a:ext>
            </a:extLst>
          </p:cNvPr>
          <p:cNvSpPr/>
          <p:nvPr/>
        </p:nvSpPr>
        <p:spPr>
          <a:xfrm>
            <a:off x="800280" y="3104999"/>
            <a:ext cx="2837880" cy="112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3306 </a:t>
            </a:r>
            <a:r>
              <a:rPr lang="en-US" sz="2400" b="0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不公開</a:t>
            </a:r>
            <a:endParaRPr sz="24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VPN＋MySQL</a:t>
            </a:r>
            <a:r>
              <a:rPr lang="en-US" sz="2400" b="0" i="0" u="none" strike="noStrike" cap="non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mTLS</a:t>
            </a:r>
            <a:endParaRPr sz="24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6" name="Google Shape;92;p5">
            <a:extLst>
              <a:ext uri="{FF2B5EF4-FFF2-40B4-BE49-F238E27FC236}">
                <a16:creationId xmlns:a16="http://schemas.microsoft.com/office/drawing/2014/main" id="{A3E18ECF-7425-DB06-B48D-28AB39941B87}"/>
              </a:ext>
            </a:extLst>
          </p:cNvPr>
          <p:cNvSpPr/>
          <p:nvPr/>
        </p:nvSpPr>
        <p:spPr>
          <a:xfrm>
            <a:off x="4248000" y="1619280"/>
            <a:ext cx="3332880" cy="2856960"/>
          </a:xfrm>
          <a:prstGeom prst="roundRect">
            <a:avLst>
              <a:gd name="adj" fmla="val 4000"/>
            </a:avLst>
          </a:prstGeom>
          <a:solidFill>
            <a:srgbClr val="F5DFD6"/>
          </a:solidFill>
          <a:ln w="9525" cap="flat" cmpd="sng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3;p5">
            <a:extLst>
              <a:ext uri="{FF2B5EF4-FFF2-40B4-BE49-F238E27FC236}">
                <a16:creationId xmlns:a16="http://schemas.microsoft.com/office/drawing/2014/main" id="{B42E4E4C-750C-5FB3-3F5B-C03C02A8C6DB}"/>
              </a:ext>
            </a:extLst>
          </p:cNvPr>
          <p:cNvSpPr/>
          <p:nvPr/>
        </p:nvSpPr>
        <p:spPr>
          <a:xfrm>
            <a:off x="4495680" y="1847880"/>
            <a:ext cx="761400" cy="39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70AD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02</a:t>
            </a:r>
            <a:endParaRPr sz="2800" b="0" i="0" u="none" strike="noStrike" cap="none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" name="Google Shape;94;p5">
            <a:extLst>
              <a:ext uri="{FF2B5EF4-FFF2-40B4-BE49-F238E27FC236}">
                <a16:creationId xmlns:a16="http://schemas.microsoft.com/office/drawing/2014/main" id="{A9F87E97-96A9-7007-3FFF-9D49595901F6}"/>
              </a:ext>
            </a:extLst>
          </p:cNvPr>
          <p:cNvSpPr/>
          <p:nvPr/>
        </p:nvSpPr>
        <p:spPr>
          <a:xfrm>
            <a:off x="4495680" y="2476440"/>
            <a:ext cx="2837880" cy="39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成本可控</a:t>
            </a:r>
            <a:endParaRPr sz="2800" b="0" i="0" u="none" strike="noStrike" cap="none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" name="Google Shape;95;p5">
            <a:extLst>
              <a:ext uri="{FF2B5EF4-FFF2-40B4-BE49-F238E27FC236}">
                <a16:creationId xmlns:a16="http://schemas.microsoft.com/office/drawing/2014/main" id="{DBB37349-2BCD-93FD-4CDA-C9C0D5ED004F}"/>
              </a:ext>
            </a:extLst>
          </p:cNvPr>
          <p:cNvSpPr/>
          <p:nvPr/>
        </p:nvSpPr>
        <p:spPr>
          <a:xfrm>
            <a:off x="4495680" y="3105000"/>
            <a:ext cx="2837880" cy="7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比雙</a:t>
            </a:r>
            <a:r>
              <a:rPr lang="en-US" sz="2400" b="0" i="0" u="none" strike="noStrike" cap="non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tunnel </a:t>
            </a:r>
            <a:r>
              <a:rPr lang="en-US" sz="2400" b="0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少約</a:t>
            </a:r>
            <a:endParaRPr sz="24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USD 36.5／月</a:t>
            </a:r>
            <a:endParaRPr sz="24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" name="Google Shape;96;p5">
            <a:extLst>
              <a:ext uri="{FF2B5EF4-FFF2-40B4-BE49-F238E27FC236}">
                <a16:creationId xmlns:a16="http://schemas.microsoft.com/office/drawing/2014/main" id="{2490157B-11F9-8FEB-39B3-EBB32FE7FD90}"/>
              </a:ext>
            </a:extLst>
          </p:cNvPr>
          <p:cNvSpPr/>
          <p:nvPr/>
        </p:nvSpPr>
        <p:spPr>
          <a:xfrm>
            <a:off x="7943760" y="1619280"/>
            <a:ext cx="3332880" cy="2856960"/>
          </a:xfrm>
          <a:prstGeom prst="roundRect">
            <a:avLst>
              <a:gd name="adj" fmla="val 4000"/>
            </a:avLst>
          </a:prstGeom>
          <a:solidFill>
            <a:srgbClr val="F5DFD6"/>
          </a:solidFill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1" name="Google Shape;97;p5">
            <a:extLst>
              <a:ext uri="{FF2B5EF4-FFF2-40B4-BE49-F238E27FC236}">
                <a16:creationId xmlns:a16="http://schemas.microsoft.com/office/drawing/2014/main" id="{A4599BEB-683C-82D8-CE61-0FBE38838C62}"/>
              </a:ext>
            </a:extLst>
          </p:cNvPr>
          <p:cNvSpPr/>
          <p:nvPr/>
        </p:nvSpPr>
        <p:spPr>
          <a:xfrm>
            <a:off x="8191440" y="1847880"/>
            <a:ext cx="761400" cy="39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03</a:t>
            </a:r>
            <a:endParaRPr sz="2800" b="0" i="0" u="none" strike="noStrike" cap="none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2" name="Google Shape;98;p5">
            <a:extLst>
              <a:ext uri="{FF2B5EF4-FFF2-40B4-BE49-F238E27FC236}">
                <a16:creationId xmlns:a16="http://schemas.microsoft.com/office/drawing/2014/main" id="{DC474CE3-229B-F6C3-231A-AE395BDE6D4A}"/>
              </a:ext>
            </a:extLst>
          </p:cNvPr>
          <p:cNvSpPr/>
          <p:nvPr/>
        </p:nvSpPr>
        <p:spPr>
          <a:xfrm>
            <a:off x="8191440" y="2476440"/>
            <a:ext cx="2837880" cy="39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保留升級空間</a:t>
            </a:r>
            <a:endParaRPr sz="2800" b="0" i="0" u="none" strike="noStrike" cap="none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3" name="Google Shape;99;p5">
            <a:extLst>
              <a:ext uri="{FF2B5EF4-FFF2-40B4-BE49-F238E27FC236}">
                <a16:creationId xmlns:a16="http://schemas.microsoft.com/office/drawing/2014/main" id="{60AA7DDC-3A6A-D442-2123-2EDFEA111B82}"/>
              </a:ext>
            </a:extLst>
          </p:cNvPr>
          <p:cNvSpPr/>
          <p:nvPr/>
        </p:nvSpPr>
        <p:spPr>
          <a:xfrm>
            <a:off x="8191440" y="3105000"/>
            <a:ext cx="2837880" cy="7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預留第二</a:t>
            </a:r>
            <a:r>
              <a:rPr lang="en-US" sz="2400" b="0" i="0" u="none" strike="noStrike" cap="non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interface</a:t>
            </a:r>
            <a:endParaRPr sz="24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與</a:t>
            </a:r>
            <a:r>
              <a:rPr lang="en-US" sz="2400" b="0" i="0" u="none" strike="noStrike" cap="non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BGP session</a:t>
            </a:r>
            <a:endParaRPr sz="24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4" name="Google Shape;100;p5">
            <a:extLst>
              <a:ext uri="{FF2B5EF4-FFF2-40B4-BE49-F238E27FC236}">
                <a16:creationId xmlns:a16="http://schemas.microsoft.com/office/drawing/2014/main" id="{18B83215-20A6-C947-7671-F16C9559458C}"/>
              </a:ext>
            </a:extLst>
          </p:cNvPr>
          <p:cNvSpPr/>
          <p:nvPr/>
        </p:nvSpPr>
        <p:spPr>
          <a:xfrm>
            <a:off x="552600" y="4905360"/>
            <a:ext cx="10743480" cy="990000"/>
          </a:xfrm>
          <a:prstGeom prst="roundRect">
            <a:avLst>
              <a:gd name="adj" fmla="val 11538"/>
            </a:avLst>
          </a:prstGeom>
          <a:solidFill>
            <a:srgbClr val="F5DFD6"/>
          </a:solidFill>
          <a:ln w="9525" cap="flat" cmpd="sng">
            <a:solidFill>
              <a:srgbClr val="C950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01;p5">
            <a:extLst>
              <a:ext uri="{FF2B5EF4-FFF2-40B4-BE49-F238E27FC236}">
                <a16:creationId xmlns:a16="http://schemas.microsoft.com/office/drawing/2014/main" id="{C0C4051F-E55C-795C-FA99-F7B9503850A6}"/>
              </a:ext>
            </a:extLst>
          </p:cNvPr>
          <p:cNvSpPr/>
          <p:nvPr/>
        </p:nvSpPr>
        <p:spPr>
          <a:xfrm>
            <a:off x="695340" y="5209990"/>
            <a:ext cx="10458001" cy="38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r>
              <a:rPr lang="en-US" sz="2000" b="1" i="0" u="none" strike="noStrike" cap="none" dirty="0" err="1">
                <a:solidFill>
                  <a:srgbClr val="C9503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接受的代價</a:t>
            </a:r>
            <a:r>
              <a:rPr lang="zh-TW" altLang="en-US" sz="2000" b="1" i="0" u="none" strike="noStrike" cap="none" dirty="0">
                <a:solidFill>
                  <a:srgbClr val="C9503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｜</a:t>
            </a:r>
            <a:r>
              <a:rPr lang="zh-TW" altLang="en-US" sz="20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單一 </a:t>
            </a:r>
            <a:r>
              <a:rPr lang="en-US" altLang="zh-TW" sz="20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tunnel </a:t>
            </a:r>
            <a:r>
              <a:rPr lang="zh-TW" altLang="en-US" sz="20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是明確單點；故障時 </a:t>
            </a:r>
            <a:r>
              <a:rPr lang="en-US" altLang="zh-TW" sz="20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DB </a:t>
            </a:r>
            <a:r>
              <a:rPr lang="zh-TW" altLang="en-US" sz="20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暫時不可達，不宣稱 </a:t>
            </a:r>
            <a:r>
              <a:rPr lang="en-US" altLang="zh-TW" sz="20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99.99% VPN SLA</a:t>
            </a:r>
            <a:endParaRPr lang="en-US" altLang="zh-TW" sz="20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8" name="Shape 93">
            <a:extLst>
              <a:ext uri="{FF2B5EF4-FFF2-40B4-BE49-F238E27FC236}">
                <a16:creationId xmlns:a16="http://schemas.microsoft.com/office/drawing/2014/main" id="{46C4BEAD-16DC-BE04-E686-12964122EC80}"/>
              </a:ext>
            </a:extLst>
          </p:cNvPr>
          <p:cNvSpPr>
            <a:spLocks noGrp="1"/>
          </p:cNvSpPr>
          <p:nvPr/>
        </p:nvSpPr>
        <p:spPr>
          <a:xfrm>
            <a:off x="612834" y="597198"/>
            <a:ext cx="7916128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單一 </a:t>
            </a:r>
            <a:r>
              <a:rPr lang="en-US" altLang="zh-TW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Cloud VPN</a:t>
            </a:r>
            <a:r>
              <a:rPr lang="zh-TW" altLang="en-US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：兼顧安全、成本與風險</a:t>
            </a:r>
            <a:endParaRPr lang="zh-TW" altLang="en-US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9" name="統一章節標記">
            <a:extLst>
              <a:ext uri="{FF2B5EF4-FFF2-40B4-BE49-F238E27FC236}">
                <a16:creationId xmlns:a16="http://schemas.microsoft.com/office/drawing/2014/main" id="{54FD83CE-643C-3E5D-C7F4-8B0C951ADBDD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20" name="Shape 93">
            <a:extLst>
              <a:ext uri="{FF2B5EF4-FFF2-40B4-BE49-F238E27FC236}">
                <a16:creationId xmlns:a16="http://schemas.microsoft.com/office/drawing/2014/main" id="{8FCA98A2-54AA-2B6A-1D48-6F09BF8BB798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30C5068F-C451-B91C-132C-85D8A7E86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5B35D10F-A9D0-C0AC-8904-BB175647A0CE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F02424F2-82D8-62B4-4E4F-A3FEE7E1B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A821FAC6-B529-C7F0-8999-5986C1B1C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799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B88B68B-CDAB-29BC-3C70-6650B11866C9}"/>
              </a:ext>
            </a:extLst>
          </p:cNvPr>
          <p:cNvSpPr txBox="1"/>
          <p:nvPr/>
        </p:nvSpPr>
        <p:spPr>
          <a:xfrm>
            <a:off x="612833" y="1257578"/>
            <a:ext cx="3214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單一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Cloud VPN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雲端部署架構</a:t>
            </a:r>
          </a:p>
        </p:txBody>
      </p:sp>
      <p:sp>
        <p:nvSpPr>
          <p:cNvPr id="6" name="Shape 93">
            <a:extLst>
              <a:ext uri="{FF2B5EF4-FFF2-40B4-BE49-F238E27FC236}">
                <a16:creationId xmlns:a16="http://schemas.microsoft.com/office/drawing/2014/main" id="{62FDD21B-8423-06A1-2002-CD0526A56EA5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8740217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/>
            <a:r>
              <a:rPr lang="zh-TW" altLang="en-US" sz="3200" b="1" dirty="0">
                <a:solidFill>
                  <a:srgbClr val="3B302C"/>
                </a:solidFill>
                <a:latin typeface="Arial"/>
                <a:ea typeface="Arial"/>
                <a:cs typeface="Arial"/>
                <a:sym typeface="Arial"/>
              </a:rPr>
              <a:t>架構：只有 </a:t>
            </a:r>
            <a:r>
              <a:rPr lang="en-US" altLang="zh-TW" sz="3200" b="1" dirty="0">
                <a:solidFill>
                  <a:srgbClr val="3B302C"/>
                </a:solidFill>
                <a:latin typeface="Arial"/>
                <a:ea typeface="Arial"/>
                <a:cs typeface="Arial"/>
                <a:sym typeface="Arial"/>
              </a:rPr>
              <a:t>Business API </a:t>
            </a:r>
            <a:r>
              <a:rPr lang="zh-TW" altLang="en-US" sz="3200" b="1" dirty="0">
                <a:solidFill>
                  <a:srgbClr val="3B302C"/>
                </a:solidFill>
                <a:latin typeface="Arial"/>
                <a:ea typeface="Arial"/>
                <a:cs typeface="Arial"/>
                <a:sym typeface="Arial"/>
              </a:rPr>
              <a:t>能經 </a:t>
            </a:r>
            <a:r>
              <a:rPr lang="en-US" altLang="zh-TW" sz="3200" b="1" dirty="0">
                <a:solidFill>
                  <a:srgbClr val="3B302C"/>
                </a:solidFill>
                <a:latin typeface="Arial"/>
                <a:ea typeface="Arial"/>
                <a:cs typeface="Arial"/>
                <a:sym typeface="Arial"/>
              </a:rPr>
              <a:t>VPN </a:t>
            </a:r>
            <a:r>
              <a:rPr lang="zh-TW" altLang="en-US" sz="3200" b="1" dirty="0">
                <a:solidFill>
                  <a:srgbClr val="3B302C"/>
                </a:solidFill>
                <a:latin typeface="Arial"/>
                <a:ea typeface="Arial"/>
                <a:cs typeface="Arial"/>
                <a:sym typeface="Arial"/>
              </a:rPr>
              <a:t>連資料庫</a:t>
            </a:r>
            <a:endParaRPr lang="zh-TW" alt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統一章節標記">
            <a:extLst>
              <a:ext uri="{FF2B5EF4-FFF2-40B4-BE49-F238E27FC236}">
                <a16:creationId xmlns:a16="http://schemas.microsoft.com/office/drawing/2014/main" id="{04E97C7C-2573-D255-40CA-6E8352C18336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10" name="Shape 93">
            <a:extLst>
              <a:ext uri="{FF2B5EF4-FFF2-40B4-BE49-F238E27FC236}">
                <a16:creationId xmlns:a16="http://schemas.microsoft.com/office/drawing/2014/main" id="{A8D16722-A172-1E6D-293E-C681E46F0556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03CBB00-23FD-7797-C243-8DE877AC3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1C2B9116-B00A-B675-D6E6-A47D1F9BDE0E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9B4601C-AFD1-6CF5-B5DE-E4AF1366F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39C48B9-F16E-6B9A-E6CD-13FEC06C5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0F335F6-E61A-90D3-77E2-B29BA6A41096}"/>
              </a:ext>
            </a:extLst>
          </p:cNvPr>
          <p:cNvPicPr/>
          <p:nvPr/>
        </p:nvPicPr>
        <p:blipFill>
          <a:blip r:embed="rId6"/>
          <a:srcRect t="8494" b="16542"/>
          <a:stretch>
            <a:fillRect/>
          </a:stretch>
        </p:blipFill>
        <p:spPr>
          <a:xfrm>
            <a:off x="612833" y="1626910"/>
            <a:ext cx="11129402" cy="4565791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464489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DF6A17A-C376-09D3-F816-4FF7CF7F001A}"/>
              </a:ext>
            </a:extLst>
          </p:cNvPr>
          <p:cNvSpPr txBox="1"/>
          <p:nvPr/>
        </p:nvSpPr>
        <p:spPr>
          <a:xfrm>
            <a:off x="688623" y="124148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內部服務架構流程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902081C-4D4E-9D86-5FB3-9513F42ED4C2}"/>
              </a:ext>
            </a:extLst>
          </p:cNvPr>
          <p:cNvSpPr txBox="1"/>
          <p:nvPr/>
        </p:nvSpPr>
        <p:spPr>
          <a:xfrm>
            <a:off x="1025253" y="5790099"/>
            <a:ext cx="10141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2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原則一</a:t>
            </a:r>
            <a:r>
              <a:rPr kumimoji="1"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：只有</a:t>
            </a:r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</a:t>
            </a:r>
            <a:r>
              <a:rPr kumimoji="1"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可碰</a:t>
            </a:r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DB   </a:t>
            </a:r>
            <a:r>
              <a:rPr kumimoji="1" lang="zh-TW" altLang="en-US" sz="12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原則二</a:t>
            </a:r>
            <a:r>
              <a:rPr kumimoji="1"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Query</a:t>
            </a:r>
            <a:r>
              <a:rPr kumimoji="1"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唯讀</a:t>
            </a:r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/Preview</a:t>
            </a:r>
            <a:r>
              <a:rPr kumimoji="1"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零寫入</a:t>
            </a:r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/Apply</a:t>
            </a:r>
            <a:r>
              <a:rPr kumimoji="1"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鎖</a:t>
            </a:r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fresh facts  </a:t>
            </a:r>
            <a:r>
              <a:rPr kumimoji="1" lang="zh-TW" altLang="en-US" sz="12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原則三</a:t>
            </a:r>
            <a:r>
              <a:rPr kumimoji="1"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：外部副作用只由</a:t>
            </a:r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committed outbox/durable job</a:t>
            </a:r>
            <a:r>
              <a:rPr kumimoji="1"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執行</a:t>
            </a:r>
          </a:p>
        </p:txBody>
      </p:sp>
      <p:sp>
        <p:nvSpPr>
          <p:cNvPr id="7" name="Shape 93">
            <a:extLst>
              <a:ext uri="{FF2B5EF4-FFF2-40B4-BE49-F238E27FC236}">
                <a16:creationId xmlns:a16="http://schemas.microsoft.com/office/drawing/2014/main" id="{D2A923A6-A49B-BB60-BE3D-1FDADAB86DE1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9387607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3B302C"/>
                </a:solidFill>
                <a:latin typeface="Arial"/>
                <a:ea typeface="Arial"/>
                <a:cs typeface="Arial"/>
                <a:sym typeface="Arial"/>
              </a:rPr>
              <a:t>服務流程：所有寫入都回到同一個 </a:t>
            </a:r>
            <a:r>
              <a:rPr lang="en-US" altLang="zh-TW" sz="3200" b="1" dirty="0">
                <a:solidFill>
                  <a:srgbClr val="3B302C"/>
                </a:solidFill>
                <a:latin typeface="Arial"/>
                <a:ea typeface="Arial"/>
                <a:cs typeface="Arial"/>
                <a:sym typeface="Arial"/>
              </a:rPr>
              <a:t>API </a:t>
            </a:r>
            <a:r>
              <a:rPr lang="zh-TW" altLang="en-US" sz="3200" b="1" dirty="0">
                <a:solidFill>
                  <a:srgbClr val="3B302C"/>
                </a:solidFill>
                <a:latin typeface="Arial"/>
                <a:ea typeface="Arial"/>
                <a:cs typeface="Arial"/>
                <a:sym typeface="Arial"/>
              </a:rPr>
              <a:t>與交易邊界</a:t>
            </a:r>
            <a:endParaRPr lang="zh-TW" altLang="en-US"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統一章節標記">
            <a:extLst>
              <a:ext uri="{FF2B5EF4-FFF2-40B4-BE49-F238E27FC236}">
                <a16:creationId xmlns:a16="http://schemas.microsoft.com/office/drawing/2014/main" id="{877C0BFA-9CF5-AC43-C816-9550B28B4707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9" name="Shape 93">
            <a:extLst>
              <a:ext uri="{FF2B5EF4-FFF2-40B4-BE49-F238E27FC236}">
                <a16:creationId xmlns:a16="http://schemas.microsoft.com/office/drawing/2014/main" id="{856DF1A5-D2C4-FEC9-201A-3A4607A5736B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EEFF195-1207-8953-4DEA-60BECDEAF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74C6049-DB85-6A9B-40E9-3B5D40BEB1C6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D9A5011-5532-2233-C2F8-25C2BFDD5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0B7CEFF-544D-E66F-615D-3B66F934C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70C4C8C-3900-E198-757C-77E085091CAC}"/>
              </a:ext>
            </a:extLst>
          </p:cNvPr>
          <p:cNvPicPr/>
          <p:nvPr/>
        </p:nvPicPr>
        <p:blipFill>
          <a:blip r:embed="rId6"/>
          <a:srcRect t="7739" b="22738"/>
          <a:stretch>
            <a:fillRect/>
          </a:stretch>
        </p:blipFill>
        <p:spPr>
          <a:xfrm>
            <a:off x="1243079" y="1661532"/>
            <a:ext cx="9923667" cy="4128567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7229790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6F998EB-468C-FAD5-0B66-0219D3CEFE17}"/>
              </a:ext>
            </a:extLst>
          </p:cNvPr>
          <p:cNvGrpSpPr/>
          <p:nvPr/>
        </p:nvGrpSpPr>
        <p:grpSpPr>
          <a:xfrm>
            <a:off x="657360" y="1924200"/>
            <a:ext cx="10877280" cy="3333600"/>
            <a:chOff x="552600" y="1924200"/>
            <a:chExt cx="10877280" cy="3333600"/>
          </a:xfrm>
        </p:grpSpPr>
        <p:sp>
          <p:nvSpPr>
            <p:cNvPr id="3" name="Google Shape;128;p8">
              <a:extLst>
                <a:ext uri="{FF2B5EF4-FFF2-40B4-BE49-F238E27FC236}">
                  <a16:creationId xmlns:a16="http://schemas.microsoft.com/office/drawing/2014/main" id="{47091B4D-C808-93D0-0056-5A1DE8F6BDF3}"/>
                </a:ext>
              </a:extLst>
            </p:cNvPr>
            <p:cNvSpPr/>
            <p:nvPr/>
          </p:nvSpPr>
          <p:spPr>
            <a:xfrm>
              <a:off x="2815779" y="3009960"/>
              <a:ext cx="551880" cy="3992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BC5BC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29;p8">
              <a:extLst>
                <a:ext uri="{FF2B5EF4-FFF2-40B4-BE49-F238E27FC236}">
                  <a16:creationId xmlns:a16="http://schemas.microsoft.com/office/drawing/2014/main" id="{BF71971F-8AFE-22DB-956D-9B73CE13BF4F}"/>
                </a:ext>
              </a:extLst>
            </p:cNvPr>
            <p:cNvSpPr/>
            <p:nvPr/>
          </p:nvSpPr>
          <p:spPr>
            <a:xfrm>
              <a:off x="5616219" y="3009960"/>
              <a:ext cx="551880" cy="3992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BC5BC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30;p8">
              <a:extLst>
                <a:ext uri="{FF2B5EF4-FFF2-40B4-BE49-F238E27FC236}">
                  <a16:creationId xmlns:a16="http://schemas.microsoft.com/office/drawing/2014/main" id="{9A2EC79A-4817-72CB-9E4B-3B323444445A}"/>
                </a:ext>
              </a:extLst>
            </p:cNvPr>
            <p:cNvSpPr/>
            <p:nvPr/>
          </p:nvSpPr>
          <p:spPr>
            <a:xfrm>
              <a:off x="8416659" y="3009960"/>
              <a:ext cx="551880" cy="3992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BC5BC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31;p8">
              <a:extLst>
                <a:ext uri="{FF2B5EF4-FFF2-40B4-BE49-F238E27FC236}">
                  <a16:creationId xmlns:a16="http://schemas.microsoft.com/office/drawing/2014/main" id="{984895A7-3A93-DF87-2F18-FE85291725F6}"/>
                </a:ext>
              </a:extLst>
            </p:cNvPr>
            <p:cNvSpPr/>
            <p:nvPr/>
          </p:nvSpPr>
          <p:spPr>
            <a:xfrm>
              <a:off x="552600" y="1924200"/>
              <a:ext cx="2476320" cy="3333600"/>
            </a:xfrm>
            <a:prstGeom prst="roundRect">
              <a:avLst>
                <a:gd name="adj" fmla="val 4800"/>
              </a:avLst>
            </a:prstGeom>
            <a:solidFill>
              <a:srgbClr val="F5DFD6"/>
            </a:solidFill>
            <a:ln w="9525" cap="flat" cmpd="sng">
              <a:solidFill>
                <a:srgbClr val="C950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32;p8">
              <a:extLst>
                <a:ext uri="{FF2B5EF4-FFF2-40B4-BE49-F238E27FC236}">
                  <a16:creationId xmlns:a16="http://schemas.microsoft.com/office/drawing/2014/main" id="{21EDB8C0-5AC4-2D30-1BF9-A5559FBD8C1A}"/>
                </a:ext>
              </a:extLst>
            </p:cNvPr>
            <p:cNvSpPr/>
            <p:nvPr/>
          </p:nvSpPr>
          <p:spPr>
            <a:xfrm>
              <a:off x="762119" y="2133720"/>
              <a:ext cx="422097" cy="399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D9825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1</a:t>
              </a:r>
              <a:endParaRPr sz="28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8" name="Google Shape;133;p8">
              <a:extLst>
                <a:ext uri="{FF2B5EF4-FFF2-40B4-BE49-F238E27FC236}">
                  <a16:creationId xmlns:a16="http://schemas.microsoft.com/office/drawing/2014/main" id="{DA646F73-046C-8A92-6BB7-614A64DC8819}"/>
                </a:ext>
              </a:extLst>
            </p:cNvPr>
            <p:cNvSpPr/>
            <p:nvPr/>
          </p:nvSpPr>
          <p:spPr>
            <a:xfrm>
              <a:off x="762120" y="2705040"/>
              <a:ext cx="1978990" cy="361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 err="1">
                  <a:solidFill>
                    <a:srgbClr val="3B302C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偵測</a:t>
              </a:r>
              <a:endParaRPr sz="28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9" name="Google Shape;134;p8">
              <a:extLst>
                <a:ext uri="{FF2B5EF4-FFF2-40B4-BE49-F238E27FC236}">
                  <a16:creationId xmlns:a16="http://schemas.microsoft.com/office/drawing/2014/main" id="{4BDCA615-F6E9-3CD6-379A-B804FA010368}"/>
                </a:ext>
              </a:extLst>
            </p:cNvPr>
            <p:cNvSpPr/>
            <p:nvPr/>
          </p:nvSpPr>
          <p:spPr>
            <a:xfrm>
              <a:off x="762120" y="3314880"/>
              <a:ext cx="2266440" cy="13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Tunnel／BGP／DB</a:t>
              </a:r>
              <a:endParaRPr sz="24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readiness </a:t>
              </a: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告警</a:t>
              </a:r>
              <a:endParaRPr sz="24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0" name="Google Shape;135;p8">
              <a:extLst>
                <a:ext uri="{FF2B5EF4-FFF2-40B4-BE49-F238E27FC236}">
                  <a16:creationId xmlns:a16="http://schemas.microsoft.com/office/drawing/2014/main" id="{5C1C1AE2-72DE-A267-F18D-21C575B5DE05}"/>
                </a:ext>
              </a:extLst>
            </p:cNvPr>
            <p:cNvSpPr/>
            <p:nvPr/>
          </p:nvSpPr>
          <p:spPr>
            <a:xfrm>
              <a:off x="3352680" y="1924200"/>
              <a:ext cx="2476320" cy="3333600"/>
            </a:xfrm>
            <a:prstGeom prst="roundRect">
              <a:avLst>
                <a:gd name="adj" fmla="val 4800"/>
              </a:avLst>
            </a:prstGeom>
            <a:solidFill>
              <a:srgbClr val="F5DFD6"/>
            </a:solidFill>
            <a:ln w="9525" cap="flat" cmpd="sng">
              <a:solidFill>
                <a:srgbClr val="D9825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36;p8">
              <a:extLst>
                <a:ext uri="{FF2B5EF4-FFF2-40B4-BE49-F238E27FC236}">
                  <a16:creationId xmlns:a16="http://schemas.microsoft.com/office/drawing/2014/main" id="{B76CDF06-6244-48B8-63A2-CCFF63E655C6}"/>
                </a:ext>
              </a:extLst>
            </p:cNvPr>
            <p:cNvSpPr/>
            <p:nvPr/>
          </p:nvSpPr>
          <p:spPr>
            <a:xfrm>
              <a:off x="3562199" y="2133720"/>
              <a:ext cx="422097" cy="399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D9825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2</a:t>
              </a:r>
              <a:endParaRPr sz="2800" b="0" i="0" u="none" strike="noStrike" cap="non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2" name="Google Shape;137;p8">
              <a:extLst>
                <a:ext uri="{FF2B5EF4-FFF2-40B4-BE49-F238E27FC236}">
                  <a16:creationId xmlns:a16="http://schemas.microsoft.com/office/drawing/2014/main" id="{2ECDFF71-4F12-001D-DF11-90650366E94F}"/>
                </a:ext>
              </a:extLst>
            </p:cNvPr>
            <p:cNvSpPr/>
            <p:nvPr/>
          </p:nvSpPr>
          <p:spPr>
            <a:xfrm>
              <a:off x="3562200" y="2705040"/>
              <a:ext cx="1978990" cy="361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3B302C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隔離</a:t>
              </a:r>
              <a:endParaRPr sz="2800" b="0" i="0" u="none" strike="noStrike" cap="non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3" name="Google Shape;138;p8">
              <a:extLst>
                <a:ext uri="{FF2B5EF4-FFF2-40B4-BE49-F238E27FC236}">
                  <a16:creationId xmlns:a16="http://schemas.microsoft.com/office/drawing/2014/main" id="{2E18C1AF-9BFD-5E35-84A8-400F1F2C4FB2}"/>
                </a:ext>
              </a:extLst>
            </p:cNvPr>
            <p:cNvSpPr/>
            <p:nvPr/>
          </p:nvSpPr>
          <p:spPr>
            <a:xfrm>
              <a:off x="3562200" y="3314880"/>
              <a:ext cx="1978990" cy="1611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DB </a:t>
              </a: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操作</a:t>
              </a:r>
              <a:r>
                <a:rPr lang="en-US" sz="2400" b="0" i="0" u="none" strike="noStrike" cap="non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 fail closed</a:t>
              </a:r>
              <a:endParaRPr sz="24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停止</a:t>
              </a:r>
              <a:r>
                <a:rPr lang="en-US" sz="2400" b="0" i="0" u="none" strike="noStrike" cap="non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 </a:t>
              </a: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release／migration</a:t>
              </a:r>
              <a:endParaRPr sz="24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4" name="Google Shape;139;p8">
              <a:extLst>
                <a:ext uri="{FF2B5EF4-FFF2-40B4-BE49-F238E27FC236}">
                  <a16:creationId xmlns:a16="http://schemas.microsoft.com/office/drawing/2014/main" id="{6CD8A11E-44FC-5C2A-D9D6-C0936B71C3F4}"/>
                </a:ext>
              </a:extLst>
            </p:cNvPr>
            <p:cNvSpPr/>
            <p:nvPr/>
          </p:nvSpPr>
          <p:spPr>
            <a:xfrm>
              <a:off x="6153120" y="1924200"/>
              <a:ext cx="2476320" cy="3333600"/>
            </a:xfrm>
            <a:prstGeom prst="roundRect">
              <a:avLst>
                <a:gd name="adj" fmla="val 4800"/>
              </a:avLst>
            </a:prstGeom>
            <a:solidFill>
              <a:srgbClr val="F5DFD6"/>
            </a:solidFill>
            <a:ln w="9525" cap="flat" cmpd="sng">
              <a:solidFill>
                <a:srgbClr val="D9825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40;p8">
              <a:extLst>
                <a:ext uri="{FF2B5EF4-FFF2-40B4-BE49-F238E27FC236}">
                  <a16:creationId xmlns:a16="http://schemas.microsoft.com/office/drawing/2014/main" id="{69F11281-2ADF-B3BD-084D-40568FB6BF27}"/>
                </a:ext>
              </a:extLst>
            </p:cNvPr>
            <p:cNvSpPr/>
            <p:nvPr/>
          </p:nvSpPr>
          <p:spPr>
            <a:xfrm>
              <a:off x="6362639" y="2133720"/>
              <a:ext cx="422097" cy="399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D9825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3</a:t>
              </a:r>
              <a:endParaRPr sz="2800" b="0" i="0" u="none" strike="noStrike" cap="non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6" name="Google Shape;141;p8">
              <a:extLst>
                <a:ext uri="{FF2B5EF4-FFF2-40B4-BE49-F238E27FC236}">
                  <a16:creationId xmlns:a16="http://schemas.microsoft.com/office/drawing/2014/main" id="{8E57D9DD-BC89-98F5-5BDF-896CCE430532}"/>
                </a:ext>
              </a:extLst>
            </p:cNvPr>
            <p:cNvSpPr/>
            <p:nvPr/>
          </p:nvSpPr>
          <p:spPr>
            <a:xfrm>
              <a:off x="6362640" y="2705040"/>
              <a:ext cx="1978990" cy="361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3B302C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復原</a:t>
              </a:r>
              <a:endParaRPr sz="2800" b="0" i="0" u="none" strike="noStrike" cap="non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7" name="Google Shape;142;p8">
              <a:extLst>
                <a:ext uri="{FF2B5EF4-FFF2-40B4-BE49-F238E27FC236}">
                  <a16:creationId xmlns:a16="http://schemas.microsoft.com/office/drawing/2014/main" id="{9B9E14DD-90E9-FF3D-F6C3-221D2D1EC3CD}"/>
                </a:ext>
              </a:extLst>
            </p:cNvPr>
            <p:cNvSpPr/>
            <p:nvPr/>
          </p:nvSpPr>
          <p:spPr>
            <a:xfrm>
              <a:off x="6362640" y="3314880"/>
              <a:ext cx="1978990" cy="1460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修復</a:t>
              </a:r>
              <a:r>
                <a:rPr lang="en-US" sz="2400" b="0" i="0" u="none" strike="noStrike" cap="non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 </a:t>
              </a: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route、VPN</a:t>
              </a:r>
              <a:endParaRPr sz="24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與</a:t>
              </a:r>
              <a:r>
                <a:rPr lang="en-US" sz="2400" b="0" i="0" u="none" strike="noStrike" cap="non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 MySQL </a:t>
              </a: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mTLS</a:t>
              </a:r>
              <a:endParaRPr sz="24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8" name="Google Shape;143;p8">
              <a:extLst>
                <a:ext uri="{FF2B5EF4-FFF2-40B4-BE49-F238E27FC236}">
                  <a16:creationId xmlns:a16="http://schemas.microsoft.com/office/drawing/2014/main" id="{4E1110FE-873E-69A6-A93A-53AA6E5801EE}"/>
                </a:ext>
              </a:extLst>
            </p:cNvPr>
            <p:cNvSpPr/>
            <p:nvPr/>
          </p:nvSpPr>
          <p:spPr>
            <a:xfrm>
              <a:off x="8953560" y="1924200"/>
              <a:ext cx="2476320" cy="3333600"/>
            </a:xfrm>
            <a:prstGeom prst="roundRect">
              <a:avLst>
                <a:gd name="adj" fmla="val 4800"/>
              </a:avLst>
            </a:prstGeom>
            <a:solidFill>
              <a:srgbClr val="F5DFD6"/>
            </a:solidFill>
            <a:ln w="9525" cap="flat" cmpd="sng">
              <a:solidFill>
                <a:srgbClr val="70AD4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44;p8">
              <a:extLst>
                <a:ext uri="{FF2B5EF4-FFF2-40B4-BE49-F238E27FC236}">
                  <a16:creationId xmlns:a16="http://schemas.microsoft.com/office/drawing/2014/main" id="{C0D7B167-BD4D-C114-0661-48B31E91B600}"/>
                </a:ext>
              </a:extLst>
            </p:cNvPr>
            <p:cNvSpPr/>
            <p:nvPr/>
          </p:nvSpPr>
          <p:spPr>
            <a:xfrm>
              <a:off x="9163079" y="2133720"/>
              <a:ext cx="422097" cy="399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D9825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4</a:t>
              </a:r>
              <a:endParaRPr sz="2800" b="0" i="0" u="none" strike="noStrike" cap="non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0" name="Google Shape;145;p8">
              <a:extLst>
                <a:ext uri="{FF2B5EF4-FFF2-40B4-BE49-F238E27FC236}">
                  <a16:creationId xmlns:a16="http://schemas.microsoft.com/office/drawing/2014/main" id="{6D88C4DC-84C1-48F7-CD1E-14C2B9C66135}"/>
                </a:ext>
              </a:extLst>
            </p:cNvPr>
            <p:cNvSpPr/>
            <p:nvPr/>
          </p:nvSpPr>
          <p:spPr>
            <a:xfrm>
              <a:off x="9163080" y="2705040"/>
              <a:ext cx="1978990" cy="361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3B302C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驗證</a:t>
              </a:r>
              <a:endParaRPr sz="2800" b="0" i="0" u="none" strike="noStrike" cap="non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1" name="Google Shape;146;p8">
              <a:extLst>
                <a:ext uri="{FF2B5EF4-FFF2-40B4-BE49-F238E27FC236}">
                  <a16:creationId xmlns:a16="http://schemas.microsoft.com/office/drawing/2014/main" id="{F7407BAA-FD9B-0EC7-4D2B-7F524009CE1B}"/>
                </a:ext>
              </a:extLst>
            </p:cNvPr>
            <p:cNvSpPr/>
            <p:nvPr/>
          </p:nvSpPr>
          <p:spPr>
            <a:xfrm>
              <a:off x="9163080" y="3314880"/>
              <a:ext cx="1978990" cy="1886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先</a:t>
              </a:r>
              <a:r>
                <a:rPr lang="en-US" sz="2400" b="0" i="0" u="none" strike="noStrike" cap="non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 read-only smoke</a:t>
              </a:r>
              <a:endParaRPr sz="24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再恢復</a:t>
              </a:r>
              <a:r>
                <a:rPr lang="en-US" sz="2400" b="0" i="0" u="none" strike="noStrike" cap="none" dirty="0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 </a:t>
              </a:r>
              <a:r>
                <a:rPr lang="en-US" sz="2400" b="0" i="0" u="none" strike="noStrike" cap="none" dirty="0" err="1">
                  <a:solidFill>
                    <a:srgbClr val="76564B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/>
                  <a:sym typeface="Arial"/>
                </a:rPr>
                <a:t>worker／mutation</a:t>
              </a:r>
              <a:endParaRPr sz="2400" b="0" i="0" u="none" strike="noStrike" cap="none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22" name="Google Shape;147;p8">
            <a:extLst>
              <a:ext uri="{FF2B5EF4-FFF2-40B4-BE49-F238E27FC236}">
                <a16:creationId xmlns:a16="http://schemas.microsoft.com/office/drawing/2014/main" id="{D2F942CB-C6F8-7B8B-C0CC-7E9617EB5A58}"/>
              </a:ext>
            </a:extLst>
          </p:cNvPr>
          <p:cNvSpPr/>
          <p:nvPr/>
        </p:nvSpPr>
        <p:spPr>
          <a:xfrm>
            <a:off x="1524360" y="5544720"/>
            <a:ext cx="9143280" cy="3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0" b="1" i="0" u="none" strike="noStrike" cap="none" dirty="0">
                <a:solidFill>
                  <a:schemeClr val="accent3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Pub/Sub </a:t>
            </a:r>
            <a:r>
              <a:rPr lang="en-US" sz="1870" b="1" i="0" u="none" strike="noStrike" cap="none" dirty="0" err="1">
                <a:solidFill>
                  <a:schemeClr val="accent3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只保存去敏告警，不是第二套業務資料庫</a:t>
            </a:r>
            <a:r>
              <a:rPr lang="en-US" sz="1870" b="1" i="0" u="none" strike="noStrike" cap="none" dirty="0">
                <a:solidFill>
                  <a:schemeClr val="accent3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870" b="0" i="0" u="none" strike="noStrike" cap="none" dirty="0">
              <a:solidFill>
                <a:schemeClr val="accent3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5B89682-6F03-7299-F594-09F505E5CF71}"/>
              </a:ext>
            </a:extLst>
          </p:cNvPr>
          <p:cNvSpPr txBox="1"/>
          <p:nvPr/>
        </p:nvSpPr>
        <p:spPr>
          <a:xfrm>
            <a:off x="585079" y="1400386"/>
            <a:ext cx="5510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清楚中斷原因、人工復原、驗證後再恢復寫入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Shape 93">
            <a:extLst>
              <a:ext uri="{FF2B5EF4-FFF2-40B4-BE49-F238E27FC236}">
                <a16:creationId xmlns:a16="http://schemas.microsoft.com/office/drawing/2014/main" id="{6F4E7170-DC16-A83C-C84D-14ECE4376A19}"/>
              </a:ext>
            </a:extLst>
          </p:cNvPr>
          <p:cNvSpPr>
            <a:spLocks noGrp="1"/>
          </p:cNvSpPr>
          <p:nvPr/>
        </p:nvSpPr>
        <p:spPr>
          <a:xfrm>
            <a:off x="612834" y="597198"/>
            <a:ext cx="3784396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en-US" altLang="zh-TW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VPN </a:t>
            </a:r>
            <a:r>
              <a:rPr lang="zh-TW" altLang="en-US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中斷處理機制</a:t>
            </a:r>
            <a:endParaRPr lang="zh-TW" altLang="en-US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27" name="統一章節標記">
            <a:extLst>
              <a:ext uri="{FF2B5EF4-FFF2-40B4-BE49-F238E27FC236}">
                <a16:creationId xmlns:a16="http://schemas.microsoft.com/office/drawing/2014/main" id="{8B5A4F61-22AE-6C06-EB1B-9140896B41FC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28" name="Shape 93">
            <a:extLst>
              <a:ext uri="{FF2B5EF4-FFF2-40B4-BE49-F238E27FC236}">
                <a16:creationId xmlns:a16="http://schemas.microsoft.com/office/drawing/2014/main" id="{7D1120DC-163B-49F3-CB14-D28E896D3124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F599E3B5-1C50-F600-9DD9-93B341FD7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6B036F88-AFFB-6466-8D0F-405D27947804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43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F8B72CA2-BD38-23FC-5964-14DAFB60F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351DCFD-B8DE-58EB-B96A-399B6278A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43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4;p9">
            <a:extLst>
              <a:ext uri="{FF2B5EF4-FFF2-40B4-BE49-F238E27FC236}">
                <a16:creationId xmlns:a16="http://schemas.microsoft.com/office/drawing/2014/main" id="{C06B1C0F-D393-2DCA-5B77-48F01EFB0066}"/>
              </a:ext>
            </a:extLst>
          </p:cNvPr>
          <p:cNvSpPr/>
          <p:nvPr/>
        </p:nvSpPr>
        <p:spPr>
          <a:xfrm>
            <a:off x="5695920" y="4191120"/>
            <a:ext cx="542844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65;p9">
            <a:extLst>
              <a:ext uri="{FF2B5EF4-FFF2-40B4-BE49-F238E27FC236}">
                <a16:creationId xmlns:a16="http://schemas.microsoft.com/office/drawing/2014/main" id="{8A169FE0-6E6A-5FDA-D6F0-7B1F18A3B8D4}"/>
              </a:ext>
            </a:extLst>
          </p:cNvPr>
          <p:cNvSpPr/>
          <p:nvPr/>
        </p:nvSpPr>
        <p:spPr>
          <a:xfrm>
            <a:off x="5695920" y="4629240"/>
            <a:ext cx="5428440" cy="72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850F5850-9791-A45A-FD91-BA2D61AC84A5}"/>
              </a:ext>
            </a:extLst>
          </p:cNvPr>
          <p:cNvSpPr>
            <a:spLocks noGrp="1"/>
          </p:cNvSpPr>
          <p:nvPr/>
        </p:nvSpPr>
        <p:spPr>
          <a:xfrm>
            <a:off x="612834" y="597198"/>
            <a:ext cx="6981146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zh-TW" altLang="zh-TW" sz="3200" b="1" spc="-1" dirty="0">
                <a:solidFill>
                  <a:srgbClr val="20212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雲端混合部署費用總覽（每月預估）</a:t>
            </a:r>
            <a:endParaRPr lang="en-US" altLang="zh-TW" sz="3200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統一章節標記">
            <a:extLst>
              <a:ext uri="{FF2B5EF4-FFF2-40B4-BE49-F238E27FC236}">
                <a16:creationId xmlns:a16="http://schemas.microsoft.com/office/drawing/2014/main" id="{5875758D-5DC6-B3CE-9BA8-3C485CCC804F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F708853-530C-0438-CE28-C9EBAF72C272}"/>
              </a:ext>
            </a:extLst>
          </p:cNvPr>
          <p:cNvSpPr txBox="1"/>
          <p:nvPr/>
        </p:nvSpPr>
        <p:spPr>
          <a:xfrm>
            <a:off x="612834" y="1188648"/>
            <a:ext cx="58834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TW" altLang="zh-TW" sz="1400" spc="-1" dirty="0">
                <a:solidFill>
                  <a:srgbClr val="5F636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單一 </a:t>
            </a:r>
            <a:r>
              <a:rPr lang="en-US" altLang="zh-TW" sz="1400" spc="-1" dirty="0">
                <a:solidFill>
                  <a:srgbClr val="5F636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Cloud VPN </a:t>
            </a:r>
            <a:r>
              <a:rPr lang="zh-TW" altLang="zh-TW" sz="1400" spc="-1" dirty="0">
                <a:solidFill>
                  <a:srgbClr val="5F636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方案 ｜ 正式環境 </a:t>
            </a:r>
            <a:r>
              <a:rPr lang="en-US" altLang="zh-TW" sz="1400" spc="-1" dirty="0">
                <a:solidFill>
                  <a:srgbClr val="5F636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24 </a:t>
            </a:r>
            <a:r>
              <a:rPr lang="zh-TW" altLang="zh-TW" sz="1400" spc="-1" dirty="0">
                <a:solidFill>
                  <a:srgbClr val="5F636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小時運作 ｜ 匯率 </a:t>
            </a:r>
            <a:r>
              <a:rPr lang="en-US" altLang="zh-TW" sz="1400" spc="-1" dirty="0">
                <a:solidFill>
                  <a:srgbClr val="5F636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USD 1 ≈ NT$33</a:t>
            </a:r>
            <a:endParaRPr lang="en-US" altLang="zh-TW" sz="1400" spc="-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Shape 93">
            <a:extLst>
              <a:ext uri="{FF2B5EF4-FFF2-40B4-BE49-F238E27FC236}">
                <a16:creationId xmlns:a16="http://schemas.microsoft.com/office/drawing/2014/main" id="{4E4F0E66-B1A9-17C7-2A2A-1DDCACA410DA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0803B349-8E3B-BE0C-BCB5-798AE9AFA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1C121FD4-0602-AB49-BC7D-0D1D7B21D045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42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2CECFF6-2FE5-DC9B-645E-7D3CE338A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1FF6907-543C-5FFB-FDBA-C24217D38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  <p:grpSp>
        <p:nvGrpSpPr>
          <p:cNvPr id="21" name="群組 20">
            <a:extLst>
              <a:ext uri="{FF2B5EF4-FFF2-40B4-BE49-F238E27FC236}">
                <a16:creationId xmlns:a16="http://schemas.microsoft.com/office/drawing/2014/main" id="{35EC9F85-6269-9BF8-0172-DB1E05C038E9}"/>
              </a:ext>
            </a:extLst>
          </p:cNvPr>
          <p:cNvGrpSpPr/>
          <p:nvPr/>
        </p:nvGrpSpPr>
        <p:grpSpPr>
          <a:xfrm>
            <a:off x="731820" y="1588680"/>
            <a:ext cx="10728360" cy="4235760"/>
            <a:chOff x="605160" y="1588680"/>
            <a:chExt cx="10728360" cy="4235760"/>
          </a:xfrm>
        </p:grpSpPr>
        <p:sp>
          <p:nvSpPr>
            <p:cNvPr id="22" name="Google Shape;220;p 1">
              <a:extLst>
                <a:ext uri="{FF2B5EF4-FFF2-40B4-BE49-F238E27FC236}">
                  <a16:creationId xmlns:a16="http://schemas.microsoft.com/office/drawing/2014/main" id="{020AA2C0-E432-E574-1C0A-4EA175E68793}"/>
                </a:ext>
              </a:extLst>
            </p:cNvPr>
            <p:cNvSpPr/>
            <p:nvPr/>
          </p:nvSpPr>
          <p:spPr>
            <a:xfrm>
              <a:off x="5623920" y="3651120"/>
              <a:ext cx="5428080" cy="30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4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3" name="Google Shape;221;p 1">
              <a:extLst>
                <a:ext uri="{FF2B5EF4-FFF2-40B4-BE49-F238E27FC236}">
                  <a16:creationId xmlns:a16="http://schemas.microsoft.com/office/drawing/2014/main" id="{1400EFAE-8FD4-45E0-C686-3CB67B69A288}"/>
                </a:ext>
              </a:extLst>
            </p:cNvPr>
            <p:cNvSpPr/>
            <p:nvPr/>
          </p:nvSpPr>
          <p:spPr>
            <a:xfrm>
              <a:off x="5623920" y="4089240"/>
              <a:ext cx="5428080" cy="72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400" b="0" strike="noStrike" spc="-1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4" name="Rounded Rectangle 2">
              <a:extLst>
                <a:ext uri="{FF2B5EF4-FFF2-40B4-BE49-F238E27FC236}">
                  <a16:creationId xmlns:a16="http://schemas.microsoft.com/office/drawing/2014/main" id="{9FBC64B1-805B-81A5-5526-5D449B214D70}"/>
                </a:ext>
              </a:extLst>
            </p:cNvPr>
            <p:cNvSpPr/>
            <p:nvPr/>
          </p:nvSpPr>
          <p:spPr>
            <a:xfrm>
              <a:off x="605160" y="1588680"/>
              <a:ext cx="5211720" cy="1051200"/>
            </a:xfrm>
            <a:prstGeom prst="roundRect">
              <a:avLst>
                <a:gd name="adj" fmla="val 16667"/>
              </a:avLst>
            </a:prstGeom>
            <a:solidFill>
              <a:srgbClr val="E6F4EA"/>
            </a:solidFill>
            <a:ln w="19050">
              <a:solidFill>
                <a:srgbClr val="34A853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2286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zh-TW" sz="1200" b="0" strike="noStrike" spc="-1" dirty="0">
                  <a:solidFill>
                    <a:srgbClr val="5F636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預估總月費（正式環境常態）</a:t>
              </a:r>
              <a:endPara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lang="en-US" sz="2000" b="1" strike="noStrike" spc="-1" dirty="0">
                  <a:solidFill>
                    <a:srgbClr val="13733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NT$ 3,800 </a:t>
              </a:r>
              <a:r>
                <a:rPr lang="zh-TW" sz="2000" b="1" strike="noStrike" spc="-1" dirty="0">
                  <a:solidFill>
                    <a:srgbClr val="13733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～ </a:t>
              </a:r>
              <a:r>
                <a:rPr lang="en-US" sz="2000" b="1" strike="noStrike" spc="-1" dirty="0">
                  <a:solidFill>
                    <a:srgbClr val="13733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4,300 / </a:t>
              </a:r>
              <a:r>
                <a:rPr lang="zh-TW" sz="2000" b="1" strike="noStrike" spc="-1" dirty="0">
                  <a:solidFill>
                    <a:srgbClr val="13733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月</a:t>
              </a:r>
              <a:endParaRPr lang="en-US" sz="20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Rounded Rectangle 3">
              <a:extLst>
                <a:ext uri="{FF2B5EF4-FFF2-40B4-BE49-F238E27FC236}">
                  <a16:creationId xmlns:a16="http://schemas.microsoft.com/office/drawing/2014/main" id="{2E31404D-7A51-5F0B-B5FC-57E1399407ED}"/>
                </a:ext>
              </a:extLst>
            </p:cNvPr>
            <p:cNvSpPr/>
            <p:nvPr/>
          </p:nvSpPr>
          <p:spPr>
            <a:xfrm>
              <a:off x="6121800" y="1588680"/>
              <a:ext cx="5211720" cy="1051200"/>
            </a:xfrm>
            <a:prstGeom prst="roundRect">
              <a:avLst>
                <a:gd name="adj" fmla="val 16667"/>
              </a:avLst>
            </a:prstGeom>
            <a:solidFill>
              <a:srgbClr val="E8F0FE"/>
            </a:solidFill>
            <a:ln w="19050">
              <a:solidFill>
                <a:srgbClr val="1A73E8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2286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zh-TW" sz="1200" b="0" strike="noStrike" spc="-1" dirty="0">
                  <a:solidFill>
                    <a:srgbClr val="5F6368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預算安全上限（自動發送警報）</a:t>
              </a:r>
              <a:endParaRPr lang="en-US" sz="120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50" b="1" strike="noStrike" spc="-1" dirty="0">
                  <a:solidFill>
                    <a:srgbClr val="FFC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NT$5,000</a:t>
              </a:r>
              <a:r>
                <a:rPr lang="zh-TW" sz="1650" b="1" strike="noStrike" spc="-1" dirty="0">
                  <a:solidFill>
                    <a:srgbClr val="FFC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／月</a:t>
              </a:r>
              <a:r>
                <a:rPr lang="en-US" sz="1650" b="1" strike="noStrike" spc="-1" dirty="0">
                  <a:solidFill>
                    <a:srgbClr val="FFC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50%</a:t>
              </a:r>
              <a:r>
                <a:rPr lang="zh-TW" sz="1650" b="1" strike="noStrike" spc="-1" dirty="0">
                  <a:solidFill>
                    <a:srgbClr val="FFC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｜</a:t>
              </a:r>
              <a:r>
                <a:rPr lang="en-US" sz="1650" b="1" strike="noStrike" spc="-1" dirty="0">
                  <a:solidFill>
                    <a:srgbClr val="FFC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80%</a:t>
              </a:r>
              <a:r>
                <a:rPr lang="zh-TW" sz="1650" b="1" strike="noStrike" spc="-1" dirty="0">
                  <a:solidFill>
                    <a:srgbClr val="FFC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｜</a:t>
              </a:r>
              <a:r>
                <a:rPr lang="en-US" sz="1650" b="1" strike="noStrike" spc="-1" dirty="0">
                  <a:solidFill>
                    <a:srgbClr val="FFC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100% </a:t>
              </a:r>
              <a:r>
                <a:rPr lang="zh-TW" sz="1650" b="1" strike="noStrike" spc="-1" dirty="0">
                  <a:solidFill>
                    <a:srgbClr val="FFC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通知</a:t>
              </a:r>
              <a:endParaRPr lang="en-US" sz="1650" b="0" strike="noStrike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graphicFrame>
          <p:nvGraphicFramePr>
            <p:cNvPr id="26" name="Table 4">
              <a:extLst>
                <a:ext uri="{FF2B5EF4-FFF2-40B4-BE49-F238E27FC236}">
                  <a16:creationId xmlns:a16="http://schemas.microsoft.com/office/drawing/2014/main" id="{7966A305-05C8-CE80-F722-7B128691149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46758470"/>
                </p:ext>
              </p:extLst>
            </p:nvPr>
          </p:nvGraphicFramePr>
          <p:xfrm>
            <a:off x="605160" y="2868840"/>
            <a:ext cx="10728360" cy="2955600"/>
          </p:xfrm>
          <a:graphic>
            <a:graphicData uri="http://schemas.openxmlformats.org/drawingml/2006/table">
              <a:tbl>
                <a:tblPr/>
                <a:tblGrid>
                  <a:gridCol w="2377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32756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941356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076164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058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487440">
                  <a:tc>
                    <a:txBody>
                      <a:bodyPr/>
                      <a:lstStyle/>
                      <a:p>
                        <a:pPr algn="ct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>
                            <a:solidFill>
                              <a:srgbClr val="1A73E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費用項目</a:t>
                        </a:r>
                        <a:endParaRPr lang="en-US" sz="14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8F0F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>
                            <a:solidFill>
                              <a:srgbClr val="1A73E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核心用途</a:t>
                        </a:r>
                        <a:endParaRPr lang="en-US" sz="14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8F0F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 dirty="0">
                            <a:solidFill>
                              <a:srgbClr val="1A73E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每月費用 </a:t>
                        </a:r>
                        <a:r>
                          <a:rPr lang="en-US" sz="1400" b="1" strike="noStrike" spc="-1" dirty="0">
                            <a:solidFill>
                              <a:srgbClr val="1A73E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(NTD)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8F0F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>
                            <a:solidFill>
                              <a:srgbClr val="1A73E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每月費用 </a:t>
                        </a:r>
                        <a:r>
                          <a:rPr lang="en-US" sz="1400" b="1" strike="noStrike" spc="-1">
                            <a:solidFill>
                              <a:srgbClr val="1A73E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(USD)</a:t>
                        </a:r>
                        <a:endParaRPr lang="en-US" sz="14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8F0F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 dirty="0">
                            <a:solidFill>
                              <a:srgbClr val="1A73E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佔比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8F0FE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87440"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en-US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1. Cloud Run </a:t>
                        </a:r>
                        <a:r>
                          <a:rPr lang="zh-TW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運算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zh-TW" sz="1400" b="0" strike="noStrike" spc="-1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跑網站、管理後台、</a:t>
                        </a:r>
                        <a:r>
                          <a:rPr lang="en-US" sz="1400" b="0" strike="noStrike" spc="-1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LINE </a:t>
                        </a:r>
                        <a:r>
                          <a:rPr lang="zh-TW" sz="1400" b="0" strike="noStrike" spc="-1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服務與排程 </a:t>
                        </a:r>
                        <a:r>
                          <a:rPr lang="en-US" sz="1400" b="0" strike="noStrike" spc="-1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(4 </a:t>
                        </a:r>
                        <a:r>
                          <a:rPr lang="zh-TW" sz="1400" b="0" strike="noStrike" spc="-1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大服務加總</a:t>
                        </a:r>
                        <a:r>
                          <a:rPr lang="en-US" sz="1400" b="0" strike="noStrike" spc="-1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)</a:t>
                        </a:r>
                        <a:endParaRPr lang="en-US" sz="14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約 </a:t>
                        </a:r>
                        <a:r>
                          <a:rPr lang="en-US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NT$ 1,290~1,910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$39</a:t>
                        </a:r>
                        <a:r>
                          <a:rPr lang="zh-TW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～</a:t>
                        </a: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$58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40%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87440"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en-US" sz="1400" b="1" strike="noStrike" spc="-1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2. Cloud VPN </a:t>
                        </a:r>
                        <a:r>
                          <a:rPr lang="zh-TW" sz="1400" b="1" strike="noStrike" spc="-1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專線</a:t>
                        </a:r>
                        <a:endParaRPr lang="en-US" sz="14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zh-TW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打通雲端直連地端 </a:t>
                        </a: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NAS </a:t>
                        </a:r>
                        <a:r>
                          <a:rPr lang="zh-TW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資料庫 </a:t>
                        </a: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(</a:t>
                        </a:r>
                        <a:r>
                          <a:rPr lang="zh-TW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單一加密隧道</a:t>
                        </a: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)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固定 </a:t>
                        </a:r>
                        <a:r>
                          <a:rPr lang="en-US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NT$ 1,205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$36.50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31%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87440"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en-US" sz="1400" b="1" strike="noStrike" spc="-1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3. </a:t>
                        </a:r>
                        <a:r>
                          <a:rPr lang="zh-TW" sz="1400" b="1" strike="noStrike" spc="-1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負載平衡器 ＋ </a:t>
                        </a:r>
                        <a:r>
                          <a:rPr lang="en-US" sz="1400" b="1" strike="noStrike" spc="-1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WAF</a:t>
                        </a:r>
                        <a:endParaRPr lang="en-US" sz="14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zh-TW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對外網址入口、</a:t>
                        </a: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HTTPS </a:t>
                        </a:r>
                        <a:r>
                          <a:rPr lang="zh-TW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憑證與防駭客攻擊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約 </a:t>
                        </a:r>
                        <a:r>
                          <a:rPr lang="en-US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NT$ 960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$29.08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24%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87440"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en-US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4. </a:t>
                        </a:r>
                        <a:r>
                          <a:rPr lang="zh-TW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日誌、金鑰與告警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zh-TW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系統日誌監控、密碼保管與斷線告警備援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zh-TW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約 </a:t>
                        </a:r>
                        <a:r>
                          <a:rPr lang="en-US" sz="1400" b="1" strike="noStrike" spc="-1" dirty="0">
                            <a:solidFill>
                              <a:srgbClr val="202124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NT$ 100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zh-TW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約 </a:t>
                        </a: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$3.00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en-US" sz="1400" b="0" strike="noStrike" spc="-1" dirty="0">
                            <a:solidFill>
                              <a:srgbClr val="5F6368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5%</a:t>
                        </a:r>
                        <a:endParaRPr lang="en-US" sz="14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F8F9FA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87440"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zh-TW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月費總計</a:t>
                        </a:r>
                        <a:endParaRPr lang="en-US" sz="13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6F4E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457200">
                          <a:lnSpc>
                            <a:spcPct val="100000"/>
                          </a:lnSpc>
                        </a:pPr>
                        <a:r>
                          <a:rPr lang="zh-TW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正式環境全套雲端運作</a:t>
                        </a:r>
                        <a:endParaRPr lang="en-US" sz="13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6F4E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zh-TW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約 </a:t>
                        </a:r>
                        <a:r>
                          <a:rPr lang="en-US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NT$ 3,800</a:t>
                        </a:r>
                        <a:r>
                          <a:rPr lang="zh-TW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～</a:t>
                        </a:r>
                        <a:r>
                          <a:rPr lang="en-US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4,300</a:t>
                        </a:r>
                        <a:endParaRPr lang="en-US" sz="13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6F4E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zh-TW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約 </a:t>
                        </a:r>
                        <a:r>
                          <a:rPr lang="en-US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$115</a:t>
                        </a:r>
                        <a:r>
                          <a:rPr lang="zh-TW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～</a:t>
                        </a:r>
                        <a:r>
                          <a:rPr lang="en-US" sz="1300" b="1" strike="noStrike" spc="-1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$130</a:t>
                        </a:r>
                        <a:endParaRPr lang="en-US" sz="1300" b="0" strike="noStrike" spc="-1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6F4E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r" defTabSz="457200">
                          <a:lnSpc>
                            <a:spcPct val="100000"/>
                          </a:lnSpc>
                        </a:pPr>
                        <a:r>
                          <a:rPr lang="en-US" sz="1300" b="1" strike="noStrike" spc="-1" dirty="0">
                            <a:solidFill>
                              <a:srgbClr val="137333"/>
                            </a:solidFill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rPr>
                          <a:t>100%</a:t>
                        </a:r>
                        <a:endParaRPr lang="en-US" sz="1300" b="0" strike="noStrike" spc="-1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endParaRPr>
                      </a:p>
                    </a:txBody>
                    <a:tcPr marL="109440" marR="109440" anchor="ctr">
                      <a:lnL w="12240">
                        <a:solidFill>
                          <a:srgbClr val="FFFFFF"/>
                        </a:solidFill>
                        <a:prstDash val="solid"/>
                      </a:lnL>
                      <a:lnR w="12240">
                        <a:solidFill>
                          <a:srgbClr val="FFFFFF"/>
                        </a:solidFill>
                        <a:prstDash val="solid"/>
                      </a:lnR>
                      <a:lnT w="12240">
                        <a:solidFill>
                          <a:srgbClr val="FFFFFF"/>
                        </a:solidFill>
                        <a:prstDash val="solid"/>
                      </a:lnT>
                      <a:lnB w="12240">
                        <a:solidFill>
                          <a:srgbClr val="FFFFFF"/>
                        </a:solidFill>
                        <a:prstDash val="solid"/>
                      </a:lnB>
                      <a:solidFill>
                        <a:srgbClr val="E6F4EA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774589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5;p10">
            <a:extLst>
              <a:ext uri="{FF2B5EF4-FFF2-40B4-BE49-F238E27FC236}">
                <a16:creationId xmlns:a16="http://schemas.microsoft.com/office/drawing/2014/main" id="{030DA9BA-DF87-1758-DADD-FC59E285AFF0}"/>
              </a:ext>
            </a:extLst>
          </p:cNvPr>
          <p:cNvSpPr/>
          <p:nvPr/>
        </p:nvSpPr>
        <p:spPr>
          <a:xfrm>
            <a:off x="552600" y="1619280"/>
            <a:ext cx="10743480" cy="875520"/>
          </a:xfrm>
          <a:prstGeom prst="roundRect">
            <a:avLst>
              <a:gd name="adj" fmla="val 13043"/>
            </a:avLst>
          </a:prstGeom>
          <a:solidFill>
            <a:srgbClr val="F5DFD6"/>
          </a:solidFill>
          <a:ln w="9525" cap="flat" cmpd="sng">
            <a:solidFill>
              <a:srgbClr val="D982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6;p10">
            <a:extLst>
              <a:ext uri="{FF2B5EF4-FFF2-40B4-BE49-F238E27FC236}">
                <a16:creationId xmlns:a16="http://schemas.microsoft.com/office/drawing/2014/main" id="{D34A82C2-88B7-7575-1926-1B501C3B18B5}"/>
              </a:ext>
            </a:extLst>
          </p:cNvPr>
          <p:cNvSpPr/>
          <p:nvPr/>
        </p:nvSpPr>
        <p:spPr>
          <a:xfrm>
            <a:off x="838080" y="1838340"/>
            <a:ext cx="934276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D9825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隔離</a:t>
            </a:r>
            <a:endParaRPr sz="28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4" name="Google Shape;177;p10">
            <a:extLst>
              <a:ext uri="{FF2B5EF4-FFF2-40B4-BE49-F238E27FC236}">
                <a16:creationId xmlns:a16="http://schemas.microsoft.com/office/drawing/2014/main" id="{23198BEB-A299-7033-FECE-8F6A36ACF385}"/>
              </a:ext>
            </a:extLst>
          </p:cNvPr>
          <p:cNvSpPr/>
          <p:nvPr/>
        </p:nvSpPr>
        <p:spPr>
          <a:xfrm>
            <a:off x="2400480" y="1890810"/>
            <a:ext cx="8571960" cy="3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只有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Business API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能經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VPN＋mTLS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連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NAS:3306</a:t>
            </a:r>
            <a:endParaRPr sz="20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5" name="Google Shape;178;p10">
            <a:extLst>
              <a:ext uri="{FF2B5EF4-FFF2-40B4-BE49-F238E27FC236}">
                <a16:creationId xmlns:a16="http://schemas.microsoft.com/office/drawing/2014/main" id="{5B425055-6AFF-F0BE-8453-21437C50CB48}"/>
              </a:ext>
            </a:extLst>
          </p:cNvPr>
          <p:cNvSpPr/>
          <p:nvPr/>
        </p:nvSpPr>
        <p:spPr>
          <a:xfrm>
            <a:off x="552600" y="2762280"/>
            <a:ext cx="10743480" cy="875520"/>
          </a:xfrm>
          <a:prstGeom prst="roundRect">
            <a:avLst>
              <a:gd name="adj" fmla="val 13043"/>
            </a:avLst>
          </a:prstGeom>
          <a:solidFill>
            <a:srgbClr val="F5DFD6"/>
          </a:solidFill>
          <a:ln w="9525" cap="flat" cmpd="sng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9;p10">
            <a:extLst>
              <a:ext uri="{FF2B5EF4-FFF2-40B4-BE49-F238E27FC236}">
                <a16:creationId xmlns:a16="http://schemas.microsoft.com/office/drawing/2014/main" id="{89E370BE-9DDF-A2E6-7CD6-71433F835707}"/>
              </a:ext>
            </a:extLst>
          </p:cNvPr>
          <p:cNvSpPr/>
          <p:nvPr/>
        </p:nvSpPr>
        <p:spPr>
          <a:xfrm>
            <a:off x="838080" y="2990880"/>
            <a:ext cx="934276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70AD4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復原</a:t>
            </a:r>
            <a:endParaRPr sz="28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7" name="Google Shape;180;p10">
            <a:extLst>
              <a:ext uri="{FF2B5EF4-FFF2-40B4-BE49-F238E27FC236}">
                <a16:creationId xmlns:a16="http://schemas.microsoft.com/office/drawing/2014/main" id="{BD2A30FD-A01A-03C4-2AEA-F606A9A9AE92}"/>
              </a:ext>
            </a:extLst>
          </p:cNvPr>
          <p:cNvSpPr/>
          <p:nvPr/>
        </p:nvSpPr>
        <p:spPr>
          <a:xfrm>
            <a:off x="2400480" y="3045554"/>
            <a:ext cx="8571960" cy="34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Tunnel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中斷會告警、操作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fail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closed，恢復後可安全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replay</a:t>
            </a:r>
            <a:endParaRPr sz="20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" name="Google Shape;181;p10">
            <a:extLst>
              <a:ext uri="{FF2B5EF4-FFF2-40B4-BE49-F238E27FC236}">
                <a16:creationId xmlns:a16="http://schemas.microsoft.com/office/drawing/2014/main" id="{2332B463-DB8F-A252-5302-B763CA30A81E}"/>
              </a:ext>
            </a:extLst>
          </p:cNvPr>
          <p:cNvSpPr/>
          <p:nvPr/>
        </p:nvSpPr>
        <p:spPr>
          <a:xfrm>
            <a:off x="552600" y="3905280"/>
            <a:ext cx="10743480" cy="875520"/>
          </a:xfrm>
          <a:prstGeom prst="roundRect">
            <a:avLst>
              <a:gd name="adj" fmla="val 13043"/>
            </a:avLst>
          </a:prstGeom>
          <a:solidFill>
            <a:srgbClr val="F5DFD6"/>
          </a:solidFill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82;p10">
            <a:extLst>
              <a:ext uri="{FF2B5EF4-FFF2-40B4-BE49-F238E27FC236}">
                <a16:creationId xmlns:a16="http://schemas.microsoft.com/office/drawing/2014/main" id="{D994EE03-62D8-2BA0-CE8B-3D1AC349D333}"/>
              </a:ext>
            </a:extLst>
          </p:cNvPr>
          <p:cNvSpPr/>
          <p:nvPr/>
        </p:nvSpPr>
        <p:spPr>
          <a:xfrm>
            <a:off x="838080" y="4133880"/>
            <a:ext cx="934276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FC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追溯</a:t>
            </a:r>
            <a:endParaRPr sz="28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" name="Google Shape;183;p10">
            <a:extLst>
              <a:ext uri="{FF2B5EF4-FFF2-40B4-BE49-F238E27FC236}">
                <a16:creationId xmlns:a16="http://schemas.microsoft.com/office/drawing/2014/main" id="{AAA45292-6DD5-5AAB-664C-A53529A0DF9C}"/>
              </a:ext>
            </a:extLst>
          </p:cNvPr>
          <p:cNvSpPr/>
          <p:nvPr/>
        </p:nvSpPr>
        <p:spPr>
          <a:xfrm>
            <a:off x="2400480" y="4195609"/>
            <a:ext cx="8571960" cy="333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Image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digest、secret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version、DB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backup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與</a:t>
            </a:r>
            <a:r>
              <a:rPr lang="en-US" sz="2000" b="1" i="0" u="none" strike="noStrike" cap="none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rollback </a:t>
            </a:r>
            <a:r>
              <a:rPr lang="en-US" sz="2000" b="1" i="0" u="none" strike="noStrike" cap="none" dirty="0" err="1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都有證據</a:t>
            </a:r>
            <a:endParaRPr sz="20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1" name="Google Shape;184;p10">
            <a:extLst>
              <a:ext uri="{FF2B5EF4-FFF2-40B4-BE49-F238E27FC236}">
                <a16:creationId xmlns:a16="http://schemas.microsoft.com/office/drawing/2014/main" id="{47932451-B09D-95B5-AB28-AAF62346386B}"/>
              </a:ext>
            </a:extLst>
          </p:cNvPr>
          <p:cNvSpPr/>
          <p:nvPr/>
        </p:nvSpPr>
        <p:spPr>
          <a:xfrm>
            <a:off x="552600" y="5219640"/>
            <a:ext cx="10743480" cy="723240"/>
          </a:xfrm>
          <a:prstGeom prst="roundRect">
            <a:avLst>
              <a:gd name="adj" fmla="val 15789"/>
            </a:avLst>
          </a:prstGeom>
          <a:solidFill>
            <a:srgbClr val="F5DFD6"/>
          </a:solidFill>
          <a:ln w="9525" cap="flat" cmpd="sng">
            <a:solidFill>
              <a:srgbClr val="7C6F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2" name="Google Shape;185;p10">
            <a:extLst>
              <a:ext uri="{FF2B5EF4-FFF2-40B4-BE49-F238E27FC236}">
                <a16:creationId xmlns:a16="http://schemas.microsoft.com/office/drawing/2014/main" id="{CC804FAD-FB9B-5759-F38B-0D0A1187CBD9}"/>
              </a:ext>
            </a:extLst>
          </p:cNvPr>
          <p:cNvSpPr/>
          <p:nvPr/>
        </p:nvSpPr>
        <p:spPr>
          <a:xfrm>
            <a:off x="757129" y="5410080"/>
            <a:ext cx="10334422" cy="34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本計畫是部署目標與驗收方式</a:t>
            </a:r>
            <a:r>
              <a:rPr lang="en-US" sz="2000" b="1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，不代表已建立雲端資源或已獲得</a:t>
            </a:r>
            <a:r>
              <a:rPr lang="en-US" sz="2000" b="1" i="0" u="none" strike="noStrike" cap="non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 production cutover </a:t>
            </a:r>
            <a:r>
              <a:rPr lang="en-US" sz="2000" b="1" i="0" u="none" strike="noStrike" cap="none" dirty="0" err="1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授權</a:t>
            </a:r>
            <a:r>
              <a:rPr lang="en-US" sz="2000" b="1" i="0" u="none" strike="noStrike" cap="none" dirty="0">
                <a:solidFill>
                  <a:srgbClr val="76564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。</a:t>
            </a:r>
            <a:endParaRPr sz="2000" b="0" i="0" u="none" strike="noStrike" cap="none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3" name="Shape 93">
            <a:extLst>
              <a:ext uri="{FF2B5EF4-FFF2-40B4-BE49-F238E27FC236}">
                <a16:creationId xmlns:a16="http://schemas.microsoft.com/office/drawing/2014/main" id="{24BC9022-4959-F6BC-B743-587C1C947119}"/>
              </a:ext>
            </a:extLst>
          </p:cNvPr>
          <p:cNvSpPr>
            <a:spLocks noGrp="1"/>
          </p:cNvSpPr>
          <p:nvPr/>
        </p:nvSpPr>
        <p:spPr>
          <a:xfrm>
            <a:off x="612834" y="597198"/>
            <a:ext cx="7255522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/>
            <a:r>
              <a:rPr lang="zh-TW" altLang="en-US" sz="3200" b="1" dirty="0">
                <a:solidFill>
                  <a:srgbClr val="3B302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t>上線前必須證明隔離、復原與可追溯性</a:t>
            </a:r>
            <a:endParaRPr lang="zh-TW" altLang="en-US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4" name="統一章節標記">
            <a:extLst>
              <a:ext uri="{FF2B5EF4-FFF2-40B4-BE49-F238E27FC236}">
                <a16:creationId xmlns:a16="http://schemas.microsoft.com/office/drawing/2014/main" id="{F4782012-5B7E-B45B-6C30-F1838E1D3EBF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13106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sp>
        <p:nvSpPr>
          <p:cNvPr id="17" name="Shape 93">
            <a:extLst>
              <a:ext uri="{FF2B5EF4-FFF2-40B4-BE49-F238E27FC236}">
                <a16:creationId xmlns:a16="http://schemas.microsoft.com/office/drawing/2014/main" id="{D994ADDD-EC38-E184-8BE3-BDC8A5983D87}"/>
              </a:ext>
            </a:extLst>
          </p:cNvPr>
          <p:cNvSpPr>
            <a:spLocks noGrp="1"/>
          </p:cNvSpPr>
          <p:nvPr/>
        </p:nvSpPr>
        <p:spPr>
          <a:xfrm>
            <a:off x="10688471" y="321095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" sz="2400" b="1" dirty="0" err="1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温瑞祥</a:t>
            </a:r>
            <a:endParaRPr sz="2400" b="0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788C0140-59CC-D381-212E-1EDA5EA51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" b="571"/>
          <a:stretch/>
        </p:blipFill>
        <p:spPr>
          <a:xfrm>
            <a:off x="10059431" y="144134"/>
            <a:ext cx="787736" cy="906127"/>
          </a:xfrm>
          <a:prstGeom prst="ellipse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8117E56-6E6D-70AB-E6C4-4DE5B4BBF244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45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AFB0CBBD-272C-F67C-EC5F-7762CC464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307146"/>
            <a:ext cx="7772400" cy="53676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CE9F5509-3926-228B-2E97-3579AD51A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194" y="5864352"/>
            <a:ext cx="1271239" cy="6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07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7C740470-DDDE-D80D-A0F6-1F2C29CBC5E0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18F89D0-7ADA-33F8-F439-49116015A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4" name="Shape 93">
            <a:extLst>
              <a:ext uri="{FF2B5EF4-FFF2-40B4-BE49-F238E27FC236}">
                <a16:creationId xmlns:a16="http://schemas.microsoft.com/office/drawing/2014/main" id="{44492D16-48F4-CCE6-50CD-9A6CF5EF846A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3202811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>
              <a:buClr>
                <a:srgbClr val="243545"/>
              </a:buClr>
              <a:buSzPts val="2550"/>
            </a:pPr>
            <a:r>
              <a:rPr lang="zh-TW" altLang="en-US" sz="3200" b="1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成員與工作分配</a:t>
            </a:r>
            <a:endParaRPr lang="zh-TW" altLang="en-US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53B0513F-87FD-F35B-6ADE-3C1B224E7E92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001727D-A933-A9B1-E176-7D39B4BD6FC1}"/>
              </a:ext>
            </a:extLst>
          </p:cNvPr>
          <p:cNvGrpSpPr/>
          <p:nvPr/>
        </p:nvGrpSpPr>
        <p:grpSpPr>
          <a:xfrm>
            <a:off x="419040" y="1952640"/>
            <a:ext cx="11314440" cy="4237200"/>
            <a:chOff x="419040" y="1952640"/>
            <a:chExt cx="11314440" cy="4237200"/>
          </a:xfrm>
        </p:grpSpPr>
        <p:sp>
          <p:nvSpPr>
            <p:cNvPr id="7" name="Google Shape;223;p18">
              <a:extLst>
                <a:ext uri="{FF2B5EF4-FFF2-40B4-BE49-F238E27FC236}">
                  <a16:creationId xmlns:a16="http://schemas.microsoft.com/office/drawing/2014/main" id="{0CBDABF6-D5AE-4FA0-6EA1-81820A575E73}"/>
                </a:ext>
              </a:extLst>
            </p:cNvPr>
            <p:cNvSpPr/>
            <p:nvPr/>
          </p:nvSpPr>
          <p:spPr>
            <a:xfrm>
              <a:off x="3000240" y="1952640"/>
              <a:ext cx="1807920" cy="1255680"/>
            </a:xfrm>
            <a:prstGeom prst="rect">
              <a:avLst/>
            </a:prstGeom>
            <a:solidFill>
              <a:srgbClr val="E7E0D3"/>
            </a:solidFill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Arial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EF51199B-7ED8-CF3B-44A3-FE11F1EB7A8A}"/>
                </a:ext>
              </a:extLst>
            </p:cNvPr>
            <p:cNvGrpSpPr/>
            <p:nvPr/>
          </p:nvGrpSpPr>
          <p:grpSpPr>
            <a:xfrm>
              <a:off x="419040" y="1952640"/>
              <a:ext cx="11314440" cy="4237200"/>
              <a:chOff x="419040" y="1952640"/>
              <a:chExt cx="11314440" cy="4237200"/>
            </a:xfrm>
          </p:grpSpPr>
          <p:sp>
            <p:nvSpPr>
              <p:cNvPr id="9" name="Google Shape;219;p18">
                <a:extLst>
                  <a:ext uri="{FF2B5EF4-FFF2-40B4-BE49-F238E27FC236}">
                    <a16:creationId xmlns:a16="http://schemas.microsoft.com/office/drawing/2014/main" id="{B6FF5AA6-3D46-650A-E567-C4618C479D69}"/>
                  </a:ext>
                </a:extLst>
              </p:cNvPr>
              <p:cNvSpPr/>
              <p:nvPr/>
            </p:nvSpPr>
            <p:spPr>
              <a:xfrm>
                <a:off x="2647800" y="2543040"/>
                <a:ext cx="379080" cy="74520"/>
              </a:xfrm>
              <a:prstGeom prst="ellipse">
                <a:avLst/>
              </a:prstGeom>
              <a:solidFill>
                <a:srgbClr val="D8C2AE"/>
              </a:solidFill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8625" rIns="90000" bIns="86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0" name="Google Shape;220;p18">
                <a:extLst>
                  <a:ext uri="{FF2B5EF4-FFF2-40B4-BE49-F238E27FC236}">
                    <a16:creationId xmlns:a16="http://schemas.microsoft.com/office/drawing/2014/main" id="{C35114FC-8CB9-99F8-85B0-A1B6DCD07923}"/>
                  </a:ext>
                </a:extLst>
              </p:cNvPr>
              <p:cNvSpPr/>
              <p:nvPr/>
            </p:nvSpPr>
            <p:spPr>
              <a:xfrm>
                <a:off x="857160" y="1952640"/>
                <a:ext cx="1807920" cy="125568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1" name="Google Shape;221;p18">
                <a:extLst>
                  <a:ext uri="{FF2B5EF4-FFF2-40B4-BE49-F238E27FC236}">
                    <a16:creationId xmlns:a16="http://schemas.microsoft.com/office/drawing/2014/main" id="{420C9DC7-3D4D-A67C-00ED-E9C16EA5DB5F}"/>
                  </a:ext>
                </a:extLst>
              </p:cNvPr>
              <p:cNvSpPr/>
              <p:nvPr/>
            </p:nvSpPr>
            <p:spPr>
              <a:xfrm>
                <a:off x="1009800" y="2333520"/>
                <a:ext cx="1503000" cy="474480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493D"/>
                  </a:buClr>
                  <a:buSzPts val="2170"/>
                  <a:buFont typeface="Microsoft JhengHei"/>
                  <a:buNone/>
                </a:pPr>
                <a:r>
                  <a:rPr lang="en-US" sz="2170" b="1" u="none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侯子曦</a:t>
                </a:r>
                <a:endParaRPr sz="217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2" name="Google Shape;222;p18">
                <a:extLst>
                  <a:ext uri="{FF2B5EF4-FFF2-40B4-BE49-F238E27FC236}">
                    <a16:creationId xmlns:a16="http://schemas.microsoft.com/office/drawing/2014/main" id="{7EBA1E01-29F4-AE5C-2941-07E1320A3F98}"/>
                  </a:ext>
                </a:extLst>
              </p:cNvPr>
              <p:cNvSpPr/>
              <p:nvPr/>
            </p:nvSpPr>
            <p:spPr>
              <a:xfrm>
                <a:off x="4791240" y="2543040"/>
                <a:ext cx="379080" cy="74520"/>
              </a:xfrm>
              <a:prstGeom prst="ellipse">
                <a:avLst/>
              </a:prstGeom>
              <a:solidFill>
                <a:srgbClr val="D8C2AE"/>
              </a:solidFill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8625" rIns="90000" bIns="86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3" name="Google Shape;224;p18">
                <a:extLst>
                  <a:ext uri="{FF2B5EF4-FFF2-40B4-BE49-F238E27FC236}">
                    <a16:creationId xmlns:a16="http://schemas.microsoft.com/office/drawing/2014/main" id="{7BB6CBFA-CBCA-5380-0449-E27FF1AC7C9B}"/>
                  </a:ext>
                </a:extLst>
              </p:cNvPr>
              <p:cNvSpPr/>
              <p:nvPr/>
            </p:nvSpPr>
            <p:spPr>
              <a:xfrm>
                <a:off x="3152880" y="2333520"/>
                <a:ext cx="1503000" cy="474480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493D"/>
                  </a:buClr>
                  <a:buSzPts val="2170"/>
                  <a:buFont typeface="Microsoft JhengHei"/>
                  <a:buNone/>
                </a:pPr>
                <a:r>
                  <a:rPr lang="en-US" sz="2170" b="1" u="none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蔡欣怡</a:t>
                </a:r>
                <a:endParaRPr sz="217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4" name="Google Shape;225;p18">
                <a:extLst>
                  <a:ext uri="{FF2B5EF4-FFF2-40B4-BE49-F238E27FC236}">
                    <a16:creationId xmlns:a16="http://schemas.microsoft.com/office/drawing/2014/main" id="{69512442-0B52-EA5F-CABC-BABAD47462C3}"/>
                  </a:ext>
                </a:extLst>
              </p:cNvPr>
              <p:cNvSpPr/>
              <p:nvPr/>
            </p:nvSpPr>
            <p:spPr>
              <a:xfrm>
                <a:off x="6934320" y="2543040"/>
                <a:ext cx="379080" cy="74520"/>
              </a:xfrm>
              <a:prstGeom prst="ellipse">
                <a:avLst/>
              </a:prstGeom>
              <a:solidFill>
                <a:srgbClr val="D8C2AE"/>
              </a:solidFill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8625" rIns="90000" bIns="86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5" name="Google Shape;226;p18">
                <a:extLst>
                  <a:ext uri="{FF2B5EF4-FFF2-40B4-BE49-F238E27FC236}">
                    <a16:creationId xmlns:a16="http://schemas.microsoft.com/office/drawing/2014/main" id="{ED0F2E1D-B0A2-AF94-8ADE-7571EF55135C}"/>
                  </a:ext>
                </a:extLst>
              </p:cNvPr>
              <p:cNvSpPr/>
              <p:nvPr/>
            </p:nvSpPr>
            <p:spPr>
              <a:xfrm>
                <a:off x="5143680" y="1952640"/>
                <a:ext cx="1807920" cy="125568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6" name="Google Shape;227;p18">
                <a:extLst>
                  <a:ext uri="{FF2B5EF4-FFF2-40B4-BE49-F238E27FC236}">
                    <a16:creationId xmlns:a16="http://schemas.microsoft.com/office/drawing/2014/main" id="{785E92F2-538D-0B2A-8FED-09949F66A69C}"/>
                  </a:ext>
                </a:extLst>
              </p:cNvPr>
              <p:cNvSpPr/>
              <p:nvPr/>
            </p:nvSpPr>
            <p:spPr>
              <a:xfrm>
                <a:off x="5295960" y="2333520"/>
                <a:ext cx="1503000" cy="474480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493D"/>
                  </a:buClr>
                  <a:buSzPts val="2170"/>
                  <a:buFont typeface="Microsoft JhengHei"/>
                  <a:buNone/>
                </a:pPr>
                <a:r>
                  <a:rPr lang="en-US" sz="2170" b="1" u="none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張琬偲</a:t>
                </a:r>
                <a:endParaRPr sz="217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7" name="Google Shape;228;p18">
                <a:extLst>
                  <a:ext uri="{FF2B5EF4-FFF2-40B4-BE49-F238E27FC236}">
                    <a16:creationId xmlns:a16="http://schemas.microsoft.com/office/drawing/2014/main" id="{0FFC3964-DC9B-0F20-B66F-D4879099E8CD}"/>
                  </a:ext>
                </a:extLst>
              </p:cNvPr>
              <p:cNvSpPr/>
              <p:nvPr/>
            </p:nvSpPr>
            <p:spPr>
              <a:xfrm>
                <a:off x="9077400" y="2543040"/>
                <a:ext cx="379080" cy="74520"/>
              </a:xfrm>
              <a:prstGeom prst="ellipse">
                <a:avLst/>
              </a:prstGeom>
              <a:solidFill>
                <a:srgbClr val="D8C2AE"/>
              </a:solidFill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8625" rIns="90000" bIns="862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8" name="Google Shape;229;p18">
                <a:extLst>
                  <a:ext uri="{FF2B5EF4-FFF2-40B4-BE49-F238E27FC236}">
                    <a16:creationId xmlns:a16="http://schemas.microsoft.com/office/drawing/2014/main" id="{BD5722CC-939E-8214-F5EF-BA2135F4B66A}"/>
                  </a:ext>
                </a:extLst>
              </p:cNvPr>
              <p:cNvSpPr/>
              <p:nvPr/>
            </p:nvSpPr>
            <p:spPr>
              <a:xfrm>
                <a:off x="7286760" y="1952640"/>
                <a:ext cx="1807920" cy="1255680"/>
              </a:xfrm>
              <a:prstGeom prst="rect">
                <a:avLst/>
              </a:prstGeom>
              <a:solidFill>
                <a:srgbClr val="E7E0D3"/>
              </a:solidFill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19" name="Google Shape;230;p18">
                <a:extLst>
                  <a:ext uri="{FF2B5EF4-FFF2-40B4-BE49-F238E27FC236}">
                    <a16:creationId xmlns:a16="http://schemas.microsoft.com/office/drawing/2014/main" id="{1A9465A5-66E7-FC59-A44D-98802DA587EB}"/>
                  </a:ext>
                </a:extLst>
              </p:cNvPr>
              <p:cNvSpPr/>
              <p:nvPr/>
            </p:nvSpPr>
            <p:spPr>
              <a:xfrm>
                <a:off x="7439040" y="2333520"/>
                <a:ext cx="1503000" cy="474480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493D"/>
                  </a:buClr>
                  <a:buSzPts val="2170"/>
                  <a:buFont typeface="Microsoft JhengHei"/>
                  <a:buNone/>
                </a:pPr>
                <a:r>
                  <a:rPr lang="en-US" sz="2170" b="1" u="none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溫瑞祥</a:t>
                </a:r>
                <a:endParaRPr sz="217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0" name="Google Shape;231;p18">
                <a:extLst>
                  <a:ext uri="{FF2B5EF4-FFF2-40B4-BE49-F238E27FC236}">
                    <a16:creationId xmlns:a16="http://schemas.microsoft.com/office/drawing/2014/main" id="{1A4FEA2C-7204-0893-A277-B07515725808}"/>
                  </a:ext>
                </a:extLst>
              </p:cNvPr>
              <p:cNvSpPr/>
              <p:nvPr/>
            </p:nvSpPr>
            <p:spPr>
              <a:xfrm>
                <a:off x="9429840" y="1952640"/>
                <a:ext cx="1807920" cy="125568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1" name="Google Shape;232;p18">
                <a:extLst>
                  <a:ext uri="{FF2B5EF4-FFF2-40B4-BE49-F238E27FC236}">
                    <a16:creationId xmlns:a16="http://schemas.microsoft.com/office/drawing/2014/main" id="{25B65928-711E-EF4E-8130-73EDFD4BE406}"/>
                  </a:ext>
                </a:extLst>
              </p:cNvPr>
              <p:cNvSpPr/>
              <p:nvPr/>
            </p:nvSpPr>
            <p:spPr>
              <a:xfrm>
                <a:off x="9582120" y="2333520"/>
                <a:ext cx="1503000" cy="474480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D493D"/>
                  </a:buClr>
                  <a:buSzPts val="2170"/>
                  <a:buFont typeface="Microsoft JhengHei"/>
                  <a:buNone/>
                </a:pPr>
                <a:r>
                  <a:rPr lang="en-US" sz="2170" b="1" u="none">
                    <a:solidFill>
                      <a:srgbClr val="5D493D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陳翊庭</a:t>
                </a:r>
                <a:endParaRPr sz="217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2" name="Google Shape;233;p18">
                <a:extLst>
                  <a:ext uri="{FF2B5EF4-FFF2-40B4-BE49-F238E27FC236}">
                    <a16:creationId xmlns:a16="http://schemas.microsoft.com/office/drawing/2014/main" id="{91880EC2-D687-EFA0-8FE5-E67708D5F55D}"/>
                  </a:ext>
                </a:extLst>
              </p:cNvPr>
              <p:cNvSpPr/>
              <p:nvPr/>
            </p:nvSpPr>
            <p:spPr>
              <a:xfrm>
                <a:off x="419040" y="3780000"/>
                <a:ext cx="1256040" cy="457560"/>
              </a:xfrm>
              <a:prstGeom prst="rect">
                <a:avLst/>
              </a:prstGeom>
              <a:solidFill>
                <a:srgbClr val="E8DED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成員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／工作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3" name="Google Shape;234;p18">
                <a:extLst>
                  <a:ext uri="{FF2B5EF4-FFF2-40B4-BE49-F238E27FC236}">
                    <a16:creationId xmlns:a16="http://schemas.microsoft.com/office/drawing/2014/main" id="{4D47373E-5A45-2EAD-7FD5-8B9D0AED8077}"/>
                  </a:ext>
                </a:extLst>
              </p:cNvPr>
              <p:cNvSpPr/>
              <p:nvPr/>
            </p:nvSpPr>
            <p:spPr>
              <a:xfrm>
                <a:off x="1676520" y="3780000"/>
                <a:ext cx="1027440" cy="457560"/>
              </a:xfrm>
              <a:prstGeom prst="rect">
                <a:avLst/>
              </a:prstGeom>
              <a:solidFill>
                <a:srgbClr val="F3ECE3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需求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溝通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4" name="Google Shape;235;p18">
                <a:extLst>
                  <a:ext uri="{FF2B5EF4-FFF2-40B4-BE49-F238E27FC236}">
                    <a16:creationId xmlns:a16="http://schemas.microsoft.com/office/drawing/2014/main" id="{D9371F5B-74BC-1C97-CCCF-481A98CE879B}"/>
                  </a:ext>
                </a:extLst>
              </p:cNvPr>
              <p:cNvSpPr/>
              <p:nvPr/>
            </p:nvSpPr>
            <p:spPr>
              <a:xfrm>
                <a:off x="2705040" y="3780000"/>
                <a:ext cx="1103400" cy="457560"/>
              </a:xfrm>
              <a:prstGeom prst="rect">
                <a:avLst/>
              </a:prstGeom>
              <a:solidFill>
                <a:srgbClr val="F3ECE3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資料庫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建立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5" name="Google Shape;236;p18">
                <a:extLst>
                  <a:ext uri="{FF2B5EF4-FFF2-40B4-BE49-F238E27FC236}">
                    <a16:creationId xmlns:a16="http://schemas.microsoft.com/office/drawing/2014/main" id="{84370B5E-74BD-DDB2-7022-C701DD321B76}"/>
                  </a:ext>
                </a:extLst>
              </p:cNvPr>
              <p:cNvSpPr/>
              <p:nvPr/>
            </p:nvSpPr>
            <p:spPr>
              <a:xfrm>
                <a:off x="3809880" y="3780000"/>
                <a:ext cx="1027440" cy="457560"/>
              </a:xfrm>
              <a:prstGeom prst="rect">
                <a:avLst/>
              </a:prstGeom>
              <a:solidFill>
                <a:srgbClr val="F3ECE3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地端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測試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6" name="Google Shape;237;p18">
                <a:extLst>
                  <a:ext uri="{FF2B5EF4-FFF2-40B4-BE49-F238E27FC236}">
                    <a16:creationId xmlns:a16="http://schemas.microsoft.com/office/drawing/2014/main" id="{CEF1FD65-1CAA-130B-8FAB-2C2C8319407D}"/>
                  </a:ext>
                </a:extLst>
              </p:cNvPr>
              <p:cNvSpPr/>
              <p:nvPr/>
            </p:nvSpPr>
            <p:spPr>
              <a:xfrm>
                <a:off x="4838760" y="3780000"/>
                <a:ext cx="1751040" cy="457560"/>
              </a:xfrm>
              <a:prstGeom prst="rect">
                <a:avLst/>
              </a:prstGeom>
              <a:solidFill>
                <a:srgbClr val="F3ECE3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後台 UI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與系統演算法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7" name="Google Shape;238;p18">
                <a:extLst>
                  <a:ext uri="{FF2B5EF4-FFF2-40B4-BE49-F238E27FC236}">
                    <a16:creationId xmlns:a16="http://schemas.microsoft.com/office/drawing/2014/main" id="{85792D2C-D307-B8FF-5D2B-8DBDE35DCC80}"/>
                  </a:ext>
                </a:extLst>
              </p:cNvPr>
              <p:cNvSpPr/>
              <p:nvPr/>
            </p:nvSpPr>
            <p:spPr>
              <a:xfrm>
                <a:off x="6591240" y="3780000"/>
                <a:ext cx="1065240" cy="457560"/>
              </a:xfrm>
              <a:prstGeom prst="rect">
                <a:avLst/>
              </a:prstGeom>
              <a:solidFill>
                <a:srgbClr val="F3ECE3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LINE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應用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8" name="Google Shape;239;p18">
                <a:extLst>
                  <a:ext uri="{FF2B5EF4-FFF2-40B4-BE49-F238E27FC236}">
                    <a16:creationId xmlns:a16="http://schemas.microsoft.com/office/drawing/2014/main" id="{A40C6495-921C-D7B7-FAA6-DC1CE08E5083}"/>
                  </a:ext>
                </a:extLst>
              </p:cNvPr>
              <p:cNvSpPr/>
              <p:nvPr/>
            </p:nvSpPr>
            <p:spPr>
              <a:xfrm>
                <a:off x="7658280" y="3780000"/>
                <a:ext cx="1217880" cy="457560"/>
              </a:xfrm>
              <a:prstGeom prst="rect">
                <a:avLst/>
              </a:prstGeom>
              <a:solidFill>
                <a:srgbClr val="F3ECE3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Agent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客服應用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29" name="Google Shape;240;p18">
                <a:extLst>
                  <a:ext uri="{FF2B5EF4-FFF2-40B4-BE49-F238E27FC236}">
                    <a16:creationId xmlns:a16="http://schemas.microsoft.com/office/drawing/2014/main" id="{FD772876-D14B-AEF6-089D-CD033641CF20}"/>
                  </a:ext>
                </a:extLst>
              </p:cNvPr>
              <p:cNvSpPr/>
              <p:nvPr/>
            </p:nvSpPr>
            <p:spPr>
              <a:xfrm>
                <a:off x="8877240" y="3780000"/>
                <a:ext cx="1046160" cy="457560"/>
              </a:xfrm>
              <a:prstGeom prst="rect">
                <a:avLst/>
              </a:prstGeom>
              <a:solidFill>
                <a:srgbClr val="F3ECE3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CI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測試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0" name="Google Shape;241;p18">
                <a:extLst>
                  <a:ext uri="{FF2B5EF4-FFF2-40B4-BE49-F238E27FC236}">
                    <a16:creationId xmlns:a16="http://schemas.microsoft.com/office/drawing/2014/main" id="{5D98D79A-1533-B148-A2F2-BB40D32E730B}"/>
                  </a:ext>
                </a:extLst>
              </p:cNvPr>
              <p:cNvSpPr/>
              <p:nvPr/>
            </p:nvSpPr>
            <p:spPr>
              <a:xfrm>
                <a:off x="419040" y="4239360"/>
                <a:ext cx="125604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侯子曦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1" name="Google Shape;242;p18">
                <a:extLst>
                  <a:ext uri="{FF2B5EF4-FFF2-40B4-BE49-F238E27FC236}">
                    <a16:creationId xmlns:a16="http://schemas.microsoft.com/office/drawing/2014/main" id="{B78C413B-8D12-A4CA-5F92-0D1F3AD1042D}"/>
                  </a:ext>
                </a:extLst>
              </p:cNvPr>
              <p:cNvSpPr/>
              <p:nvPr/>
            </p:nvSpPr>
            <p:spPr>
              <a:xfrm>
                <a:off x="1676520" y="4239360"/>
                <a:ext cx="102744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2" name="Google Shape;243;p18">
                <a:extLst>
                  <a:ext uri="{FF2B5EF4-FFF2-40B4-BE49-F238E27FC236}">
                    <a16:creationId xmlns:a16="http://schemas.microsoft.com/office/drawing/2014/main" id="{3B64ECB2-CFCB-738E-DB6A-E9B53B5E7E7C}"/>
                  </a:ext>
                </a:extLst>
              </p:cNvPr>
              <p:cNvSpPr/>
              <p:nvPr/>
            </p:nvSpPr>
            <p:spPr>
              <a:xfrm>
                <a:off x="2705040" y="4239360"/>
                <a:ext cx="110340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3" name="Google Shape;244;p18">
                <a:extLst>
                  <a:ext uri="{FF2B5EF4-FFF2-40B4-BE49-F238E27FC236}">
                    <a16:creationId xmlns:a16="http://schemas.microsoft.com/office/drawing/2014/main" id="{054309F3-68A7-42BB-6A54-7A19367D5763}"/>
                  </a:ext>
                </a:extLst>
              </p:cNvPr>
              <p:cNvSpPr/>
              <p:nvPr/>
            </p:nvSpPr>
            <p:spPr>
              <a:xfrm>
                <a:off x="3809880" y="4239360"/>
                <a:ext cx="102744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4" name="Google Shape;245;p18">
                <a:extLst>
                  <a:ext uri="{FF2B5EF4-FFF2-40B4-BE49-F238E27FC236}">
                    <a16:creationId xmlns:a16="http://schemas.microsoft.com/office/drawing/2014/main" id="{55A27594-EC51-B376-D449-F77E100CF43C}"/>
                  </a:ext>
                </a:extLst>
              </p:cNvPr>
              <p:cNvSpPr/>
              <p:nvPr/>
            </p:nvSpPr>
            <p:spPr>
              <a:xfrm>
                <a:off x="4838760" y="4239360"/>
                <a:ext cx="175104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5" name="Google Shape;246;p18">
                <a:extLst>
                  <a:ext uri="{FF2B5EF4-FFF2-40B4-BE49-F238E27FC236}">
                    <a16:creationId xmlns:a16="http://schemas.microsoft.com/office/drawing/2014/main" id="{20CF01D5-8475-9514-851B-3449BF459196}"/>
                  </a:ext>
                </a:extLst>
              </p:cNvPr>
              <p:cNvSpPr/>
              <p:nvPr/>
            </p:nvSpPr>
            <p:spPr>
              <a:xfrm>
                <a:off x="6591240" y="4239360"/>
                <a:ext cx="106524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6" name="Google Shape;247;p18">
                <a:extLst>
                  <a:ext uri="{FF2B5EF4-FFF2-40B4-BE49-F238E27FC236}">
                    <a16:creationId xmlns:a16="http://schemas.microsoft.com/office/drawing/2014/main" id="{47465DD1-A13D-B9BA-5696-63693EFB9714}"/>
                  </a:ext>
                </a:extLst>
              </p:cNvPr>
              <p:cNvSpPr/>
              <p:nvPr/>
            </p:nvSpPr>
            <p:spPr>
              <a:xfrm>
                <a:off x="7658280" y="4239360"/>
                <a:ext cx="121788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7" name="Google Shape;248;p18">
                <a:extLst>
                  <a:ext uri="{FF2B5EF4-FFF2-40B4-BE49-F238E27FC236}">
                    <a16:creationId xmlns:a16="http://schemas.microsoft.com/office/drawing/2014/main" id="{F3E598E3-0037-3D28-173F-C940CD2C712A}"/>
                  </a:ext>
                </a:extLst>
              </p:cNvPr>
              <p:cNvSpPr/>
              <p:nvPr/>
            </p:nvSpPr>
            <p:spPr>
              <a:xfrm>
                <a:off x="8877240" y="4239360"/>
                <a:ext cx="104616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8" name="Google Shape;249;p18">
                <a:extLst>
                  <a:ext uri="{FF2B5EF4-FFF2-40B4-BE49-F238E27FC236}">
                    <a16:creationId xmlns:a16="http://schemas.microsoft.com/office/drawing/2014/main" id="{52AE5437-339D-F863-0CF9-DD237B45AE65}"/>
                  </a:ext>
                </a:extLst>
              </p:cNvPr>
              <p:cNvSpPr/>
              <p:nvPr/>
            </p:nvSpPr>
            <p:spPr>
              <a:xfrm>
                <a:off x="419040" y="4629960"/>
                <a:ext cx="125604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蔡欣怡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39" name="Google Shape;250;p18">
                <a:extLst>
                  <a:ext uri="{FF2B5EF4-FFF2-40B4-BE49-F238E27FC236}">
                    <a16:creationId xmlns:a16="http://schemas.microsoft.com/office/drawing/2014/main" id="{0F8A0002-FB0E-6B59-05B3-C44E7D29B0FF}"/>
                  </a:ext>
                </a:extLst>
              </p:cNvPr>
              <p:cNvSpPr/>
              <p:nvPr/>
            </p:nvSpPr>
            <p:spPr>
              <a:xfrm>
                <a:off x="1676520" y="4629960"/>
                <a:ext cx="102744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0" name="Google Shape;251;p18">
                <a:extLst>
                  <a:ext uri="{FF2B5EF4-FFF2-40B4-BE49-F238E27FC236}">
                    <a16:creationId xmlns:a16="http://schemas.microsoft.com/office/drawing/2014/main" id="{88483E3D-5A41-BE77-A4F4-BAFC8C787450}"/>
                  </a:ext>
                </a:extLst>
              </p:cNvPr>
              <p:cNvSpPr/>
              <p:nvPr/>
            </p:nvSpPr>
            <p:spPr>
              <a:xfrm>
                <a:off x="2705040" y="4629960"/>
                <a:ext cx="110340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1" name="Google Shape;252;p18">
                <a:extLst>
                  <a:ext uri="{FF2B5EF4-FFF2-40B4-BE49-F238E27FC236}">
                    <a16:creationId xmlns:a16="http://schemas.microsoft.com/office/drawing/2014/main" id="{47056522-2FDC-46FC-5DC1-9F77AFC8CBF9}"/>
                  </a:ext>
                </a:extLst>
              </p:cNvPr>
              <p:cNvSpPr/>
              <p:nvPr/>
            </p:nvSpPr>
            <p:spPr>
              <a:xfrm>
                <a:off x="3809880" y="4629960"/>
                <a:ext cx="102744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2" name="Google Shape;253;p18">
                <a:extLst>
                  <a:ext uri="{FF2B5EF4-FFF2-40B4-BE49-F238E27FC236}">
                    <a16:creationId xmlns:a16="http://schemas.microsoft.com/office/drawing/2014/main" id="{C9D52728-E524-82C8-EBF2-974A77CB727A}"/>
                  </a:ext>
                </a:extLst>
              </p:cNvPr>
              <p:cNvSpPr/>
              <p:nvPr/>
            </p:nvSpPr>
            <p:spPr>
              <a:xfrm>
                <a:off x="4838760" y="4629960"/>
                <a:ext cx="175104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3" name="Google Shape;254;p18">
                <a:extLst>
                  <a:ext uri="{FF2B5EF4-FFF2-40B4-BE49-F238E27FC236}">
                    <a16:creationId xmlns:a16="http://schemas.microsoft.com/office/drawing/2014/main" id="{6EBB2132-884B-5495-58A9-B3D28545C463}"/>
                  </a:ext>
                </a:extLst>
              </p:cNvPr>
              <p:cNvSpPr/>
              <p:nvPr/>
            </p:nvSpPr>
            <p:spPr>
              <a:xfrm>
                <a:off x="6591240" y="4629960"/>
                <a:ext cx="106524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4" name="Google Shape;255;p18">
                <a:extLst>
                  <a:ext uri="{FF2B5EF4-FFF2-40B4-BE49-F238E27FC236}">
                    <a16:creationId xmlns:a16="http://schemas.microsoft.com/office/drawing/2014/main" id="{8D85ADD2-6015-5CBD-8BF8-ECF1A3573B0E}"/>
                  </a:ext>
                </a:extLst>
              </p:cNvPr>
              <p:cNvSpPr/>
              <p:nvPr/>
            </p:nvSpPr>
            <p:spPr>
              <a:xfrm>
                <a:off x="7658280" y="4629960"/>
                <a:ext cx="121788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5" name="Google Shape;256;p18">
                <a:extLst>
                  <a:ext uri="{FF2B5EF4-FFF2-40B4-BE49-F238E27FC236}">
                    <a16:creationId xmlns:a16="http://schemas.microsoft.com/office/drawing/2014/main" id="{DE09F27C-DFFA-C3A4-B17C-0C2A8E2A3923}"/>
                  </a:ext>
                </a:extLst>
              </p:cNvPr>
              <p:cNvSpPr/>
              <p:nvPr/>
            </p:nvSpPr>
            <p:spPr>
              <a:xfrm>
                <a:off x="8877240" y="4629960"/>
                <a:ext cx="104616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6" name="Google Shape;257;p18">
                <a:extLst>
                  <a:ext uri="{FF2B5EF4-FFF2-40B4-BE49-F238E27FC236}">
                    <a16:creationId xmlns:a16="http://schemas.microsoft.com/office/drawing/2014/main" id="{23AE862B-3D42-3332-440B-9F8694B4D61C}"/>
                  </a:ext>
                </a:extLst>
              </p:cNvPr>
              <p:cNvSpPr/>
              <p:nvPr/>
            </p:nvSpPr>
            <p:spPr>
              <a:xfrm>
                <a:off x="419040" y="5019840"/>
                <a:ext cx="12560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張琬偲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7" name="Google Shape;258;p18">
                <a:extLst>
                  <a:ext uri="{FF2B5EF4-FFF2-40B4-BE49-F238E27FC236}">
                    <a16:creationId xmlns:a16="http://schemas.microsoft.com/office/drawing/2014/main" id="{24E7CED0-34B8-F4AD-443A-4DA62510B231}"/>
                  </a:ext>
                </a:extLst>
              </p:cNvPr>
              <p:cNvSpPr/>
              <p:nvPr/>
            </p:nvSpPr>
            <p:spPr>
              <a:xfrm>
                <a:off x="1676520" y="5019840"/>
                <a:ext cx="10274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8" name="Google Shape;259;p18">
                <a:extLst>
                  <a:ext uri="{FF2B5EF4-FFF2-40B4-BE49-F238E27FC236}">
                    <a16:creationId xmlns:a16="http://schemas.microsoft.com/office/drawing/2014/main" id="{77E6EE73-D186-306F-4810-9C76C728412E}"/>
                  </a:ext>
                </a:extLst>
              </p:cNvPr>
              <p:cNvSpPr/>
              <p:nvPr/>
            </p:nvSpPr>
            <p:spPr>
              <a:xfrm>
                <a:off x="2705040" y="5019840"/>
                <a:ext cx="110340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49" name="Google Shape;260;p18">
                <a:extLst>
                  <a:ext uri="{FF2B5EF4-FFF2-40B4-BE49-F238E27FC236}">
                    <a16:creationId xmlns:a16="http://schemas.microsoft.com/office/drawing/2014/main" id="{65B0C575-2163-C5F4-4B2A-7B8B78D03169}"/>
                  </a:ext>
                </a:extLst>
              </p:cNvPr>
              <p:cNvSpPr/>
              <p:nvPr/>
            </p:nvSpPr>
            <p:spPr>
              <a:xfrm>
                <a:off x="3809880" y="5019840"/>
                <a:ext cx="10274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0" name="Google Shape;261;p18">
                <a:extLst>
                  <a:ext uri="{FF2B5EF4-FFF2-40B4-BE49-F238E27FC236}">
                    <a16:creationId xmlns:a16="http://schemas.microsoft.com/office/drawing/2014/main" id="{F909D947-CAFB-1073-7AC9-FAB3D2B122B2}"/>
                  </a:ext>
                </a:extLst>
              </p:cNvPr>
              <p:cNvSpPr/>
              <p:nvPr/>
            </p:nvSpPr>
            <p:spPr>
              <a:xfrm>
                <a:off x="4838760" y="5019840"/>
                <a:ext cx="17510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1" name="Google Shape;262;p18">
                <a:extLst>
                  <a:ext uri="{FF2B5EF4-FFF2-40B4-BE49-F238E27FC236}">
                    <a16:creationId xmlns:a16="http://schemas.microsoft.com/office/drawing/2014/main" id="{97607438-5F6B-7A3A-F4F9-A8B359793CA9}"/>
                  </a:ext>
                </a:extLst>
              </p:cNvPr>
              <p:cNvSpPr/>
              <p:nvPr/>
            </p:nvSpPr>
            <p:spPr>
              <a:xfrm>
                <a:off x="6591240" y="5019840"/>
                <a:ext cx="10652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2" name="Google Shape;263;p18">
                <a:extLst>
                  <a:ext uri="{FF2B5EF4-FFF2-40B4-BE49-F238E27FC236}">
                    <a16:creationId xmlns:a16="http://schemas.microsoft.com/office/drawing/2014/main" id="{C828A8DD-2EF0-4F26-545F-B3DD8560F315}"/>
                  </a:ext>
                </a:extLst>
              </p:cNvPr>
              <p:cNvSpPr/>
              <p:nvPr/>
            </p:nvSpPr>
            <p:spPr>
              <a:xfrm>
                <a:off x="7658280" y="5019840"/>
                <a:ext cx="121788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3" name="Google Shape;264;p18">
                <a:extLst>
                  <a:ext uri="{FF2B5EF4-FFF2-40B4-BE49-F238E27FC236}">
                    <a16:creationId xmlns:a16="http://schemas.microsoft.com/office/drawing/2014/main" id="{E987505C-9C41-C4FB-78D8-F7E3B700EB7F}"/>
                  </a:ext>
                </a:extLst>
              </p:cNvPr>
              <p:cNvSpPr/>
              <p:nvPr/>
            </p:nvSpPr>
            <p:spPr>
              <a:xfrm>
                <a:off x="8877240" y="5019840"/>
                <a:ext cx="104616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4" name="Google Shape;265;p18">
                <a:extLst>
                  <a:ext uri="{FF2B5EF4-FFF2-40B4-BE49-F238E27FC236}">
                    <a16:creationId xmlns:a16="http://schemas.microsoft.com/office/drawing/2014/main" id="{BFE136B5-90B2-DBC7-F050-B856B940242E}"/>
                  </a:ext>
                </a:extLst>
              </p:cNvPr>
              <p:cNvSpPr/>
              <p:nvPr/>
            </p:nvSpPr>
            <p:spPr>
              <a:xfrm>
                <a:off x="419040" y="5410440"/>
                <a:ext cx="125604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溫瑞祥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5" name="Google Shape;266;p18">
                <a:extLst>
                  <a:ext uri="{FF2B5EF4-FFF2-40B4-BE49-F238E27FC236}">
                    <a16:creationId xmlns:a16="http://schemas.microsoft.com/office/drawing/2014/main" id="{A260681D-CA93-A2FA-7D89-859EA43F6C43}"/>
                  </a:ext>
                </a:extLst>
              </p:cNvPr>
              <p:cNvSpPr/>
              <p:nvPr/>
            </p:nvSpPr>
            <p:spPr>
              <a:xfrm>
                <a:off x="1676520" y="5410440"/>
                <a:ext cx="102744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6" name="Google Shape;267;p18">
                <a:extLst>
                  <a:ext uri="{FF2B5EF4-FFF2-40B4-BE49-F238E27FC236}">
                    <a16:creationId xmlns:a16="http://schemas.microsoft.com/office/drawing/2014/main" id="{0727FE07-37E1-FFE6-CC38-41462D1CF7F5}"/>
                  </a:ext>
                </a:extLst>
              </p:cNvPr>
              <p:cNvSpPr/>
              <p:nvPr/>
            </p:nvSpPr>
            <p:spPr>
              <a:xfrm>
                <a:off x="2705040" y="5410440"/>
                <a:ext cx="110340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7" name="Google Shape;268;p18">
                <a:extLst>
                  <a:ext uri="{FF2B5EF4-FFF2-40B4-BE49-F238E27FC236}">
                    <a16:creationId xmlns:a16="http://schemas.microsoft.com/office/drawing/2014/main" id="{6EC58421-3F08-F1A3-C2F6-CDFAEC816857}"/>
                  </a:ext>
                </a:extLst>
              </p:cNvPr>
              <p:cNvSpPr/>
              <p:nvPr/>
            </p:nvSpPr>
            <p:spPr>
              <a:xfrm>
                <a:off x="3809880" y="5410440"/>
                <a:ext cx="102744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8" name="Google Shape;269;p18">
                <a:extLst>
                  <a:ext uri="{FF2B5EF4-FFF2-40B4-BE49-F238E27FC236}">
                    <a16:creationId xmlns:a16="http://schemas.microsoft.com/office/drawing/2014/main" id="{66C2B982-0F01-45F7-AF88-3E04F8F1C5A9}"/>
                  </a:ext>
                </a:extLst>
              </p:cNvPr>
              <p:cNvSpPr/>
              <p:nvPr/>
            </p:nvSpPr>
            <p:spPr>
              <a:xfrm>
                <a:off x="4838760" y="5410440"/>
                <a:ext cx="175104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59" name="Google Shape;270;p18">
                <a:extLst>
                  <a:ext uri="{FF2B5EF4-FFF2-40B4-BE49-F238E27FC236}">
                    <a16:creationId xmlns:a16="http://schemas.microsoft.com/office/drawing/2014/main" id="{F06001A7-4A35-FD74-CD1E-BA52BA22F50C}"/>
                  </a:ext>
                </a:extLst>
              </p:cNvPr>
              <p:cNvSpPr/>
              <p:nvPr/>
            </p:nvSpPr>
            <p:spPr>
              <a:xfrm>
                <a:off x="6591240" y="5410440"/>
                <a:ext cx="106524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0" name="Google Shape;271;p18">
                <a:extLst>
                  <a:ext uri="{FF2B5EF4-FFF2-40B4-BE49-F238E27FC236}">
                    <a16:creationId xmlns:a16="http://schemas.microsoft.com/office/drawing/2014/main" id="{DF694067-495C-22F3-1C20-40BA4FD0E89A}"/>
                  </a:ext>
                </a:extLst>
              </p:cNvPr>
              <p:cNvSpPr/>
              <p:nvPr/>
            </p:nvSpPr>
            <p:spPr>
              <a:xfrm>
                <a:off x="7658280" y="5410440"/>
                <a:ext cx="121788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1" name="Google Shape;272;p18">
                <a:extLst>
                  <a:ext uri="{FF2B5EF4-FFF2-40B4-BE49-F238E27FC236}">
                    <a16:creationId xmlns:a16="http://schemas.microsoft.com/office/drawing/2014/main" id="{1CF068ED-0C2E-7375-5446-703CE4FB487D}"/>
                  </a:ext>
                </a:extLst>
              </p:cNvPr>
              <p:cNvSpPr/>
              <p:nvPr/>
            </p:nvSpPr>
            <p:spPr>
              <a:xfrm>
                <a:off x="8877240" y="5410440"/>
                <a:ext cx="104616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2" name="Google Shape;273;p18">
                <a:extLst>
                  <a:ext uri="{FF2B5EF4-FFF2-40B4-BE49-F238E27FC236}">
                    <a16:creationId xmlns:a16="http://schemas.microsoft.com/office/drawing/2014/main" id="{C36A345C-3565-9E34-26E8-9164A9EAD6D7}"/>
                  </a:ext>
                </a:extLst>
              </p:cNvPr>
              <p:cNvSpPr/>
              <p:nvPr/>
            </p:nvSpPr>
            <p:spPr>
              <a:xfrm>
                <a:off x="419040" y="5800680"/>
                <a:ext cx="12560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陳翊庭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3" name="Google Shape;274;p18">
                <a:extLst>
                  <a:ext uri="{FF2B5EF4-FFF2-40B4-BE49-F238E27FC236}">
                    <a16:creationId xmlns:a16="http://schemas.microsoft.com/office/drawing/2014/main" id="{7BE6CC75-3350-81A6-7D0F-67C9B10F48A0}"/>
                  </a:ext>
                </a:extLst>
              </p:cNvPr>
              <p:cNvSpPr/>
              <p:nvPr/>
            </p:nvSpPr>
            <p:spPr>
              <a:xfrm>
                <a:off x="1676520" y="5800680"/>
                <a:ext cx="10274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4" name="Google Shape;275;p18">
                <a:extLst>
                  <a:ext uri="{FF2B5EF4-FFF2-40B4-BE49-F238E27FC236}">
                    <a16:creationId xmlns:a16="http://schemas.microsoft.com/office/drawing/2014/main" id="{3F4599BE-B39A-949F-FE9B-BA7D12B20F7A}"/>
                  </a:ext>
                </a:extLst>
              </p:cNvPr>
              <p:cNvSpPr/>
              <p:nvPr/>
            </p:nvSpPr>
            <p:spPr>
              <a:xfrm>
                <a:off x="2705040" y="5800680"/>
                <a:ext cx="110340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5" name="Google Shape;276;p18">
                <a:extLst>
                  <a:ext uri="{FF2B5EF4-FFF2-40B4-BE49-F238E27FC236}">
                    <a16:creationId xmlns:a16="http://schemas.microsoft.com/office/drawing/2014/main" id="{6476DFDD-9F11-A667-E8EE-4EB5C8BC3263}"/>
                  </a:ext>
                </a:extLst>
              </p:cNvPr>
              <p:cNvSpPr/>
              <p:nvPr/>
            </p:nvSpPr>
            <p:spPr>
              <a:xfrm>
                <a:off x="3809880" y="5800680"/>
                <a:ext cx="10274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6" name="Google Shape;277;p18">
                <a:extLst>
                  <a:ext uri="{FF2B5EF4-FFF2-40B4-BE49-F238E27FC236}">
                    <a16:creationId xmlns:a16="http://schemas.microsoft.com/office/drawing/2014/main" id="{FD938D9C-634E-F86A-4DA5-2FB8990EA3F7}"/>
                  </a:ext>
                </a:extLst>
              </p:cNvPr>
              <p:cNvSpPr/>
              <p:nvPr/>
            </p:nvSpPr>
            <p:spPr>
              <a:xfrm>
                <a:off x="4838760" y="5800680"/>
                <a:ext cx="17510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7" name="Google Shape;278;p18">
                <a:extLst>
                  <a:ext uri="{FF2B5EF4-FFF2-40B4-BE49-F238E27FC236}">
                    <a16:creationId xmlns:a16="http://schemas.microsoft.com/office/drawing/2014/main" id="{39166FCC-63D3-ECE5-D88A-648209E650F6}"/>
                  </a:ext>
                </a:extLst>
              </p:cNvPr>
              <p:cNvSpPr/>
              <p:nvPr/>
            </p:nvSpPr>
            <p:spPr>
              <a:xfrm>
                <a:off x="6591240" y="5800680"/>
                <a:ext cx="10652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8" name="Google Shape;279;p18">
                <a:extLst>
                  <a:ext uri="{FF2B5EF4-FFF2-40B4-BE49-F238E27FC236}">
                    <a16:creationId xmlns:a16="http://schemas.microsoft.com/office/drawing/2014/main" id="{B836D37F-7636-4BF7-93C0-720144BD6E7D}"/>
                  </a:ext>
                </a:extLst>
              </p:cNvPr>
              <p:cNvSpPr/>
              <p:nvPr/>
            </p:nvSpPr>
            <p:spPr>
              <a:xfrm>
                <a:off x="7658280" y="5800680"/>
                <a:ext cx="121788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69" name="Google Shape;280;p18">
                <a:extLst>
                  <a:ext uri="{FF2B5EF4-FFF2-40B4-BE49-F238E27FC236}">
                    <a16:creationId xmlns:a16="http://schemas.microsoft.com/office/drawing/2014/main" id="{3FF490E3-E2E6-1517-1F92-0BEFB130A4F6}"/>
                  </a:ext>
                </a:extLst>
              </p:cNvPr>
              <p:cNvSpPr/>
              <p:nvPr/>
            </p:nvSpPr>
            <p:spPr>
              <a:xfrm>
                <a:off x="8877240" y="5800680"/>
                <a:ext cx="104616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70" name="Google Shape;281;p18">
                <a:extLst>
                  <a:ext uri="{FF2B5EF4-FFF2-40B4-BE49-F238E27FC236}">
                    <a16:creationId xmlns:a16="http://schemas.microsoft.com/office/drawing/2014/main" id="{CB76263B-C43D-8926-89D6-EADD20E46C64}"/>
                  </a:ext>
                </a:extLst>
              </p:cNvPr>
              <p:cNvSpPr/>
              <p:nvPr/>
            </p:nvSpPr>
            <p:spPr>
              <a:xfrm>
                <a:off x="6591240" y="5410440"/>
                <a:ext cx="106524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71" name="Google Shape;282;p18">
                <a:extLst>
                  <a:ext uri="{FF2B5EF4-FFF2-40B4-BE49-F238E27FC236}">
                    <a16:creationId xmlns:a16="http://schemas.microsoft.com/office/drawing/2014/main" id="{5D76765C-97FB-1787-7EEA-6ADD246DAE22}"/>
                  </a:ext>
                </a:extLst>
              </p:cNvPr>
              <p:cNvSpPr/>
              <p:nvPr/>
            </p:nvSpPr>
            <p:spPr>
              <a:xfrm>
                <a:off x="6591240" y="5800680"/>
                <a:ext cx="106524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72" name="Google Shape;283;p18">
                <a:extLst>
                  <a:ext uri="{FF2B5EF4-FFF2-40B4-BE49-F238E27FC236}">
                    <a16:creationId xmlns:a16="http://schemas.microsoft.com/office/drawing/2014/main" id="{F981F540-C585-FD4F-F50A-D8305E83B0F3}"/>
                  </a:ext>
                </a:extLst>
              </p:cNvPr>
              <p:cNvSpPr/>
              <p:nvPr/>
            </p:nvSpPr>
            <p:spPr>
              <a:xfrm>
                <a:off x="9925200" y="3780000"/>
                <a:ext cx="1808280" cy="457560"/>
              </a:xfrm>
              <a:prstGeom prst="rect">
                <a:avLst/>
              </a:prstGeom>
              <a:solidFill>
                <a:srgbClr val="F3ECE3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76300" rIns="76300" bIns="76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程式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  <a:p>
                <a:pPr marL="0" marR="0" lvl="0" indent="0" algn="ctr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2F"/>
                  </a:buClr>
                  <a:buSzPts val="1215"/>
                  <a:buFont typeface="Microsoft JhengHei"/>
                  <a:buNone/>
                </a:pPr>
                <a:r>
                  <a:rPr lang="en-US" sz="1216" b="1" u="none">
                    <a:solidFill>
                      <a:srgbClr val="33332F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部署</a:t>
                </a:r>
                <a:endParaRPr sz="1216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73" name="Google Shape;284;p18">
                <a:extLst>
                  <a:ext uri="{FF2B5EF4-FFF2-40B4-BE49-F238E27FC236}">
                    <a16:creationId xmlns:a16="http://schemas.microsoft.com/office/drawing/2014/main" id="{4F4E71B5-E2F5-7957-5F41-97A0D465D919}"/>
                  </a:ext>
                </a:extLst>
              </p:cNvPr>
              <p:cNvSpPr/>
              <p:nvPr/>
            </p:nvSpPr>
            <p:spPr>
              <a:xfrm>
                <a:off x="9925200" y="4239360"/>
                <a:ext cx="1808280" cy="38880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74" name="Google Shape;285;p18">
                <a:extLst>
                  <a:ext uri="{FF2B5EF4-FFF2-40B4-BE49-F238E27FC236}">
                    <a16:creationId xmlns:a16="http://schemas.microsoft.com/office/drawing/2014/main" id="{75415DCC-A5FE-D9B7-9DC0-5EFD98B71BD8}"/>
                  </a:ext>
                </a:extLst>
              </p:cNvPr>
              <p:cNvSpPr/>
              <p:nvPr/>
            </p:nvSpPr>
            <p:spPr>
              <a:xfrm>
                <a:off x="9925200" y="4629960"/>
                <a:ext cx="1808280" cy="38880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75" name="Google Shape;286;p18">
                <a:extLst>
                  <a:ext uri="{FF2B5EF4-FFF2-40B4-BE49-F238E27FC236}">
                    <a16:creationId xmlns:a16="http://schemas.microsoft.com/office/drawing/2014/main" id="{8D61BEFC-FEDF-9941-0F27-A39490E4C4F9}"/>
                  </a:ext>
                </a:extLst>
              </p:cNvPr>
              <p:cNvSpPr/>
              <p:nvPr/>
            </p:nvSpPr>
            <p:spPr>
              <a:xfrm>
                <a:off x="9925200" y="5019840"/>
                <a:ext cx="180828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76" name="Google Shape;287;p18">
                <a:extLst>
                  <a:ext uri="{FF2B5EF4-FFF2-40B4-BE49-F238E27FC236}">
                    <a16:creationId xmlns:a16="http://schemas.microsoft.com/office/drawing/2014/main" id="{E1497E36-B1C5-9CD6-6AD5-A053115F3437}"/>
                  </a:ext>
                </a:extLst>
              </p:cNvPr>
              <p:cNvSpPr/>
              <p:nvPr/>
            </p:nvSpPr>
            <p:spPr>
              <a:xfrm>
                <a:off x="9925200" y="5410440"/>
                <a:ext cx="1808280" cy="389160"/>
              </a:xfrm>
              <a:prstGeom prst="rect">
                <a:avLst/>
              </a:prstGeom>
              <a:solidFill>
                <a:srgbClr val="FAF6F0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56F49"/>
                  </a:buClr>
                  <a:buSzPts val="1430"/>
                  <a:buFont typeface="Microsoft JhengHei"/>
                  <a:buNone/>
                </a:pPr>
                <a:r>
                  <a:rPr lang="en-US" sz="1430" b="1" u="none">
                    <a:solidFill>
                      <a:srgbClr val="B56F49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Microsoft JhengHei"/>
                    <a:sym typeface="Microsoft JhengHei"/>
                  </a:rPr>
                  <a:t>●</a:t>
                </a:r>
                <a:endParaRPr sz="1430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  <p:sp>
            <p:nvSpPr>
              <p:cNvPr id="77" name="Google Shape;288;p18">
                <a:extLst>
                  <a:ext uri="{FF2B5EF4-FFF2-40B4-BE49-F238E27FC236}">
                    <a16:creationId xmlns:a16="http://schemas.microsoft.com/office/drawing/2014/main" id="{E4BC7F2C-4F10-2C62-8662-7802E195EF23}"/>
                  </a:ext>
                </a:extLst>
              </p:cNvPr>
              <p:cNvSpPr/>
              <p:nvPr/>
            </p:nvSpPr>
            <p:spPr>
              <a:xfrm>
                <a:off x="9925200" y="5800680"/>
                <a:ext cx="1808280" cy="389160"/>
              </a:xfrm>
              <a:prstGeom prst="rect">
                <a:avLst/>
              </a:prstGeom>
              <a:solidFill>
                <a:srgbClr val="FFFDF9"/>
              </a:solidFill>
              <a:ln w="11425" cap="flat" cmpd="sng">
                <a:solidFill>
                  <a:srgbClr val="D7CAB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4475" tIns="66600" rIns="76300" bIns="66600" anchor="ctr" anchorCtr="0">
                <a:noAutofit/>
              </a:bodyPr>
              <a:lstStyle/>
              <a:p>
                <a:pPr marL="0" marR="0" lvl="0" indent="0" algn="l" rtl="0">
                  <a:lnSpc>
                    <a:spcPct val="8000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25" b="0" u="none">
                  <a:solidFill>
                    <a:srgbClr val="00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sym typeface="Arial"/>
                </a:endParaRPr>
              </a:p>
            </p:txBody>
          </p:sp>
        </p:grpSp>
      </p:grp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1F0A28A9-7B41-6C04-DAE2-A9ED3FA3791D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43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46730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3">
            <a:extLst>
              <a:ext uri="{FF2B5EF4-FFF2-40B4-BE49-F238E27FC236}">
                <a16:creationId xmlns:a16="http://schemas.microsoft.com/office/drawing/2014/main" id="{5F65496B-1F38-72AA-0685-922C17262F0B}"/>
              </a:ext>
            </a:extLst>
          </p:cNvPr>
          <p:cNvSpPr>
            <a:spLocks noGrp="1"/>
          </p:cNvSpPr>
          <p:nvPr/>
        </p:nvSpPr>
        <p:spPr>
          <a:xfrm>
            <a:off x="10688471" y="296607"/>
            <a:ext cx="126215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2400" b="1" dirty="0" err="1">
                <a:solidFill>
                  <a:srgbClr val="292C2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/>
              </a:rPr>
              <a:t>侯子曦</a:t>
            </a:r>
            <a:endParaRPr sz="2400" b="1" u="none" dirty="0">
              <a:solidFill>
                <a:srgbClr val="292C28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C0D3FE3-2F68-0711-0E24-EE8610103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5" b="7155"/>
          <a:stretch/>
        </p:blipFill>
        <p:spPr>
          <a:xfrm>
            <a:off x="10033024" y="144134"/>
            <a:ext cx="787736" cy="906127"/>
          </a:xfrm>
          <a:prstGeom prst="ellipse">
            <a:avLst/>
          </a:prstGeom>
        </p:spPr>
      </p:pic>
      <p:sp>
        <p:nvSpPr>
          <p:cNvPr id="4" name="Shape 93">
            <a:extLst>
              <a:ext uri="{FF2B5EF4-FFF2-40B4-BE49-F238E27FC236}">
                <a16:creationId xmlns:a16="http://schemas.microsoft.com/office/drawing/2014/main" id="{EBB555BC-1C01-6B73-942F-126EF1CE659D}"/>
              </a:ext>
            </a:extLst>
          </p:cNvPr>
          <p:cNvSpPr>
            <a:spLocks noGrp="1"/>
          </p:cNvSpPr>
          <p:nvPr/>
        </p:nvSpPr>
        <p:spPr>
          <a:xfrm>
            <a:off x="612833" y="597198"/>
            <a:ext cx="3214100" cy="554428"/>
          </a:xfrm>
          <a:prstGeom prst="roundRect">
            <a:avLst>
              <a:gd name="adj" fmla="val 50000"/>
            </a:avLst>
          </a:prstGeom>
          <a:solidFill>
            <a:srgbClr val="E7E0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lvl="0" algn="ctr">
              <a:lnSpc>
                <a:spcPct val="104000"/>
              </a:lnSpc>
              <a:buClr>
                <a:srgbClr val="243545"/>
              </a:buClr>
              <a:buSzPts val="2550"/>
            </a:pPr>
            <a:r>
              <a:rPr lang="zh-TW" altLang="en-US" sz="3200" b="1" dirty="0">
                <a:solidFill>
                  <a:srgbClr val="24354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Noto Sans TC"/>
                <a:sym typeface="Noto Sans TC"/>
              </a:rPr>
              <a:t>專案管理時程表</a:t>
            </a:r>
            <a:endParaRPr lang="zh-TW" altLang="en-US" sz="3200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sp>
        <p:nvSpPr>
          <p:cNvPr id="5" name="統一章節標記">
            <a:extLst>
              <a:ext uri="{FF2B5EF4-FFF2-40B4-BE49-F238E27FC236}">
                <a16:creationId xmlns:a16="http://schemas.microsoft.com/office/drawing/2014/main" id="{7BAF4DBB-B8F4-0028-D90D-F1AC64040183}"/>
              </a:ext>
            </a:extLst>
          </p:cNvPr>
          <p:cNvSpPr>
            <a:spLocks noGrp="1"/>
          </p:cNvSpPr>
          <p:nvPr/>
        </p:nvSpPr>
        <p:spPr>
          <a:xfrm>
            <a:off x="382796" y="523800"/>
            <a:ext cx="132840" cy="713880"/>
          </a:xfrm>
          <a:prstGeom prst="ellipse">
            <a:avLst/>
          </a:prstGeom>
          <a:solidFill>
            <a:srgbClr val="AE7657"/>
          </a:solidFill>
          <a:ln w="0">
            <a:solidFill>
              <a:srgbClr val="AE76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ungsuh" panose="02030600000101010101" pitchFamily="18" charset="-127"/>
              <a:cs typeface="Arial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4587F9E-8813-24A6-EA81-2FA99EDB516D}"/>
              </a:ext>
            </a:extLst>
          </p:cNvPr>
          <p:cNvGrpSpPr/>
          <p:nvPr/>
        </p:nvGrpSpPr>
        <p:grpSpPr>
          <a:xfrm>
            <a:off x="356760" y="1585800"/>
            <a:ext cx="11607120" cy="4523040"/>
            <a:chOff x="356760" y="1585800"/>
            <a:chExt cx="11607120" cy="4523040"/>
          </a:xfrm>
        </p:grpSpPr>
        <p:sp>
          <p:nvSpPr>
            <p:cNvPr id="7" name="Google Shape;297;p19">
              <a:extLst>
                <a:ext uri="{FF2B5EF4-FFF2-40B4-BE49-F238E27FC236}">
                  <a16:creationId xmlns:a16="http://schemas.microsoft.com/office/drawing/2014/main" id="{5BCBDF61-BF2C-1B13-3865-4347D927BB97}"/>
                </a:ext>
              </a:extLst>
            </p:cNvPr>
            <p:cNvSpPr/>
            <p:nvPr/>
          </p:nvSpPr>
          <p:spPr>
            <a:xfrm>
              <a:off x="356760" y="1585800"/>
              <a:ext cx="114775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600" b="0" u="none" dirty="0" err="1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以分工並行推進，完成整合測試與成果發表</a:t>
              </a:r>
              <a:endParaRPr sz="1600" b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98;p19">
              <a:extLst>
                <a:ext uri="{FF2B5EF4-FFF2-40B4-BE49-F238E27FC236}">
                  <a16:creationId xmlns:a16="http://schemas.microsoft.com/office/drawing/2014/main" id="{A7F77746-565E-B747-DEFB-6D6BA2CE8E64}"/>
                </a:ext>
              </a:extLst>
            </p:cNvPr>
            <p:cNvSpPr/>
            <p:nvPr/>
          </p:nvSpPr>
          <p:spPr>
            <a:xfrm>
              <a:off x="831600" y="211464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9;p19">
              <a:extLst>
                <a:ext uri="{FF2B5EF4-FFF2-40B4-BE49-F238E27FC236}">
                  <a16:creationId xmlns:a16="http://schemas.microsoft.com/office/drawing/2014/main" id="{1CF3A9B6-BAD2-6133-ACED-61BF8D921709}"/>
                </a:ext>
              </a:extLst>
            </p:cNvPr>
            <p:cNvSpPr/>
            <p:nvPr/>
          </p:nvSpPr>
          <p:spPr>
            <a:xfrm>
              <a:off x="204840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6/29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300;p19">
              <a:extLst>
                <a:ext uri="{FF2B5EF4-FFF2-40B4-BE49-F238E27FC236}">
                  <a16:creationId xmlns:a16="http://schemas.microsoft.com/office/drawing/2014/main" id="{AB90F783-4C60-BCD9-69A0-17436C07A6EB}"/>
                </a:ext>
              </a:extLst>
            </p:cNvPr>
            <p:cNvSpPr/>
            <p:nvPr/>
          </p:nvSpPr>
          <p:spPr>
            <a:xfrm>
              <a:off x="302652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7/6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01;p19">
              <a:extLst>
                <a:ext uri="{FF2B5EF4-FFF2-40B4-BE49-F238E27FC236}">
                  <a16:creationId xmlns:a16="http://schemas.microsoft.com/office/drawing/2014/main" id="{8C13421F-94AB-95A1-38E1-798704410851}"/>
                </a:ext>
              </a:extLst>
            </p:cNvPr>
            <p:cNvSpPr/>
            <p:nvPr/>
          </p:nvSpPr>
          <p:spPr>
            <a:xfrm>
              <a:off x="400464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7/13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02;p19">
              <a:extLst>
                <a:ext uri="{FF2B5EF4-FFF2-40B4-BE49-F238E27FC236}">
                  <a16:creationId xmlns:a16="http://schemas.microsoft.com/office/drawing/2014/main" id="{0BE7704C-8180-7C95-A4CB-67EF0FB50306}"/>
                </a:ext>
              </a:extLst>
            </p:cNvPr>
            <p:cNvSpPr/>
            <p:nvPr/>
          </p:nvSpPr>
          <p:spPr>
            <a:xfrm>
              <a:off x="498276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7/20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303;p19">
              <a:extLst>
                <a:ext uri="{FF2B5EF4-FFF2-40B4-BE49-F238E27FC236}">
                  <a16:creationId xmlns:a16="http://schemas.microsoft.com/office/drawing/2014/main" id="{BBB4FCED-15E7-9A57-9347-44B852E86E8A}"/>
                </a:ext>
              </a:extLst>
            </p:cNvPr>
            <p:cNvSpPr/>
            <p:nvPr/>
          </p:nvSpPr>
          <p:spPr>
            <a:xfrm>
              <a:off x="596124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7/27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304;p19">
              <a:extLst>
                <a:ext uri="{FF2B5EF4-FFF2-40B4-BE49-F238E27FC236}">
                  <a16:creationId xmlns:a16="http://schemas.microsoft.com/office/drawing/2014/main" id="{81498C83-6A7E-7FA0-AB83-48F3611A2C8C}"/>
                </a:ext>
              </a:extLst>
            </p:cNvPr>
            <p:cNvSpPr/>
            <p:nvPr/>
          </p:nvSpPr>
          <p:spPr>
            <a:xfrm>
              <a:off x="693936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8/3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305;p19">
              <a:extLst>
                <a:ext uri="{FF2B5EF4-FFF2-40B4-BE49-F238E27FC236}">
                  <a16:creationId xmlns:a16="http://schemas.microsoft.com/office/drawing/2014/main" id="{3EE0963A-D115-B7CD-4EA1-EE547E613C1C}"/>
                </a:ext>
              </a:extLst>
            </p:cNvPr>
            <p:cNvSpPr/>
            <p:nvPr/>
          </p:nvSpPr>
          <p:spPr>
            <a:xfrm>
              <a:off x="791748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8/10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306;p19">
              <a:extLst>
                <a:ext uri="{FF2B5EF4-FFF2-40B4-BE49-F238E27FC236}">
                  <a16:creationId xmlns:a16="http://schemas.microsoft.com/office/drawing/2014/main" id="{0A4EB06F-B8C0-E7B9-B418-96279898AAFA}"/>
                </a:ext>
              </a:extLst>
            </p:cNvPr>
            <p:cNvSpPr/>
            <p:nvPr/>
          </p:nvSpPr>
          <p:spPr>
            <a:xfrm>
              <a:off x="889560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8/17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07;p19">
              <a:extLst>
                <a:ext uri="{FF2B5EF4-FFF2-40B4-BE49-F238E27FC236}">
                  <a16:creationId xmlns:a16="http://schemas.microsoft.com/office/drawing/2014/main" id="{7EF629FB-2F75-E59C-8C2C-8E0C765966FA}"/>
                </a:ext>
              </a:extLst>
            </p:cNvPr>
            <p:cNvSpPr/>
            <p:nvPr/>
          </p:nvSpPr>
          <p:spPr>
            <a:xfrm>
              <a:off x="9873720" y="21146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4655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746558"/>
                  </a:solidFill>
                  <a:latin typeface="Gelasio"/>
                  <a:ea typeface="Gelasio"/>
                  <a:cs typeface="Gelasio"/>
                  <a:sym typeface="Gelasio"/>
                </a:rPr>
                <a:t>8/24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309;p19">
              <a:extLst>
                <a:ext uri="{FF2B5EF4-FFF2-40B4-BE49-F238E27FC236}">
                  <a16:creationId xmlns:a16="http://schemas.microsoft.com/office/drawing/2014/main" id="{7A5C9C06-0A60-B406-387B-7430E1D6F355}"/>
                </a:ext>
              </a:extLst>
            </p:cNvPr>
            <p:cNvSpPr/>
            <p:nvPr/>
          </p:nvSpPr>
          <p:spPr>
            <a:xfrm>
              <a:off x="661680" y="2471400"/>
              <a:ext cx="1520640" cy="453600"/>
            </a:xfrm>
            <a:prstGeom prst="rect">
              <a:avLst/>
            </a:prstGeom>
            <a:solidFill>
              <a:srgbClr val="F0EBE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310;p19">
              <a:extLst>
                <a:ext uri="{FF2B5EF4-FFF2-40B4-BE49-F238E27FC236}">
                  <a16:creationId xmlns:a16="http://schemas.microsoft.com/office/drawing/2014/main" id="{F7B95DEA-4ED0-2B70-2CF7-4B59B1A91E49}"/>
                </a:ext>
              </a:extLst>
            </p:cNvPr>
            <p:cNvSpPr/>
            <p:nvPr/>
          </p:nvSpPr>
          <p:spPr>
            <a:xfrm>
              <a:off x="831600" y="256968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826D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A0826D"/>
                  </a:solidFill>
                  <a:latin typeface="Gelasio"/>
                  <a:ea typeface="Gelasio"/>
                  <a:cs typeface="Gelasio"/>
                  <a:sym typeface="Gelasio"/>
                </a:rPr>
                <a:t>需求溝通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311;p19">
              <a:extLst>
                <a:ext uri="{FF2B5EF4-FFF2-40B4-BE49-F238E27FC236}">
                  <a16:creationId xmlns:a16="http://schemas.microsoft.com/office/drawing/2014/main" id="{F90189A7-F555-E573-6C0A-CECA0AC3B976}"/>
                </a:ext>
              </a:extLst>
            </p:cNvPr>
            <p:cNvSpPr/>
            <p:nvPr/>
          </p:nvSpPr>
          <p:spPr>
            <a:xfrm>
              <a:off x="2183040" y="2471400"/>
              <a:ext cx="977040" cy="453600"/>
            </a:xfrm>
            <a:prstGeom prst="rect">
              <a:avLst/>
            </a:prstGeom>
            <a:solidFill>
              <a:srgbClr val="D4A574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312;p19">
              <a:extLst>
                <a:ext uri="{FF2B5EF4-FFF2-40B4-BE49-F238E27FC236}">
                  <a16:creationId xmlns:a16="http://schemas.microsoft.com/office/drawing/2014/main" id="{D4FB3277-38D9-2294-A003-43FD32DF7E41}"/>
                </a:ext>
              </a:extLst>
            </p:cNvPr>
            <p:cNvSpPr/>
            <p:nvPr/>
          </p:nvSpPr>
          <p:spPr>
            <a:xfrm>
              <a:off x="204840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4A574"/>
                </a:buClr>
                <a:buSzPts val="1430"/>
                <a:buFont typeface="Gelasio"/>
                <a:buNone/>
              </a:pPr>
              <a:r>
                <a:rPr lang="en-US" sz="1430" b="0" u="none">
                  <a:solidFill>
                    <a:srgbClr val="D4A574"/>
                  </a:solidFill>
                  <a:latin typeface="Gelasio"/>
                  <a:ea typeface="Gelasio"/>
                  <a:cs typeface="Gelasio"/>
                  <a:sym typeface="Gelasio"/>
                </a:rPr>
                <a:t>▬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313;p19">
              <a:extLst>
                <a:ext uri="{FF2B5EF4-FFF2-40B4-BE49-F238E27FC236}">
                  <a16:creationId xmlns:a16="http://schemas.microsoft.com/office/drawing/2014/main" id="{8B0A9C68-0BAC-B160-A793-10F34B78717D}"/>
                </a:ext>
              </a:extLst>
            </p:cNvPr>
            <p:cNvSpPr/>
            <p:nvPr/>
          </p:nvSpPr>
          <p:spPr>
            <a:xfrm>
              <a:off x="3161160" y="2471400"/>
              <a:ext cx="977040" cy="453600"/>
            </a:xfrm>
            <a:prstGeom prst="rect">
              <a:avLst/>
            </a:prstGeom>
            <a:solidFill>
              <a:srgbClr val="D4A574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314;p19">
              <a:extLst>
                <a:ext uri="{FF2B5EF4-FFF2-40B4-BE49-F238E27FC236}">
                  <a16:creationId xmlns:a16="http://schemas.microsoft.com/office/drawing/2014/main" id="{384BF35C-D288-C4BE-849D-C84F16243575}"/>
                </a:ext>
              </a:extLst>
            </p:cNvPr>
            <p:cNvSpPr/>
            <p:nvPr/>
          </p:nvSpPr>
          <p:spPr>
            <a:xfrm>
              <a:off x="302652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4A574"/>
                </a:buClr>
                <a:buSzPts val="1430"/>
                <a:buFont typeface="Gelasio"/>
                <a:buNone/>
              </a:pPr>
              <a:r>
                <a:rPr lang="en-US" sz="1430" b="0" u="none">
                  <a:solidFill>
                    <a:srgbClr val="D4A574"/>
                  </a:solidFill>
                  <a:latin typeface="Gelasio"/>
                  <a:ea typeface="Gelasio"/>
                  <a:cs typeface="Gelasio"/>
                  <a:sym typeface="Gelasio"/>
                </a:rPr>
                <a:t>▬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315;p19">
              <a:extLst>
                <a:ext uri="{FF2B5EF4-FFF2-40B4-BE49-F238E27FC236}">
                  <a16:creationId xmlns:a16="http://schemas.microsoft.com/office/drawing/2014/main" id="{51612DF1-7194-10DF-2A3F-7A5D918BC964}"/>
                </a:ext>
              </a:extLst>
            </p:cNvPr>
            <p:cNvSpPr/>
            <p:nvPr/>
          </p:nvSpPr>
          <p:spPr>
            <a:xfrm>
              <a:off x="4139640" y="2471400"/>
              <a:ext cx="977040" cy="453600"/>
            </a:xfrm>
            <a:prstGeom prst="rect">
              <a:avLst/>
            </a:prstGeom>
            <a:solidFill>
              <a:srgbClr val="D4A574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316;p19">
              <a:extLst>
                <a:ext uri="{FF2B5EF4-FFF2-40B4-BE49-F238E27FC236}">
                  <a16:creationId xmlns:a16="http://schemas.microsoft.com/office/drawing/2014/main" id="{BFEEB69F-F38A-CB9C-B5FC-93569A30AF42}"/>
                </a:ext>
              </a:extLst>
            </p:cNvPr>
            <p:cNvSpPr/>
            <p:nvPr/>
          </p:nvSpPr>
          <p:spPr>
            <a:xfrm>
              <a:off x="400464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4A574"/>
                </a:buClr>
                <a:buSzPts val="1430"/>
                <a:buFont typeface="Gelasio"/>
                <a:buNone/>
              </a:pPr>
              <a:r>
                <a:rPr lang="en-US" sz="1430" b="0" u="none">
                  <a:solidFill>
                    <a:srgbClr val="D4A574"/>
                  </a:solidFill>
                  <a:latin typeface="Gelasio"/>
                  <a:ea typeface="Gelasio"/>
                  <a:cs typeface="Gelasio"/>
                  <a:sym typeface="Gelasio"/>
                </a:rPr>
                <a:t>▬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317;p19">
              <a:extLst>
                <a:ext uri="{FF2B5EF4-FFF2-40B4-BE49-F238E27FC236}">
                  <a16:creationId xmlns:a16="http://schemas.microsoft.com/office/drawing/2014/main" id="{CA7F0DE2-53E9-BE5E-8519-691865282FCE}"/>
                </a:ext>
              </a:extLst>
            </p:cNvPr>
            <p:cNvSpPr/>
            <p:nvPr/>
          </p:nvSpPr>
          <p:spPr>
            <a:xfrm>
              <a:off x="5117760" y="2471400"/>
              <a:ext cx="977040" cy="453600"/>
            </a:xfrm>
            <a:prstGeom prst="rect">
              <a:avLst/>
            </a:prstGeom>
            <a:solidFill>
              <a:srgbClr val="D4A574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318;p19">
              <a:extLst>
                <a:ext uri="{FF2B5EF4-FFF2-40B4-BE49-F238E27FC236}">
                  <a16:creationId xmlns:a16="http://schemas.microsoft.com/office/drawing/2014/main" id="{291DCE62-2DE8-81F7-38FD-A3B8E07295B4}"/>
                </a:ext>
              </a:extLst>
            </p:cNvPr>
            <p:cNvSpPr/>
            <p:nvPr/>
          </p:nvSpPr>
          <p:spPr>
            <a:xfrm>
              <a:off x="498276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4A574"/>
                </a:buClr>
                <a:buSzPts val="1430"/>
                <a:buFont typeface="Gelasio"/>
                <a:buNone/>
              </a:pPr>
              <a:r>
                <a:rPr lang="en-US" sz="1430" b="0" u="none">
                  <a:solidFill>
                    <a:srgbClr val="D4A574"/>
                  </a:solidFill>
                  <a:latin typeface="Gelasio"/>
                  <a:ea typeface="Gelasio"/>
                  <a:cs typeface="Gelasio"/>
                  <a:sym typeface="Gelasio"/>
                </a:rPr>
                <a:t>▬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319;p19">
              <a:extLst>
                <a:ext uri="{FF2B5EF4-FFF2-40B4-BE49-F238E27FC236}">
                  <a16:creationId xmlns:a16="http://schemas.microsoft.com/office/drawing/2014/main" id="{AA977ED4-E696-8CF9-8063-57BCD2811981}"/>
                </a:ext>
              </a:extLst>
            </p:cNvPr>
            <p:cNvSpPr/>
            <p:nvPr/>
          </p:nvSpPr>
          <p:spPr>
            <a:xfrm>
              <a:off x="6095880" y="2471400"/>
              <a:ext cx="977040" cy="453600"/>
            </a:xfrm>
            <a:prstGeom prst="rect">
              <a:avLst/>
            </a:prstGeom>
            <a:solidFill>
              <a:srgbClr val="D4A574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20;p19">
              <a:extLst>
                <a:ext uri="{FF2B5EF4-FFF2-40B4-BE49-F238E27FC236}">
                  <a16:creationId xmlns:a16="http://schemas.microsoft.com/office/drawing/2014/main" id="{800A0491-28B3-9256-731A-B43FB2C75AE3}"/>
                </a:ext>
              </a:extLst>
            </p:cNvPr>
            <p:cNvSpPr/>
            <p:nvPr/>
          </p:nvSpPr>
          <p:spPr>
            <a:xfrm>
              <a:off x="596124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4A574"/>
                </a:buClr>
                <a:buSzPts val="1430"/>
                <a:buFont typeface="Gelasio"/>
                <a:buNone/>
              </a:pPr>
              <a:r>
                <a:rPr lang="en-US" sz="1430" b="0" u="none">
                  <a:solidFill>
                    <a:srgbClr val="D4A574"/>
                  </a:solidFill>
                  <a:latin typeface="Gelasio"/>
                  <a:ea typeface="Gelasio"/>
                  <a:cs typeface="Gelasio"/>
                  <a:sym typeface="Gelasio"/>
                </a:rPr>
                <a:t>▬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21;p19">
              <a:extLst>
                <a:ext uri="{FF2B5EF4-FFF2-40B4-BE49-F238E27FC236}">
                  <a16:creationId xmlns:a16="http://schemas.microsoft.com/office/drawing/2014/main" id="{4920B6C5-3F12-D688-2DE4-E4220643BFEC}"/>
                </a:ext>
              </a:extLst>
            </p:cNvPr>
            <p:cNvSpPr/>
            <p:nvPr/>
          </p:nvSpPr>
          <p:spPr>
            <a:xfrm>
              <a:off x="724392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22;p19">
              <a:extLst>
                <a:ext uri="{FF2B5EF4-FFF2-40B4-BE49-F238E27FC236}">
                  <a16:creationId xmlns:a16="http://schemas.microsoft.com/office/drawing/2014/main" id="{BE3BB5BC-4A9A-021C-5434-121C405A9D5D}"/>
                </a:ext>
              </a:extLst>
            </p:cNvPr>
            <p:cNvSpPr/>
            <p:nvPr/>
          </p:nvSpPr>
          <p:spPr>
            <a:xfrm>
              <a:off x="822240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3;p19">
              <a:extLst>
                <a:ext uri="{FF2B5EF4-FFF2-40B4-BE49-F238E27FC236}">
                  <a16:creationId xmlns:a16="http://schemas.microsoft.com/office/drawing/2014/main" id="{88CD2FB3-FD33-CA12-8E9C-6DA5E02F1DA8}"/>
                </a:ext>
              </a:extLst>
            </p:cNvPr>
            <p:cNvSpPr/>
            <p:nvPr/>
          </p:nvSpPr>
          <p:spPr>
            <a:xfrm>
              <a:off x="920052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24;p19">
              <a:extLst>
                <a:ext uri="{FF2B5EF4-FFF2-40B4-BE49-F238E27FC236}">
                  <a16:creationId xmlns:a16="http://schemas.microsoft.com/office/drawing/2014/main" id="{79F47B11-7D5B-2C47-4385-B0701F016ED2}"/>
                </a:ext>
              </a:extLst>
            </p:cNvPr>
            <p:cNvSpPr/>
            <p:nvPr/>
          </p:nvSpPr>
          <p:spPr>
            <a:xfrm>
              <a:off x="10178640" y="25696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26;p19">
              <a:extLst>
                <a:ext uri="{FF2B5EF4-FFF2-40B4-BE49-F238E27FC236}">
                  <a16:creationId xmlns:a16="http://schemas.microsoft.com/office/drawing/2014/main" id="{D2ACE4A5-6832-2593-7A49-EBA064FF5E55}"/>
                </a:ext>
              </a:extLst>
            </p:cNvPr>
            <p:cNvSpPr/>
            <p:nvPr/>
          </p:nvSpPr>
          <p:spPr>
            <a:xfrm>
              <a:off x="661680" y="2926080"/>
              <a:ext cx="1520640" cy="453600"/>
            </a:xfrm>
            <a:prstGeom prst="rect">
              <a:avLst/>
            </a:prstGeom>
            <a:solidFill>
              <a:srgbClr val="F0EBE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27;p19">
              <a:extLst>
                <a:ext uri="{FF2B5EF4-FFF2-40B4-BE49-F238E27FC236}">
                  <a16:creationId xmlns:a16="http://schemas.microsoft.com/office/drawing/2014/main" id="{A7559632-B43C-D43A-DE8A-2647BD287289}"/>
                </a:ext>
              </a:extLst>
            </p:cNvPr>
            <p:cNvSpPr/>
            <p:nvPr/>
          </p:nvSpPr>
          <p:spPr>
            <a:xfrm>
              <a:off x="831600" y="302436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8B7355"/>
                  </a:solidFill>
                  <a:latin typeface="Gelasio"/>
                  <a:ea typeface="Gelasio"/>
                  <a:cs typeface="Gelasio"/>
                  <a:sym typeface="Gelasio"/>
                </a:rPr>
                <a:t>資料庫建立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28;p19">
              <a:extLst>
                <a:ext uri="{FF2B5EF4-FFF2-40B4-BE49-F238E27FC236}">
                  <a16:creationId xmlns:a16="http://schemas.microsoft.com/office/drawing/2014/main" id="{43A6FDF1-ADF1-4860-8E55-914A4CB2B0E3}"/>
                </a:ext>
              </a:extLst>
            </p:cNvPr>
            <p:cNvSpPr/>
            <p:nvPr/>
          </p:nvSpPr>
          <p:spPr>
            <a:xfrm>
              <a:off x="2183040" y="2926080"/>
              <a:ext cx="977040" cy="453600"/>
            </a:xfrm>
            <a:prstGeom prst="rect">
              <a:avLst/>
            </a:prstGeom>
            <a:solidFill>
              <a:srgbClr val="8B735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29;p19">
              <a:extLst>
                <a:ext uri="{FF2B5EF4-FFF2-40B4-BE49-F238E27FC236}">
                  <a16:creationId xmlns:a16="http://schemas.microsoft.com/office/drawing/2014/main" id="{17179C4D-70D1-F959-61F8-279DC98BCD72}"/>
                </a:ext>
              </a:extLst>
            </p:cNvPr>
            <p:cNvSpPr/>
            <p:nvPr/>
          </p:nvSpPr>
          <p:spPr>
            <a:xfrm>
              <a:off x="235332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30;p19">
              <a:extLst>
                <a:ext uri="{FF2B5EF4-FFF2-40B4-BE49-F238E27FC236}">
                  <a16:creationId xmlns:a16="http://schemas.microsoft.com/office/drawing/2014/main" id="{0B77B699-0F8A-B851-EAF4-4D3993752078}"/>
                </a:ext>
              </a:extLst>
            </p:cNvPr>
            <p:cNvSpPr/>
            <p:nvPr/>
          </p:nvSpPr>
          <p:spPr>
            <a:xfrm>
              <a:off x="3161160" y="2926080"/>
              <a:ext cx="977040" cy="453600"/>
            </a:xfrm>
            <a:prstGeom prst="rect">
              <a:avLst/>
            </a:prstGeom>
            <a:solidFill>
              <a:srgbClr val="8B735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31;p19">
              <a:extLst>
                <a:ext uri="{FF2B5EF4-FFF2-40B4-BE49-F238E27FC236}">
                  <a16:creationId xmlns:a16="http://schemas.microsoft.com/office/drawing/2014/main" id="{A6644D4B-7114-07EC-64C5-775299EDFD1C}"/>
                </a:ext>
              </a:extLst>
            </p:cNvPr>
            <p:cNvSpPr/>
            <p:nvPr/>
          </p:nvSpPr>
          <p:spPr>
            <a:xfrm>
              <a:off x="333144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2;p19">
              <a:extLst>
                <a:ext uri="{FF2B5EF4-FFF2-40B4-BE49-F238E27FC236}">
                  <a16:creationId xmlns:a16="http://schemas.microsoft.com/office/drawing/2014/main" id="{850E86B8-08AB-9261-A10D-AD0D6F60B8A0}"/>
                </a:ext>
              </a:extLst>
            </p:cNvPr>
            <p:cNvSpPr/>
            <p:nvPr/>
          </p:nvSpPr>
          <p:spPr>
            <a:xfrm>
              <a:off x="4139640" y="2926080"/>
              <a:ext cx="977040" cy="453600"/>
            </a:xfrm>
            <a:prstGeom prst="rect">
              <a:avLst/>
            </a:prstGeom>
            <a:solidFill>
              <a:srgbClr val="8B735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333;p19">
              <a:extLst>
                <a:ext uri="{FF2B5EF4-FFF2-40B4-BE49-F238E27FC236}">
                  <a16:creationId xmlns:a16="http://schemas.microsoft.com/office/drawing/2014/main" id="{B21C4BF1-ECC3-F3A7-27B3-C4AE93624FC3}"/>
                </a:ext>
              </a:extLst>
            </p:cNvPr>
            <p:cNvSpPr/>
            <p:nvPr/>
          </p:nvSpPr>
          <p:spPr>
            <a:xfrm>
              <a:off x="430956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34;p19">
              <a:extLst>
                <a:ext uri="{FF2B5EF4-FFF2-40B4-BE49-F238E27FC236}">
                  <a16:creationId xmlns:a16="http://schemas.microsoft.com/office/drawing/2014/main" id="{303ED8E8-5F71-C4C5-0D04-53FDB2214465}"/>
                </a:ext>
              </a:extLst>
            </p:cNvPr>
            <p:cNvSpPr/>
            <p:nvPr/>
          </p:nvSpPr>
          <p:spPr>
            <a:xfrm>
              <a:off x="528768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35;p19">
              <a:extLst>
                <a:ext uri="{FF2B5EF4-FFF2-40B4-BE49-F238E27FC236}">
                  <a16:creationId xmlns:a16="http://schemas.microsoft.com/office/drawing/2014/main" id="{0108B684-436A-5796-FF3D-EC36C383A100}"/>
                </a:ext>
              </a:extLst>
            </p:cNvPr>
            <p:cNvSpPr/>
            <p:nvPr/>
          </p:nvSpPr>
          <p:spPr>
            <a:xfrm>
              <a:off x="626580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36;p19">
              <a:extLst>
                <a:ext uri="{FF2B5EF4-FFF2-40B4-BE49-F238E27FC236}">
                  <a16:creationId xmlns:a16="http://schemas.microsoft.com/office/drawing/2014/main" id="{0954EF35-1591-C015-B03F-9C624993CDC7}"/>
                </a:ext>
              </a:extLst>
            </p:cNvPr>
            <p:cNvSpPr/>
            <p:nvPr/>
          </p:nvSpPr>
          <p:spPr>
            <a:xfrm>
              <a:off x="724392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37;p19">
              <a:extLst>
                <a:ext uri="{FF2B5EF4-FFF2-40B4-BE49-F238E27FC236}">
                  <a16:creationId xmlns:a16="http://schemas.microsoft.com/office/drawing/2014/main" id="{ECBEFAE9-AE96-120A-A142-240DAE252B9C}"/>
                </a:ext>
              </a:extLst>
            </p:cNvPr>
            <p:cNvSpPr/>
            <p:nvPr/>
          </p:nvSpPr>
          <p:spPr>
            <a:xfrm>
              <a:off x="822240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338;p19">
              <a:extLst>
                <a:ext uri="{FF2B5EF4-FFF2-40B4-BE49-F238E27FC236}">
                  <a16:creationId xmlns:a16="http://schemas.microsoft.com/office/drawing/2014/main" id="{4291EF8A-D28E-DC54-A09A-8858E15528F6}"/>
                </a:ext>
              </a:extLst>
            </p:cNvPr>
            <p:cNvSpPr/>
            <p:nvPr/>
          </p:nvSpPr>
          <p:spPr>
            <a:xfrm>
              <a:off x="920052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339;p19">
              <a:extLst>
                <a:ext uri="{FF2B5EF4-FFF2-40B4-BE49-F238E27FC236}">
                  <a16:creationId xmlns:a16="http://schemas.microsoft.com/office/drawing/2014/main" id="{B2FEE2FA-0C9E-0F17-F8CD-2827ABEF80CD}"/>
                </a:ext>
              </a:extLst>
            </p:cNvPr>
            <p:cNvSpPr/>
            <p:nvPr/>
          </p:nvSpPr>
          <p:spPr>
            <a:xfrm>
              <a:off x="10178640" y="30243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341;p19">
              <a:extLst>
                <a:ext uri="{FF2B5EF4-FFF2-40B4-BE49-F238E27FC236}">
                  <a16:creationId xmlns:a16="http://schemas.microsoft.com/office/drawing/2014/main" id="{CC7EF622-EB7B-AAE8-0D50-4DBB041D7E1F}"/>
                </a:ext>
              </a:extLst>
            </p:cNvPr>
            <p:cNvSpPr/>
            <p:nvPr/>
          </p:nvSpPr>
          <p:spPr>
            <a:xfrm>
              <a:off x="661680" y="3381120"/>
              <a:ext cx="1520640" cy="453600"/>
            </a:xfrm>
            <a:prstGeom prst="rect">
              <a:avLst/>
            </a:prstGeom>
            <a:solidFill>
              <a:srgbClr val="F0EBE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342;p19">
              <a:extLst>
                <a:ext uri="{FF2B5EF4-FFF2-40B4-BE49-F238E27FC236}">
                  <a16:creationId xmlns:a16="http://schemas.microsoft.com/office/drawing/2014/main" id="{D5D7B44B-4EFB-08F4-39A5-39957CDCF025}"/>
                </a:ext>
              </a:extLst>
            </p:cNvPr>
            <p:cNvSpPr/>
            <p:nvPr/>
          </p:nvSpPr>
          <p:spPr>
            <a:xfrm>
              <a:off x="831600" y="347904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8956A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B8956A"/>
                  </a:solidFill>
                  <a:latin typeface="Gelasio"/>
                  <a:ea typeface="Gelasio"/>
                  <a:cs typeface="Gelasio"/>
                  <a:sym typeface="Gelasio"/>
                </a:rPr>
                <a:t>地端測試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343;p19">
              <a:extLst>
                <a:ext uri="{FF2B5EF4-FFF2-40B4-BE49-F238E27FC236}">
                  <a16:creationId xmlns:a16="http://schemas.microsoft.com/office/drawing/2014/main" id="{A1BE776F-9BB7-C1AD-B336-3D858711B843}"/>
                </a:ext>
              </a:extLst>
            </p:cNvPr>
            <p:cNvSpPr/>
            <p:nvPr/>
          </p:nvSpPr>
          <p:spPr>
            <a:xfrm>
              <a:off x="235332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344;p19">
              <a:extLst>
                <a:ext uri="{FF2B5EF4-FFF2-40B4-BE49-F238E27FC236}">
                  <a16:creationId xmlns:a16="http://schemas.microsoft.com/office/drawing/2014/main" id="{4DF4FDBF-E6F7-1614-B64F-D468FC4B4DFD}"/>
                </a:ext>
              </a:extLst>
            </p:cNvPr>
            <p:cNvSpPr/>
            <p:nvPr/>
          </p:nvSpPr>
          <p:spPr>
            <a:xfrm>
              <a:off x="333144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345;p19">
              <a:extLst>
                <a:ext uri="{FF2B5EF4-FFF2-40B4-BE49-F238E27FC236}">
                  <a16:creationId xmlns:a16="http://schemas.microsoft.com/office/drawing/2014/main" id="{F59BC60B-65C9-3A3D-B527-E9B959D81CF6}"/>
                </a:ext>
              </a:extLst>
            </p:cNvPr>
            <p:cNvSpPr/>
            <p:nvPr/>
          </p:nvSpPr>
          <p:spPr>
            <a:xfrm>
              <a:off x="430956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346;p19">
              <a:extLst>
                <a:ext uri="{FF2B5EF4-FFF2-40B4-BE49-F238E27FC236}">
                  <a16:creationId xmlns:a16="http://schemas.microsoft.com/office/drawing/2014/main" id="{3EE5EEEB-34DC-7087-DC68-9FA12441E8BD}"/>
                </a:ext>
              </a:extLst>
            </p:cNvPr>
            <p:cNvSpPr/>
            <p:nvPr/>
          </p:nvSpPr>
          <p:spPr>
            <a:xfrm>
              <a:off x="5117760" y="3381120"/>
              <a:ext cx="977040" cy="453600"/>
            </a:xfrm>
            <a:prstGeom prst="rect">
              <a:avLst/>
            </a:prstGeom>
            <a:solidFill>
              <a:srgbClr val="B8956A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347;p19">
              <a:extLst>
                <a:ext uri="{FF2B5EF4-FFF2-40B4-BE49-F238E27FC236}">
                  <a16:creationId xmlns:a16="http://schemas.microsoft.com/office/drawing/2014/main" id="{F65F5B50-6235-C87C-6547-70D12C027005}"/>
                </a:ext>
              </a:extLst>
            </p:cNvPr>
            <p:cNvSpPr/>
            <p:nvPr/>
          </p:nvSpPr>
          <p:spPr>
            <a:xfrm>
              <a:off x="528768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348;p19">
              <a:extLst>
                <a:ext uri="{FF2B5EF4-FFF2-40B4-BE49-F238E27FC236}">
                  <a16:creationId xmlns:a16="http://schemas.microsoft.com/office/drawing/2014/main" id="{1426E167-A355-AF08-3EB9-F0D4FC323333}"/>
                </a:ext>
              </a:extLst>
            </p:cNvPr>
            <p:cNvSpPr/>
            <p:nvPr/>
          </p:nvSpPr>
          <p:spPr>
            <a:xfrm>
              <a:off x="6095880" y="3381120"/>
              <a:ext cx="977040" cy="453600"/>
            </a:xfrm>
            <a:prstGeom prst="rect">
              <a:avLst/>
            </a:prstGeom>
            <a:solidFill>
              <a:srgbClr val="B8956A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349;p19">
              <a:extLst>
                <a:ext uri="{FF2B5EF4-FFF2-40B4-BE49-F238E27FC236}">
                  <a16:creationId xmlns:a16="http://schemas.microsoft.com/office/drawing/2014/main" id="{0D4099FE-3D72-B72C-B856-9E86E2D4165D}"/>
                </a:ext>
              </a:extLst>
            </p:cNvPr>
            <p:cNvSpPr/>
            <p:nvPr/>
          </p:nvSpPr>
          <p:spPr>
            <a:xfrm>
              <a:off x="626580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350;p19">
              <a:extLst>
                <a:ext uri="{FF2B5EF4-FFF2-40B4-BE49-F238E27FC236}">
                  <a16:creationId xmlns:a16="http://schemas.microsoft.com/office/drawing/2014/main" id="{2CFAE954-79C6-A163-DE19-FBAE10102384}"/>
                </a:ext>
              </a:extLst>
            </p:cNvPr>
            <p:cNvSpPr/>
            <p:nvPr/>
          </p:nvSpPr>
          <p:spPr>
            <a:xfrm>
              <a:off x="7074000" y="3381120"/>
              <a:ext cx="977040" cy="453600"/>
            </a:xfrm>
            <a:prstGeom prst="rect">
              <a:avLst/>
            </a:prstGeom>
            <a:solidFill>
              <a:srgbClr val="B8956A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351;p19">
              <a:extLst>
                <a:ext uri="{FF2B5EF4-FFF2-40B4-BE49-F238E27FC236}">
                  <a16:creationId xmlns:a16="http://schemas.microsoft.com/office/drawing/2014/main" id="{4A084A4A-6ABD-6B4D-ACB8-778CAE3E298B}"/>
                </a:ext>
              </a:extLst>
            </p:cNvPr>
            <p:cNvSpPr/>
            <p:nvPr/>
          </p:nvSpPr>
          <p:spPr>
            <a:xfrm>
              <a:off x="724392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352;p19">
              <a:extLst>
                <a:ext uri="{FF2B5EF4-FFF2-40B4-BE49-F238E27FC236}">
                  <a16:creationId xmlns:a16="http://schemas.microsoft.com/office/drawing/2014/main" id="{0F616A56-E447-708C-5A8C-840CB4B19101}"/>
                </a:ext>
              </a:extLst>
            </p:cNvPr>
            <p:cNvSpPr/>
            <p:nvPr/>
          </p:nvSpPr>
          <p:spPr>
            <a:xfrm>
              <a:off x="8052120" y="3381120"/>
              <a:ext cx="977040" cy="453600"/>
            </a:xfrm>
            <a:prstGeom prst="rect">
              <a:avLst/>
            </a:prstGeom>
            <a:solidFill>
              <a:srgbClr val="B8956A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353;p19">
              <a:extLst>
                <a:ext uri="{FF2B5EF4-FFF2-40B4-BE49-F238E27FC236}">
                  <a16:creationId xmlns:a16="http://schemas.microsoft.com/office/drawing/2014/main" id="{4788E170-8B9A-2A2F-2A56-96B9F24BAAC0}"/>
                </a:ext>
              </a:extLst>
            </p:cNvPr>
            <p:cNvSpPr/>
            <p:nvPr/>
          </p:nvSpPr>
          <p:spPr>
            <a:xfrm>
              <a:off x="822240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354;p19">
              <a:extLst>
                <a:ext uri="{FF2B5EF4-FFF2-40B4-BE49-F238E27FC236}">
                  <a16:creationId xmlns:a16="http://schemas.microsoft.com/office/drawing/2014/main" id="{BF015D00-0CB3-B9F1-5A26-FDD61E82FDBA}"/>
                </a:ext>
              </a:extLst>
            </p:cNvPr>
            <p:cNvSpPr/>
            <p:nvPr/>
          </p:nvSpPr>
          <p:spPr>
            <a:xfrm>
              <a:off x="9030240" y="3381120"/>
              <a:ext cx="977040" cy="453600"/>
            </a:xfrm>
            <a:prstGeom prst="rect">
              <a:avLst/>
            </a:prstGeom>
            <a:solidFill>
              <a:srgbClr val="B8956A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355;p19">
              <a:extLst>
                <a:ext uri="{FF2B5EF4-FFF2-40B4-BE49-F238E27FC236}">
                  <a16:creationId xmlns:a16="http://schemas.microsoft.com/office/drawing/2014/main" id="{4A533F37-D9F6-C393-1F89-13864B23A0AB}"/>
                </a:ext>
              </a:extLst>
            </p:cNvPr>
            <p:cNvSpPr/>
            <p:nvPr/>
          </p:nvSpPr>
          <p:spPr>
            <a:xfrm>
              <a:off x="920052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356;p19">
              <a:extLst>
                <a:ext uri="{FF2B5EF4-FFF2-40B4-BE49-F238E27FC236}">
                  <a16:creationId xmlns:a16="http://schemas.microsoft.com/office/drawing/2014/main" id="{01B6E8E3-4295-8AF2-81EB-35C990DADDD7}"/>
                </a:ext>
              </a:extLst>
            </p:cNvPr>
            <p:cNvSpPr/>
            <p:nvPr/>
          </p:nvSpPr>
          <p:spPr>
            <a:xfrm>
              <a:off x="10008720" y="3381120"/>
              <a:ext cx="977040" cy="453600"/>
            </a:xfrm>
            <a:prstGeom prst="rect">
              <a:avLst/>
            </a:prstGeom>
            <a:solidFill>
              <a:srgbClr val="B8956A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357;p19">
              <a:extLst>
                <a:ext uri="{FF2B5EF4-FFF2-40B4-BE49-F238E27FC236}">
                  <a16:creationId xmlns:a16="http://schemas.microsoft.com/office/drawing/2014/main" id="{F11BBF43-F94E-E740-E818-B7F644293441}"/>
                </a:ext>
              </a:extLst>
            </p:cNvPr>
            <p:cNvSpPr/>
            <p:nvPr/>
          </p:nvSpPr>
          <p:spPr>
            <a:xfrm>
              <a:off x="10178640" y="347904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358;p19">
              <a:extLst>
                <a:ext uri="{FF2B5EF4-FFF2-40B4-BE49-F238E27FC236}">
                  <a16:creationId xmlns:a16="http://schemas.microsoft.com/office/drawing/2014/main" id="{5E994637-C448-74DA-4151-F8A2357FC2B8}"/>
                </a:ext>
              </a:extLst>
            </p:cNvPr>
            <p:cNvSpPr/>
            <p:nvPr/>
          </p:nvSpPr>
          <p:spPr>
            <a:xfrm>
              <a:off x="10986840" y="3381120"/>
              <a:ext cx="977040" cy="453600"/>
            </a:xfrm>
            <a:prstGeom prst="rect">
              <a:avLst/>
            </a:prstGeom>
            <a:solidFill>
              <a:srgbClr val="B8956A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360;p19">
              <a:extLst>
                <a:ext uri="{FF2B5EF4-FFF2-40B4-BE49-F238E27FC236}">
                  <a16:creationId xmlns:a16="http://schemas.microsoft.com/office/drawing/2014/main" id="{0F414CC6-CAD0-ED7D-8E92-7F14A432EA85}"/>
                </a:ext>
              </a:extLst>
            </p:cNvPr>
            <p:cNvSpPr/>
            <p:nvPr/>
          </p:nvSpPr>
          <p:spPr>
            <a:xfrm>
              <a:off x="661680" y="3835800"/>
              <a:ext cx="1520640" cy="453600"/>
            </a:xfrm>
            <a:prstGeom prst="rect">
              <a:avLst/>
            </a:prstGeom>
            <a:solidFill>
              <a:srgbClr val="F0EBE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361;p19">
              <a:extLst>
                <a:ext uri="{FF2B5EF4-FFF2-40B4-BE49-F238E27FC236}">
                  <a16:creationId xmlns:a16="http://schemas.microsoft.com/office/drawing/2014/main" id="{ADD2F184-5679-26DD-0416-1956C7AE21BD}"/>
                </a:ext>
              </a:extLst>
            </p:cNvPr>
            <p:cNvSpPr/>
            <p:nvPr/>
          </p:nvSpPr>
          <p:spPr>
            <a:xfrm>
              <a:off x="831600" y="393408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B8B7E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9B8B7E"/>
                  </a:solidFill>
                  <a:latin typeface="Gelasio"/>
                  <a:ea typeface="Gelasio"/>
                  <a:cs typeface="Gelasio"/>
                  <a:sym typeface="Gelasio"/>
                </a:rPr>
                <a:t>後台系統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362;p19">
              <a:extLst>
                <a:ext uri="{FF2B5EF4-FFF2-40B4-BE49-F238E27FC236}">
                  <a16:creationId xmlns:a16="http://schemas.microsoft.com/office/drawing/2014/main" id="{34D5006C-5AAB-FF47-81B6-1FA53908FEB0}"/>
                </a:ext>
              </a:extLst>
            </p:cNvPr>
            <p:cNvSpPr/>
            <p:nvPr/>
          </p:nvSpPr>
          <p:spPr>
            <a:xfrm>
              <a:off x="2183040" y="3835800"/>
              <a:ext cx="977040" cy="453600"/>
            </a:xfrm>
            <a:prstGeom prst="rect">
              <a:avLst/>
            </a:prstGeom>
            <a:solidFill>
              <a:srgbClr val="9B8B7E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363;p19">
              <a:extLst>
                <a:ext uri="{FF2B5EF4-FFF2-40B4-BE49-F238E27FC236}">
                  <a16:creationId xmlns:a16="http://schemas.microsoft.com/office/drawing/2014/main" id="{20465040-5018-21F3-6BB0-BB553F92872F}"/>
                </a:ext>
              </a:extLst>
            </p:cNvPr>
            <p:cNvSpPr/>
            <p:nvPr/>
          </p:nvSpPr>
          <p:spPr>
            <a:xfrm>
              <a:off x="235332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364;p19">
              <a:extLst>
                <a:ext uri="{FF2B5EF4-FFF2-40B4-BE49-F238E27FC236}">
                  <a16:creationId xmlns:a16="http://schemas.microsoft.com/office/drawing/2014/main" id="{193B017E-860A-BA74-B878-327E5E27FC3C}"/>
                </a:ext>
              </a:extLst>
            </p:cNvPr>
            <p:cNvSpPr/>
            <p:nvPr/>
          </p:nvSpPr>
          <p:spPr>
            <a:xfrm>
              <a:off x="3161160" y="3835800"/>
              <a:ext cx="977040" cy="453600"/>
            </a:xfrm>
            <a:prstGeom prst="rect">
              <a:avLst/>
            </a:prstGeom>
            <a:solidFill>
              <a:srgbClr val="9B8B7E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365;p19">
              <a:extLst>
                <a:ext uri="{FF2B5EF4-FFF2-40B4-BE49-F238E27FC236}">
                  <a16:creationId xmlns:a16="http://schemas.microsoft.com/office/drawing/2014/main" id="{7DF8E43A-CBAE-E0A2-F0C2-6D8AB611BE55}"/>
                </a:ext>
              </a:extLst>
            </p:cNvPr>
            <p:cNvSpPr/>
            <p:nvPr/>
          </p:nvSpPr>
          <p:spPr>
            <a:xfrm>
              <a:off x="333144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366;p19">
              <a:extLst>
                <a:ext uri="{FF2B5EF4-FFF2-40B4-BE49-F238E27FC236}">
                  <a16:creationId xmlns:a16="http://schemas.microsoft.com/office/drawing/2014/main" id="{0FD76D8B-E200-10DF-512E-927CBBD75F17}"/>
                </a:ext>
              </a:extLst>
            </p:cNvPr>
            <p:cNvSpPr/>
            <p:nvPr/>
          </p:nvSpPr>
          <p:spPr>
            <a:xfrm>
              <a:off x="4139640" y="3835800"/>
              <a:ext cx="977040" cy="453600"/>
            </a:xfrm>
            <a:prstGeom prst="rect">
              <a:avLst/>
            </a:prstGeom>
            <a:solidFill>
              <a:srgbClr val="9B8B7E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367;p19">
              <a:extLst>
                <a:ext uri="{FF2B5EF4-FFF2-40B4-BE49-F238E27FC236}">
                  <a16:creationId xmlns:a16="http://schemas.microsoft.com/office/drawing/2014/main" id="{113359A0-16E2-5814-BF80-6A6D21809E7F}"/>
                </a:ext>
              </a:extLst>
            </p:cNvPr>
            <p:cNvSpPr/>
            <p:nvPr/>
          </p:nvSpPr>
          <p:spPr>
            <a:xfrm>
              <a:off x="430956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368;p19">
              <a:extLst>
                <a:ext uri="{FF2B5EF4-FFF2-40B4-BE49-F238E27FC236}">
                  <a16:creationId xmlns:a16="http://schemas.microsoft.com/office/drawing/2014/main" id="{7577EF84-38AD-7E1B-E7F5-2E7E5BCC6C59}"/>
                </a:ext>
              </a:extLst>
            </p:cNvPr>
            <p:cNvSpPr/>
            <p:nvPr/>
          </p:nvSpPr>
          <p:spPr>
            <a:xfrm>
              <a:off x="5117760" y="3835800"/>
              <a:ext cx="977040" cy="453600"/>
            </a:xfrm>
            <a:prstGeom prst="rect">
              <a:avLst/>
            </a:prstGeom>
            <a:solidFill>
              <a:srgbClr val="9B8B7E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369;p19">
              <a:extLst>
                <a:ext uri="{FF2B5EF4-FFF2-40B4-BE49-F238E27FC236}">
                  <a16:creationId xmlns:a16="http://schemas.microsoft.com/office/drawing/2014/main" id="{8C951410-D9F4-749A-3D1A-790954740FA9}"/>
                </a:ext>
              </a:extLst>
            </p:cNvPr>
            <p:cNvSpPr/>
            <p:nvPr/>
          </p:nvSpPr>
          <p:spPr>
            <a:xfrm>
              <a:off x="528768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370;p19">
              <a:extLst>
                <a:ext uri="{FF2B5EF4-FFF2-40B4-BE49-F238E27FC236}">
                  <a16:creationId xmlns:a16="http://schemas.microsoft.com/office/drawing/2014/main" id="{5E5F7B66-9159-6A42-0F9F-DF164BE5819B}"/>
                </a:ext>
              </a:extLst>
            </p:cNvPr>
            <p:cNvSpPr/>
            <p:nvPr/>
          </p:nvSpPr>
          <p:spPr>
            <a:xfrm>
              <a:off x="6095880" y="3835800"/>
              <a:ext cx="977040" cy="453600"/>
            </a:xfrm>
            <a:prstGeom prst="rect">
              <a:avLst/>
            </a:prstGeom>
            <a:solidFill>
              <a:srgbClr val="9B8B7E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371;p19">
              <a:extLst>
                <a:ext uri="{FF2B5EF4-FFF2-40B4-BE49-F238E27FC236}">
                  <a16:creationId xmlns:a16="http://schemas.microsoft.com/office/drawing/2014/main" id="{4BBC4C44-005F-4FAA-F051-9FF6EDB6E0D5}"/>
                </a:ext>
              </a:extLst>
            </p:cNvPr>
            <p:cNvSpPr/>
            <p:nvPr/>
          </p:nvSpPr>
          <p:spPr>
            <a:xfrm>
              <a:off x="626580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372;p19">
              <a:extLst>
                <a:ext uri="{FF2B5EF4-FFF2-40B4-BE49-F238E27FC236}">
                  <a16:creationId xmlns:a16="http://schemas.microsoft.com/office/drawing/2014/main" id="{01863B01-06C7-F7BE-F847-3C08CDFD1BB0}"/>
                </a:ext>
              </a:extLst>
            </p:cNvPr>
            <p:cNvSpPr/>
            <p:nvPr/>
          </p:nvSpPr>
          <p:spPr>
            <a:xfrm>
              <a:off x="7074000" y="3835800"/>
              <a:ext cx="977040" cy="453600"/>
            </a:xfrm>
            <a:prstGeom prst="rect">
              <a:avLst/>
            </a:prstGeom>
            <a:solidFill>
              <a:srgbClr val="9B8B7E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373;p19">
              <a:extLst>
                <a:ext uri="{FF2B5EF4-FFF2-40B4-BE49-F238E27FC236}">
                  <a16:creationId xmlns:a16="http://schemas.microsoft.com/office/drawing/2014/main" id="{DEF285F0-2C4E-A5B1-65B9-55177ABCF2E0}"/>
                </a:ext>
              </a:extLst>
            </p:cNvPr>
            <p:cNvSpPr/>
            <p:nvPr/>
          </p:nvSpPr>
          <p:spPr>
            <a:xfrm>
              <a:off x="724392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374;p19">
              <a:extLst>
                <a:ext uri="{FF2B5EF4-FFF2-40B4-BE49-F238E27FC236}">
                  <a16:creationId xmlns:a16="http://schemas.microsoft.com/office/drawing/2014/main" id="{1CDB3C78-8B0A-6B7A-A141-47E359AF1301}"/>
                </a:ext>
              </a:extLst>
            </p:cNvPr>
            <p:cNvSpPr/>
            <p:nvPr/>
          </p:nvSpPr>
          <p:spPr>
            <a:xfrm>
              <a:off x="8052120" y="3835800"/>
              <a:ext cx="977040" cy="453600"/>
            </a:xfrm>
            <a:prstGeom prst="rect">
              <a:avLst/>
            </a:prstGeom>
            <a:solidFill>
              <a:srgbClr val="9B8B7E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375;p19">
              <a:extLst>
                <a:ext uri="{FF2B5EF4-FFF2-40B4-BE49-F238E27FC236}">
                  <a16:creationId xmlns:a16="http://schemas.microsoft.com/office/drawing/2014/main" id="{D3B516A8-9FDE-C6D9-0BE1-58314DCE7240}"/>
                </a:ext>
              </a:extLst>
            </p:cNvPr>
            <p:cNvSpPr/>
            <p:nvPr/>
          </p:nvSpPr>
          <p:spPr>
            <a:xfrm>
              <a:off x="822240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376;p19">
              <a:extLst>
                <a:ext uri="{FF2B5EF4-FFF2-40B4-BE49-F238E27FC236}">
                  <a16:creationId xmlns:a16="http://schemas.microsoft.com/office/drawing/2014/main" id="{59BA6366-E8E3-9BC0-5739-8DB6FDE60B5C}"/>
                </a:ext>
              </a:extLst>
            </p:cNvPr>
            <p:cNvSpPr/>
            <p:nvPr/>
          </p:nvSpPr>
          <p:spPr>
            <a:xfrm>
              <a:off x="9030240" y="3835800"/>
              <a:ext cx="977040" cy="453600"/>
            </a:xfrm>
            <a:prstGeom prst="rect">
              <a:avLst/>
            </a:prstGeom>
            <a:solidFill>
              <a:srgbClr val="9B8B7E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377;p19">
              <a:extLst>
                <a:ext uri="{FF2B5EF4-FFF2-40B4-BE49-F238E27FC236}">
                  <a16:creationId xmlns:a16="http://schemas.microsoft.com/office/drawing/2014/main" id="{5E94542D-4D41-53A3-2843-D97FBDA0C80C}"/>
                </a:ext>
              </a:extLst>
            </p:cNvPr>
            <p:cNvSpPr/>
            <p:nvPr/>
          </p:nvSpPr>
          <p:spPr>
            <a:xfrm>
              <a:off x="920052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378;p19">
              <a:extLst>
                <a:ext uri="{FF2B5EF4-FFF2-40B4-BE49-F238E27FC236}">
                  <a16:creationId xmlns:a16="http://schemas.microsoft.com/office/drawing/2014/main" id="{B0603F2D-0900-5939-FC4E-9A63B941103A}"/>
                </a:ext>
              </a:extLst>
            </p:cNvPr>
            <p:cNvSpPr/>
            <p:nvPr/>
          </p:nvSpPr>
          <p:spPr>
            <a:xfrm>
              <a:off x="10178640" y="39340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380;p19">
              <a:extLst>
                <a:ext uri="{FF2B5EF4-FFF2-40B4-BE49-F238E27FC236}">
                  <a16:creationId xmlns:a16="http://schemas.microsoft.com/office/drawing/2014/main" id="{80D6724C-3E79-AA44-F7D6-CB350565984E}"/>
                </a:ext>
              </a:extLst>
            </p:cNvPr>
            <p:cNvSpPr/>
            <p:nvPr/>
          </p:nvSpPr>
          <p:spPr>
            <a:xfrm>
              <a:off x="661680" y="4290840"/>
              <a:ext cx="1520640" cy="453600"/>
            </a:xfrm>
            <a:prstGeom prst="rect">
              <a:avLst/>
            </a:prstGeom>
            <a:solidFill>
              <a:srgbClr val="F0EBE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381;p19">
              <a:extLst>
                <a:ext uri="{FF2B5EF4-FFF2-40B4-BE49-F238E27FC236}">
                  <a16:creationId xmlns:a16="http://schemas.microsoft.com/office/drawing/2014/main" id="{BFFBA01F-9E2D-5001-6866-7D9A9A3EC318}"/>
                </a:ext>
              </a:extLst>
            </p:cNvPr>
            <p:cNvSpPr/>
            <p:nvPr/>
          </p:nvSpPr>
          <p:spPr>
            <a:xfrm>
              <a:off x="831600" y="438876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4A57B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C4A57B"/>
                  </a:solidFill>
                  <a:latin typeface="Gelasio"/>
                  <a:ea typeface="Gelasio"/>
                  <a:cs typeface="Gelasio"/>
                  <a:sym typeface="Gelasio"/>
                </a:rPr>
                <a:t>LINE 應用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382;p19">
              <a:extLst>
                <a:ext uri="{FF2B5EF4-FFF2-40B4-BE49-F238E27FC236}">
                  <a16:creationId xmlns:a16="http://schemas.microsoft.com/office/drawing/2014/main" id="{1737F7D9-DB6F-7EE2-3FFB-B5050E8C33C8}"/>
                </a:ext>
              </a:extLst>
            </p:cNvPr>
            <p:cNvSpPr/>
            <p:nvPr/>
          </p:nvSpPr>
          <p:spPr>
            <a:xfrm>
              <a:off x="235332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383;p19">
              <a:extLst>
                <a:ext uri="{FF2B5EF4-FFF2-40B4-BE49-F238E27FC236}">
                  <a16:creationId xmlns:a16="http://schemas.microsoft.com/office/drawing/2014/main" id="{D256CD43-CA5D-C855-791C-18120A0242FA}"/>
                </a:ext>
              </a:extLst>
            </p:cNvPr>
            <p:cNvSpPr/>
            <p:nvPr/>
          </p:nvSpPr>
          <p:spPr>
            <a:xfrm>
              <a:off x="333144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384;p19">
              <a:extLst>
                <a:ext uri="{FF2B5EF4-FFF2-40B4-BE49-F238E27FC236}">
                  <a16:creationId xmlns:a16="http://schemas.microsoft.com/office/drawing/2014/main" id="{59F4CDF8-C3B2-B5D3-4E7C-66D50AE688BE}"/>
                </a:ext>
              </a:extLst>
            </p:cNvPr>
            <p:cNvSpPr/>
            <p:nvPr/>
          </p:nvSpPr>
          <p:spPr>
            <a:xfrm>
              <a:off x="4139640" y="4290840"/>
              <a:ext cx="977040" cy="453600"/>
            </a:xfrm>
            <a:prstGeom prst="rect">
              <a:avLst/>
            </a:prstGeom>
            <a:solidFill>
              <a:srgbClr val="C4A57B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385;p19">
              <a:extLst>
                <a:ext uri="{FF2B5EF4-FFF2-40B4-BE49-F238E27FC236}">
                  <a16:creationId xmlns:a16="http://schemas.microsoft.com/office/drawing/2014/main" id="{0AD5BB07-25E3-1C48-B30D-399E1CB396E7}"/>
                </a:ext>
              </a:extLst>
            </p:cNvPr>
            <p:cNvSpPr/>
            <p:nvPr/>
          </p:nvSpPr>
          <p:spPr>
            <a:xfrm>
              <a:off x="430956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386;p19">
              <a:extLst>
                <a:ext uri="{FF2B5EF4-FFF2-40B4-BE49-F238E27FC236}">
                  <a16:creationId xmlns:a16="http://schemas.microsoft.com/office/drawing/2014/main" id="{2109A6D6-B65C-455F-A699-35235CBDCE2B}"/>
                </a:ext>
              </a:extLst>
            </p:cNvPr>
            <p:cNvSpPr/>
            <p:nvPr/>
          </p:nvSpPr>
          <p:spPr>
            <a:xfrm>
              <a:off x="5117760" y="4290840"/>
              <a:ext cx="977040" cy="453600"/>
            </a:xfrm>
            <a:prstGeom prst="rect">
              <a:avLst/>
            </a:prstGeom>
            <a:solidFill>
              <a:srgbClr val="C4A57B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387;p19">
              <a:extLst>
                <a:ext uri="{FF2B5EF4-FFF2-40B4-BE49-F238E27FC236}">
                  <a16:creationId xmlns:a16="http://schemas.microsoft.com/office/drawing/2014/main" id="{A5C770D5-563A-5DDE-A985-62020BA58670}"/>
                </a:ext>
              </a:extLst>
            </p:cNvPr>
            <p:cNvSpPr/>
            <p:nvPr/>
          </p:nvSpPr>
          <p:spPr>
            <a:xfrm>
              <a:off x="528768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388;p19">
              <a:extLst>
                <a:ext uri="{FF2B5EF4-FFF2-40B4-BE49-F238E27FC236}">
                  <a16:creationId xmlns:a16="http://schemas.microsoft.com/office/drawing/2014/main" id="{E40948DD-2A76-3DB2-1B3E-76AE2DBF5729}"/>
                </a:ext>
              </a:extLst>
            </p:cNvPr>
            <p:cNvSpPr/>
            <p:nvPr/>
          </p:nvSpPr>
          <p:spPr>
            <a:xfrm>
              <a:off x="6095880" y="4290840"/>
              <a:ext cx="977040" cy="453600"/>
            </a:xfrm>
            <a:prstGeom prst="rect">
              <a:avLst/>
            </a:prstGeom>
            <a:solidFill>
              <a:srgbClr val="C4A57B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389;p19">
              <a:extLst>
                <a:ext uri="{FF2B5EF4-FFF2-40B4-BE49-F238E27FC236}">
                  <a16:creationId xmlns:a16="http://schemas.microsoft.com/office/drawing/2014/main" id="{5AD40166-E4FA-2676-EB85-96261C9C52AF}"/>
                </a:ext>
              </a:extLst>
            </p:cNvPr>
            <p:cNvSpPr/>
            <p:nvPr/>
          </p:nvSpPr>
          <p:spPr>
            <a:xfrm>
              <a:off x="626580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390;p19">
              <a:extLst>
                <a:ext uri="{FF2B5EF4-FFF2-40B4-BE49-F238E27FC236}">
                  <a16:creationId xmlns:a16="http://schemas.microsoft.com/office/drawing/2014/main" id="{7EB80728-EF1F-A7A8-A611-2FADA9A45A98}"/>
                </a:ext>
              </a:extLst>
            </p:cNvPr>
            <p:cNvSpPr/>
            <p:nvPr/>
          </p:nvSpPr>
          <p:spPr>
            <a:xfrm>
              <a:off x="7074000" y="4290840"/>
              <a:ext cx="977040" cy="453600"/>
            </a:xfrm>
            <a:prstGeom prst="rect">
              <a:avLst/>
            </a:prstGeom>
            <a:solidFill>
              <a:srgbClr val="C4A57B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391;p19">
              <a:extLst>
                <a:ext uri="{FF2B5EF4-FFF2-40B4-BE49-F238E27FC236}">
                  <a16:creationId xmlns:a16="http://schemas.microsoft.com/office/drawing/2014/main" id="{FA111546-9376-1D6B-0F38-321516ED3194}"/>
                </a:ext>
              </a:extLst>
            </p:cNvPr>
            <p:cNvSpPr/>
            <p:nvPr/>
          </p:nvSpPr>
          <p:spPr>
            <a:xfrm>
              <a:off x="724392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392;p19">
              <a:extLst>
                <a:ext uri="{FF2B5EF4-FFF2-40B4-BE49-F238E27FC236}">
                  <a16:creationId xmlns:a16="http://schemas.microsoft.com/office/drawing/2014/main" id="{C25A598D-81C2-4561-1694-1F4471150B30}"/>
                </a:ext>
              </a:extLst>
            </p:cNvPr>
            <p:cNvSpPr/>
            <p:nvPr/>
          </p:nvSpPr>
          <p:spPr>
            <a:xfrm>
              <a:off x="8052120" y="4290840"/>
              <a:ext cx="977040" cy="453600"/>
            </a:xfrm>
            <a:prstGeom prst="rect">
              <a:avLst/>
            </a:prstGeom>
            <a:solidFill>
              <a:srgbClr val="C4A57B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393;p19">
              <a:extLst>
                <a:ext uri="{FF2B5EF4-FFF2-40B4-BE49-F238E27FC236}">
                  <a16:creationId xmlns:a16="http://schemas.microsoft.com/office/drawing/2014/main" id="{384C2DA0-3601-8885-415A-52D9D2B5DE21}"/>
                </a:ext>
              </a:extLst>
            </p:cNvPr>
            <p:cNvSpPr/>
            <p:nvPr/>
          </p:nvSpPr>
          <p:spPr>
            <a:xfrm>
              <a:off x="822240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394;p19">
              <a:extLst>
                <a:ext uri="{FF2B5EF4-FFF2-40B4-BE49-F238E27FC236}">
                  <a16:creationId xmlns:a16="http://schemas.microsoft.com/office/drawing/2014/main" id="{855896A9-42B3-05F0-5756-F887A6188A2A}"/>
                </a:ext>
              </a:extLst>
            </p:cNvPr>
            <p:cNvSpPr/>
            <p:nvPr/>
          </p:nvSpPr>
          <p:spPr>
            <a:xfrm>
              <a:off x="9030240" y="4290840"/>
              <a:ext cx="977040" cy="453600"/>
            </a:xfrm>
            <a:prstGeom prst="rect">
              <a:avLst/>
            </a:prstGeom>
            <a:solidFill>
              <a:srgbClr val="C4A57B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395;p19">
              <a:extLst>
                <a:ext uri="{FF2B5EF4-FFF2-40B4-BE49-F238E27FC236}">
                  <a16:creationId xmlns:a16="http://schemas.microsoft.com/office/drawing/2014/main" id="{24362809-1330-50F1-E5C7-4E4B5ECB67A5}"/>
                </a:ext>
              </a:extLst>
            </p:cNvPr>
            <p:cNvSpPr/>
            <p:nvPr/>
          </p:nvSpPr>
          <p:spPr>
            <a:xfrm>
              <a:off x="920052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396;p19">
              <a:extLst>
                <a:ext uri="{FF2B5EF4-FFF2-40B4-BE49-F238E27FC236}">
                  <a16:creationId xmlns:a16="http://schemas.microsoft.com/office/drawing/2014/main" id="{20368EA6-FE78-FEF1-D286-989A9369031E}"/>
                </a:ext>
              </a:extLst>
            </p:cNvPr>
            <p:cNvSpPr/>
            <p:nvPr/>
          </p:nvSpPr>
          <p:spPr>
            <a:xfrm>
              <a:off x="10008720" y="4290840"/>
              <a:ext cx="977040" cy="453600"/>
            </a:xfrm>
            <a:prstGeom prst="rect">
              <a:avLst/>
            </a:prstGeom>
            <a:solidFill>
              <a:srgbClr val="C4A57B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397;p19">
              <a:extLst>
                <a:ext uri="{FF2B5EF4-FFF2-40B4-BE49-F238E27FC236}">
                  <a16:creationId xmlns:a16="http://schemas.microsoft.com/office/drawing/2014/main" id="{FC3915B6-17B4-F392-40BF-EE51BCD1EE8A}"/>
                </a:ext>
              </a:extLst>
            </p:cNvPr>
            <p:cNvSpPr/>
            <p:nvPr/>
          </p:nvSpPr>
          <p:spPr>
            <a:xfrm>
              <a:off x="10178640" y="43887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398;p19">
              <a:extLst>
                <a:ext uri="{FF2B5EF4-FFF2-40B4-BE49-F238E27FC236}">
                  <a16:creationId xmlns:a16="http://schemas.microsoft.com/office/drawing/2014/main" id="{60EF9459-39F9-0344-01A0-683DA726F4F4}"/>
                </a:ext>
              </a:extLst>
            </p:cNvPr>
            <p:cNvSpPr/>
            <p:nvPr/>
          </p:nvSpPr>
          <p:spPr>
            <a:xfrm>
              <a:off x="10986840" y="4290840"/>
              <a:ext cx="977040" cy="453600"/>
            </a:xfrm>
            <a:prstGeom prst="rect">
              <a:avLst/>
            </a:prstGeom>
            <a:solidFill>
              <a:srgbClr val="C4A57B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400;p19">
              <a:extLst>
                <a:ext uri="{FF2B5EF4-FFF2-40B4-BE49-F238E27FC236}">
                  <a16:creationId xmlns:a16="http://schemas.microsoft.com/office/drawing/2014/main" id="{79CBF401-4B17-21C4-B36E-3021FBD38ED4}"/>
                </a:ext>
              </a:extLst>
            </p:cNvPr>
            <p:cNvSpPr/>
            <p:nvPr/>
          </p:nvSpPr>
          <p:spPr>
            <a:xfrm>
              <a:off x="661680" y="4745520"/>
              <a:ext cx="1520640" cy="453600"/>
            </a:xfrm>
            <a:prstGeom prst="rect">
              <a:avLst/>
            </a:prstGeom>
            <a:solidFill>
              <a:srgbClr val="F0EBE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401;p19">
              <a:extLst>
                <a:ext uri="{FF2B5EF4-FFF2-40B4-BE49-F238E27FC236}">
                  <a16:creationId xmlns:a16="http://schemas.microsoft.com/office/drawing/2014/main" id="{9231E712-377A-0ED3-AD41-6DF0863DE6A4}"/>
                </a:ext>
              </a:extLst>
            </p:cNvPr>
            <p:cNvSpPr/>
            <p:nvPr/>
          </p:nvSpPr>
          <p:spPr>
            <a:xfrm>
              <a:off x="831600" y="484380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9A876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C9A876"/>
                  </a:solidFill>
                  <a:latin typeface="Gelasio"/>
                  <a:ea typeface="Gelasio"/>
                  <a:cs typeface="Gelasio"/>
                  <a:sym typeface="Gelasio"/>
                </a:rPr>
                <a:t>Agent 應用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402;p19">
              <a:extLst>
                <a:ext uri="{FF2B5EF4-FFF2-40B4-BE49-F238E27FC236}">
                  <a16:creationId xmlns:a16="http://schemas.microsoft.com/office/drawing/2014/main" id="{D21864AD-1548-7F91-0151-403C066F390A}"/>
                </a:ext>
              </a:extLst>
            </p:cNvPr>
            <p:cNvSpPr/>
            <p:nvPr/>
          </p:nvSpPr>
          <p:spPr>
            <a:xfrm>
              <a:off x="235332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403;p19">
              <a:extLst>
                <a:ext uri="{FF2B5EF4-FFF2-40B4-BE49-F238E27FC236}">
                  <a16:creationId xmlns:a16="http://schemas.microsoft.com/office/drawing/2014/main" id="{EF901EA2-63BC-B73A-0F5A-E1A87539916C}"/>
                </a:ext>
              </a:extLst>
            </p:cNvPr>
            <p:cNvSpPr/>
            <p:nvPr/>
          </p:nvSpPr>
          <p:spPr>
            <a:xfrm>
              <a:off x="333144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404;p19">
              <a:extLst>
                <a:ext uri="{FF2B5EF4-FFF2-40B4-BE49-F238E27FC236}">
                  <a16:creationId xmlns:a16="http://schemas.microsoft.com/office/drawing/2014/main" id="{60DE0ABE-52A6-9497-4146-FC4AB921532F}"/>
                </a:ext>
              </a:extLst>
            </p:cNvPr>
            <p:cNvSpPr/>
            <p:nvPr/>
          </p:nvSpPr>
          <p:spPr>
            <a:xfrm>
              <a:off x="430956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405;p19">
              <a:extLst>
                <a:ext uri="{FF2B5EF4-FFF2-40B4-BE49-F238E27FC236}">
                  <a16:creationId xmlns:a16="http://schemas.microsoft.com/office/drawing/2014/main" id="{3037B59A-1345-D8D9-D9C3-5AE119F2CFA5}"/>
                </a:ext>
              </a:extLst>
            </p:cNvPr>
            <p:cNvSpPr/>
            <p:nvPr/>
          </p:nvSpPr>
          <p:spPr>
            <a:xfrm>
              <a:off x="528768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406;p19">
              <a:extLst>
                <a:ext uri="{FF2B5EF4-FFF2-40B4-BE49-F238E27FC236}">
                  <a16:creationId xmlns:a16="http://schemas.microsoft.com/office/drawing/2014/main" id="{D72B5268-7E99-BEEF-8B9B-B377BE7C7DF6}"/>
                </a:ext>
              </a:extLst>
            </p:cNvPr>
            <p:cNvSpPr/>
            <p:nvPr/>
          </p:nvSpPr>
          <p:spPr>
            <a:xfrm>
              <a:off x="626580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407;p19">
              <a:extLst>
                <a:ext uri="{FF2B5EF4-FFF2-40B4-BE49-F238E27FC236}">
                  <a16:creationId xmlns:a16="http://schemas.microsoft.com/office/drawing/2014/main" id="{D9F5BA8B-C335-8966-F085-A3077E108587}"/>
                </a:ext>
              </a:extLst>
            </p:cNvPr>
            <p:cNvSpPr/>
            <p:nvPr/>
          </p:nvSpPr>
          <p:spPr>
            <a:xfrm>
              <a:off x="7074000" y="4745520"/>
              <a:ext cx="977040" cy="453600"/>
            </a:xfrm>
            <a:prstGeom prst="rect">
              <a:avLst/>
            </a:prstGeom>
            <a:solidFill>
              <a:srgbClr val="C9A876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408;p19">
              <a:extLst>
                <a:ext uri="{FF2B5EF4-FFF2-40B4-BE49-F238E27FC236}">
                  <a16:creationId xmlns:a16="http://schemas.microsoft.com/office/drawing/2014/main" id="{30459E8B-71F0-3A99-1F2C-BCE8240FB932}"/>
                </a:ext>
              </a:extLst>
            </p:cNvPr>
            <p:cNvSpPr/>
            <p:nvPr/>
          </p:nvSpPr>
          <p:spPr>
            <a:xfrm>
              <a:off x="724392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409;p19">
              <a:extLst>
                <a:ext uri="{FF2B5EF4-FFF2-40B4-BE49-F238E27FC236}">
                  <a16:creationId xmlns:a16="http://schemas.microsoft.com/office/drawing/2014/main" id="{2AE4CB77-B88B-CBDA-4C00-48E1D1E3335E}"/>
                </a:ext>
              </a:extLst>
            </p:cNvPr>
            <p:cNvSpPr/>
            <p:nvPr/>
          </p:nvSpPr>
          <p:spPr>
            <a:xfrm>
              <a:off x="8052120" y="4745520"/>
              <a:ext cx="977040" cy="453600"/>
            </a:xfrm>
            <a:prstGeom prst="rect">
              <a:avLst/>
            </a:prstGeom>
            <a:solidFill>
              <a:srgbClr val="C9A876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410;p19">
              <a:extLst>
                <a:ext uri="{FF2B5EF4-FFF2-40B4-BE49-F238E27FC236}">
                  <a16:creationId xmlns:a16="http://schemas.microsoft.com/office/drawing/2014/main" id="{5FE94568-DC07-218A-77F9-A496CEE3EDC2}"/>
                </a:ext>
              </a:extLst>
            </p:cNvPr>
            <p:cNvSpPr/>
            <p:nvPr/>
          </p:nvSpPr>
          <p:spPr>
            <a:xfrm>
              <a:off x="822240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411;p19">
              <a:extLst>
                <a:ext uri="{FF2B5EF4-FFF2-40B4-BE49-F238E27FC236}">
                  <a16:creationId xmlns:a16="http://schemas.microsoft.com/office/drawing/2014/main" id="{3B75F812-8C39-6FA1-56CE-0C6D860E5A9F}"/>
                </a:ext>
              </a:extLst>
            </p:cNvPr>
            <p:cNvSpPr/>
            <p:nvPr/>
          </p:nvSpPr>
          <p:spPr>
            <a:xfrm>
              <a:off x="9030240" y="4745520"/>
              <a:ext cx="977040" cy="453600"/>
            </a:xfrm>
            <a:prstGeom prst="rect">
              <a:avLst/>
            </a:prstGeom>
            <a:solidFill>
              <a:srgbClr val="C9A876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412;p19">
              <a:extLst>
                <a:ext uri="{FF2B5EF4-FFF2-40B4-BE49-F238E27FC236}">
                  <a16:creationId xmlns:a16="http://schemas.microsoft.com/office/drawing/2014/main" id="{63055279-8D28-C93A-6255-8BAC1D811818}"/>
                </a:ext>
              </a:extLst>
            </p:cNvPr>
            <p:cNvSpPr/>
            <p:nvPr/>
          </p:nvSpPr>
          <p:spPr>
            <a:xfrm>
              <a:off x="920052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413;p19">
              <a:extLst>
                <a:ext uri="{FF2B5EF4-FFF2-40B4-BE49-F238E27FC236}">
                  <a16:creationId xmlns:a16="http://schemas.microsoft.com/office/drawing/2014/main" id="{16DB02CD-2262-F5DE-E1D6-C17F99FAB2B8}"/>
                </a:ext>
              </a:extLst>
            </p:cNvPr>
            <p:cNvSpPr/>
            <p:nvPr/>
          </p:nvSpPr>
          <p:spPr>
            <a:xfrm>
              <a:off x="10008720" y="4745520"/>
              <a:ext cx="977040" cy="453600"/>
            </a:xfrm>
            <a:prstGeom prst="rect">
              <a:avLst/>
            </a:prstGeom>
            <a:solidFill>
              <a:srgbClr val="C9A876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414;p19">
              <a:extLst>
                <a:ext uri="{FF2B5EF4-FFF2-40B4-BE49-F238E27FC236}">
                  <a16:creationId xmlns:a16="http://schemas.microsoft.com/office/drawing/2014/main" id="{779526F4-6A34-DA79-9645-600F5F09193E}"/>
                </a:ext>
              </a:extLst>
            </p:cNvPr>
            <p:cNvSpPr/>
            <p:nvPr/>
          </p:nvSpPr>
          <p:spPr>
            <a:xfrm>
              <a:off x="10178640" y="484380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415;p19">
              <a:extLst>
                <a:ext uri="{FF2B5EF4-FFF2-40B4-BE49-F238E27FC236}">
                  <a16:creationId xmlns:a16="http://schemas.microsoft.com/office/drawing/2014/main" id="{48516243-033E-6F2A-284E-E63BCE46E83F}"/>
                </a:ext>
              </a:extLst>
            </p:cNvPr>
            <p:cNvSpPr/>
            <p:nvPr/>
          </p:nvSpPr>
          <p:spPr>
            <a:xfrm>
              <a:off x="10986840" y="4745520"/>
              <a:ext cx="977040" cy="453600"/>
            </a:xfrm>
            <a:prstGeom prst="rect">
              <a:avLst/>
            </a:prstGeom>
            <a:solidFill>
              <a:srgbClr val="C9A876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417;p19">
              <a:extLst>
                <a:ext uri="{FF2B5EF4-FFF2-40B4-BE49-F238E27FC236}">
                  <a16:creationId xmlns:a16="http://schemas.microsoft.com/office/drawing/2014/main" id="{E4D2466C-8F77-961C-0604-0F529BB80A6C}"/>
                </a:ext>
              </a:extLst>
            </p:cNvPr>
            <p:cNvSpPr/>
            <p:nvPr/>
          </p:nvSpPr>
          <p:spPr>
            <a:xfrm>
              <a:off x="661680" y="5200200"/>
              <a:ext cx="1520640" cy="453600"/>
            </a:xfrm>
            <a:prstGeom prst="rect">
              <a:avLst/>
            </a:prstGeom>
            <a:solidFill>
              <a:srgbClr val="F0EBE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418;p19">
              <a:extLst>
                <a:ext uri="{FF2B5EF4-FFF2-40B4-BE49-F238E27FC236}">
                  <a16:creationId xmlns:a16="http://schemas.microsoft.com/office/drawing/2014/main" id="{517B7A68-9EC9-4439-8103-DFB6C5FE6823}"/>
                </a:ext>
              </a:extLst>
            </p:cNvPr>
            <p:cNvSpPr/>
            <p:nvPr/>
          </p:nvSpPr>
          <p:spPr>
            <a:xfrm>
              <a:off x="831600" y="529848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9968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A89968"/>
                  </a:solidFill>
                  <a:latin typeface="Gelasio"/>
                  <a:ea typeface="Gelasio"/>
                  <a:cs typeface="Gelasio"/>
                  <a:sym typeface="Gelasio"/>
                </a:rPr>
                <a:t>CI 測試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419;p19">
              <a:extLst>
                <a:ext uri="{FF2B5EF4-FFF2-40B4-BE49-F238E27FC236}">
                  <a16:creationId xmlns:a16="http://schemas.microsoft.com/office/drawing/2014/main" id="{9286081E-36CB-4206-F733-9D2373548B62}"/>
                </a:ext>
              </a:extLst>
            </p:cNvPr>
            <p:cNvSpPr/>
            <p:nvPr/>
          </p:nvSpPr>
          <p:spPr>
            <a:xfrm>
              <a:off x="218304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420;p19">
              <a:extLst>
                <a:ext uri="{FF2B5EF4-FFF2-40B4-BE49-F238E27FC236}">
                  <a16:creationId xmlns:a16="http://schemas.microsoft.com/office/drawing/2014/main" id="{C1A0B906-9CB7-3E78-14D5-A91097D6DAE6}"/>
                </a:ext>
              </a:extLst>
            </p:cNvPr>
            <p:cNvSpPr/>
            <p:nvPr/>
          </p:nvSpPr>
          <p:spPr>
            <a:xfrm>
              <a:off x="235332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421;p19">
              <a:extLst>
                <a:ext uri="{FF2B5EF4-FFF2-40B4-BE49-F238E27FC236}">
                  <a16:creationId xmlns:a16="http://schemas.microsoft.com/office/drawing/2014/main" id="{13FB47A1-75F4-31B8-4932-B47C542479D3}"/>
                </a:ext>
              </a:extLst>
            </p:cNvPr>
            <p:cNvSpPr/>
            <p:nvPr/>
          </p:nvSpPr>
          <p:spPr>
            <a:xfrm>
              <a:off x="316116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422;p19">
              <a:extLst>
                <a:ext uri="{FF2B5EF4-FFF2-40B4-BE49-F238E27FC236}">
                  <a16:creationId xmlns:a16="http://schemas.microsoft.com/office/drawing/2014/main" id="{914E9066-5826-9471-E1BB-7F39608D2757}"/>
                </a:ext>
              </a:extLst>
            </p:cNvPr>
            <p:cNvSpPr/>
            <p:nvPr/>
          </p:nvSpPr>
          <p:spPr>
            <a:xfrm>
              <a:off x="333144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423;p19">
              <a:extLst>
                <a:ext uri="{FF2B5EF4-FFF2-40B4-BE49-F238E27FC236}">
                  <a16:creationId xmlns:a16="http://schemas.microsoft.com/office/drawing/2014/main" id="{39C9F3E2-DF64-9099-3543-A697254FFF06}"/>
                </a:ext>
              </a:extLst>
            </p:cNvPr>
            <p:cNvSpPr/>
            <p:nvPr/>
          </p:nvSpPr>
          <p:spPr>
            <a:xfrm>
              <a:off x="413964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424;p19">
              <a:extLst>
                <a:ext uri="{FF2B5EF4-FFF2-40B4-BE49-F238E27FC236}">
                  <a16:creationId xmlns:a16="http://schemas.microsoft.com/office/drawing/2014/main" id="{C4CB71D5-2335-CFEC-B140-370C74401661}"/>
                </a:ext>
              </a:extLst>
            </p:cNvPr>
            <p:cNvSpPr/>
            <p:nvPr/>
          </p:nvSpPr>
          <p:spPr>
            <a:xfrm>
              <a:off x="430956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425;p19">
              <a:extLst>
                <a:ext uri="{FF2B5EF4-FFF2-40B4-BE49-F238E27FC236}">
                  <a16:creationId xmlns:a16="http://schemas.microsoft.com/office/drawing/2014/main" id="{65E440CE-05E0-6F17-E2DD-330C970E5F46}"/>
                </a:ext>
              </a:extLst>
            </p:cNvPr>
            <p:cNvSpPr/>
            <p:nvPr/>
          </p:nvSpPr>
          <p:spPr>
            <a:xfrm>
              <a:off x="511776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426;p19">
              <a:extLst>
                <a:ext uri="{FF2B5EF4-FFF2-40B4-BE49-F238E27FC236}">
                  <a16:creationId xmlns:a16="http://schemas.microsoft.com/office/drawing/2014/main" id="{172A6512-78EA-72C5-FCD1-303BDEC2FBD8}"/>
                </a:ext>
              </a:extLst>
            </p:cNvPr>
            <p:cNvSpPr/>
            <p:nvPr/>
          </p:nvSpPr>
          <p:spPr>
            <a:xfrm>
              <a:off x="528768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427;p19">
              <a:extLst>
                <a:ext uri="{FF2B5EF4-FFF2-40B4-BE49-F238E27FC236}">
                  <a16:creationId xmlns:a16="http://schemas.microsoft.com/office/drawing/2014/main" id="{78849C9E-1ADE-E392-AF3E-306D0A4949CF}"/>
                </a:ext>
              </a:extLst>
            </p:cNvPr>
            <p:cNvSpPr/>
            <p:nvPr/>
          </p:nvSpPr>
          <p:spPr>
            <a:xfrm>
              <a:off x="609588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428;p19">
              <a:extLst>
                <a:ext uri="{FF2B5EF4-FFF2-40B4-BE49-F238E27FC236}">
                  <a16:creationId xmlns:a16="http://schemas.microsoft.com/office/drawing/2014/main" id="{958D1FA6-B2F4-8DC8-69B8-156FFF7DF2F0}"/>
                </a:ext>
              </a:extLst>
            </p:cNvPr>
            <p:cNvSpPr/>
            <p:nvPr/>
          </p:nvSpPr>
          <p:spPr>
            <a:xfrm>
              <a:off x="626580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429;p19">
              <a:extLst>
                <a:ext uri="{FF2B5EF4-FFF2-40B4-BE49-F238E27FC236}">
                  <a16:creationId xmlns:a16="http://schemas.microsoft.com/office/drawing/2014/main" id="{AEEB8DA4-A623-58B9-8777-C88D2690C180}"/>
                </a:ext>
              </a:extLst>
            </p:cNvPr>
            <p:cNvSpPr/>
            <p:nvPr/>
          </p:nvSpPr>
          <p:spPr>
            <a:xfrm>
              <a:off x="707400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430;p19">
              <a:extLst>
                <a:ext uri="{FF2B5EF4-FFF2-40B4-BE49-F238E27FC236}">
                  <a16:creationId xmlns:a16="http://schemas.microsoft.com/office/drawing/2014/main" id="{03A44BB5-C0A7-40B0-53EC-D712341156EE}"/>
                </a:ext>
              </a:extLst>
            </p:cNvPr>
            <p:cNvSpPr/>
            <p:nvPr/>
          </p:nvSpPr>
          <p:spPr>
            <a:xfrm>
              <a:off x="724392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431;p19">
              <a:extLst>
                <a:ext uri="{FF2B5EF4-FFF2-40B4-BE49-F238E27FC236}">
                  <a16:creationId xmlns:a16="http://schemas.microsoft.com/office/drawing/2014/main" id="{172B9722-8203-E29D-740E-4445BC68EB3F}"/>
                </a:ext>
              </a:extLst>
            </p:cNvPr>
            <p:cNvSpPr/>
            <p:nvPr/>
          </p:nvSpPr>
          <p:spPr>
            <a:xfrm>
              <a:off x="805212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432;p19">
              <a:extLst>
                <a:ext uri="{FF2B5EF4-FFF2-40B4-BE49-F238E27FC236}">
                  <a16:creationId xmlns:a16="http://schemas.microsoft.com/office/drawing/2014/main" id="{E97D34B0-42DC-0859-11BC-EC16528B55EC}"/>
                </a:ext>
              </a:extLst>
            </p:cNvPr>
            <p:cNvSpPr/>
            <p:nvPr/>
          </p:nvSpPr>
          <p:spPr>
            <a:xfrm>
              <a:off x="822240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433;p19">
              <a:extLst>
                <a:ext uri="{FF2B5EF4-FFF2-40B4-BE49-F238E27FC236}">
                  <a16:creationId xmlns:a16="http://schemas.microsoft.com/office/drawing/2014/main" id="{65A74F31-D9FA-856D-8FAF-95738EE4B549}"/>
                </a:ext>
              </a:extLst>
            </p:cNvPr>
            <p:cNvSpPr/>
            <p:nvPr/>
          </p:nvSpPr>
          <p:spPr>
            <a:xfrm>
              <a:off x="903024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434;p19">
              <a:extLst>
                <a:ext uri="{FF2B5EF4-FFF2-40B4-BE49-F238E27FC236}">
                  <a16:creationId xmlns:a16="http://schemas.microsoft.com/office/drawing/2014/main" id="{E4892542-C658-8537-6644-4D6CE2CB70E6}"/>
                </a:ext>
              </a:extLst>
            </p:cNvPr>
            <p:cNvSpPr/>
            <p:nvPr/>
          </p:nvSpPr>
          <p:spPr>
            <a:xfrm>
              <a:off x="920052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435;p19">
              <a:extLst>
                <a:ext uri="{FF2B5EF4-FFF2-40B4-BE49-F238E27FC236}">
                  <a16:creationId xmlns:a16="http://schemas.microsoft.com/office/drawing/2014/main" id="{E89232C1-2DA5-AF95-6449-F177898AF052}"/>
                </a:ext>
              </a:extLst>
            </p:cNvPr>
            <p:cNvSpPr/>
            <p:nvPr/>
          </p:nvSpPr>
          <p:spPr>
            <a:xfrm>
              <a:off x="1000872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436;p19">
              <a:extLst>
                <a:ext uri="{FF2B5EF4-FFF2-40B4-BE49-F238E27FC236}">
                  <a16:creationId xmlns:a16="http://schemas.microsoft.com/office/drawing/2014/main" id="{5EE13570-2019-1A53-DE37-F2DAA2EAE2D3}"/>
                </a:ext>
              </a:extLst>
            </p:cNvPr>
            <p:cNvSpPr/>
            <p:nvPr/>
          </p:nvSpPr>
          <p:spPr>
            <a:xfrm>
              <a:off x="10178640" y="529848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437;p19">
              <a:extLst>
                <a:ext uri="{FF2B5EF4-FFF2-40B4-BE49-F238E27FC236}">
                  <a16:creationId xmlns:a16="http://schemas.microsoft.com/office/drawing/2014/main" id="{4438626C-EC6E-0818-D620-9228C8C095EE}"/>
                </a:ext>
              </a:extLst>
            </p:cNvPr>
            <p:cNvSpPr/>
            <p:nvPr/>
          </p:nvSpPr>
          <p:spPr>
            <a:xfrm>
              <a:off x="10986840" y="5200200"/>
              <a:ext cx="977040" cy="453600"/>
            </a:xfrm>
            <a:prstGeom prst="rect">
              <a:avLst/>
            </a:prstGeom>
            <a:solidFill>
              <a:srgbClr val="A89968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439;p19">
              <a:extLst>
                <a:ext uri="{FF2B5EF4-FFF2-40B4-BE49-F238E27FC236}">
                  <a16:creationId xmlns:a16="http://schemas.microsoft.com/office/drawing/2014/main" id="{7A600D4A-EB64-6EB9-AA47-2B5A3FEFBE8A}"/>
                </a:ext>
              </a:extLst>
            </p:cNvPr>
            <p:cNvSpPr/>
            <p:nvPr/>
          </p:nvSpPr>
          <p:spPr>
            <a:xfrm>
              <a:off x="661680" y="5655240"/>
              <a:ext cx="1520640" cy="453600"/>
            </a:xfrm>
            <a:custGeom>
              <a:avLst/>
              <a:gdLst/>
              <a:ahLst/>
              <a:cxnLst/>
              <a:rect l="l" t="t" r="r" b="b"/>
              <a:pathLst>
                <a:path w="1521581" h="454819" extrusionOk="0">
                  <a:moveTo>
                    <a:pt x="0" y="0"/>
                  </a:moveTo>
                  <a:lnTo>
                    <a:pt x="1521581" y="0"/>
                  </a:lnTo>
                  <a:lnTo>
                    <a:pt x="1521581" y="454819"/>
                  </a:lnTo>
                  <a:lnTo>
                    <a:pt x="21265" y="454819"/>
                  </a:lnTo>
                  <a:cubicBezTo>
                    <a:pt x="9521" y="454819"/>
                    <a:pt x="0" y="445298"/>
                    <a:pt x="0" y="4335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EBE5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440;p19">
              <a:extLst>
                <a:ext uri="{FF2B5EF4-FFF2-40B4-BE49-F238E27FC236}">
                  <a16:creationId xmlns:a16="http://schemas.microsoft.com/office/drawing/2014/main" id="{90F92060-4D19-2F3D-52A3-1319B60F6270}"/>
                </a:ext>
              </a:extLst>
            </p:cNvPr>
            <p:cNvSpPr/>
            <p:nvPr/>
          </p:nvSpPr>
          <p:spPr>
            <a:xfrm>
              <a:off x="831600" y="5753160"/>
              <a:ext cx="178992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826D"/>
                </a:buClr>
                <a:buSzPts val="1430"/>
                <a:buFont typeface="Gelasio"/>
                <a:buNone/>
              </a:pPr>
              <a:r>
                <a:rPr lang="en-US" sz="1430" b="1" u="none">
                  <a:solidFill>
                    <a:srgbClr val="A0826D"/>
                  </a:solidFill>
                  <a:latin typeface="Gelasio"/>
                  <a:ea typeface="Gelasio"/>
                  <a:cs typeface="Gelasio"/>
                  <a:sym typeface="Gelasio"/>
                </a:rPr>
                <a:t>程式部署</a:t>
              </a:r>
              <a:endParaRPr sz="1430" b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441;p19">
              <a:extLst>
                <a:ext uri="{FF2B5EF4-FFF2-40B4-BE49-F238E27FC236}">
                  <a16:creationId xmlns:a16="http://schemas.microsoft.com/office/drawing/2014/main" id="{53BDF669-A9B7-FBB3-8AA2-21EB4BA8E3CA}"/>
                </a:ext>
              </a:extLst>
            </p:cNvPr>
            <p:cNvSpPr/>
            <p:nvPr/>
          </p:nvSpPr>
          <p:spPr>
            <a:xfrm>
              <a:off x="235332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442;p19">
              <a:extLst>
                <a:ext uri="{FF2B5EF4-FFF2-40B4-BE49-F238E27FC236}">
                  <a16:creationId xmlns:a16="http://schemas.microsoft.com/office/drawing/2014/main" id="{25D36A7D-4229-CD6C-20A2-91ACAEDC0387}"/>
                </a:ext>
              </a:extLst>
            </p:cNvPr>
            <p:cNvSpPr/>
            <p:nvPr/>
          </p:nvSpPr>
          <p:spPr>
            <a:xfrm>
              <a:off x="333144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443;p19">
              <a:extLst>
                <a:ext uri="{FF2B5EF4-FFF2-40B4-BE49-F238E27FC236}">
                  <a16:creationId xmlns:a16="http://schemas.microsoft.com/office/drawing/2014/main" id="{C6B87473-E1DE-FA59-599A-72CC320133DA}"/>
                </a:ext>
              </a:extLst>
            </p:cNvPr>
            <p:cNvSpPr/>
            <p:nvPr/>
          </p:nvSpPr>
          <p:spPr>
            <a:xfrm>
              <a:off x="430956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444;p19">
              <a:extLst>
                <a:ext uri="{FF2B5EF4-FFF2-40B4-BE49-F238E27FC236}">
                  <a16:creationId xmlns:a16="http://schemas.microsoft.com/office/drawing/2014/main" id="{B3DF8AA0-AB53-DEE2-6F56-8116913B5123}"/>
                </a:ext>
              </a:extLst>
            </p:cNvPr>
            <p:cNvSpPr/>
            <p:nvPr/>
          </p:nvSpPr>
          <p:spPr>
            <a:xfrm>
              <a:off x="528768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445;p19">
              <a:extLst>
                <a:ext uri="{FF2B5EF4-FFF2-40B4-BE49-F238E27FC236}">
                  <a16:creationId xmlns:a16="http://schemas.microsoft.com/office/drawing/2014/main" id="{A5E7C73A-01E3-E484-A1BA-6051E2607AE1}"/>
                </a:ext>
              </a:extLst>
            </p:cNvPr>
            <p:cNvSpPr/>
            <p:nvPr/>
          </p:nvSpPr>
          <p:spPr>
            <a:xfrm>
              <a:off x="626580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446;p19">
              <a:extLst>
                <a:ext uri="{FF2B5EF4-FFF2-40B4-BE49-F238E27FC236}">
                  <a16:creationId xmlns:a16="http://schemas.microsoft.com/office/drawing/2014/main" id="{023EA85D-A584-FC09-8783-1AE828B29A2E}"/>
                </a:ext>
              </a:extLst>
            </p:cNvPr>
            <p:cNvSpPr/>
            <p:nvPr/>
          </p:nvSpPr>
          <p:spPr>
            <a:xfrm>
              <a:off x="724392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447;p19">
              <a:extLst>
                <a:ext uri="{FF2B5EF4-FFF2-40B4-BE49-F238E27FC236}">
                  <a16:creationId xmlns:a16="http://schemas.microsoft.com/office/drawing/2014/main" id="{5C355B5A-A477-6248-D7A7-13DA1E06CF3D}"/>
                </a:ext>
              </a:extLst>
            </p:cNvPr>
            <p:cNvSpPr/>
            <p:nvPr/>
          </p:nvSpPr>
          <p:spPr>
            <a:xfrm>
              <a:off x="822240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448;p19">
              <a:extLst>
                <a:ext uri="{FF2B5EF4-FFF2-40B4-BE49-F238E27FC236}">
                  <a16:creationId xmlns:a16="http://schemas.microsoft.com/office/drawing/2014/main" id="{A9B3403C-AB7F-D231-4CB8-116EEE6DADA8}"/>
                </a:ext>
              </a:extLst>
            </p:cNvPr>
            <p:cNvSpPr/>
            <p:nvPr/>
          </p:nvSpPr>
          <p:spPr>
            <a:xfrm>
              <a:off x="9030240" y="5655240"/>
              <a:ext cx="977040" cy="453600"/>
            </a:xfrm>
            <a:prstGeom prst="rect">
              <a:avLst/>
            </a:prstGeom>
            <a:solidFill>
              <a:srgbClr val="A0826D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449;p19">
              <a:extLst>
                <a:ext uri="{FF2B5EF4-FFF2-40B4-BE49-F238E27FC236}">
                  <a16:creationId xmlns:a16="http://schemas.microsoft.com/office/drawing/2014/main" id="{9D58A0FE-7548-21DB-2AD0-BDD565B9EFFC}"/>
                </a:ext>
              </a:extLst>
            </p:cNvPr>
            <p:cNvSpPr/>
            <p:nvPr/>
          </p:nvSpPr>
          <p:spPr>
            <a:xfrm>
              <a:off x="920052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450;p19">
              <a:extLst>
                <a:ext uri="{FF2B5EF4-FFF2-40B4-BE49-F238E27FC236}">
                  <a16:creationId xmlns:a16="http://schemas.microsoft.com/office/drawing/2014/main" id="{28827B91-243E-49F2-69E8-6C494C65F97F}"/>
                </a:ext>
              </a:extLst>
            </p:cNvPr>
            <p:cNvSpPr/>
            <p:nvPr/>
          </p:nvSpPr>
          <p:spPr>
            <a:xfrm>
              <a:off x="10008720" y="5655240"/>
              <a:ext cx="977040" cy="453600"/>
            </a:xfrm>
            <a:prstGeom prst="rect">
              <a:avLst/>
            </a:prstGeom>
            <a:solidFill>
              <a:srgbClr val="A0826D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451;p19">
              <a:extLst>
                <a:ext uri="{FF2B5EF4-FFF2-40B4-BE49-F238E27FC236}">
                  <a16:creationId xmlns:a16="http://schemas.microsoft.com/office/drawing/2014/main" id="{11F2C9CE-F32B-7270-6D9E-11C9F91B6512}"/>
                </a:ext>
              </a:extLst>
            </p:cNvPr>
            <p:cNvSpPr/>
            <p:nvPr/>
          </p:nvSpPr>
          <p:spPr>
            <a:xfrm>
              <a:off x="10178640" y="5753160"/>
              <a:ext cx="1246680" cy="2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452;p19">
              <a:extLst>
                <a:ext uri="{FF2B5EF4-FFF2-40B4-BE49-F238E27FC236}">
                  <a16:creationId xmlns:a16="http://schemas.microsoft.com/office/drawing/2014/main" id="{672E79CB-0146-DE62-B509-892015907785}"/>
                </a:ext>
              </a:extLst>
            </p:cNvPr>
            <p:cNvSpPr/>
            <p:nvPr/>
          </p:nvSpPr>
          <p:spPr>
            <a:xfrm>
              <a:off x="10986840" y="5655240"/>
              <a:ext cx="977040" cy="453600"/>
            </a:xfrm>
            <a:custGeom>
              <a:avLst/>
              <a:gdLst/>
              <a:ahLst/>
              <a:cxnLst/>
              <a:rect l="l" t="t" r="r" b="b"/>
              <a:pathLst>
                <a:path w="978173" h="454819" extrusionOk="0">
                  <a:moveTo>
                    <a:pt x="0" y="0"/>
                  </a:moveTo>
                  <a:lnTo>
                    <a:pt x="978173" y="0"/>
                  </a:lnTo>
                  <a:lnTo>
                    <a:pt x="978173" y="433554"/>
                  </a:lnTo>
                  <a:cubicBezTo>
                    <a:pt x="978173" y="445298"/>
                    <a:pt x="968652" y="454819"/>
                    <a:pt x="956908" y="454819"/>
                  </a:cubicBezTo>
                  <a:lnTo>
                    <a:pt x="0" y="45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826D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E632300A-6A12-9C3A-44EE-286AA043A3BF}"/>
              </a:ext>
            </a:extLst>
          </p:cNvPr>
          <p:cNvSpPr txBox="1"/>
          <p:nvPr/>
        </p:nvSpPr>
        <p:spPr>
          <a:xfrm>
            <a:off x="11742235" y="6478859"/>
            <a:ext cx="44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44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7871186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底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FFFBF7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3342</Words>
  <Application>Microsoft Macintosh PowerPoint</Application>
  <DocSecurity>0</DocSecurity>
  <PresentationFormat>寬螢幕</PresentationFormat>
  <Paragraphs>686</Paragraphs>
  <Slides>48</Slides>
  <Notes>10</Notes>
  <HiddenSlides>3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6" baseType="lpstr">
      <vt:lpstr>Microsoft JhengHei</vt:lpstr>
      <vt:lpstr>Gelasio</vt:lpstr>
      <vt:lpstr>Noto Sans TC</vt:lpstr>
      <vt:lpstr>Aptos</vt:lpstr>
      <vt:lpstr>Arial</vt:lpstr>
      <vt:lpstr>Calibri</vt:lpstr>
      <vt:lpstr>Wingdings</vt:lpstr>
      <vt:lpstr>自訂設計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陳翊庭</cp:lastModifiedBy>
  <cp:revision>282</cp:revision>
  <cp:lastPrinted>2026-08-16T07:32:03Z</cp:lastPrinted>
  <dcterms:created xsi:type="dcterms:W3CDTF">2026-08-11T06:18:24Z</dcterms:created>
  <dcterms:modified xsi:type="dcterms:W3CDTF">2026-08-17T10:45:51Z</dcterms:modified>
</cp:coreProperties>
</file>