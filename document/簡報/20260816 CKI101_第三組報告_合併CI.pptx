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090" autoAdjust="0"/>
  </p:normalViewPr>
  <p:slideViewPr>
    <p:cSldViewPr snapToGrid="0" snapToObjects="1">
      <p:cViewPr varScale="1">
        <p:scale>
          <a:sx n="54" d="100"/>
          <a:sy n="54" d="100"/>
        </p:scale>
        <p:origin x="11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66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開場:今天報告的主題是</a:t>
            </a:r>
            <a:r>
              <a:rPr lang="en-US" dirty="0"/>
              <a:t> CI。
可以用一句話破題:CI 就像幫程式安排了一位『自動品管員』,每次有新東西做好,它就自動檢查一遍。等一下會用這個比喻,讓大家不用懂程式也能聽懂。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這頁講定義。
口頭:CI 全名是持續整合。白話講,就是每次改完程式,系統會自動幫我們檢查跟測試,確認沒有把原本好好的東西弄壞。
用比喻收:把它想成一位『自動品管員』,新東西一做好就自動檢查,沒問題才放行。記住『自動品管員』就好。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這頁講流程,重點是『自動</a:t>
            </a:r>
            <a:r>
              <a:rPr lang="en-US" dirty="0"/>
              <a:t>』。</a:t>
            </a:r>
            <a:r>
              <a:rPr lang="zh-TW" altLang="en-US" dirty="0"/>
              <a:t>由</a:t>
            </a:r>
            <a:r>
              <a:rPr lang="en-US" altLang="zh-TW" dirty="0" err="1"/>
              <a:t>github</a:t>
            </a:r>
            <a:r>
              <a:rPr lang="en-US" altLang="zh-TW" dirty="0"/>
              <a:t> action</a:t>
            </a:r>
            <a:r>
              <a:rPr lang="zh-TW" altLang="en-US" dirty="0"/>
              <a:t>先簡單帶過</a:t>
            </a:r>
            <a:r>
              <a:rPr lang="en-US" dirty="0"/>
              <a:t>
口頭:運作很簡單,四步。第一,有人改好東西;第二,自動送去檢查;第三,系統自動把關,檢查格式跟功能;第四,過關才放行。
</a:t>
            </a:r>
            <a:r>
              <a:rPr lang="en-US" dirty="0" err="1"/>
              <a:t>最後補:如果沒過,它會自動退回請人修好再送一次,整個過程不需要人一直盯著</a:t>
            </a:r>
            <a:r>
              <a:rPr lang="en-US" dirty="0"/>
              <a:t>。</a:t>
            </a:r>
            <a:br>
              <a:rPr lang="en-US" dirty="0"/>
            </a:br>
            <a:r>
              <a:rPr lang="en-US" dirty="0"/>
              <a:t>Git commit -&gt; coding running -&gt; check -&gt;PR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這是老師特別交代要講的兩個特點,講的時候放慢、講清楚。
特點一,自動化:系統自己檢查、自己回報,不用一直盯,省時間省人力。
特點二,及早抓錯:每次改完就馬上檢查,問題早發現早修,不會拖到最後全部一起爆炸,品質更穩。
這兩點就是 CI </a:t>
            </a:r>
            <a:r>
              <a:rPr lang="en-US" dirty="0" err="1"/>
              <a:t>最大的價值</a:t>
            </a:r>
            <a:r>
              <a:rPr lang="en-US" dirty="0"/>
              <a:t>,</a:t>
            </a:r>
            <a:r>
              <a:rPr lang="zh-TW" altLang="en-US" dirty="0"/>
              <a:t>有可能會是解決工程師所有痛點</a:t>
            </a:r>
            <a:r>
              <a:rPr lang="en-US" dirty="0"/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</a:t>
            </a:r>
            <a:r>
              <a:rPr lang="en-US" altLang="zh-TW" sz="12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altLang="zh-TW" sz="12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及早抓錯,正是</a:t>
            </a:r>
            <a:r>
              <a:rPr lang="en-US" altLang="zh-TW" sz="12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CI </a:t>
            </a:r>
            <a:r>
              <a:rPr lang="en-US" altLang="zh-TW" sz="12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解決痛點、提升效率的關鍵</a:t>
            </a:r>
            <a:r>
              <a:rPr lang="en-US" altLang="zh-TW" sz="12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這頁解釋範圍,重點是講成『刻意的選擇』,</a:t>
            </a:r>
            <a:r>
              <a:rPr lang="en-US" dirty="0" err="1"/>
              <a:t>不是『沒做完</a:t>
            </a:r>
            <a:r>
              <a:rPr lang="en-US" dirty="0"/>
              <a:t>』。</a:t>
            </a:r>
            <a:br>
              <a:rPr lang="en-US" dirty="0"/>
            </a:br>
            <a:r>
              <a:rPr lang="en-US" dirty="0"/>
              <a:t>CI </a:t>
            </a:r>
            <a:r>
              <a:rPr lang="zh-TW" altLang="en-US" dirty="0"/>
              <a:t>與 </a:t>
            </a:r>
            <a:r>
              <a:rPr lang="en-US" altLang="zh-TW" dirty="0"/>
              <a:t>CD </a:t>
            </a:r>
            <a:r>
              <a:rPr lang="zh-TW" altLang="en-US" dirty="0"/>
              <a:t>應是相輔相成的</a:t>
            </a:r>
            <a:r>
              <a:rPr lang="en-US" dirty="0"/>
              <a:t>
口頭:CI 負責自動檢查,CD 負責自動把程式送上線。這次先聚焦 CI,因為 CD 直接上線風險較高,所以先保留人工確認這一關,確保驗證完整後再部署,更安全。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這頁是選配</a:t>
            </a:r>
            <a:r>
              <a:rPr lang="en-US" altLang="zh-TW" dirty="0"/>
              <a:t>(</a:t>
            </a:r>
            <a:r>
              <a:rPr lang="zh-TW" altLang="en-US" dirty="0"/>
              <a:t>成效</a:t>
            </a:r>
            <a:r>
              <a:rPr lang="en-US" altLang="zh-TW" dirty="0"/>
              <a:t>)</a:t>
            </a:r>
            <a:r>
              <a:rPr lang="en-US" dirty="0"/>
              <a:t>。</a:t>
            </a:r>
            <a:r>
              <a:rPr lang="zh-TW" altLang="en-US" dirty="0"/>
              <a:t>第三章呼應一下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在</a:t>
            </a:r>
            <a:r>
              <a:rPr lang="en-US" altLang="zh-TW" dirty="0"/>
              <a:t>GitHub </a:t>
            </a:r>
            <a:r>
              <a:rPr lang="zh-TW" altLang="en-US" dirty="0"/>
              <a:t>上執行 </a:t>
            </a:r>
            <a:r>
              <a:rPr lang="en-US" altLang="zh-TW" dirty="0"/>
              <a:t>Actions </a:t>
            </a:r>
            <a:r>
              <a:rPr lang="zh-TW" altLang="en-US" dirty="0"/>
              <a:t>呈現 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例如:CI</a:t>
            </a:r>
            <a:r>
              <a:rPr lang="en-US" altLang="zh-TW" sz="1200" dirty="0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檢查後回報的綠燈</a:t>
            </a:r>
            <a:r>
              <a:rPr lang="en-US" altLang="zh-TW" sz="1200" dirty="0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</a:t>
            </a:r>
            <a:r>
              <a:rPr lang="en-US" altLang="zh-TW" sz="1200" dirty="0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)/ 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紅燈</a:t>
            </a:r>
            <a:r>
              <a:rPr lang="en-US" altLang="zh-TW" sz="1200" dirty="0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</a:t>
            </a:r>
            <a:r>
              <a:rPr lang="en-US" altLang="zh-TW" sz="1200" dirty="0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r>
              <a:rPr lang="en-US" altLang="zh-TW" sz="1200" dirty="0" err="1">
                <a:solidFill>
                  <a:srgbClr val="B7A6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altLang="zh-TW" sz="1200" dirty="0"/>
          </a:p>
          <a:p>
            <a:r>
              <a:rPr lang="en-US" dirty="0"/>
              <a:t>
</a:t>
            </a:r>
            <a:r>
              <a:rPr lang="en-US" dirty="0" err="1"/>
              <a:t>判斷標準</a:t>
            </a:r>
            <a:r>
              <a:rPr lang="en-US" dirty="0"/>
              <a:t>:</a:t>
            </a:r>
            <a:r>
              <a:rPr lang="zh-TW" altLang="en-US" dirty="0"/>
              <a:t> </a:t>
            </a:r>
            <a:r>
              <a:rPr lang="en-US" dirty="0" err="1"/>
              <a:t>不確定就整頁刪掉</a:t>
            </a:r>
            <a:r>
              <a:rPr lang="en-US" dirty="0"/>
              <a:t>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收尾,把重點濃縮成一句話。
口頭:一句話帶走——CI 就是一位『自動品管員』。</a:t>
            </a:r>
            <a:r>
              <a:rPr lang="en-US" dirty="0" err="1"/>
              <a:t>它幫我們省人力、少出錯、每次品質都一致</a:t>
            </a:r>
            <a:r>
              <a:rPr lang="en-US" dirty="0"/>
              <a:t>。</a:t>
            </a:r>
            <a:br>
              <a:rPr lang="en-US" dirty="0"/>
            </a:br>
            <a:r>
              <a:rPr lang="zh-TW" altLang="en-US" dirty="0"/>
              <a:t>那目前現階段</a:t>
            </a:r>
            <a:r>
              <a:rPr lang="en-US" altLang="zh-TW" dirty="0"/>
              <a:t>CI</a:t>
            </a:r>
            <a:r>
              <a:rPr lang="zh-TW" altLang="en-US" dirty="0"/>
              <a:t>能做到什麼程度，就有待探討。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822960"/>
            <a:ext cx="4754880" cy="4754880"/>
          </a:xfrm>
          <a:prstGeom prst="ellipse">
            <a:avLst/>
          </a:prstGeom>
          <a:solidFill>
            <a:srgbClr val="E7E0D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103120"/>
            <a:ext cx="2194560" cy="2194560"/>
          </a:xfrm>
          <a:prstGeom prst="ellipse">
            <a:avLst/>
          </a:prstGeom>
          <a:solidFill>
            <a:srgbClr val="D8C2AE"/>
          </a:solidFill>
          <a:ln/>
        </p:spPr>
      </p:sp>
      <p:sp>
        <p:nvSpPr>
          <p:cNvPr id="4" name="Text 2"/>
          <p:cNvSpPr/>
          <p:nvPr/>
        </p:nvSpPr>
        <p:spPr>
          <a:xfrm>
            <a:off x="582031" y="54658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6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Continuous Integration</a:t>
            </a:r>
            <a:endParaRPr lang="en-US" altLang="zh-TW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</a:t>
            </a:r>
            <a:r>
              <a:rPr lang="en-US" sz="4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4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24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Continuous Integration</a:t>
            </a:r>
            <a:r>
              <a:rPr lang="en-US" altLang="zh-TW" sz="24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400" b="1" dirty="0">
              <a:solidFill>
                <a:srgbClr val="292C2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幫程式自動把關的「品管員」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</a:t>
            </a:r>
            <a:r>
              <a:rPr lang="en-US" sz="15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流程 → </a:t>
            </a:r>
            <a:r>
              <a:rPr lang="en-US" sz="15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</a:t>
            </a:r>
            <a:r>
              <a:rPr lang="en-US" sz="15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r>
              <a:rPr lang="en-US" sz="15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</a:t>
            </a:r>
            <a:r>
              <a:rPr lang="zh-TW" altLang="en-US" sz="15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r>
              <a:rPr lang="en-US" sz="15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CI → 實際成果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A66C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</a:t>
            </a: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是什麼</a:t>
            </a: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每次改完</a:t>
            </a:r>
            <a:r>
              <a:rPr lang="zh-TW" alt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系統自動幫</a:t>
            </a:r>
            <a:r>
              <a:rPr lang="zh-TW" alt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忙</a:t>
            </a: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</a:t>
            </a:r>
            <a:r>
              <a:rPr lang="zh-TW" alt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8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持續整合</a:t>
            </a: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會在每一次程式更新後</a:t>
            </a:r>
            <a:r>
              <a:rPr lang="zh-TW" alt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8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自動做一輪「檢查</a:t>
            </a: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sz="18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確保新的改動不會把原本正常的功能弄壞。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017520"/>
            <a:ext cx="10634472" cy="237744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6C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一句話比喻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703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就像一位「自動品管員」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4480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新東西一做好就自動檢查</a:t>
            </a:r>
            <a:r>
              <a:rPr lang="zh-TW" altLang="en-US" sz="17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7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沒問題才放行、有問題就退回</a:t>
            </a:r>
            <a:r>
              <a:rPr lang="en-US" sz="17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——全程不用人一直盯。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A66C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是怎麼運作的?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2331720" cy="214884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04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改好東西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修改或新增功能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90672" y="2148840"/>
            <a:ext cx="4480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331720" cy="214884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404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自動送檢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不需人工提醒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33872" y="2148840"/>
            <a:ext cx="4480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2331720" cy="214884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404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自動把關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3657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檢查格式與功能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77072" y="2148840"/>
            <a:ext cx="44805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06840" y="2148840"/>
            <a:ext cx="2331720" cy="2148840"/>
          </a:xfrm>
          <a:prstGeom prst="rect">
            <a:avLst/>
          </a:prstGeom>
          <a:solidFill>
            <a:srgbClr val="D8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2404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098280" y="3200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過關才放行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3657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沒過自動退回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A66C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</a:t>
            </a: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634472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914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4560" y="2221992"/>
            <a:ext cx="8897112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自動化,不用人盯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2811780"/>
            <a:ext cx="8897112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系統自己檢查、自己回報,工程師不用一直看著。  →  好處:省時間、省人力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10634472" cy="1600200"/>
          </a:xfrm>
          <a:prstGeom prst="rect">
            <a:avLst/>
          </a:prstGeom>
          <a:solidFill>
            <a:srgbClr val="D8C2A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86200"/>
            <a:ext cx="914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94560" y="4050792"/>
            <a:ext cx="8897112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及早抓錯,品質穩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94560" y="4640580"/>
            <a:ext cx="8897112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每次改完就馬上檢查,問題早發現、早修。  →  好處:不會拖到最後才爆炸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A66C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這次為什麼先聚焦在 CI?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12080" cy="155448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6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</a:t>
            </a:r>
            <a:r>
              <a:rPr lang="en-US" sz="16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持續整合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負責「自動檢查」程式有沒有問題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9632" y="1600200"/>
            <a:ext cx="5212080" cy="1554480"/>
          </a:xfrm>
          <a:prstGeom prst="rect">
            <a:avLst/>
          </a:prstGeom>
          <a:solidFill>
            <a:srgbClr val="EDE7DC"/>
          </a:solidFill>
          <a:ln/>
        </p:spPr>
      </p:sp>
      <p:sp>
        <p:nvSpPr>
          <p:cNvPr id="8" name="Text 6"/>
          <p:cNvSpPr/>
          <p:nvPr/>
        </p:nvSpPr>
        <p:spPr>
          <a:xfrm>
            <a:off x="6473952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 </a:t>
            </a:r>
            <a:r>
              <a:rPr lang="en-US" sz="16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自動部署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73952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負責把程式「自動送上線」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10634472" cy="2103120"/>
          </a:xfrm>
          <a:prstGeom prst="rect">
            <a:avLst/>
          </a:prstGeom>
          <a:solidFill>
            <a:srgbClr val="A66C4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4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我們的選擇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25196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 </a:t>
            </a:r>
            <a:r>
              <a:rPr lang="en-US" sz="20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是直接把程式送上線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風險比較高</a:t>
            </a: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0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這次我們選擇先保留「人工確認」這一關</a:t>
            </a: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確保驗證完整後再部署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更安全</a:t>
            </a: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A66C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實際的成果</a:t>
            </a:r>
            <a:r>
              <a:rPr lang="en-US" sz="30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7223760" cy="3657600"/>
          </a:xfrm>
          <a:prstGeom prst="rect">
            <a:avLst/>
          </a:prstGeom>
          <a:solidFill>
            <a:srgbClr val="F7F4ED"/>
          </a:solidFill>
          <a:ln w="19050">
            <a:solidFill>
              <a:srgbClr val="D8C2A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65008" y="1965960"/>
            <a:ext cx="3182112" cy="3657600"/>
          </a:xfrm>
          <a:prstGeom prst="rect">
            <a:avLst/>
          </a:prstGeom>
          <a:solidFill>
            <a:srgbClr val="E7E0D3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Text 7"/>
          <p:cNvSpPr/>
          <p:nvPr/>
        </p:nvSpPr>
        <p:spPr>
          <a:xfrm>
            <a:off x="850392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0" y="2743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DDBC5B2-38C8-49EC-B8E9-ED4CC1645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49" y="1980714"/>
            <a:ext cx="9255407" cy="142278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F2A3F6A-38CD-43C6-A68D-10DFF41C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449" y="4223108"/>
            <a:ext cx="9255406" cy="14227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822960"/>
            <a:ext cx="4754880" cy="4754880"/>
          </a:xfrm>
          <a:prstGeom prst="ellipse">
            <a:avLst/>
          </a:prstGeom>
          <a:solidFill>
            <a:srgbClr val="E7E0D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103120"/>
            <a:ext cx="2194560" cy="2194560"/>
          </a:xfrm>
          <a:prstGeom prst="ellipse">
            <a:avLst/>
          </a:prstGeom>
          <a:solidFill>
            <a:srgbClr val="D8C2A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6C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一句話帶走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92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</a:t>
            </a:r>
            <a:r>
              <a:rPr lang="en-US" sz="4600" b="1" dirty="0">
                <a:solidFill>
                  <a:srgbClr val="A66C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自動品管員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2286000" cy="182880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省人力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不用人一直盯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383280"/>
            <a:ext cx="2286000" cy="1828800"/>
          </a:xfrm>
          <a:prstGeom prst="rect">
            <a:avLst/>
          </a:prstGeom>
          <a:solidFill>
            <a:srgbClr val="D8C2A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少出錯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問題早發現早修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3383280"/>
            <a:ext cx="2286000" cy="182880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品質一致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每次照同樣標準檢查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577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227</Words>
  <Application>Microsoft Office PowerPoint</Application>
  <PresentationFormat>寬螢幕</PresentationFormat>
  <Paragraphs>73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</cp:revision>
  <dcterms:created xsi:type="dcterms:W3CDTF">2026-08-16T00:31:40Z</dcterms:created>
  <dcterms:modified xsi:type="dcterms:W3CDTF">2026-08-16T02:48:14Z</dcterms:modified>
</cp:coreProperties>
</file>