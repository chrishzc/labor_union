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f1637f9f8d4f46" /><Relationship Type="http://schemas.openxmlformats.org/officeDocument/2006/relationships/extended-properties" Target="/docProps/app.xml" Id="Rce4db9d14e934b75" /><Relationship Type="http://schemas.openxmlformats.org/officeDocument/2006/relationships/officeDocument" Target="/ppt/presentation.xml" Id="R0e693bfbb66a40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49f03fbd684014"/>
  </p:sldMasterIdLst>
  <p:notesMasterIdLst>
    <p:notesMasterId xmlns:r="http://schemas.openxmlformats.org/officeDocument/2006/relationships" r:id="Re0616241cca047c4"/>
  </p:notesMasterIdLst>
  <p:sldIdLst>
    <p:sldId xmlns:r="http://schemas.openxmlformats.org/officeDocument/2006/relationships" id="256" r:id="Ra51629f800db4b54"/>
    <p:sldId xmlns:r="http://schemas.openxmlformats.org/officeDocument/2006/relationships" id="257" r:id="R8b701aba632e479a"/>
    <p:sldId xmlns:r="http://schemas.openxmlformats.org/officeDocument/2006/relationships" id="258" r:id="R1663e77d29e9421e"/>
    <p:sldId xmlns:r="http://schemas.openxmlformats.org/officeDocument/2006/relationships" id="259" r:id="Rb527ef9d0e7e4629"/>
    <p:sldId xmlns:r="http://schemas.openxmlformats.org/officeDocument/2006/relationships" id="260" r:id="R411e42f8ac174354"/>
    <p:sldId xmlns:r="http://schemas.openxmlformats.org/officeDocument/2006/relationships" id="261" r:id="Rcbdb7a265d954063"/>
    <p:sldId xmlns:r="http://schemas.openxmlformats.org/officeDocument/2006/relationships" id="262" r:id="Rb6f18b1a13034273"/>
    <p:sldId xmlns:r="http://schemas.openxmlformats.org/officeDocument/2006/relationships" id="263" r:id="R4f0f211f0af447da"/>
    <p:sldId xmlns:r="http://schemas.openxmlformats.org/officeDocument/2006/relationships" id="264" r:id="R4954a685788f4beb"/>
    <p:sldId xmlns:r="http://schemas.openxmlformats.org/officeDocument/2006/relationships" id="265" r:id="R7cc4fecd9f454a4c"/>
    <p:sldId xmlns:r="http://schemas.openxmlformats.org/officeDocument/2006/relationships" id="266" r:id="R7d96112e03074722"/>
    <p:sldId xmlns:r="http://schemas.openxmlformats.org/officeDocument/2006/relationships" id="267" r:id="Rb8bfe97806d043a6"/>
    <p:sldId xmlns:r="http://schemas.openxmlformats.org/officeDocument/2006/relationships" id="268" r:id="R26fac6b582cb4cfa"/>
    <p:sldId xmlns:r="http://schemas.openxmlformats.org/officeDocument/2006/relationships" id="269" r:id="R26dc2699adaa4ecd"/>
    <p:sldId xmlns:r="http://schemas.openxmlformats.org/officeDocument/2006/relationships" id="270" r:id="R73d5143e2aae461b"/>
    <p:sldId xmlns:r="http://schemas.openxmlformats.org/officeDocument/2006/relationships" id="271" r:id="R32c1d55a37ca40b1"/>
    <p:sldId xmlns:r="http://schemas.openxmlformats.org/officeDocument/2006/relationships" id="272" r:id="Rc1d556a890414334"/>
    <p:sldId xmlns:r="http://schemas.openxmlformats.org/officeDocument/2006/relationships" id="273" r:id="Rc4b03f74b43d4d2e"/>
    <p:sldId xmlns:r="http://schemas.openxmlformats.org/officeDocument/2006/relationships" id="274" r:id="R3ceaa9cacb204642"/>
    <p:sldId xmlns:r="http://schemas.openxmlformats.org/officeDocument/2006/relationships" id="275" r:id="Rc7958838d74f4a51"/>
    <p:sldId xmlns:r="http://schemas.openxmlformats.org/officeDocument/2006/relationships" id="276" r:id="R40043c37b0484e0c"/>
    <p:sldId xmlns:r="http://schemas.openxmlformats.org/officeDocument/2006/relationships" id="277" r:id="R58e8d34cd8cd4a43"/>
    <p:sldId xmlns:r="http://schemas.openxmlformats.org/officeDocument/2006/relationships" id="278" r:id="Rfe47f47e6a5e4201"/>
    <p:sldId xmlns:r="http://schemas.openxmlformats.org/officeDocument/2006/relationships" id="279" r:id="R95e3058542d84816"/>
    <p:sldId xmlns:r="http://schemas.openxmlformats.org/officeDocument/2006/relationships" id="280" r:id="Rfa99e6df756b4f99"/>
    <p:sldId xmlns:r="http://schemas.openxmlformats.org/officeDocument/2006/relationships" id="281" r:id="R95500cdd5a334e23"/>
    <p:sldId xmlns:r="http://schemas.openxmlformats.org/officeDocument/2006/relationships" id="282" r:id="Rb1e317740ad0470a"/>
    <p:sldId xmlns:r="http://schemas.openxmlformats.org/officeDocument/2006/relationships" id="283" r:id="R14c00359dfb645be"/>
    <p:sldId xmlns:r="http://schemas.openxmlformats.org/officeDocument/2006/relationships" id="284" r:id="R1828fb862312410a"/>
    <p:sldId xmlns:r="http://schemas.openxmlformats.org/officeDocument/2006/relationships" id="285" r:id="R4d3541fc8c6d4c96"/>
    <p:sldId xmlns:r="http://schemas.openxmlformats.org/officeDocument/2006/relationships" id="286" r:id="Rdd236cf0e5da45eb"/>
    <p:sldId xmlns:r="http://schemas.openxmlformats.org/officeDocument/2006/relationships" id="287" r:id="R16975823848f48d5"/>
    <p:sldId xmlns:r="http://schemas.openxmlformats.org/officeDocument/2006/relationships" id="288" r:id="Rbf4bc2cb30374a60"/>
    <p:sldId xmlns:r="http://schemas.openxmlformats.org/officeDocument/2006/relationships" id="289" r:id="R8c11b16c923645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d2bdf439bf483d" /><Relationship Type="http://schemas.openxmlformats.org/officeDocument/2006/relationships/slideMaster" Target="/ppt/slideMasters/slideMaster1.xml" Id="Ra749f03fbd684014" /><Relationship Type="http://schemas.openxmlformats.org/officeDocument/2006/relationships/notesMaster" Target="/ppt/notesMasters/notesMaster1.xml" Id="Re0616241cca047c4" /><Relationship Type="http://schemas.openxmlformats.org/officeDocument/2006/relationships/presProps" Target="/ppt/presProps.xml" Id="Rea1e735319414260" /><Relationship Type="http://schemas.openxmlformats.org/officeDocument/2006/relationships/tableStyles" Target="/ppt/tableStyles.xml" Id="R2cceff5344d44c88" /><Relationship Type="http://schemas.openxmlformats.org/officeDocument/2006/relationships/slide" Target="/ppt/slides/slide1.xml" Id="Ra51629f800db4b54" /><Relationship Type="http://schemas.openxmlformats.org/officeDocument/2006/relationships/slide" Target="/ppt/slides/slide2.xml" Id="R8b701aba632e479a" /><Relationship Type="http://schemas.openxmlformats.org/officeDocument/2006/relationships/slide" Target="/ppt/slides/slide3.xml" Id="R1663e77d29e9421e" /><Relationship Type="http://schemas.openxmlformats.org/officeDocument/2006/relationships/slide" Target="/ppt/slides/slide4.xml" Id="Rb527ef9d0e7e4629" /><Relationship Type="http://schemas.openxmlformats.org/officeDocument/2006/relationships/slide" Target="/ppt/slides/slide5.xml" Id="R411e42f8ac174354" /><Relationship Type="http://schemas.openxmlformats.org/officeDocument/2006/relationships/slide" Target="/ppt/slides/slide6.xml" Id="Rcbdb7a265d954063" /><Relationship Type="http://schemas.openxmlformats.org/officeDocument/2006/relationships/slide" Target="/ppt/slides/slide7.xml" Id="Rb6f18b1a13034273" /><Relationship Type="http://schemas.openxmlformats.org/officeDocument/2006/relationships/slide" Target="/ppt/slides/slide8.xml" Id="R4f0f211f0af447da" /><Relationship Type="http://schemas.openxmlformats.org/officeDocument/2006/relationships/slide" Target="/ppt/slides/slide9.xml" Id="R4954a685788f4beb" /><Relationship Type="http://schemas.openxmlformats.org/officeDocument/2006/relationships/slide" Target="/ppt/slides/slide10.xml" Id="R7cc4fecd9f454a4c" /><Relationship Type="http://schemas.openxmlformats.org/officeDocument/2006/relationships/slide" Target="/ppt/slides/slide11.xml" Id="R7d96112e03074722" /><Relationship Type="http://schemas.openxmlformats.org/officeDocument/2006/relationships/slide" Target="/ppt/slides/slide12.xml" Id="Rb8bfe97806d043a6" /><Relationship Type="http://schemas.openxmlformats.org/officeDocument/2006/relationships/slide" Target="/ppt/slides/slide13.xml" Id="R26fac6b582cb4cfa" /><Relationship Type="http://schemas.openxmlformats.org/officeDocument/2006/relationships/slide" Target="/ppt/slides/slide14.xml" Id="R26dc2699adaa4ecd" /><Relationship Type="http://schemas.openxmlformats.org/officeDocument/2006/relationships/slide" Target="/ppt/slides/slide15.xml" Id="R73d5143e2aae461b" /><Relationship Type="http://schemas.openxmlformats.org/officeDocument/2006/relationships/slide" Target="/ppt/slides/slide16.xml" Id="R32c1d55a37ca40b1" /><Relationship Type="http://schemas.openxmlformats.org/officeDocument/2006/relationships/slide" Target="/ppt/slides/slide17.xml" Id="Rc1d556a890414334" /><Relationship Type="http://schemas.openxmlformats.org/officeDocument/2006/relationships/slide" Target="/ppt/slides/slide18.xml" Id="Rc4b03f74b43d4d2e" /><Relationship Type="http://schemas.openxmlformats.org/officeDocument/2006/relationships/slide" Target="/ppt/slides/slide19.xml" Id="R3ceaa9cacb204642" /><Relationship Type="http://schemas.openxmlformats.org/officeDocument/2006/relationships/slide" Target="/ppt/slides/slide20.xml" Id="Rc7958838d74f4a51" /><Relationship Type="http://schemas.openxmlformats.org/officeDocument/2006/relationships/slide" Target="/ppt/slides/slide21.xml" Id="R40043c37b0484e0c" /><Relationship Type="http://schemas.openxmlformats.org/officeDocument/2006/relationships/slide" Target="/ppt/slides/slide22.xml" Id="R58e8d34cd8cd4a43" /><Relationship Type="http://schemas.openxmlformats.org/officeDocument/2006/relationships/slide" Target="/ppt/slides/slide23.xml" Id="Rfe47f47e6a5e4201" /><Relationship Type="http://schemas.openxmlformats.org/officeDocument/2006/relationships/slide" Target="/ppt/slides/slide24.xml" Id="R95e3058542d84816" /><Relationship Type="http://schemas.openxmlformats.org/officeDocument/2006/relationships/slide" Target="/ppt/slides/slide25.xml" Id="Rfa99e6df756b4f99" /><Relationship Type="http://schemas.openxmlformats.org/officeDocument/2006/relationships/slide" Target="/ppt/slides/slide26.xml" Id="R95500cdd5a334e23" /><Relationship Type="http://schemas.openxmlformats.org/officeDocument/2006/relationships/slide" Target="/ppt/slides/slide27.xml" Id="Rb1e317740ad0470a" /><Relationship Type="http://schemas.openxmlformats.org/officeDocument/2006/relationships/slide" Target="/ppt/slides/slide28.xml" Id="R14c00359dfb645be" /><Relationship Type="http://schemas.openxmlformats.org/officeDocument/2006/relationships/slide" Target="/ppt/slides/slide29.xml" Id="R1828fb862312410a" /><Relationship Type="http://schemas.openxmlformats.org/officeDocument/2006/relationships/slide" Target="/ppt/slides/slide30.xml" Id="R4d3541fc8c6d4c96" /><Relationship Type="http://schemas.openxmlformats.org/officeDocument/2006/relationships/slide" Target="/ppt/slides/slide31.xml" Id="Rdd236cf0e5da45eb" /><Relationship Type="http://schemas.openxmlformats.org/officeDocument/2006/relationships/slide" Target="/ppt/slides/slide32.xml" Id="R16975823848f48d5" /><Relationship Type="http://schemas.openxmlformats.org/officeDocument/2006/relationships/slide" Target="/ppt/slides/slide33.xml" Id="Rbf4bc2cb30374a60" /><Relationship Type="http://schemas.openxmlformats.org/officeDocument/2006/relationships/slide" Target="/ppt/slides/slide34.xml" Id="R8c11b16c923645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5939ccdd2942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c8420f79d64221" /><Relationship Type="http://schemas.openxmlformats.org/officeDocument/2006/relationships/notesMaster" Target="/ppt/notesMasters/notesMaster1.xml" Id="R22eb199dd19844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ba236cdb5a4f15" /><Relationship Type="http://schemas.openxmlformats.org/officeDocument/2006/relationships/notesMaster" Target="/ppt/notesMasters/notesMaster1.xml" Id="R1aad9feef85549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c0929e2d4247cd" /><Relationship Type="http://schemas.openxmlformats.org/officeDocument/2006/relationships/notesMaster" Target="/ppt/notesMasters/notesMaster1.xml" Id="R85cf9b8bbe5641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4b60b823a34eda" /><Relationship Type="http://schemas.openxmlformats.org/officeDocument/2006/relationships/notesMaster" Target="/ppt/notesMasters/notesMaster1.xml" Id="Rd880991a44c14e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99678676ea4e9c" /><Relationship Type="http://schemas.openxmlformats.org/officeDocument/2006/relationships/notesMaster" Target="/ppt/notesMasters/notesMaster1.xml" Id="R78974526526b4d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060d4c274343f7" /><Relationship Type="http://schemas.openxmlformats.org/officeDocument/2006/relationships/notesMaster" Target="/ppt/notesMasters/notesMaster1.xml" Id="Re65c15523ae149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2299a928b94939" /><Relationship Type="http://schemas.openxmlformats.org/officeDocument/2006/relationships/notesMaster" Target="/ppt/notesMasters/notesMaster1.xml" Id="Ra5a5870ed81948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a50c01cb914660" /><Relationship Type="http://schemas.openxmlformats.org/officeDocument/2006/relationships/notesMaster" Target="/ppt/notesMasters/notesMaster1.xml" Id="R19d0bed861b743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9c117fb33f45e0" /><Relationship Type="http://schemas.openxmlformats.org/officeDocument/2006/relationships/notesMaster" Target="/ppt/notesMasters/notesMaster1.xml" Id="Rdc67b26d209a4c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d1c95203a84762" /><Relationship Type="http://schemas.openxmlformats.org/officeDocument/2006/relationships/notesMaster" Target="/ppt/notesMasters/notesMaster1.xml" Id="Re922e120082c47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335a8feb38427f" /><Relationship Type="http://schemas.openxmlformats.org/officeDocument/2006/relationships/notesMaster" Target="/ppt/notesMasters/notesMaster1.xml" Id="R4662272a98ac41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44665725994a56" /><Relationship Type="http://schemas.openxmlformats.org/officeDocument/2006/relationships/notesMaster" Target="/ppt/notesMasters/notesMaster1.xml" Id="R13b28bb117c045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9284e3553b4d93" /><Relationship Type="http://schemas.openxmlformats.org/officeDocument/2006/relationships/notesMaster" Target="/ppt/notesMasters/notesMaster1.xml" Id="Reae44281ae7f47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07d497d1a24f9f" /><Relationship Type="http://schemas.openxmlformats.org/officeDocument/2006/relationships/notesMaster" Target="/ppt/notesMasters/notesMaster1.xml" Id="Rb69ff6dac03644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0214cebc8a4f99" /><Relationship Type="http://schemas.openxmlformats.org/officeDocument/2006/relationships/notesMaster" Target="/ppt/notesMasters/notesMaster1.xml" Id="Ra9af3f16a9bb42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c9415e30f84993" /><Relationship Type="http://schemas.openxmlformats.org/officeDocument/2006/relationships/notesMaster" Target="/ppt/notesMasters/notesMaster1.xml" Id="R1482fbe246464f7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a3b63040704cdd" /><Relationship Type="http://schemas.openxmlformats.org/officeDocument/2006/relationships/notesMaster" Target="/ppt/notesMasters/notesMaster1.xml" Id="R24490983650d43c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b85a03267bd4f80" /><Relationship Type="http://schemas.openxmlformats.org/officeDocument/2006/relationships/notesMaster" Target="/ppt/notesMasters/notesMaster1.xml" Id="R0c3bdebf45e8469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da95dce135e4bd1" /><Relationship Type="http://schemas.openxmlformats.org/officeDocument/2006/relationships/notesMaster" Target="/ppt/notesMasters/notesMaster1.xml" Id="Rf54efb6041284aa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1d143a1012d491c" /><Relationship Type="http://schemas.openxmlformats.org/officeDocument/2006/relationships/notesMaster" Target="/ppt/notesMasters/notesMaster1.xml" Id="R5e7994f9932d482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20e1f9b3fd449f5" /><Relationship Type="http://schemas.openxmlformats.org/officeDocument/2006/relationships/notesMaster" Target="/ppt/notesMasters/notesMaster1.xml" Id="Rf0526d7a3d0e4f8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f75586708664d90" /><Relationship Type="http://schemas.openxmlformats.org/officeDocument/2006/relationships/notesMaster" Target="/ppt/notesMasters/notesMaster1.xml" Id="R3c68515d6a3a4c5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6eebd9cad5b46d7" /><Relationship Type="http://schemas.openxmlformats.org/officeDocument/2006/relationships/notesMaster" Target="/ppt/notesMasters/notesMaster1.xml" Id="Ra785b6b3b64f474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52273affd784551" /><Relationship Type="http://schemas.openxmlformats.org/officeDocument/2006/relationships/notesMaster" Target="/ppt/notesMasters/notesMaster1.xml" Id="R00c462c3a94b46d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c94ba97b0ef41d9" /><Relationship Type="http://schemas.openxmlformats.org/officeDocument/2006/relationships/notesMaster" Target="/ppt/notesMasters/notesMaster1.xml" Id="R8f6ffca191414e2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5da497204e541bb" /><Relationship Type="http://schemas.openxmlformats.org/officeDocument/2006/relationships/notesMaster" Target="/ppt/notesMasters/notesMaster1.xml" Id="Rc0aa6277f93e4c9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494010a28fc4286" /><Relationship Type="http://schemas.openxmlformats.org/officeDocument/2006/relationships/notesMaster" Target="/ppt/notesMasters/notesMaster1.xml" Id="R4e08e155fac9421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b630a17f17545ee" /><Relationship Type="http://schemas.openxmlformats.org/officeDocument/2006/relationships/notesMaster" Target="/ppt/notesMasters/notesMaster1.xml" Id="Rb7b7ff26c1df44f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d8f8b6a9cb043c3" /><Relationship Type="http://schemas.openxmlformats.org/officeDocument/2006/relationships/notesMaster" Target="/ppt/notesMasters/notesMaster1.xml" Id="R48783beee8644b8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30d262f2e7f45ba" /><Relationship Type="http://schemas.openxmlformats.org/officeDocument/2006/relationships/notesMaster" Target="/ppt/notesMasters/notesMaster1.xml" Id="Re1836ff4a8d344f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5391e7e4d2c4949" /><Relationship Type="http://schemas.openxmlformats.org/officeDocument/2006/relationships/notesMaster" Target="/ppt/notesMasters/notesMaster1.xml" Id="R3d43cf04453445d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a3745ecc9e841b9" /><Relationship Type="http://schemas.openxmlformats.org/officeDocument/2006/relationships/notesMaster" Target="/ppt/notesMasters/notesMaster1.xml" Id="R1c56642f312a480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067e505e5294ba7" /><Relationship Type="http://schemas.openxmlformats.org/officeDocument/2006/relationships/notesMaster" Target="/ppt/notesMasters/notesMaster1.xml" Id="Re8a44f01dcbe487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4544df9612148a0" /><Relationship Type="http://schemas.openxmlformats.org/officeDocument/2006/relationships/notesMaster" Target="/ppt/notesMasters/notesMaster1.xml" Id="R307514d323c34d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document/LINE (1).pptx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document/LINE (1).pptx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document/架構重整/01_規格基線/01_Orders_Domain.md</a:t>
            </a:r>
          </a:p>
          <a:p xmlns:a="http://schemas.openxmlformats.org/drawingml/2006/main">
            <a:r>
              <a:t>- document/架構重整/01_規格基線/02_Assignments_Scheduling_Domain.md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document/架構重整/01_規格基線/18_Global_Deployment與治理正式規格.md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document/架構重整/01_規格基線/17_External_Integration_LINE_Access正式規格.md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document/架構重整/01_規格基線/17_External_Integration_LINE_Access正式規格.md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document/架構重整/01_規格基線/01_Orders_Domain.md</a:t>
            </a:r>
          </a:p>
          <a:p xmlns:a="http://schemas.openxmlformats.org/drawingml/2006/main">
            <a:r>
              <a:t>- document/架構重整/01_規格基線/00_Global_共同契約.md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document/架構重整/01_規格基線/09_Finance_Import_Domain.md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document/架構重整/01_規格基線/02_Assignments_Scheduling_Domain.md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document/架構重整/01_規格基線/01_Orders_Domain.md</a:t>
            </a:r>
          </a:p>
          <a:p xmlns:a="http://schemas.openxmlformats.org/drawingml/2006/main">
            <a:r>
              <a:t>- document/架構重整/01_規格基線/02_Assignments_Scheduling_Domain.md</a:t>
            </a:r>
          </a:p>
          <a:p xmlns:a="http://schemas.openxmlformats.org/drawingml/2006/main">
            <a:r>
              <a:t>- document/架構重整/01_規格基線/04_Client_Finance_Domain.md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document/架構重整/01_規格基線/00_Global_共同契約.md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document/架構重整/01_規格基線/00_Global_共同契約.md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document/架構重整/01_規格基線/00_Global_共同契約.md</a:t>
            </a:r>
          </a:p>
          <a:p xmlns:a="http://schemas.openxmlformats.org/drawingml/2006/main">
            <a:r>
              <a:t>- document/架構重整/01_規格基線/01_Orders_Domain.md</a:t>
            </a:r>
          </a:p>
          <a:p xmlns:a="http://schemas.openxmlformats.org/drawingml/2006/main">
            <a:r>
              <a:t>- document/架構重整/01_規格基線/02_Assignments_Scheduling_Domain.md</a:t>
            </a:r>
          </a:p>
          <a:p xmlns:a="http://schemas.openxmlformats.org/drawingml/2006/main">
            <a:r>
              <a:t>- document/架構重整/01_規格基線/04_Client_Finance_Domain.md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document/架構重整/01_規格基線/00_Global_共同契約.md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pyproject.toml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pyproject.toml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pyproject.toml</a:t>
            </a:r>
          </a:p>
          <a:p xmlns:a="http://schemas.openxmlformats.org/drawingml/2006/main">
            <a:r>
              <a:t>- document/架構重整/01_規格基線/09_Finance_Import_Domain.md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pyproject.toml</a:t>
            </a:r>
          </a:p>
          <a:p xmlns:a="http://schemas.openxmlformats.org/drawingml/2006/main">
            <a:r>
              <a:t>- document/架構重整/01_規格基線/17_External_Integration_LINE_Access正式規格.md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pyproject.toml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document/架構重整/01_規格基線/17_External_Integration_LINE_Access正式規格.md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pyproject.toml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document/架構重整/01_規格基線/00_Global_共同契約.md</a:t>
            </a:r>
          </a:p>
          <a:p xmlns:a="http://schemas.openxmlformats.org/drawingml/2006/main">
            <a:r>
              <a:t>- document/架構重整/01_規格基線/07_跨Domain交易與pytest驗收架構.md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document/架構重整/01_規格基線/00_Global_共同契約.md</a:t>
            </a:r>
          </a:p>
          <a:p xmlns:a="http://schemas.openxmlformats.org/drawingml/2006/main">
            <a:r>
              <a:t>- document/架構重整/01_規格基線/18_Global_Deployment與治理正式規格.md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document/架構重整/01_規格基線/17_External_Integration_LINE_Access正式規格.md</a:t>
            </a:r>
          </a:p>
          <a:p xmlns:a="http://schemas.openxmlformats.org/drawingml/2006/main">
            <a:r>
              <a:t>- document/架構重整/01_規格基線/18_Global_Deployment與治理正式規格.md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document/架構重整/01_規格基線/17_External_Integration_LINE_Access正式規格.md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document/架構重整/01_規格基線/17_External_Integration_LINE_Access正式規格.md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document/架構重整/01_規格基線/18_Global_Deployment與治理正式規格.md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document/架構重整/01_規格基線/18_Global_Deployment與治理正式規格.md</a:t>
            </a:r>
          </a:p>
          <a:p xmlns:a="http://schemas.openxmlformats.org/drawingml/2006/main">
            <a:r>
              <a:t>- document/文件整併工作區/04_部署架構_無損合併稿.md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document/架構重整/01_規格基線/18_Global_Deployment與治理正式規格.md</a:t>
            </a:r>
          </a:p>
          <a:p xmlns:a="http://schemas.openxmlformats.org/drawingml/2006/main">
            <a:r>
              <a:t>- document/文件整併工作區/04_部署架構_無損合併稿.md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document/架構重整/01_規格基線/18_Global_Deployment與治理正式規格.md</a:t>
            </a:r>
          </a:p>
          <a:p xmlns:a="http://schemas.openxmlformats.org/drawingml/2006/main">
            <a:r>
              <a:t>- document/文件整併工作區/04_部署架構_無損合併稿.md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document/架構重整/01_規格基線/00_Global_共同契約.md</a:t>
            </a:r>
          </a:p>
          <a:p xmlns:a="http://schemas.openxmlformats.org/drawingml/2006/main">
            <a:r>
              <a:t>- document/架構重整/01_規格基線/07_跨Domain交易與pytest驗收架構.md</a:t>
            </a:r>
          </a:p>
          <a:p xmlns:a="http://schemas.openxmlformats.org/drawingml/2006/main">
            <a:r>
              <a:t>- document/架構重整/01_規格基線/17_External_Integration_LINE_Access正式規格.md</a:t>
            </a:r>
          </a:p>
          <a:p xmlns:a="http://schemas.openxmlformats.org/drawingml/2006/main">
            <a:r>
              <a:t>- document/架構重整/01_規格基線/09_Finance_Import_Domain.md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document/架構重整/01_規格基線/00_Global_共同契約.md</a:t>
            </a:r>
          </a:p>
          <a:p xmlns:a="http://schemas.openxmlformats.org/drawingml/2006/main">
            <a:r>
              <a:t>- document/架構重整/01_規格基線/06_Anomalies_Domain.md</a:t>
            </a:r>
          </a:p>
          <a:p xmlns:a="http://schemas.openxmlformats.org/drawingml/2006/main">
            <a:r>
              <a:t>- document/架構重整/01_規格基線/07_跨Domain交易與pytest驗收架構.md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document/架構重整/01_規格基線/07_跨Domain交易與pytest驗收架構.md</a:t>
            </a:r>
          </a:p>
          <a:p xmlns:a="http://schemas.openxmlformats.org/drawingml/2006/main">
            <a:r>
              <a:t>- document/架構重整/01_規格基線/18_Global_Deployment與治理正式規格.md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document/架構重整/01_規格基線/00_Global_共同契約.md</a:t>
            </a:r>
          </a:p>
          <a:p xmlns:a="http://schemas.openxmlformats.org/drawingml/2006/main">
            <a:r>
              <a:t>- document/架構重整/01_規格基線/18_Global_Deployment與治理正式規格.md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c70990c1b4d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79e4c3720f46d2" /><Relationship Type="http://schemas.openxmlformats.org/officeDocument/2006/relationships/slideLayout" Target="/ppt/slideLayouts/slideLayout1.xml" Id="Ra67386d72c0d46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7386d72c0d46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1cfb51cd5441b" /><Relationship Type="http://schemas.openxmlformats.org/officeDocument/2006/relationships/notesSlide" Target="/ppt/notesSlides/notesSlide1.xml" Id="Rb81b0b24ceb64d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e443abf314cad" /><Relationship Type="http://schemas.openxmlformats.org/officeDocument/2006/relationships/notesSlide" Target="/ppt/notesSlides/notesSlide2.xml" Id="R73e15ed8999442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f3b9536a844f7" /><Relationship Type="http://schemas.openxmlformats.org/officeDocument/2006/relationships/notesSlide" Target="/ppt/notesSlides/notesSlide3.xml" Id="R26df480f3a4d4f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19468231e425e" /><Relationship Type="http://schemas.openxmlformats.org/officeDocument/2006/relationships/notesSlide" Target="/ppt/notesSlides/notesSlide4.xml" Id="R4f23242bd1264c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b12b9031045ba" /><Relationship Type="http://schemas.openxmlformats.org/officeDocument/2006/relationships/notesSlide" Target="/ppt/notesSlides/notesSlide5.xml" Id="R24f2f1d826164f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7670f6b534944" /><Relationship Type="http://schemas.openxmlformats.org/officeDocument/2006/relationships/notesSlide" Target="/ppt/notesSlides/notesSlide6.xml" Id="R8826fb9aaab54a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3a116a8294d2f" /><Relationship Type="http://schemas.openxmlformats.org/officeDocument/2006/relationships/notesSlide" Target="/ppt/notesSlides/notesSlide7.xml" Id="R6e20890676d14c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c0dd4f891425d" /><Relationship Type="http://schemas.openxmlformats.org/officeDocument/2006/relationships/notesSlide" Target="/ppt/notesSlides/notesSlide8.xml" Id="Rea7d29d1f84f46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e753ddf644468" /><Relationship Type="http://schemas.openxmlformats.org/officeDocument/2006/relationships/notesSlide" Target="/ppt/notesSlides/notesSlide9.xml" Id="R1bcee3cf97b442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fe3a6289442e2" /><Relationship Type="http://schemas.openxmlformats.org/officeDocument/2006/relationships/notesSlide" Target="/ppt/notesSlides/notesSlide10.xml" Id="Rfd0a21a40f0d40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5a9437f904c59" /><Relationship Type="http://schemas.openxmlformats.org/officeDocument/2006/relationships/notesSlide" Target="/ppt/notesSlides/notesSlide11.xml" Id="Rbc6c148765ed4a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b8a65cc654752" /><Relationship Type="http://schemas.openxmlformats.org/officeDocument/2006/relationships/notesSlide" Target="/ppt/notesSlides/notesSlide12.xml" Id="Rd311288335a84f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fd7268e584b41" /><Relationship Type="http://schemas.openxmlformats.org/officeDocument/2006/relationships/notesSlide" Target="/ppt/notesSlides/notesSlide13.xml" Id="R67d7224798d342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cb3175db14147" /><Relationship Type="http://schemas.openxmlformats.org/officeDocument/2006/relationships/notesSlide" Target="/ppt/notesSlides/notesSlide14.xml" Id="Rc1398e49ce2447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82c7c7b0d406a" /><Relationship Type="http://schemas.openxmlformats.org/officeDocument/2006/relationships/notesSlide" Target="/ppt/notesSlides/notesSlide15.xml" Id="R9657d43482ac4e1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4d293f37a4f05" /><Relationship Type="http://schemas.openxmlformats.org/officeDocument/2006/relationships/notesSlide" Target="/ppt/notesSlides/notesSlide16.xml" Id="R22285bdfae164e9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0609054134871" /><Relationship Type="http://schemas.openxmlformats.org/officeDocument/2006/relationships/notesSlide" Target="/ppt/notesSlides/notesSlide17.xml" Id="R62daf8a6e7c14e3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c29d1fe554065" /><Relationship Type="http://schemas.openxmlformats.org/officeDocument/2006/relationships/notesSlide" Target="/ppt/notesSlides/notesSlide18.xml" Id="R79514b8c86a542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c3f7ee9df4e48" /><Relationship Type="http://schemas.openxmlformats.org/officeDocument/2006/relationships/notesSlide" Target="/ppt/notesSlides/notesSlide19.xml" Id="R490e5fb3483f4f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9636f025c4ad0" /><Relationship Type="http://schemas.openxmlformats.org/officeDocument/2006/relationships/notesSlide" Target="/ppt/notesSlides/notesSlide20.xml" Id="R3321f34f33f9462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44183fac34500" /><Relationship Type="http://schemas.openxmlformats.org/officeDocument/2006/relationships/notesSlide" Target="/ppt/notesSlides/notesSlide21.xml" Id="R4f457f0da9604dc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1e92bd5e74e45" /><Relationship Type="http://schemas.openxmlformats.org/officeDocument/2006/relationships/notesSlide" Target="/ppt/notesSlides/notesSlide22.xml" Id="R4ec89f34be444f0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323d1848043c6" /><Relationship Type="http://schemas.openxmlformats.org/officeDocument/2006/relationships/notesSlide" Target="/ppt/notesSlides/notesSlide23.xml" Id="R99869dcc6d81441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d522bac134943" /><Relationship Type="http://schemas.openxmlformats.org/officeDocument/2006/relationships/notesSlide" Target="/ppt/notesSlides/notesSlide24.xml" Id="R43b99f6dca14491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87955680f4a8a" /><Relationship Type="http://schemas.openxmlformats.org/officeDocument/2006/relationships/notesSlide" Target="/ppt/notesSlides/notesSlide25.xml" Id="Rcd384a46c6a2492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27927b670462e" /><Relationship Type="http://schemas.openxmlformats.org/officeDocument/2006/relationships/notesSlide" Target="/ppt/notesSlides/notesSlide26.xml" Id="Raee504890c6d48d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f73664bf946a3" /><Relationship Type="http://schemas.openxmlformats.org/officeDocument/2006/relationships/notesSlide" Target="/ppt/notesSlides/notesSlide27.xml" Id="R4b922c3e59fc4f9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c98123d144b01" /><Relationship Type="http://schemas.openxmlformats.org/officeDocument/2006/relationships/notesSlide" Target="/ppt/notesSlides/notesSlide28.xml" Id="Rf37600d6c83b4e4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29b6dd01d444a" /><Relationship Type="http://schemas.openxmlformats.org/officeDocument/2006/relationships/notesSlide" Target="/ppt/notesSlides/notesSlide29.xml" Id="R01487f18c4d94b2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aa7bdd157484a" /><Relationship Type="http://schemas.openxmlformats.org/officeDocument/2006/relationships/notesSlide" Target="/ppt/notesSlides/notesSlide30.xml" Id="R75d1fbed179a407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2c607836e4b8f" /><Relationship Type="http://schemas.openxmlformats.org/officeDocument/2006/relationships/notesSlide" Target="/ppt/notesSlides/notesSlide31.xml" Id="Rc6b741efe788435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a5ea3e9f94f22" /><Relationship Type="http://schemas.openxmlformats.org/officeDocument/2006/relationships/notesSlide" Target="/ppt/notesSlides/notesSlide32.xml" Id="R824dd852249248e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64b8cd19c468e" /><Relationship Type="http://schemas.openxmlformats.org/officeDocument/2006/relationships/notesSlide" Target="/ppt/notesSlides/notesSlide33.xml" Id="R4b14051957f6488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ed01b724e4f73" /><Relationship Type="http://schemas.openxmlformats.org/officeDocument/2006/relationships/notesSlide" Target="/ppt/notesSlides/notesSlide34.xml" Id="R25f895b7c3fc45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99963-98F1-4141-B106-C49331A1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-571500"/>
            <a:ext cx="5619750" cy="742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C7DA6-F2D0-4455-8397-122F31AB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891F2-54AA-4688-B8D1-6767589F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447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工會行政流程 E 化與自動化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1D29C-DA3B-4E1D-A672-C4DDD307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619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CKI101 第三組專案成果發表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934F5-85AE-4A04-A8E0-FD106D1D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561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月子照顧服務工會數位轉型成果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6A958-C42C-428C-BFBE-52E15B83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91125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流程 E 化 × 安全自動化 × 跨地協作</a:t>
            </a:r>
          </a:p>
        </p:txBody>
      </p:sp>
    </p:spTree>
    <p:extLst>
      <p:ext uri="{BB962C8B-B14F-4D97-AF65-F5344CB8AC3E}">
        <p14:creationId xmlns:p14="http://schemas.microsoft.com/office/powerpoint/2010/main" val="3938470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CAFA28-4069-4016-A970-56B79B63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6FEC1-6EF8-4F92-94E7-5863404A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第三組團隊成員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9C66C-9388-4A43-BC43-109F99E3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846D0-C0B0-4ACB-BF60-8419ECDD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1C47F-F2A6-4021-A3FE-6CB984C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77F49-918C-43AA-8F17-50BB14D5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子曦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2CFFF-FE92-47B7-8590-0AA3F2E5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D703E-C85F-4399-BAB8-D5D92E71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1DC53-D767-40BC-9D3C-FE212D1E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欣怡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044E9-E19A-472A-9CA1-8C91CE2C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C62F0-5316-4A9D-BF63-FA27C855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4F53F-E3E7-4E8A-928A-0B915E66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琬偲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B7112-E1AA-45BB-B34F-A8E54705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12C32-9F96-426C-AC29-20732715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14783-6802-41CD-B701-411130CC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瑞祥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C5358-7800-49FF-9F1F-3800D265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E147E-EA6C-49CC-BB17-EDE8D9D5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翊庭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92DFA-D7EF-40EA-97EB-630185A2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71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3164C9-B752-407B-9964-618F8E86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05250"/>
            <a:ext cx="958215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跨域協作涵蓋需求、資料、後台、API 與 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140A27-C0E3-4D5B-8223-E70649AC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06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B3C69D-1051-4BF7-8977-A39549DE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40250"/>
            <a:ext cx="958215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分工依功能邊界展開，整合依 API 契約銜接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DFBE6A-9B8F-45F7-AB74-FBA76C45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41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CC463-37A6-434B-B482-569408D9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175250"/>
            <a:ext cx="958215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共同完成規格、測試、簡報與成果發表</a:t>
            </a:r>
          </a:p>
        </p:txBody>
      </p:sp>
    </p:spTree>
    <p:extLst>
      <p:ext uri="{BB962C8B-B14F-4D97-AF65-F5344CB8AC3E}">
        <p14:creationId xmlns:p14="http://schemas.microsoft.com/office/powerpoint/2010/main" val="1005898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A1735-4BAB-4DDA-B582-4343AA66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A03C6-A54B-40A3-8974-AAE76937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團隊工作分配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AE642-F75C-4687-ADC1-65C1AF83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4B3EC-68C2-4819-B278-7B3C9B94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rPr>
              <a:t>主要責任範圍（●）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6EFF6-A612-418D-B34A-45486577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成員／工作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C3DF42-7EC4-431A-A65E-C986BBB0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695450"/>
            <a:ext cx="1304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客戶需求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2EBE4-82A0-42EF-9E7F-B69BC92D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95450"/>
            <a:ext cx="1190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資料庫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C4D00-C003-40A4-B674-A264838E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95450"/>
            <a:ext cx="133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地端環境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F4231-D819-4439-BF33-13BE9B4C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後台 UI</a:t>
            </a:r>
          </a:p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與演算法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952199-9F19-4CAE-9D48-26C06A8E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95450"/>
            <a:ext cx="1285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FastAPI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03601F-3458-4A5B-84D7-50D7CA97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695450"/>
            <a:ext cx="1381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LINE 應用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BADB25-472B-4479-A387-34AC0A36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954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MCP／Agent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DFB9B6-6F54-493E-92E9-2B3825F4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子曦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6DC4D5-7060-49E1-954A-B9C50F81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38400"/>
            <a:ext cx="1304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340B09-AEF4-4DF2-8FEF-CD52DBF7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38400"/>
            <a:ext cx="1190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569D2D-A8BE-4FE7-90C6-0048B20B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38400"/>
            <a:ext cx="133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A4A7AC-7BF2-43F8-9CC0-6E1F67D3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384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74CAE7-E09A-4E85-8809-20BE63D5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38400"/>
            <a:ext cx="1285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105DE1-78C5-4670-A57F-1E21C74A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38400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CC4F8C-194B-4ED8-816C-8C8F80C1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3840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E197A7-F06C-47B8-AF58-6DA89821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欣怡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1E9205-1391-414F-B749-5D376475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67050"/>
            <a:ext cx="1304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6B3AD7-E250-4C8A-81CB-60A325E9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67050"/>
            <a:ext cx="1190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A9594C-8DA8-4F84-BB72-A9D53E4A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7050"/>
            <a:ext cx="133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98F910-86F6-419D-B677-76694C8F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670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18D780-8CC1-4CAC-A255-4F2437E6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1285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A7FA32-DF29-4F26-9091-5B6C4CCA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67050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9974B8-44A7-4F70-9954-DB6F86E9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670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A8B8AF-D40F-487C-973D-B9938A62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琬偲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6987F3-61C4-45FE-A195-8C21CB51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95700"/>
            <a:ext cx="1304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5AEDD7-6065-4D3C-9D3E-08B98735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95700"/>
            <a:ext cx="1190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F61DAB-5B38-47A3-ACD3-0E3094FE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95700"/>
            <a:ext cx="133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07C4C6-1FE6-441B-86FD-277D280C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957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F01416-8BE8-44F6-98B5-2D15451F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1285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36916A-077D-4B8A-80F8-B6B91D50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95700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D5594A-8EED-407F-B8BF-A8AD7073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9570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066D51-5996-48D7-84FC-C27873CD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瑞祥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96ED21-CA60-44C3-ABF4-9A8B4EB2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24350"/>
            <a:ext cx="1304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0868DB6-BFE0-4507-9E65-113D7FD9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24350"/>
            <a:ext cx="1190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43FB7AA-7A4F-4D74-802F-6CD8624B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133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58BE9E-55A3-4F17-9419-B309313F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88618A-F57F-4132-8C04-7EBF89EE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4350"/>
            <a:ext cx="1285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994A36-1477-4657-948E-EEAAAE9C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24350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F3CDAE9-D9C6-43CD-B13B-3298FC2E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243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F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7510F9-21E5-4780-B0A1-E3F42C03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翊庭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24C98F-81AB-48F0-9601-A6CED593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53000"/>
            <a:ext cx="1304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4F2DDD8-A15C-4AF6-8725-92A87D09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53000"/>
            <a:ext cx="1190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F25CBFD-650A-4DA1-AB64-3BCE33ED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133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0472350-08B0-4315-B6B6-A303D5F0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5CE5862-1D38-4A5E-A011-82A78AC8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1285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CDC4C55-A385-4B5C-9971-D3428CAD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953000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EE087C8-8C5D-468D-BDE4-1F8753CA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5300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1143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●</a:t>
            </a:r>
          </a:p>
        </p:txBody>
      </p:sp>
    </p:spTree>
    <p:extLst>
      <p:ext uri="{BB962C8B-B14F-4D97-AF65-F5344CB8AC3E}">
        <p14:creationId xmlns:p14="http://schemas.microsoft.com/office/powerpoint/2010/main" val="735702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CAFA28-4069-4016-A970-56B79B63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6FEC1-6EF8-4F92-94E7-5863404A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跨角色交接是行政流程的主要負擔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9C66C-9388-4A43-BC43-109F99E3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846D0-C0B0-4ACB-BF60-8419ECDD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1C47F-F2A6-4021-A3FE-6CB984C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77F49-918C-43AA-8F17-50BB14D5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案件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2CFFF-FE92-47B7-8590-0AA3F2E5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D703E-C85F-4399-BAB8-D5D92E71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1DC53-D767-40BC-9D3C-FE212D1E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月嫂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044E9-E19A-472A-9CA1-8C91CE2C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C62F0-5316-4A9D-BF63-FA27C855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4F53F-E3E7-4E8A-928A-0B915E66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行政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B7112-E1AA-45BB-B34F-A8E54705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12C32-9F96-426C-AC29-20732715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14783-6802-41CD-B701-411130CC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銀行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C5358-7800-49FF-9F1F-3800D265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E147E-EA6C-49CC-BB17-EDE8D9D5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92DFA-D7EF-40EA-97EB-630185A2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71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3164C9-B752-407B-9964-618F8E86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05250"/>
            <a:ext cx="958215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同一案件跨越客戶、月嫂、行政、銀行與補助流程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140A27-C0E3-4D5B-8223-E70649AC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06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B3C69D-1051-4BF7-8977-A39549DE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40250"/>
            <a:ext cx="958215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訂單、排班、收款、薪資與通知彼此牽動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DFBE6A-9B8F-45F7-AB74-FBA76C45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41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CC463-37A6-434B-B482-569408D9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175250"/>
            <a:ext cx="958215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資訊斷裂後，只能回到人工追問、比對與補登</a:t>
            </a:r>
          </a:p>
        </p:txBody>
      </p:sp>
    </p:spTree>
    <p:extLst>
      <p:ext uri="{BB962C8B-B14F-4D97-AF65-F5344CB8AC3E}">
        <p14:creationId xmlns:p14="http://schemas.microsoft.com/office/powerpoint/2010/main" val="10058980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97863-510A-4B7B-B4F5-30C79CFD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4FA29-1566-427A-B6A2-A1C872DF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專案目標是讓行政工作不再被地點綁住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DA390-FEE7-434F-A056-DAA81895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76657-F596-4A5E-B5C3-7C68069E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4762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A28E8-D424-4E72-A142-A73DA907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4000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流程可靠，行政才能跨地協作。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6DA23-DCC2-4446-8F65-91ECC41A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95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45B2D-2224-4B35-96C6-B8808D5C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28800"/>
            <a:ext cx="4438650" cy="92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流程 E 化：案件、排班與帳務使用共同狀態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66D38-BD5D-422A-85AF-8B6CC580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6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DC010-F137-43B6-B0F1-980A636C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40050"/>
            <a:ext cx="4438650" cy="92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安全自動化：可確定才執行，有歧義即轉人工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9031A-A26F-4119-9152-EF52375E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17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19A14-6F71-4C5B-B19D-D787B3B9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51300"/>
            <a:ext cx="4438650" cy="92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跨地協作：工作跟著待辦與案件狀態移動</a:t>
            </a:r>
          </a:p>
        </p:txBody>
      </p:sp>
    </p:spTree>
    <p:extLst>
      <p:ext uri="{BB962C8B-B14F-4D97-AF65-F5344CB8AC3E}">
        <p14:creationId xmlns:p14="http://schemas.microsoft.com/office/powerpoint/2010/main" val="13039006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A1735-4BAB-4DDA-B582-4343AA66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A03C6-A54B-40A3-8974-AAE76937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目標使用者與系統範圍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AE642-F75C-4687-ADC1-65C1AF83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01B92-DBD1-4456-859B-88BF0E15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571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EB317-29D6-4E1E-8188-753FD058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1304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工會行政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3553A-2513-41FE-9C91-471C537C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62250"/>
            <a:ext cx="1571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0E1E5-16D2-4F08-884E-7C527B4A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90850"/>
            <a:ext cx="1304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月嫂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B10E4-60A5-4273-B152-3C534F81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1571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D6350-4EEB-4FFB-ACE3-361F3C8A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1304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客戶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41F8E-D3D6-441C-B573-B9036B7D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62250"/>
            <a:ext cx="1571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D6A67-86C6-4686-B24B-1FFBC856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1304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訂單／契約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55690-F667-4E86-874E-25444A08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1571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FAC06-7F9A-4D5F-B3B9-CE0ED174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1304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排班／薪資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27939-5C40-42FA-98C8-C14C09AB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62250"/>
            <a:ext cx="1571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CFD96-0F28-45A4-A4F4-00FD2FF6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90850"/>
            <a:ext cx="1304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帳務／補助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B5152-4DAA-4B4A-83B1-83CA2FA3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67250"/>
            <a:ext cx="981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LINE 與檔案是互動入口；正式狀態由後端業務流程管理。</a:t>
            </a:r>
          </a:p>
        </p:txBody>
      </p:sp>
    </p:spTree>
    <p:extLst>
      <p:ext uri="{BB962C8B-B14F-4D97-AF65-F5344CB8AC3E}">
        <p14:creationId xmlns:p14="http://schemas.microsoft.com/office/powerpoint/2010/main" val="735702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6A892-CF12-4E6B-951B-CBC9ACC4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E3482-A04D-4F26-BAD9-6CC176B7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LINE 客服由人工追問轉為可追蹤流程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518C6-CBE3-4F27-BAEF-A412AD95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40B90-34FE-4CB0-9A68-CCBA06B1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19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50507-3B67-4342-8C8A-BDFDFAC1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7526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Before｜訊息分散，身分與案件需人工核對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8FFE2-879B-480F-97EB-62B11959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94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CD005-2C62-4BA0-8D30-F003B59F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2735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After｜身分綁定、待審與通知集中處理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1CA2A-378F-473B-BEBE-E4FBDD8B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68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512E4-D587-4E77-A5F1-2AEBEFBC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021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邊界｜LINE 不直接改寫訂單、排班或帳務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C2599-5207-4DEA-A57C-74F64E43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37147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CAD15-281F-49FC-A855-A267CF84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266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入口保持熟悉，交接開始留下證據。</a:t>
            </a:r>
          </a:p>
        </p:txBody>
      </p:sp>
    </p:spTree>
    <p:extLst>
      <p:ext uri="{BB962C8B-B14F-4D97-AF65-F5344CB8AC3E}">
        <p14:creationId xmlns:p14="http://schemas.microsoft.com/office/powerpoint/2010/main" val="1360718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6A892-CF12-4E6B-951B-CBC9ACC4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E3482-A04D-4F26-BAD9-6CC176B7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訂單追蹤轉為完整生命週期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518C6-CBE3-4F27-BAEF-A412AD95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40B90-34FE-4CB0-9A68-CCBA06B1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19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50507-3B67-4342-8C8A-BDFDFAC1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7526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Before｜進度散落在 Excel、訊息與人員記憶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8FFE2-879B-480F-97EB-62B11959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94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CD005-2C62-4BA0-8D30-F003B59F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2735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After｜契約、訂金、服務與結清狀態連動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1CA2A-378F-473B-BEBE-E4FBDD8B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68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512E4-D587-4E77-A5F1-2AEBEFBC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021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更正與取消保留原始事件，不覆寫歷史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C2599-5207-4DEA-A57C-74F64E43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37147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CAD15-281F-49FC-A855-A267CF84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266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每個狀態都能回答來源與下一步。</a:t>
            </a:r>
          </a:p>
        </p:txBody>
      </p:sp>
    </p:spTree>
    <p:extLst>
      <p:ext uri="{BB962C8B-B14F-4D97-AF65-F5344CB8AC3E}">
        <p14:creationId xmlns:p14="http://schemas.microsoft.com/office/powerpoint/2010/main" val="1360718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6A892-CF12-4E6B-951B-CBC9ACC4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E3482-A04D-4F26-BAD9-6CC176B7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資料管理由人工搬運轉為受控匯入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518C6-CBE3-4F27-BAEF-A412AD95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40B90-34FE-4CB0-9A68-CCBA06B1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19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50507-3B67-4342-8C8A-BDFDFAC1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7526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Before｜格式、欄位與重複資料依人工判斷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8FFE2-879B-480F-97EB-62B11959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94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CD005-2C62-4BA0-8D30-F003B59F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2735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After｜正規化、驗證與去重後建立候選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1CA2A-378F-473B-BEBE-E4FBDD8B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68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512E4-D587-4E77-A5F1-2AEBEFBC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021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零、多候選或證據衝突一律人工覆核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C2599-5207-4DEA-A57C-74F64E43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37147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CAD15-281F-49FC-A855-A267CF84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266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Excel 是輸入來源，不是正式資料終點。</a:t>
            </a:r>
          </a:p>
        </p:txBody>
      </p:sp>
    </p:spTree>
    <p:extLst>
      <p:ext uri="{BB962C8B-B14F-4D97-AF65-F5344CB8AC3E}">
        <p14:creationId xmlns:p14="http://schemas.microsoft.com/office/powerpoint/2010/main" val="1360718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6A892-CF12-4E6B-951B-CBC9ACC4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E3482-A04D-4F26-BAD9-6CC176B7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媒合排班由找空檔轉為服務量管理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518C6-CBE3-4F27-BAEF-A412AD95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40B90-34FE-4CB0-9A68-CCBA06B1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19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50507-3B67-4342-8C8A-BDFDFAC1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7526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Before｜人工月曆難以同時核對請假、代班與緩衝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8FFE2-879B-480F-97EB-62B11959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94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CD005-2C62-4BA0-8D30-F003B59F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2735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After｜優先完整覆蓋，必要時再規劃連續分段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1CA2A-378F-473B-BEBE-E4FBDD8B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68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512E4-D587-4E77-A5F1-2AEBEFBC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021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正式承諾前重新檢查衝突、版本與契約服務量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C2599-5207-4DEA-A57C-74F64E43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37147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CAD15-281F-49FC-A855-A267CF84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266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可執行，比畫面上看起來有空更重要。</a:t>
            </a:r>
          </a:p>
        </p:txBody>
      </p:sp>
    </p:spTree>
    <p:extLst>
      <p:ext uri="{BB962C8B-B14F-4D97-AF65-F5344CB8AC3E}">
        <p14:creationId xmlns:p14="http://schemas.microsoft.com/office/powerpoint/2010/main" val="1360718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A1735-4BAB-4DDA-B582-4343AA66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A03C6-A54B-40A3-8974-AAE76937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案件端到端業務流程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AE642-F75C-4687-ADC1-65C1AF83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01B92-DBD1-4456-859B-88BF0E15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571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EB317-29D6-4E1E-8188-753FD058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1304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案件登記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3553A-2513-41FE-9C91-471C537C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62250"/>
            <a:ext cx="1571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0E1E5-16D2-4F08-884E-7C527B4A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90850"/>
            <a:ext cx="1304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身分確認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B10E4-60A5-4273-B152-3C534F81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1571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D6350-4EEB-4FFB-ACE3-361F3C8A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1304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契約訂金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41F8E-D3D6-441C-B573-B9036B7D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62250"/>
            <a:ext cx="1571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D6A67-86C6-4686-B24B-1FFBC856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1304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媒合排班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55690-F667-4E86-874E-25444A08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1571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FAC06-7F9A-4D5F-B3B9-CE0ED174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1304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服務帳務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27939-5C40-42FA-98C8-C14C09AB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62250"/>
            <a:ext cx="1571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CFD96-0F28-45A4-A4F4-00FD2FF6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90850"/>
            <a:ext cx="1304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完成通知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B5152-4DAA-4B4A-83B1-83CA2FA3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67250"/>
            <a:ext cx="981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外部資料先驗證；正式異動經 Preview、Apply 與 Receipt。</a:t>
            </a:r>
          </a:p>
        </p:txBody>
      </p:sp>
    </p:spTree>
    <p:extLst>
      <p:ext uri="{BB962C8B-B14F-4D97-AF65-F5344CB8AC3E}">
        <p14:creationId xmlns:p14="http://schemas.microsoft.com/office/powerpoint/2010/main" val="7357022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A1735-4BAB-4DDA-B582-4343AA66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A03C6-A54B-40A3-8974-AAE76937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軟體分層架構圖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AE642-F75C-4687-ADC1-65C1AF83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0754A-8670-4AAF-A4AA-88C026A6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rPr>
              <a:t>介面層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FA530E-AE15-45DF-A61A-8D64796B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04950"/>
            <a:ext cx="7239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Streamlit 管理端　·　LINE　·　Excel／檔案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5AE312-3528-4A14-9557-DACEAC6A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rPr>
              <a:t>API 邊界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AB1AB-F012-4073-969B-6D888A88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86000"/>
            <a:ext cx="7239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FastAPI　·　Webhook　·　Pydantic Schemas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EA193-2681-4521-A996-4D534B83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rPr>
              <a:t>應用流程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C6992-5E25-4FC3-AC59-5D9BB56E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67050"/>
            <a:ext cx="7239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Workflow Coordinator　·　Preview／Apply　·　Unit of Work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226A4-D5E3-4CA6-8885-74BD526A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業務核心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FC5389-5B70-4B26-BF25-E6E59256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43350"/>
            <a:ext cx="7239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9050">
            <a:solidFill>
              <a:srgbClr val="D8B49D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Orders　·　Scheduling　·　Finance　·　Payroll　·　Anomalies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729DD5-8A72-4AD1-9D58-24849721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D6259"/>
                </a:solidFill>
                <a:latin typeface="Microsoft JhengHei"/>
                <a:ea typeface="Microsoft JhengHei"/>
                <a:cs typeface="Microsoft JhengHei"/>
              </a:rPr>
              <a:t>基礎設施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135282-393D-478E-97BB-5B7D47F2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19650"/>
            <a:ext cx="7239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Typed Ports　→　MySQL／LINE Provider／Archive</a:t>
            </a:r>
          </a:p>
        </p:txBody>
      </p:sp>
      <p:cxnSp>
        <p:nvCxnSpPr>
          <p:cNvPr id="51" name=""/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5857875" y="21526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5857875" y="29337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2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5857875" y="37147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5857875" y="45910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73AA45-9559-4736-8ADE-6C83DE0A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71750"/>
            <a:ext cx="1714500" cy="22383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4E9DF"/>
          </a:solidFill>
          <a:ln xmlns:a="http://schemas.openxmlformats.org/drawingml/2006/main" w="11430">
            <a:solidFill>
              <a:srgbClr val="AAB6A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AB4DBB-9B58-49C7-B7BF-0691F101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479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3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5735B"/>
                </a:solidFill>
                <a:latin typeface="Microsoft JhengHei"/>
                <a:ea typeface="Microsoft JhengHei"/>
                <a:cs typeface="Microsoft JhengHei"/>
              </a:rPr>
              <a:t>非同步工作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A3A316-B618-42B8-A81D-B3471C86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48000"/>
            <a:ext cx="1371600" cy="1381125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AAB6A0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Durable Worker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Inbox／Outbox</a:t>
            </a:r>
          </a:p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Background Jobs</a:t>
            </a:r>
          </a:p>
        </p:txBody>
      </p:sp>
      <p:cxnSp>
        <p:nvCxnSpPr>
          <p:cNvPr id="58" name=""/>
          <p:cNvCxnSpPr>
            <a:stCxn xmlns:a="http://schemas.openxmlformats.org/drawingml/2006/main" id="21" idx="3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9477375" y="2609850"/>
            <a:ext cx="1209675" cy="4381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AAB6A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34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9477375" y="3738563"/>
            <a:ext cx="523875" cy="5286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AB6A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A6FA28-AD06-4B22-BB56-AF6AAC74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388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所有正式異動共用同一套命令、交易與稽核規則</a:t>
            </a:r>
          </a:p>
        </p:txBody>
      </p:sp>
    </p:spTree>
    <p:extLst>
      <p:ext uri="{BB962C8B-B14F-4D97-AF65-F5344CB8AC3E}">
        <p14:creationId xmlns:p14="http://schemas.microsoft.com/office/powerpoint/2010/main" val="7357022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FD366-5D94-4114-8C27-5886527B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FFB76-686C-43A7-92AC-28C38466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分層隔離，讓修改停在正確邊界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B5611-DA34-4F97-84AC-93DFB91D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E286D-256F-451F-83B6-8F9E2755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19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5ECA5-7C54-4EBC-ACE7-F64376E6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7526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UI 只顯示結果，不保存業務規則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8296F-5D21-439E-A1A3-D9FEFBEB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94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6BE04-928C-47CF-894F-A273594B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2735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Workflow 協調跨域交易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A96F6-41A5-4048-B996-EAD9489C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68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9C7E3-E2EA-40E6-A03A-22697F8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021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Domain 不依賴 DB 或 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47B47-20F6-4EA1-9493-6BE02F47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37147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BF08D-B977-4F7D-8300-8447F493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266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介面可換，規則不變。</a:t>
            </a:r>
          </a:p>
        </p:txBody>
      </p:sp>
    </p:spTree>
    <p:extLst>
      <p:ext uri="{BB962C8B-B14F-4D97-AF65-F5344CB8AC3E}">
        <p14:creationId xmlns:p14="http://schemas.microsoft.com/office/powerpoint/2010/main" val="8614699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A1735-4BAB-4DDA-B582-4343AA66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A03C6-A54B-40A3-8974-AAE76937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Domain 邊界讓資料責任保持清楚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AE642-F75C-4687-ADC1-65C1AF83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14B96-263A-479A-8418-A2CC8B96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76550"/>
            <a:ext cx="333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DED0"/>
          </a:solidFill>
          <a:ln xmlns:a="http://schemas.openxmlformats.org/drawingml/2006/main" w="19050">
            <a:solidFill>
              <a:srgbClr val="B56F49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Workflow Coordinator</a:t>
            </a:r>
          </a:p>
          <a:p xmlns:a="http://schemas.openxmlformats.org/drawingml/2006/main">
            <a:pPr algn="ctr">
              <a:defRPr sz="14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唯一跨域交易協調者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30CE71-0B64-4281-B846-DDC4C130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Orders</a:t>
            </a:r>
          </a:p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契約／生命週期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95403-4ABC-4363-AAC2-BBD7B290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71625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Scheduling</a:t>
            </a:r>
          </a:p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媒合／排班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54294-B040-499B-8504-A20FBA3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52625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Anomalies</a:t>
            </a:r>
          </a:p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異常／修復入口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2CEAE3-3517-4E3F-A0BB-EFE7F775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4E9DF"/>
          </a:solidFill>
          <a:ln xmlns:a="http://schemas.openxmlformats.org/drawingml/2006/main" w="11430">
            <a:solidFill>
              <a:srgbClr val="AAB6A0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LINE／Knowledge</a:t>
            </a:r>
          </a:p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外部互動／知識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7D93D-6A26-4B94-86AB-3AA90C7E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10125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Client Finance</a:t>
            </a:r>
          </a:p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應收／核銷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D105F4-EB23-44BB-89FF-97C9BFEF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33875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Payroll／Payables</a:t>
            </a:r>
          </a:p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薪資／應付</a:t>
            </a:r>
          </a:p>
        </p:txBody>
      </p:sp>
      <p:cxnSp>
        <p:nvCxnSpPr>
          <p:cNvPr id="43" name=""/>
          <p:cNvCxnSpPr>
            <a:stCxn xmlns:a="http://schemas.openxmlformats.org/drawingml/2006/main" id="18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 flipV="1">
            <a:off x="2857500" y="2343150"/>
            <a:ext cx="1571625" cy="1009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8" idx="0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6096000" y="235267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7762875" y="2343150"/>
            <a:ext cx="1571625" cy="1009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8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2857500" y="3352800"/>
            <a:ext cx="1571625" cy="1371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AB6A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8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096000" y="3829050"/>
            <a:ext cx="0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8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762875" y="3352800"/>
            <a:ext cx="1571625" cy="1371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F792B7-6139-4D72-BCB7-D1BBC685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Typed Ports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0203D0-9985-47C9-94C8-D80F9DB3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8293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根事實、狀態機與寫入規則由各 Domain 自行擁有</a:t>
            </a:r>
          </a:p>
        </p:txBody>
      </p:sp>
    </p:spTree>
    <p:extLst>
      <p:ext uri="{BB962C8B-B14F-4D97-AF65-F5344CB8AC3E}">
        <p14:creationId xmlns:p14="http://schemas.microsoft.com/office/powerpoint/2010/main" val="7357022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80C73-3270-4C4F-BD9C-18E80EBE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7148D-F81B-40A7-8306-F03D3333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Typed Contract 固定跨層溝通方式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FBDA3-2DB3-4E29-9957-B309C33E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126C1-DDEC-4CB2-A44E-BB848772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335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A30E7-B9B4-4A86-B210-B238F504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145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EF402-EBE4-4ACD-B0EF-A12B88A5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05000"/>
            <a:ext cx="828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Command／Query：輸入與意圖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5B422-0923-444A-8FCE-3DCD01DB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B3D9B-1230-44CA-A62F-858989F4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71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8401C-72F1-489D-9031-E6346EDC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62300"/>
            <a:ext cx="828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Result／Error：固定結構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7CF8D-5D16-4F0B-8709-8DE23039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236DE-6ECE-4DA4-BD4F-26D2FC3E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291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53178-EDB6-4289-8AB6-184F503A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19600"/>
            <a:ext cx="828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Actor／Version：權限與並發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B5A63-AE57-49B2-8E9D-B61408C1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UI 只接收已驗證結果。</a:t>
            </a:r>
          </a:p>
        </p:txBody>
      </p:sp>
    </p:spTree>
    <p:extLst>
      <p:ext uri="{BB962C8B-B14F-4D97-AF65-F5344CB8AC3E}">
        <p14:creationId xmlns:p14="http://schemas.microsoft.com/office/powerpoint/2010/main" val="21442565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FD366-5D94-4114-8C27-5886527B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FFB76-686C-43A7-92AC-28C38466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後端選型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B5611-DA34-4F97-84AC-93DFB91D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E286D-256F-451F-83B6-8F9E2755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19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5ECA5-7C54-4EBC-ACE7-F64376E6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7526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Python 3.11｜統一業務與資料生態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8296F-5D21-439E-A1A3-D9FEFBEB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94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6BE04-928C-47CF-894F-A273594B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2735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FastAPI＋Uvicorn｜API 與 Webhook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A96F6-41A5-4048-B996-EAD9489C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68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9C7E3-E2EA-40E6-A03A-22697F8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021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Pydantic＋Starlette｜契約與中介層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47B47-20F6-4EA1-9493-6BE02F47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37147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BF08D-B977-4F7D-8300-8447F493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266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技術服務邊界，不混入業務規則。</a:t>
            </a:r>
          </a:p>
        </p:txBody>
      </p:sp>
    </p:spTree>
    <p:extLst>
      <p:ext uri="{BB962C8B-B14F-4D97-AF65-F5344CB8AC3E}">
        <p14:creationId xmlns:p14="http://schemas.microsoft.com/office/powerpoint/2010/main" val="8614699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FD366-5D94-4114-8C27-5886527B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FFB76-686C-43A7-92AC-28C38466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管理端與資料層技術選型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B5611-DA34-4F97-84AC-93DFB91D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E286D-256F-451F-83B6-8F9E2755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19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5ECA5-7C54-4EBC-ACE7-F64376E6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7526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Streamlit｜內部薄管理介面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8296F-5D21-439E-A1A3-D9FEFBEB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94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6BE04-928C-47CF-894F-A273594B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2735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MySQL｜交易、關聯與正式根事實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A96F6-41A5-4048-B996-EAD9489C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68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9C7E3-E2EA-40E6-A03A-22697F8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021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PyMySQL｜Repository Adapter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47B47-20F6-4EA1-9493-6BE02F47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37147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BF08D-B977-4F7D-8300-8447F493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266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畫面呼叫 API，資料庫接受受控寫入。</a:t>
            </a:r>
          </a:p>
        </p:txBody>
      </p:sp>
    </p:spTree>
    <p:extLst>
      <p:ext uri="{BB962C8B-B14F-4D97-AF65-F5344CB8AC3E}">
        <p14:creationId xmlns:p14="http://schemas.microsoft.com/office/powerpoint/2010/main" val="8614699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FD366-5D94-4114-8C27-5886527B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FFB76-686C-43A7-92AC-28C38466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Excel 與檔案自動化選型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B5611-DA34-4F97-84AC-93DFB91D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E286D-256F-451F-83B6-8F9E2755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19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5ECA5-7C54-4EBC-ACE7-F64376E6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7526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pandas＋OpenPyXL｜解析與輸出 Excel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8296F-5D21-439E-A1A3-D9FEFBEB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94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6BE04-928C-47CF-894F-A273594B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2735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Watchdog｜偵測檔案並建立匯入工作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A96F6-41A5-4048-B996-EAD9489C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68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9C7E3-E2EA-40E6-A03A-22697F8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021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python-multipart｜承接檔案上傳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47B47-20F6-4EA1-9493-6BE02F47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37147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BF08D-B977-4F7D-8300-8447F493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266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檔案不直接改正式帳務。</a:t>
            </a:r>
          </a:p>
        </p:txBody>
      </p:sp>
    </p:spTree>
    <p:extLst>
      <p:ext uri="{BB962C8B-B14F-4D97-AF65-F5344CB8AC3E}">
        <p14:creationId xmlns:p14="http://schemas.microsoft.com/office/powerpoint/2010/main" val="8614699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FD366-5D94-4114-8C27-5886527B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FFB76-686C-43A7-92AC-28C38466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LINE 可靠性選型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B5611-DA34-4F97-84AC-93DFB91D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E286D-256F-451F-83B6-8F9E2755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19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5ECA5-7C54-4EBC-ACE7-F64376E6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7526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Requests＋Pillow｜LINE API 與媒體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8296F-5D21-439E-A1A3-D9FEFBEB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94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6BE04-928C-47CF-894F-A273594B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2735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Redis｜喚醒；MySQL｜durable queue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A96F6-41A5-4048-B996-EAD9489C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68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9C7E3-E2EA-40E6-A03A-22697F8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021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Inbox／Outbox｜隔離重送與失敗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47B47-20F6-4EA1-9493-6BE02F47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37147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BF08D-B977-4F7D-8300-8447F493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266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元件可換，交易結果不變。</a:t>
            </a:r>
          </a:p>
        </p:txBody>
      </p:sp>
    </p:spTree>
    <p:extLst>
      <p:ext uri="{BB962C8B-B14F-4D97-AF65-F5344CB8AC3E}">
        <p14:creationId xmlns:p14="http://schemas.microsoft.com/office/powerpoint/2010/main" val="8614699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8442C-8F95-4BF9-8A1A-6C913E15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1B3FD-F214-4A90-A23B-EFF61D57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知識檢索與 Agent 保持輔助角色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96E61-A107-4B1F-AE60-2E37511C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CDEFF-D6E0-49B3-98EC-88FCC3AC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4762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75E4E-BCDF-473F-80E3-FDB6DF95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4000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可引用，也知道何時停止。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43A5A-AA6D-4320-8114-A713B6A5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95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835EC-8F61-4F38-8955-066979D2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28800"/>
            <a:ext cx="4438650" cy="92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ChromaDB｜可重建檢索索引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31E05-2F1C-4638-8B53-117DF639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6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F666F-2BAB-42C6-AE2F-4BC936A9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40050"/>
            <a:ext cx="4438650" cy="92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MySQL｜發布與版本 SSOT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874F8-1618-4298-A16B-943FF9EE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17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1F6DC-DBB6-4B03-92E4-477CB336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51300"/>
            <a:ext cx="4438650" cy="92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Agent 輔助查詢，不決定正式業務狀態</a:t>
            </a:r>
          </a:p>
        </p:txBody>
      </p:sp>
    </p:spTree>
    <p:extLst>
      <p:ext uri="{BB962C8B-B14F-4D97-AF65-F5344CB8AC3E}">
        <p14:creationId xmlns:p14="http://schemas.microsoft.com/office/powerpoint/2010/main" val="18550255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FD366-5D94-4114-8C27-5886527B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FFB76-686C-43A7-92AC-28C38466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設定與測試工具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B5611-DA34-4F97-84AC-93DFB91D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E286D-256F-451F-83B6-8F9E2755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19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5ECA5-7C54-4EBC-ACE7-F64376E6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7526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python-dotenv｜隔離設定與機密參數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8296F-5D21-439E-A1A3-D9FEFBEB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94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6BE04-928C-47CF-894F-A273594B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2735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JSON Schema｜檢查 API 與 release 契約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A96F6-41A5-4048-B996-EAD9489C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68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9C7E3-E2EA-40E6-A03A-22697F8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021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Pytest＋httpx2｜模組、API 與跨層測試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47B47-20F6-4EA1-9493-6BE02F47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37147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BF08D-B977-4F7D-8300-8447F493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266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測試證據不等於正式上線。</a:t>
            </a:r>
          </a:p>
        </p:txBody>
      </p:sp>
    </p:spTree>
    <p:extLst>
      <p:ext uri="{BB962C8B-B14F-4D97-AF65-F5344CB8AC3E}">
        <p14:creationId xmlns:p14="http://schemas.microsoft.com/office/powerpoint/2010/main" val="8614699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78692-0AAC-4FC5-8F5E-AB6113A0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9C696-1DA0-4F2C-8646-E44737A1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Preview／Apply 保護正式交易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FA291-0DD7-4763-9E89-57C82A34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E75C7-BDB4-4300-AF72-83A9C373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ED5EA-0EE9-42AB-BDBB-0DA75A90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Query 唯讀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675E6-193F-44CC-992F-B9A8A3BC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14675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1E730-0E34-411B-9B30-22EF80F5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Preview 零寫入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ABE66-033A-4BE1-8CB5-DC207A02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70510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65A9E-BA44-4CB1-8327-7493A5A2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重讀版本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F332E-034B-4F22-82D3-96BDBE60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95525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F8494-2334-4E05-9EB3-B35C60D9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62225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原子提交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2DB93-08CC-4613-8F33-61B51A75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8859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BF5C6-78B0-4232-B351-4F70ADAA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526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Receipt 回執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1E3AE0-4494-49A3-A86F-F42E36D0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1000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版本或 fingerprint 過期即回傳 conflict，不留下部分寫入。</a:t>
            </a:r>
          </a:p>
        </p:txBody>
      </p:sp>
    </p:spTree>
    <p:extLst>
      <p:ext uri="{BB962C8B-B14F-4D97-AF65-F5344CB8AC3E}">
        <p14:creationId xmlns:p14="http://schemas.microsoft.com/office/powerpoint/2010/main" val="1470977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71F6F-128F-427D-AF00-54927835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54EE2-4C97-44B7-A04B-5F213F3E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Durable Job 隔離外部副作用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38F64-4514-45A8-AAB1-91640EBA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2548-DBD1-4C5C-8504-3E9A47F6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4762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0E9EB-A56F-4939-B77B-2409C4E0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4000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核心交易先完成，外部工作再執行。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72333-7751-4B05-9EA5-A91CA8E8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95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67F3C-D828-41E0-A476-DBDF331B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28800"/>
            <a:ext cx="4438650" cy="92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交易與 Outbox／Job 同時提交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94F67-1F8B-47A7-BA20-7F5DA29E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6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3D8C7-5D0F-4C8D-A860-A0C3097B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40050"/>
            <a:ext cx="4438650" cy="92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Worker 有界重試通知與長任務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84F41-F3F6-4483-BBC3-03BBFDB0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17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BF769-08E2-40CA-B320-53B8E5E0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51300"/>
            <a:ext cx="4438650" cy="92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相同請求重播回原 receipt</a:t>
            </a:r>
          </a:p>
        </p:txBody>
      </p:sp>
    </p:spTree>
    <p:extLst>
      <p:ext uri="{BB962C8B-B14F-4D97-AF65-F5344CB8AC3E}">
        <p14:creationId xmlns:p14="http://schemas.microsoft.com/office/powerpoint/2010/main" val="5266714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A1735-4BAB-4DDA-B582-4343AA66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A03C6-A54B-40A3-8974-AAE76937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LINE 整合架構圖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AE642-F75C-4687-ADC1-65C1AF83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6E424-F50C-4E44-8B05-12A6A3C5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9537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376F6-96F5-4B83-9D82-5C609C6D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600200"/>
            <a:ext cx="1068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INGRESS｜可靠收件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E5648-668C-4C87-A0D7-30D0BE14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09537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4E9DF"/>
          </a:solidFill>
          <a:ln xmlns:a="http://schemas.openxmlformats.org/drawingml/2006/main" w="11430">
            <a:solidFill>
              <a:srgbClr val="AAB6A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16F10-6A60-432A-9F22-9908AF7D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95700"/>
            <a:ext cx="1068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3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5735B"/>
                </a:solidFill>
                <a:latin typeface="Microsoft JhengHei"/>
                <a:ea typeface="Microsoft JhengHei"/>
                <a:cs typeface="Microsoft JhengHei"/>
              </a:rPr>
              <a:t>EGRESS｜可靠交付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0A0211-490A-4477-B2D7-CEE067DB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43125"/>
            <a:ext cx="123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0D3EDD-100E-41E5-880E-6C229160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123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DED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HTTPS</a:t>
            </a:r>
          </a:p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Edge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24E5E4-6361-4057-899D-82621D79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43125"/>
            <a:ext cx="123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FastAPI</a:t>
            </a:r>
          </a:p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Webhook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8C20E3-4452-44EC-9B70-1A105525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123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DED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Durable</a:t>
            </a:r>
          </a:p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Inbox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7B0C71-0A5F-4CCE-AB62-7B00B572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123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Worker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60883C-6C5B-4F3D-8077-17439FF0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43125"/>
            <a:ext cx="123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DED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Domain</a:t>
            </a:r>
          </a:p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Command</a:t>
            </a:r>
          </a:p>
        </p:txBody>
      </p:sp>
      <p:cxnSp>
        <p:nvCxnSpPr>
          <p:cNvPr id="57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048000" y="2514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667250" y="2514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6286500" y="2514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905750" y="2514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525000" y="2514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405683-8711-4FC7-87A4-F78F89CB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簽章錯誤拒絕；歧義轉人工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990AEF-666A-494C-8CA8-BB48A5F1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38625"/>
            <a:ext cx="1333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AAB6A0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Domain</a:t>
            </a:r>
          </a:p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Commit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08C407-FEFD-4207-AA9A-C09E7074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38625"/>
            <a:ext cx="1333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5DFCF"/>
          </a:solidFill>
          <a:ln xmlns:a="http://schemas.openxmlformats.org/drawingml/2006/main" w="11430">
            <a:solidFill>
              <a:srgbClr val="AAB6A0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Delivery</a:t>
            </a:r>
          </a:p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Task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64E3B0-DB2F-4037-8F4E-370C457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38625"/>
            <a:ext cx="1333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AAB6A0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Worker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BFC69B-4CFC-4C3A-B3CD-D3E01122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38625"/>
            <a:ext cx="1333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5DFCF"/>
          </a:solidFill>
          <a:ln xmlns:a="http://schemas.openxmlformats.org/drawingml/2006/main" w="11430">
            <a:solidFill>
              <a:srgbClr val="AAB6A0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LINE API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6206BD-76BA-475B-978D-BE0046F9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38625"/>
            <a:ext cx="1333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AAB6A0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Receipt／</a:t>
            </a:r>
          </a:p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Alert</a:t>
            </a:r>
          </a:p>
        </p:txBody>
      </p:sp>
      <p:cxnSp>
        <p:nvCxnSpPr>
          <p:cNvPr id="68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3810000" y="46101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6A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5572125" y="46101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6A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7334250" y="46101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6A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9096375" y="46101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6A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BC917F-06F2-4C48-B5DC-B38AC6D8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4825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3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5735B"/>
                </a:solidFill>
                <a:latin typeface="Microsoft JhengHei"/>
                <a:ea typeface="Microsoft JhengHei"/>
                <a:cs typeface="Microsoft JhengHei"/>
              </a:rPr>
              <a:t>逾時／5xx 有界重試；不可重試錯誤直接告警</a:t>
            </a:r>
          </a:p>
        </p:txBody>
      </p:sp>
    </p:spTree>
    <p:extLst>
      <p:ext uri="{BB962C8B-B14F-4D97-AF65-F5344CB8AC3E}">
        <p14:creationId xmlns:p14="http://schemas.microsoft.com/office/powerpoint/2010/main" val="73570220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78692-0AAC-4FC5-8F5E-AB6113A0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9C696-1DA0-4F2C-8646-E44737A1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LINE Webhook 可靠收件流程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FA291-0DD7-4763-9E89-57C82A34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E75C7-BDB4-4300-AF72-83A9C373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ED5EA-0EE9-42AB-BDBB-0DA75A90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簽章驗證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675E6-193F-44CC-992F-B9A8A3BC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14675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1E730-0E34-411B-9B30-22EF80F5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事件正規化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ABE66-033A-4BE1-8CB5-DC207A02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70510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65A9E-BA44-4CB1-8327-7493A5A2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Durable Inbox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F332E-034B-4F22-82D3-96BDBE60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95525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F8494-2334-4E05-9EB3-B35C60D9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62225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Typed Command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2DB93-08CC-4613-8F33-61B51A75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8859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BF5C6-78B0-4232-B351-4F70ADAA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526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交易稽核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1E3AE0-4494-49A3-A86F-F42E36D0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1000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簽章錯誤直接拒絕；歧義與業務 blocker 轉人工處理。</a:t>
            </a:r>
          </a:p>
        </p:txBody>
      </p:sp>
    </p:spTree>
    <p:extLst>
      <p:ext uri="{BB962C8B-B14F-4D97-AF65-F5344CB8AC3E}">
        <p14:creationId xmlns:p14="http://schemas.microsoft.com/office/powerpoint/2010/main" val="1470977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78692-0AAC-4FC5-8F5E-AB6113A0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9C696-1DA0-4F2C-8646-E44737A1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LINE 訊息可靠交付流程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FA291-0DD7-4763-9E89-57C82A34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E75C7-BDB4-4300-AF72-83A9C373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ED5EA-0EE9-42AB-BDBB-0DA75A90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業務提交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675E6-193F-44CC-992F-B9A8A3BC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14675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1E730-0E34-411B-9B30-22EF80F5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Delivery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ABE66-033A-4BE1-8CB5-DC207A02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70510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65A9E-BA44-4CB1-8327-7493A5A2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Worker 發送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F332E-034B-4F22-82D3-96BDBE60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95525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F8494-2334-4E05-9EB3-B35C60D9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62225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Attempt Ledger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2DB93-08CC-4613-8F33-61B51A75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8859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BF5C6-78B0-4232-B351-4F70ADAA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526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Receipt／告警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1E3AE0-4494-49A3-A86F-F42E36D0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1000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逾時與 5xx 有界重試；無效對象或內容直接失敗並告警。</a:t>
            </a:r>
          </a:p>
        </p:txBody>
      </p:sp>
    </p:spTree>
    <p:extLst>
      <p:ext uri="{BB962C8B-B14F-4D97-AF65-F5344CB8AC3E}">
        <p14:creationId xmlns:p14="http://schemas.microsoft.com/office/powerpoint/2010/main" val="1470977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0C9CE5-7376-454F-8654-D0E53B90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2D007-E1AB-433F-AAB4-0D9D4035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部署安全邊界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4A32D-4C13-4F3B-8021-429AF660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C7DCF-4EE2-4860-B097-7F802E29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32552-C496-4B96-8867-B3928E59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243CC-970F-4175-AAC0-96373FF2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HTTPS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20D6D-E370-49DA-8CE3-CE732B09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B4D77-4ECA-414B-84E4-140C6A51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49DB8-A657-4E2A-8E9A-6B3F6DC8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私有 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C4734-DF34-466D-96AB-4E433DFE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FB372-B279-4186-A7DF-B1CBF776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035EB-26D0-4B31-BD1F-102272C0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受控後台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21859-C85D-432B-961E-E83FF2B2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F75F4-F4A5-4B6D-A770-79AD3E21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2427A-2C9F-411E-A4E4-73D53421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最小權限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C8DA9-B28F-4086-8E7C-DA1DDDC8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1B8BB9-8660-44AA-B377-CDD7A6CC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備份復原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4DCF8-8A01-4393-ABC7-C971B27E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71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7DB7F-75D5-42CC-A548-140A5380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05250"/>
            <a:ext cx="958215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只開必要 HTTPS；後台限定 LAN／VPN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B74165-3CCF-4585-8DEA-473F14C8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06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4B2A79-9B82-43D8-8589-F32FB384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40250"/>
            <a:ext cx="958215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MySQL 禁止公開 Port 3306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6BFF4C-810D-4134-84DE-B187A625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41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9FE94-82AD-45D7-9967-83915DA4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175250"/>
            <a:ext cx="958215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發布需備份、驗證、切換與復原證據</a:t>
            </a:r>
          </a:p>
        </p:txBody>
      </p:sp>
    </p:spTree>
    <p:extLst>
      <p:ext uri="{BB962C8B-B14F-4D97-AF65-F5344CB8AC3E}">
        <p14:creationId xmlns:p14="http://schemas.microsoft.com/office/powerpoint/2010/main" val="856712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A1735-4BAB-4DDA-B582-4343AA66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A03C6-A54B-40A3-8974-AAE76937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地端部署候選方案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AE642-F75C-4687-ADC1-65C1AF83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A32C8-6B27-4C2D-A237-66465C75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905000" cy="3429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91A09-61E3-4528-801A-D415A1B4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6954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外部與操作端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9C6E7-246F-474B-8676-CC84A417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LINE</a:t>
            </a:r>
          </a:p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Platform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9C731-5D50-43B8-AFC9-8DD7B791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行政端</a:t>
            </a:r>
          </a:p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LAN／VPN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DB7A44-3EA4-4E6B-BD4A-0617783B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43375"/>
            <a:ext cx="1333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Excel／檔案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2B2CD0-20B8-4B74-BBA5-C3C4DDE4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14625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DED0"/>
          </a:solidFill>
          <a:ln xmlns:a="http://schemas.openxmlformats.org/drawingml/2006/main" w="11430">
            <a:solidFill>
              <a:srgbClr val="D8B49D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HTTPS Edge</a:t>
            </a:r>
          </a:p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TLS／來源驗證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A75FE7-AF62-48DE-ABCE-21CED7F0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76375"/>
            <a:ext cx="37147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CF9345-14D3-4011-A6E2-23F78E5B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5257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地端 Application Zone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1061F1-FD25-4051-96CE-0DE68041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43125"/>
            <a:ext cx="1381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Streamlit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E2C659-CD4C-4C19-863C-A6BE0BFF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43125"/>
            <a:ext cx="1381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FastAPI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B9E015-895A-4A0A-AEB6-363F5A4E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381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File Watcher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75F458-7728-4A11-BBA8-64A56010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38500"/>
            <a:ext cx="1381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Durable</a:t>
            </a:r>
          </a:p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Workers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192B32-50F9-45BB-ABE4-AD61141A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19250"/>
            <a:ext cx="2428875" cy="3429000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E4E9DF"/>
          </a:solidFill>
          <a:ln xmlns:a="http://schemas.openxmlformats.org/drawingml/2006/main" w="11430">
            <a:solidFill>
              <a:srgbClr val="AAB6A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9062DD-0B0D-4879-88CA-A5819951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695450"/>
            <a:ext cx="2162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3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5735B"/>
                </a:solidFill>
                <a:latin typeface="Microsoft JhengHei"/>
                <a:ea typeface="Microsoft JhengHei"/>
                <a:cs typeface="Microsoft JhengHei"/>
              </a:rPr>
              <a:t>私有 Data Zone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1E0116-4A81-490B-8E73-D818B5A0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38375"/>
            <a:ext cx="1666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AAB6A0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MySQL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8FE864-A193-4C78-9DB2-D18FC012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0"/>
            <a:ext cx="16668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AAB6A0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Archive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20EA01-53F1-49A6-A111-B58AD3E3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143375"/>
            <a:ext cx="16668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AAB6A0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Backup／Restore</a:t>
            </a:r>
          </a:p>
        </p:txBody>
      </p:sp>
      <p:cxnSp>
        <p:nvCxnSpPr>
          <p:cNvPr id="66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238375" y="2581275"/>
            <a:ext cx="666750" cy="704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2238375" y="3286125"/>
            <a:ext cx="666750" cy="247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2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4572000" y="2466975"/>
            <a:ext cx="2428875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619875" y="24669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625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V="1">
            <a:off x="2238375" y="3609975"/>
            <a:ext cx="3000375" cy="809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D625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6619875" y="36099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625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27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8382000" y="2466975"/>
            <a:ext cx="1095375" cy="114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AB6A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29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V="1">
            <a:off x="8382000" y="2581275"/>
            <a:ext cx="1095375" cy="1028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AB6A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10310813" y="292417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6A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33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10310813" y="38290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6A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352F1E-96C0-43F6-AC99-48038B9D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72125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候選方案｜資料與應用皆在地端，需管理電力、網路與現場維運</a:t>
            </a:r>
          </a:p>
        </p:txBody>
      </p:sp>
    </p:spTree>
    <p:extLst>
      <p:ext uri="{BB962C8B-B14F-4D97-AF65-F5344CB8AC3E}">
        <p14:creationId xmlns:p14="http://schemas.microsoft.com/office/powerpoint/2010/main" val="73570220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A1735-4BAB-4DDA-B582-4343AA66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A03C6-A54B-40A3-8974-AAE76937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雲端主體混合部署候選方案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AE642-F75C-4687-ADC1-65C1AF83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41C21-A812-4265-80A7-2C408943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952625" cy="314325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7BED6-D66C-4C27-8ABD-74818EC5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907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外部與操作端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28FE8-F16F-40C4-A63D-FDE6AFAF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285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LINE</a:t>
            </a:r>
          </a:p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Platform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56F0AD-B8AE-448D-BEA9-C1570991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285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行政端</a:t>
            </a:r>
          </a:p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受控存取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127155-13A4-41CC-8D0A-1006C58A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76375"/>
            <a:ext cx="44767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3ECE3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8A18FC-B445-4408-929E-1E72904A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52575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Cloud Application Zone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D21E46-0FC5-43A2-8A2C-8C66669E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DED0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Cloud Edge</a:t>
            </a:r>
          </a:p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TLS 443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F7709E-CF97-4416-8591-9ECFE1CE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1666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FastAPI／UI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6C0D99-DE57-4826-9E95-D3007D5F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Inbox／Outbox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E6ED75-FA1B-4590-BBFD-6D4EE442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1666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D7CABC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Workers／Jobs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1F6BC7-76C1-497F-924D-8A5C984A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62250"/>
            <a:ext cx="1428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8DED0"/>
          </a:solidFill>
          <a:ln xmlns:a="http://schemas.openxmlformats.org/drawingml/2006/main" w="11430">
            <a:solidFill>
              <a:srgbClr val="D8B49D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加密 VPN</a:t>
            </a:r>
          </a:p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Private Link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2CDE10-C143-48E5-BEDC-1A02882E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14500"/>
            <a:ext cx="1952625" cy="314325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E4E9DF"/>
          </a:solidFill>
          <a:ln xmlns:a="http://schemas.openxmlformats.org/drawingml/2006/main" w="11430">
            <a:solidFill>
              <a:srgbClr val="AAB6A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FD7E93-C984-4648-8F21-847F7AD2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907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3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5735B"/>
                </a:solidFill>
                <a:latin typeface="Microsoft JhengHei"/>
                <a:ea typeface="Microsoft JhengHei"/>
                <a:cs typeface="Microsoft JhengHei"/>
              </a:rPr>
              <a:t>地端 Data Zone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07EEF2-6F3E-405A-B8C7-710932B1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33625"/>
            <a:ext cx="1381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AAB6A0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MySQL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CCA380-A1C4-405B-90A6-F79F2D14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33750"/>
            <a:ext cx="1381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AAB6A0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Archive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FF100A-60DA-40DB-8F61-74C35806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43375"/>
            <a:ext cx="1381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AAB6A0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3332F"/>
                </a:solidFill>
                <a:latin typeface="Microsoft JhengHei"/>
                <a:ea typeface="Microsoft JhengHei"/>
                <a:cs typeface="Microsoft JhengHei"/>
              </a:rPr>
              <a:t>Backup</a:t>
            </a:r>
          </a:p>
        </p:txBody>
      </p:sp>
      <p:cxnSp>
        <p:nvCxnSpPr>
          <p:cNvPr id="64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2238375" y="2552700"/>
            <a:ext cx="1095375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2238375" y="2552700"/>
            <a:ext cx="1095375" cy="1314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762500" y="25527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4048125" y="2914650"/>
            <a:ext cx="2214563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762500" y="39814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096125" y="2552700"/>
            <a:ext cx="857250" cy="771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27" idx="3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V="1">
            <a:off x="7096125" y="3886200"/>
            <a:ext cx="1571625" cy="952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B56F4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28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9382125" y="2667000"/>
            <a:ext cx="619125" cy="657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6A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0691813" y="300037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6A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10691813" y="388620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6A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1F1BB6-289D-4150-B144-C8C48501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72125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B56F49"/>
                </a:solidFill>
                <a:latin typeface="Microsoft JhengHei"/>
                <a:ea typeface="Microsoft JhengHei"/>
                <a:cs typeface="Microsoft JhengHei"/>
              </a:rPr>
              <a:t>候選方案｜應用在雲端、資料留地端；需治理 VPN、延遲與網路中斷</a:t>
            </a:r>
          </a:p>
        </p:txBody>
      </p:sp>
    </p:spTree>
    <p:extLst>
      <p:ext uri="{BB962C8B-B14F-4D97-AF65-F5344CB8AC3E}">
        <p14:creationId xmlns:p14="http://schemas.microsoft.com/office/powerpoint/2010/main" val="73570220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97863-510A-4B7B-B4F5-30C79CFD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4FA29-1566-427A-B6A2-A1C872DF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地端與雲端方案各有適用條件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DA390-FEE7-434F-A056-DAA81895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76657-F596-4A5E-B5C3-7C68069E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4762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A28E8-D424-4E72-A142-A73DA907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4000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兩種方案皆為部署候選。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6DA23-DCC2-4446-8F65-91ECC41A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95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45B2D-2224-4B35-96C6-B8808D5C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28800"/>
            <a:ext cx="4438650" cy="92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地端｜資料主權清楚、月租較低；現場維運責任較高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66D38-BD5D-422A-85AF-8B6CC580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6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DC010-F137-43B6-B0F1-980A636C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40050"/>
            <a:ext cx="4438650" cy="92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雲端混合｜遠端維護與擴充較佳；增加月租與網路治理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9031A-A26F-4119-9152-EF52375E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17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19A14-6F71-4C5B-B19D-D787B3B9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51300"/>
            <a:ext cx="4438650" cy="92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正式規格只固定安全區域，不指定主機、廠商或 RTO／RPO</a:t>
            </a:r>
          </a:p>
        </p:txBody>
      </p:sp>
    </p:spTree>
    <p:extLst>
      <p:ext uri="{BB962C8B-B14F-4D97-AF65-F5344CB8AC3E}">
        <p14:creationId xmlns:p14="http://schemas.microsoft.com/office/powerpoint/2010/main" val="130390060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0C9CE5-7376-454F-8654-D0E53B90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2D007-E1AB-433F-AAB4-0D9D4035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關鍵技術挑戰：一致性與不確定性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4A32D-4C13-4F3B-8021-429AF660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C7DCF-4EE2-4860-B097-7F802E29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32552-C496-4B96-8867-B3928E59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243CC-970F-4175-AAC0-96373FF2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跨域一致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20D6D-E370-49DA-8CE3-CE732B09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B4D77-4ECA-414B-84E4-140C6A51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49DB8-A657-4E2A-8E9A-6B3F6DC8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重複事件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C4734-DF34-466D-96AB-4E433DFE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FB372-B279-4186-A7DF-B1CBF776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035EB-26D0-4B31-BD1F-102272C0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版本衝突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21859-C85D-432B-961E-E83FF2B2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F75F4-F4A5-4B6D-A770-79AD3E21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2427A-2C9F-411E-A4E4-73D53421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外部逾時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C8DA9-B28F-4086-8E7C-DA1DDDC8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1B8BB9-8660-44AA-B377-CDD7A6CC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匯入歧義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4DCF8-8A01-4393-ABC7-C971B27E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71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7DB7F-75D5-42CC-A548-140A5380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05250"/>
            <a:ext cx="958215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訂單、排班、帳務與通知不能各自提交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B74165-3CCF-4585-8DEA-473F14C8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06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4B2A79-9B82-43D8-8589-F32FB384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40250"/>
            <a:ext cx="958215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Webhook、匯入與重試必須安全重播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6BFF4C-810D-4134-84DE-B187A625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41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9FE94-82AD-45D7-9967-83915DA4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175250"/>
            <a:ext cx="958215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證據不足即停止，不猜測正式結果</a:t>
            </a:r>
          </a:p>
        </p:txBody>
      </p:sp>
    </p:spTree>
    <p:extLst>
      <p:ext uri="{BB962C8B-B14F-4D97-AF65-F5344CB8AC3E}">
        <p14:creationId xmlns:p14="http://schemas.microsoft.com/office/powerpoint/2010/main" val="8567123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F8BD99-96BE-4BC0-AF2B-73E4BACC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C2018-88E2-4A3F-88FF-C848BBCE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失敗可理解、可復原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F73C1-AB4D-43F2-87FD-79B94828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C743B-94BE-4F01-BBCD-2AC083B6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8D427-901A-40EB-AB14-7E44BAA1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8471D-644D-4A96-B88A-1889F134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單一 UoW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D0372-6FD3-4938-B22A-F45AA71C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2C0A5-0564-4A8A-B736-4D0568A5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B7C7D-85B6-4460-A6BE-7DC7624C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防重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0051F-BC1A-4CA3-8AE0-0B1C9097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CEA56-5E83-4C86-BA8B-191C494E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587D2-E1FF-4476-9B46-36D24E1B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拒絕猜測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2376F-D5E7-451F-BB78-281EB2C4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43175"/>
            <a:ext cx="3810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A7349-6387-418B-92B2-CCEE21F3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CD46B-A384-49C0-AC45-00429F39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事件留痕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E1155-BC31-48D4-A58C-463BE8CB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CA4C4-C89E-470C-9B74-06C59DC7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33625"/>
            <a:ext cx="1504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人工覆核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D1E4BF-F9E9-40B1-A973-9F3F92EE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71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4F658-90CF-4FB8-A661-97553201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05250"/>
            <a:ext cx="958215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跨域只保留一個 commit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E10634-CD95-412F-BFE5-721D32A1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06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54B0D-509C-4245-B7DF-6607CBDC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40250"/>
            <a:ext cx="958215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同 key 回原 receipt；不同 payload 拒絕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151336-3622-4A3F-B529-0EB9A4BF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41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2E0DBF-41C4-41B5-9F11-755687CB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175250"/>
            <a:ext cx="958215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更正新增事件，異常中心提供修復入口</a:t>
            </a:r>
          </a:p>
        </p:txBody>
      </p:sp>
    </p:spTree>
    <p:extLst>
      <p:ext uri="{BB962C8B-B14F-4D97-AF65-F5344CB8AC3E}">
        <p14:creationId xmlns:p14="http://schemas.microsoft.com/office/powerpoint/2010/main" val="32359820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FD366-5D94-4114-8C27-5886527B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FFB76-686C-43A7-92AC-28C38466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驗證不等於正式上線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B5611-DA34-4F97-84AC-93DFB91D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E286D-256F-451F-83B6-8F9E2755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19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5ECA5-7C54-4EBC-ACE7-F64376E6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7526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Module／Subsystem｜規則與失敗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8296F-5D21-439E-A1A3-D9FEFBEB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94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6BE04-928C-47CF-894F-A273594B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2735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Domain／Global｜交易與重播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A96F6-41A5-4048-B996-EAD9489C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68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9C7E3-E2EA-40E6-A03A-22697F8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102100"/>
            <a:ext cx="5486400" cy="98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目前為隔離 release candidate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47B47-20F6-4EA1-9493-6BE02F47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37147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BF08D-B977-4F7D-8300-8447F493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266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正式環境仍需驗收與復原演練。</a:t>
            </a:r>
          </a:p>
        </p:txBody>
      </p:sp>
    </p:spTree>
    <p:extLst>
      <p:ext uri="{BB962C8B-B14F-4D97-AF65-F5344CB8AC3E}">
        <p14:creationId xmlns:p14="http://schemas.microsoft.com/office/powerpoint/2010/main" val="86146992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78692-0AAC-4FC5-8F5E-AB6113A0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33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9C696-1DA0-4F2C-8646-E44737A1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"/>
            <a:ext cx="1047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292C28"/>
                </a:solidFill>
                <a:latin typeface="Microsoft JhengHei"/>
                <a:ea typeface="Microsoft JhengHei"/>
                <a:cs typeface="Microsoft JhengHei"/>
              </a:rPr>
              <a:t>可追蹤、可重播、可稽核，支撐跨地行政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FA291-0DD7-4763-9E89-57C82A34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F7069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E75C7-BDB4-4300-AF72-83A9C373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ED5EA-0EE9-42AB-BDBB-0DA75A90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流程整合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675E6-193F-44CC-992F-B9A8A3BC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14675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1E730-0E34-411B-9B30-22EF80F5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權責清楚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ABE66-033A-4BE1-8CB5-DC207A02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70510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65A9E-BA44-4CB1-8327-7493A5A2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交易可靠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F332E-034B-4F22-82D3-96BDBE60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95525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F8494-2334-4E05-9EB3-B35C60D9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62225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例外可管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2DB93-08CC-4613-8F33-61B51A75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8859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C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BF5C6-78B0-4232-B351-4F70ADAA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526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D493D"/>
                </a:solidFill>
                <a:latin typeface="Microsoft JhengHei"/>
                <a:ea typeface="Microsoft JhengHei"/>
                <a:cs typeface="Microsoft JhengHei"/>
              </a:rPr>
              <a:t>逐步部署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1E3AE0-4494-49A3-A86F-F42E36D0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1000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A66C4E"/>
                </a:solidFill>
                <a:latin typeface="Microsoft JhengHei"/>
                <a:ea typeface="Microsoft JhengHei"/>
                <a:cs typeface="Microsoft JhengHei"/>
              </a:rPr>
              <a:t>數位游牧的基礎，是不因地點改變而失去制度、證據與責任。</a:t>
            </a:r>
          </a:p>
        </p:txBody>
      </p:sp>
    </p:spTree>
    <p:extLst>
      <p:ext uri="{BB962C8B-B14F-4D97-AF65-F5344CB8AC3E}">
        <p14:creationId xmlns:p14="http://schemas.microsoft.com/office/powerpoint/2010/main" val="147097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2026-08-10T16:11:55.4940000Z</dcterms:created>
  <dcterms:modified xsi:type="dcterms:W3CDTF">2026-08-10T16:11:55.4940000Z</dcterms:modified>
</coreProperties>
</file>