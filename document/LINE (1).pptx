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Manrope ExtraLight"/>
      <p:regular r:id="rId201323"/>
    </p:embeddedFont>
    <p:embeddedFont>
      <p:font typeface="Manrope Light"/>
      <p:regular r:id="rId201324"/>
    </p:embeddedFont>
    <p:embeddedFont>
      <p:font typeface="Manrope"/>
      <p:regular r:id="rId201325"/>
    </p:embeddedFont>
    <p:embeddedFont>
      <p:font typeface="Manrope Medium"/>
      <p:regular r:id="rId201326"/>
    </p:embeddedFont>
    <p:embeddedFont>
      <p:font typeface="Manrope SemiBold"/>
      <p:regular r:id="rId201327"/>
    </p:embeddedFont>
    <p:embeddedFont>
      <p:font typeface="Manrope Bold"/>
      <p:regular r:id="rId201328"/>
    </p:embeddedFont>
    <p:embeddedFont>
      <p:font typeface="Manrope ExtraBold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image" Target="../media/image-10-1.png"/><Relationship Id="rId12" Type="http://schemas.openxmlformats.org/officeDocument/2006/relationships/image" Target="../media/image-10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433066"/>
            <a:ext cx="970657" cy="215354"/>
          </a:xfrm>
          <a:prstGeom prst="roundRect">
            <a:avLst>
              <a:gd name="adj" fmla="val 47398"/>
            </a:avLst>
          </a:prstGeom>
          <a:solidFill>
            <a:srgbClr val="FFD7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475556"/>
            <a:ext cx="125774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需求規格書 SRS</a:t>
            </a:r>
            <a:endParaRPr lang="zh-CN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70512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應用與行政流程自動化</a:t>
            </a:r>
            <a:endParaRPr lang="zh-CN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36071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新竹市月子照顧服務人員職業工會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782416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55575A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3049488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目的</a:t>
            </a:r>
            <a:endParaRPr lang="zh-CN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48354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「新竹市月子照顧服務人員職業工會」LINE 應用與行政流程自動化的功能性與非功能性需求，並規劃系統架構與實作路徑。</a:t>
            </a:r>
            <a:endParaRPr lang="zh-CN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系統架構總覽</a:t>
            </a:r>
            <a:endParaRPr lang="zh-CN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82154"/>
            <a:ext cx="73152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83676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五層架構：互動 → 核心服務 → 儲存 → 外部平台 → 安全防護</a:t>
            </a:r>
            <a:endParaRPr lang="zh-CN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053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客服溝通：從個人帳號到 LINE 官方帳號</a:t>
            </a:r>
            <a:endParaRPr lang="zh-CN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9788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461096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沒有使用官方帳號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群組、好友一大堆(客戶、月嫂)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每次都要先幫客戶名稱改名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搜尋對應的訂單編號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從準備的文本中選擇要回覆哪則訊息給客戶</a:t>
            </a:r>
            <a:endParaRPr lang="zh-CN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956122"/>
            <a:ext cx="4107135" cy="1886843"/>
          </a:xfrm>
          <a:prstGeom prst="roundRect">
            <a:avLst>
              <a:gd name="adj" fmla="val 10819"/>
            </a:avLst>
          </a:prstGeom>
          <a:solidFill>
            <a:srgbClr val="FF7047"/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2097881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After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89363" y="2461096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LINE 官方帳號自動綁定功能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後台 UI 直接發送資料給客戶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固定訊息列表可直接選擇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客戶資料自動帶入、無需手動改名</a:t>
            </a:r>
            <a:endParaRPr lang="zh-CN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387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訂單狀態追蹤：從人工記憶到自動化管理</a:t>
            </a:r>
            <a:endParaRPr lang="zh-CN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3606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599283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每個客戶的訂單狀態都不一樣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人員需要自己記得哪個客戶推進到哪個狀態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例如：未填表單、訂金支付狀況、是否開始服務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容易遺漏或混淆</a:t>
            </a:r>
            <a:endParaRPr lang="zh-CN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2094309"/>
            <a:ext cx="4107135" cy="1610469"/>
          </a:xfrm>
          <a:prstGeom prst="roundRect">
            <a:avLst>
              <a:gd name="adj" fmla="val 12676"/>
            </a:avLst>
          </a:prstGeom>
          <a:solidFill>
            <a:srgbClr val="FF7047"/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2236068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After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89363" y="2599283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訂單狀態自動追蹤（未填表單 → 訂金支付 → 開始服務）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儀表板一覽所有客戶進度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狀態變更自動通知相關人員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歷史紀錄完整可查</a:t>
            </a:r>
            <a:endParaRPr lang="zh-CN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302693"/>
            <a:ext cx="1070670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FF7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1345183"/>
            <a:ext cx="135775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 → AFTER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7475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資料管理：從 Excel 到自動化資料庫</a:t>
            </a:r>
            <a:endParaRPr lang="zh-CN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37209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735312"/>
            <a:ext cx="390294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zh-CN" altLang="en-US" sz="11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（待放入圖片）</a:t>
            </a:r>
            <a:endParaRPr lang="zh-CN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Excel 手動維護、易重複、查詢困難</a:t>
            </a:r>
            <a:endParaRPr lang="zh-CN" sz="1100" dirty="0"/>
          </a:p>
        </p:txBody>
      </p:sp>
      <p:sp>
        <p:nvSpPr>
          <p:cNvPr id="7" name="Shape 5"/>
          <p:cNvSpPr/>
          <p:nvPr/>
        </p:nvSpPr>
        <p:spPr>
          <a:xfrm>
            <a:off x="4647605" y="2230338"/>
            <a:ext cx="4107135" cy="1610469"/>
          </a:xfrm>
          <a:prstGeom prst="roundRect">
            <a:avLst>
              <a:gd name="adj" fmla="val 12676"/>
            </a:avLst>
          </a:prstGeom>
          <a:solidFill>
            <a:srgbClr val="FF7047"/>
          </a:solidFill>
          <a:ln/>
        </p:spPr>
      </p:sp>
      <p:sp>
        <p:nvSpPr>
          <p:cNvPr id="8" name="Text 6"/>
          <p:cNvSpPr/>
          <p:nvPr/>
        </p:nvSpPr>
        <p:spPr>
          <a:xfrm>
            <a:off x="4789363" y="2372097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After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9363" y="2735312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Excel 自動轉 MySQL，欄位結構化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File Watcher 偵測新檔、即時去重匯入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Streamlit UI 一鍵查詢、報表下載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月嫂行事曆自動生成、手動調整回寫</a:t>
            </a:r>
            <a:endParaRPr lang="zh-CN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302693"/>
            <a:ext cx="1070670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FF7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1345183"/>
            <a:ext cx="135775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 → AFTER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7475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配對、排班：從人工到E化</a:t>
            </a:r>
            <a:endParaRPr lang="zh-CN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37209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735312"/>
            <a:ext cx="390294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zh-CN" altLang="en-US" sz="11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（待放入圖片）</a:t>
            </a:r>
            <a:endParaRPr lang="zh-CN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人工翻名冊、電話確認意願、易遺漏</a:t>
            </a:r>
            <a:endParaRPr lang="zh-CN" sz="1100" dirty="0"/>
          </a:p>
        </p:txBody>
      </p:sp>
      <p:sp>
        <p:nvSpPr>
          <p:cNvPr id="7" name="Shape 5"/>
          <p:cNvSpPr/>
          <p:nvPr/>
        </p:nvSpPr>
        <p:spPr>
          <a:xfrm>
            <a:off x="4647605" y="2230338"/>
            <a:ext cx="4107135" cy="1610469"/>
          </a:xfrm>
          <a:prstGeom prst="roundRect">
            <a:avLst>
              <a:gd name="adj" fmla="val 12676"/>
            </a:avLst>
          </a:prstGeom>
          <a:solidFill>
            <a:srgbClr val="FF7047"/>
          </a:solidFill>
          <a:ln/>
        </p:spPr>
      </p:sp>
      <p:sp>
        <p:nvSpPr>
          <p:cNvPr id="8" name="Text 6"/>
          <p:cNvSpPr/>
          <p:nvPr/>
        </p:nvSpPr>
        <p:spPr>
          <a:xfrm>
            <a:off x="4789363" y="2372097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After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9363" y="2735312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一鍵展開：條件篩選 → 意願詢問 → 履歷發送 → 電子合約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服務人員空檔、區域、技能自動比對排序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金流狀態、契約簽署進度全追蹤</a:t>
            </a:r>
            <a:endParaRPr lang="zh-CN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排定月嫂休假、請假日期，自動計算每周工作天數</a:t>
            </a:r>
            <a:endParaRPr lang="zh-CN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080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地端部署與網路安全</a:t>
            </a:r>
            <a:endParaRPr lang="zh-CN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57313"/>
            <a:ext cx="4004965" cy="1620217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503834"/>
            <a:ext cx="425276" cy="425276"/>
          </a:xfrm>
          <a:prstGeom prst="ellipse">
            <a:avLst/>
          </a:prstGeom>
          <a:solidFill>
            <a:srgbClr val="FF704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1620738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2070869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邊界防護</a:t>
            </a:r>
            <a:endParaRPr lang="zh-CN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377380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Nginx 反向代理、SSL 加密</a:t>
            </a:r>
            <a:endParaRPr lang="zh-CN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357313"/>
            <a:ext cx="4005039" cy="1620217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9363" y="1503834"/>
            <a:ext cx="425276" cy="425276"/>
          </a:xfrm>
          <a:prstGeom prst="ellipse">
            <a:avLst/>
          </a:prstGeom>
          <a:solidFill>
            <a:srgbClr val="FF704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42" y="1620738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3" y="2070869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資料隔離</a:t>
            </a:r>
            <a:endParaRPr lang="zh-CN" sz="1350" dirty="0"/>
          </a:p>
        </p:txBody>
      </p:sp>
      <p:sp>
        <p:nvSpPr>
          <p:cNvPr id="12" name="Text 8"/>
          <p:cNvSpPr/>
          <p:nvPr/>
        </p:nvSpPr>
        <p:spPr>
          <a:xfrm>
            <a:off x="4789363" y="2377380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資料庫與操作機體分離。</a:t>
            </a:r>
            <a:endParaRPr lang="zh-CN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MySQL 僅監聽 localhost，最小化存取權限</a:t>
            </a:r>
            <a:endParaRPr lang="zh-CN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119289"/>
            <a:ext cx="4004965" cy="1393403"/>
          </a:xfrm>
          <a:prstGeom prst="roundRect">
            <a:avLst>
              <a:gd name="adj" fmla="val 915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2640" y="3265810"/>
            <a:ext cx="425276" cy="425276"/>
          </a:xfrm>
          <a:prstGeom prst="ellipse">
            <a:avLst/>
          </a:prstGeom>
          <a:solidFill>
            <a:srgbClr val="FF704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619" y="3382714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40" y="3832845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金鑰管理</a:t>
            </a:r>
            <a:endParaRPr lang="zh-CN" sz="1350" dirty="0"/>
          </a:p>
        </p:txBody>
      </p:sp>
      <p:sp>
        <p:nvSpPr>
          <p:cNvPr id="17" name="Text 12"/>
          <p:cNvSpPr/>
          <p:nvPr/>
        </p:nvSpPr>
        <p:spPr>
          <a:xfrm>
            <a:off x="642640" y="4139357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所有 API Key 存於 .env，禁止寫入原始碼</a:t>
            </a:r>
            <a:endParaRPr lang="zh-CN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119289"/>
            <a:ext cx="4005039" cy="1393403"/>
          </a:xfrm>
          <a:prstGeom prst="roundRect">
            <a:avLst>
              <a:gd name="adj" fmla="val 915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89363" y="3265810"/>
            <a:ext cx="425276" cy="425276"/>
          </a:xfrm>
          <a:prstGeom prst="ellipse">
            <a:avLst/>
          </a:prstGeom>
          <a:solidFill>
            <a:srgbClr val="FF704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6342" y="3382714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3" y="3832845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備份復原</a:t>
            </a:r>
            <a:endParaRPr lang="zh-CN" sz="1350" dirty="0"/>
          </a:p>
        </p:txBody>
      </p:sp>
      <p:sp>
        <p:nvSpPr>
          <p:cNvPr id="22" name="Text 16"/>
          <p:cNvSpPr/>
          <p:nvPr/>
        </p:nvSpPr>
        <p:spPr>
          <a:xfrm>
            <a:off x="4789363" y="4139357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Cron Job 每日自動備份至地端 NAS</a:t>
            </a:r>
            <a:endParaRPr lang="zh-CN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112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技術棧建議</a:t>
            </a:r>
            <a:endParaRPr lang="zh-CN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07629"/>
            <a:ext cx="8151763" cy="2854672"/>
          </a:xfrm>
          <a:prstGeom prst="roundRect">
            <a:avLst>
              <a:gd name="adj" fmla="val 447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512391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2714" y="1602209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模組</a:t>
            </a:r>
            <a:endParaRPr lang="zh-CN" sz="1100" dirty="0"/>
          </a:p>
        </p:txBody>
      </p:sp>
      <p:sp>
        <p:nvSpPr>
          <p:cNvPr id="6" name="Text 4"/>
          <p:cNvSpPr/>
          <p:nvPr/>
        </p:nvSpPr>
        <p:spPr>
          <a:xfrm>
            <a:off x="3087737" y="1602209"/>
            <a:ext cx="3018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推薦技術</a:t>
            </a:r>
            <a:endParaRPr lang="zh-CN" sz="1100" dirty="0"/>
          </a:p>
        </p:txBody>
      </p:sp>
      <p:sp>
        <p:nvSpPr>
          <p:cNvPr id="7" name="Text 5"/>
          <p:cNvSpPr/>
          <p:nvPr/>
        </p:nvSpPr>
        <p:spPr>
          <a:xfrm>
            <a:off x="5937498" y="1602209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說明</a:t>
            </a:r>
            <a:endParaRPr lang="zh-CN" sz="1100" dirty="0"/>
          </a:p>
        </p:txBody>
      </p:sp>
      <p:sp>
        <p:nvSpPr>
          <p:cNvPr id="8" name="Shape 6"/>
          <p:cNvSpPr/>
          <p:nvPr/>
        </p:nvSpPr>
        <p:spPr>
          <a:xfrm>
            <a:off x="500881" y="1918841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2714" y="2008659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開發語言</a:t>
            </a:r>
            <a:endParaRPr lang="zh-CN" sz="1100" dirty="0"/>
          </a:p>
        </p:txBody>
      </p:sp>
      <p:sp>
        <p:nvSpPr>
          <p:cNvPr id="10" name="Text 8"/>
          <p:cNvSpPr/>
          <p:nvPr/>
        </p:nvSpPr>
        <p:spPr>
          <a:xfrm>
            <a:off x="3087737" y="2008659"/>
            <a:ext cx="3018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 3.10+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37498" y="2008659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語意檢索與自動化</a:t>
            </a:r>
            <a:endParaRPr lang="zh-CN" sz="1100" dirty="0"/>
          </a:p>
        </p:txBody>
      </p:sp>
      <p:sp>
        <p:nvSpPr>
          <p:cNvPr id="12" name="Shape 10"/>
          <p:cNvSpPr/>
          <p:nvPr/>
        </p:nvSpPr>
        <p:spPr>
          <a:xfrm>
            <a:off x="500881" y="2325291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2714" y="2415108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後端框架</a:t>
            </a:r>
            <a:endParaRPr lang="zh-CN" sz="1100" dirty="0"/>
          </a:p>
        </p:txBody>
      </p:sp>
      <p:sp>
        <p:nvSpPr>
          <p:cNvPr id="14" name="Text 12"/>
          <p:cNvSpPr/>
          <p:nvPr/>
        </p:nvSpPr>
        <p:spPr>
          <a:xfrm>
            <a:off x="3087737" y="2415108"/>
            <a:ext cx="3018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FastAPI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37498" y="2415108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LINE Webhook API、後端UI</a:t>
            </a:r>
            <a:endParaRPr lang="zh-CN" sz="1100" dirty="0"/>
          </a:p>
        </p:txBody>
      </p:sp>
      <p:sp>
        <p:nvSpPr>
          <p:cNvPr id="16" name="Shape 14"/>
          <p:cNvSpPr/>
          <p:nvPr/>
        </p:nvSpPr>
        <p:spPr>
          <a:xfrm>
            <a:off x="500881" y="2731740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2714" y="2821558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管理員 UI</a:t>
            </a:r>
            <a:endParaRPr lang="zh-CN" sz="1100" dirty="0"/>
          </a:p>
        </p:txBody>
      </p:sp>
      <p:sp>
        <p:nvSpPr>
          <p:cNvPr id="18" name="Text 16"/>
          <p:cNvSpPr/>
          <p:nvPr/>
        </p:nvSpPr>
        <p:spPr>
          <a:xfrm>
            <a:off x="3087737" y="2821558"/>
            <a:ext cx="3018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Streamlit → React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37498" y="2821558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原型→正式產品</a:t>
            </a:r>
            <a:endParaRPr lang="zh-CN" sz="1100" dirty="0"/>
          </a:p>
        </p:txBody>
      </p:sp>
      <p:sp>
        <p:nvSpPr>
          <p:cNvPr id="20" name="Shape 18"/>
          <p:cNvSpPr/>
          <p:nvPr/>
        </p:nvSpPr>
        <p:spPr>
          <a:xfrm>
            <a:off x="500881" y="3138190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2714" y="3228008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關聯式資料庫</a:t>
            </a:r>
            <a:endParaRPr lang="zh-CN" sz="1100" dirty="0"/>
          </a:p>
        </p:txBody>
      </p:sp>
      <p:sp>
        <p:nvSpPr>
          <p:cNvPr id="22" name="Text 20"/>
          <p:cNvSpPr/>
          <p:nvPr/>
        </p:nvSpPr>
        <p:spPr>
          <a:xfrm>
            <a:off x="3087737" y="3228008"/>
            <a:ext cx="3018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MySQL 8.0+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37498" y="3228008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結構化客戶資料</a:t>
            </a:r>
            <a:endParaRPr lang="zh-CN" sz="1100" dirty="0"/>
          </a:p>
        </p:txBody>
      </p:sp>
      <p:sp>
        <p:nvSpPr>
          <p:cNvPr id="24" name="Shape 22"/>
          <p:cNvSpPr/>
          <p:nvPr/>
        </p:nvSpPr>
        <p:spPr>
          <a:xfrm>
            <a:off x="500881" y="354463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2714" y="3634457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伺服器</a:t>
            </a:r>
            <a:endParaRPr lang="zh-CN" sz="1100" dirty="0"/>
          </a:p>
        </p:txBody>
      </p:sp>
      <p:sp>
        <p:nvSpPr>
          <p:cNvPr id="26" name="Text 24"/>
          <p:cNvSpPr/>
          <p:nvPr/>
        </p:nvSpPr>
        <p:spPr>
          <a:xfrm>
            <a:off x="3087737" y="3634457"/>
            <a:ext cx="3018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NAS、地端本機</a:t>
            </a:r>
            <a:endParaRPr lang="zh-CN" sz="1100" dirty="0"/>
          </a:p>
        </p:txBody>
      </p:sp>
      <p:sp>
        <p:nvSpPr>
          <p:cNvPr id="27" name="Text 25"/>
          <p:cNvSpPr/>
          <p:nvPr/>
        </p:nvSpPr>
        <p:spPr>
          <a:xfrm>
            <a:off x="5937498" y="3634457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地端部署伺服器</a:t>
            </a:r>
            <a:endParaRPr lang="zh-CN" sz="1100" dirty="0"/>
          </a:p>
        </p:txBody>
      </p:sp>
      <p:sp>
        <p:nvSpPr>
          <p:cNvPr id="28" name="Shape 26"/>
          <p:cNvSpPr/>
          <p:nvPr/>
        </p:nvSpPr>
        <p:spPr>
          <a:xfrm>
            <a:off x="500881" y="395108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2714" y="4040907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87737" y="4040907"/>
            <a:ext cx="3018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37498" y="4040907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自行開發Harness</a:t>
            </a:r>
            <a:endParaRPr lang="zh-CN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65324"/>
            <a:ext cx="396776" cy="215354"/>
          </a:xfrm>
          <a:prstGeom prst="roundRect">
            <a:avLst>
              <a:gd name="adj" fmla="val 47398"/>
            </a:avLst>
          </a:prstGeom>
          <a:solidFill>
            <a:srgbClr val="FFD7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07814"/>
            <a:ext cx="68386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團隊</a:t>
            </a:r>
            <a:endParaRPr lang="zh-CN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73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工作分配</a:t>
            </a:r>
            <a:endParaRPr lang="zh-CN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49296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以下為本次 LINE 應用與行政流程自動化專案的團隊成員及其主要工作職責分配：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1879253"/>
            <a:ext cx="8151763" cy="2698849"/>
          </a:xfrm>
          <a:prstGeom prst="roundRect">
            <a:avLst>
              <a:gd name="adj" fmla="val 472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6119" y="2519660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930872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342084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375329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4164509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66788" y="1879253"/>
            <a:ext cx="8860" cy="26988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31641" y="1879253"/>
            <a:ext cx="8860" cy="26988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496494" y="1879253"/>
            <a:ext cx="8860" cy="26988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461346" y="1879253"/>
            <a:ext cx="8860" cy="26988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506789" y="1879253"/>
            <a:ext cx="8860" cy="26988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52233" y="1879253"/>
            <a:ext cx="8860" cy="26988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97676" y="1879253"/>
            <a:ext cx="8860" cy="26988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2789" y="1973833"/>
            <a:ext cx="12370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成員 \ 工作</a:t>
            </a:r>
            <a:endParaRPr lang="zh-CN" sz="1100" dirty="0"/>
          </a:p>
        </p:txBody>
      </p:sp>
      <p:sp>
        <p:nvSpPr>
          <p:cNvPr id="20" name="Text 18"/>
          <p:cNvSpPr/>
          <p:nvPr/>
        </p:nvSpPr>
        <p:spPr>
          <a:xfrm>
            <a:off x="1710928" y="1973833"/>
            <a:ext cx="6765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客戶需求對接</a:t>
            </a:r>
            <a:endParaRPr lang="zh-CN" sz="1100" dirty="0"/>
          </a:p>
        </p:txBody>
      </p:sp>
      <p:sp>
        <p:nvSpPr>
          <p:cNvPr id="21" name="Text 19"/>
          <p:cNvSpPr/>
          <p:nvPr/>
        </p:nvSpPr>
        <p:spPr>
          <a:xfrm>
            <a:off x="2675781" y="1973833"/>
            <a:ext cx="6765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資料庫建立</a:t>
            </a:r>
            <a:endParaRPr lang="zh-CN" sz="1100" dirty="0"/>
          </a:p>
        </p:txBody>
      </p:sp>
      <p:sp>
        <p:nvSpPr>
          <p:cNvPr id="22" name="Text 20"/>
          <p:cNvSpPr/>
          <p:nvPr/>
        </p:nvSpPr>
        <p:spPr>
          <a:xfrm>
            <a:off x="3640634" y="1973833"/>
            <a:ext cx="6765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地端環境架設</a:t>
            </a:r>
            <a:endParaRPr lang="zh-CN" sz="1100" dirty="0"/>
          </a:p>
        </p:txBody>
      </p:sp>
      <p:sp>
        <p:nvSpPr>
          <p:cNvPr id="23" name="Text 21"/>
          <p:cNvSpPr/>
          <p:nvPr/>
        </p:nvSpPr>
        <p:spPr>
          <a:xfrm>
            <a:off x="4605486" y="1973833"/>
            <a:ext cx="7571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後台 UI 與演算法</a:t>
            </a:r>
            <a:endParaRPr lang="zh-CN" sz="1100" dirty="0"/>
          </a:p>
        </p:txBody>
      </p:sp>
      <p:sp>
        <p:nvSpPr>
          <p:cNvPr id="24" name="Text 22"/>
          <p:cNvSpPr/>
          <p:nvPr/>
        </p:nvSpPr>
        <p:spPr>
          <a:xfrm>
            <a:off x="5650929" y="1973833"/>
            <a:ext cx="7571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FastAPI 開發</a:t>
            </a:r>
            <a:endParaRPr lang="zh-CN" sz="1100" dirty="0"/>
          </a:p>
        </p:txBody>
      </p:sp>
      <p:sp>
        <p:nvSpPr>
          <p:cNvPr id="25" name="Text 23"/>
          <p:cNvSpPr/>
          <p:nvPr/>
        </p:nvSpPr>
        <p:spPr>
          <a:xfrm>
            <a:off x="6696373" y="1973833"/>
            <a:ext cx="7571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LINE 應用開發</a:t>
            </a:r>
            <a:endParaRPr lang="zh-CN" sz="1100" dirty="0"/>
          </a:p>
        </p:txBody>
      </p:sp>
      <p:sp>
        <p:nvSpPr>
          <p:cNvPr id="26" name="Text 24"/>
          <p:cNvSpPr/>
          <p:nvPr/>
        </p:nvSpPr>
        <p:spPr>
          <a:xfrm>
            <a:off x="7741816" y="1973833"/>
            <a:ext cx="75954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MCP 與 Agent</a:t>
            </a:r>
            <a:endParaRPr lang="zh-CN" sz="1100" dirty="0"/>
          </a:p>
        </p:txBody>
      </p:sp>
      <p:sp>
        <p:nvSpPr>
          <p:cNvPr id="27" name="Text 25"/>
          <p:cNvSpPr/>
          <p:nvPr/>
        </p:nvSpPr>
        <p:spPr>
          <a:xfrm>
            <a:off x="642789" y="2611859"/>
            <a:ext cx="12370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子曦</a:t>
            </a:r>
            <a:endParaRPr lang="zh-CN" sz="1100" dirty="0"/>
          </a:p>
        </p:txBody>
      </p:sp>
      <p:sp>
        <p:nvSpPr>
          <p:cNvPr id="28" name="Text 26"/>
          <p:cNvSpPr/>
          <p:nvPr/>
        </p:nvSpPr>
        <p:spPr>
          <a:xfrm>
            <a:off x="1482328" y="2611859"/>
            <a:ext cx="1133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47181" y="2611859"/>
            <a:ext cx="1133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12034" y="2611859"/>
            <a:ext cx="1133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76886" y="2611859"/>
            <a:ext cx="1214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22329" y="2611859"/>
            <a:ext cx="1214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67773" y="2611859"/>
            <a:ext cx="1214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13216" y="2611859"/>
            <a:ext cx="121674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2789" y="3023071"/>
            <a:ext cx="12370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欣怡</a:t>
            </a:r>
            <a:endParaRPr lang="zh-CN" sz="1100" dirty="0"/>
          </a:p>
        </p:txBody>
      </p:sp>
      <p:sp>
        <p:nvSpPr>
          <p:cNvPr id="36" name="Text 34"/>
          <p:cNvSpPr/>
          <p:nvPr/>
        </p:nvSpPr>
        <p:spPr>
          <a:xfrm>
            <a:off x="1482328" y="3023071"/>
            <a:ext cx="1133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447181" y="3023071"/>
            <a:ext cx="1133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2034" y="3023071"/>
            <a:ext cx="1133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76886" y="3023071"/>
            <a:ext cx="1214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22329" y="3023071"/>
            <a:ext cx="1214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67773" y="3023071"/>
            <a:ext cx="1214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513216" y="3023071"/>
            <a:ext cx="121674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2789" y="3434283"/>
            <a:ext cx="12370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琬偲</a:t>
            </a:r>
            <a:endParaRPr lang="zh-CN" sz="1100" dirty="0"/>
          </a:p>
        </p:txBody>
      </p:sp>
      <p:sp>
        <p:nvSpPr>
          <p:cNvPr id="44" name="Text 42"/>
          <p:cNvSpPr/>
          <p:nvPr/>
        </p:nvSpPr>
        <p:spPr>
          <a:xfrm>
            <a:off x="1482328" y="3434283"/>
            <a:ext cx="1133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447181" y="3434283"/>
            <a:ext cx="1133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412034" y="3434283"/>
            <a:ext cx="1133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376886" y="3434283"/>
            <a:ext cx="1214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22329" y="3434283"/>
            <a:ext cx="1214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67773" y="3434283"/>
            <a:ext cx="1214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513216" y="3434283"/>
            <a:ext cx="121674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2789" y="3845496"/>
            <a:ext cx="12370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瑞祥</a:t>
            </a:r>
            <a:endParaRPr lang="zh-CN" sz="1100" dirty="0"/>
          </a:p>
        </p:txBody>
      </p:sp>
      <p:sp>
        <p:nvSpPr>
          <p:cNvPr id="52" name="Text 50"/>
          <p:cNvSpPr/>
          <p:nvPr/>
        </p:nvSpPr>
        <p:spPr>
          <a:xfrm>
            <a:off x="1482328" y="3845496"/>
            <a:ext cx="1133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447181" y="3845496"/>
            <a:ext cx="1133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412034" y="3845496"/>
            <a:ext cx="1133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376886" y="3845496"/>
            <a:ext cx="1214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22329" y="3845496"/>
            <a:ext cx="1214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67773" y="3845496"/>
            <a:ext cx="1214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513216" y="3845496"/>
            <a:ext cx="121674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2789" y="4256708"/>
            <a:ext cx="12370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翊庭</a:t>
            </a:r>
            <a:endParaRPr lang="zh-CN" sz="1100" dirty="0"/>
          </a:p>
        </p:txBody>
      </p:sp>
      <p:sp>
        <p:nvSpPr>
          <p:cNvPr id="60" name="Text 58"/>
          <p:cNvSpPr/>
          <p:nvPr/>
        </p:nvSpPr>
        <p:spPr>
          <a:xfrm>
            <a:off x="1482328" y="4256708"/>
            <a:ext cx="1133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447181" y="4256708"/>
            <a:ext cx="1133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412034" y="4256708"/>
            <a:ext cx="1133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376886" y="4256708"/>
            <a:ext cx="1214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422329" y="4256708"/>
            <a:ext cx="1214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467773" y="4256708"/>
            <a:ext cx="1214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513216" y="4256708"/>
            <a:ext cx="121674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857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驗收標準</a:t>
            </a:r>
            <a:endParaRPr lang="zh-CN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869305"/>
            <a:ext cx="8151763" cy="5847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841" y="1070297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967234" y="981001"/>
            <a:ext cx="756895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官方帳號客服溝通</a:t>
            </a:r>
            <a:endParaRPr lang="zh-CN" sz="950" dirty="0"/>
          </a:p>
        </p:txBody>
      </p:sp>
      <p:sp>
        <p:nvSpPr>
          <p:cNvPr id="6" name="Text 3"/>
          <p:cNvSpPr/>
          <p:nvPr/>
        </p:nvSpPr>
        <p:spPr>
          <a:xfrm>
            <a:off x="967234" y="1173435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zh-CN" alt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驗證官方帳號自動綁定、後台 UI 可直接發送訊息、固定訊息列表功能正常運作。</a:t>
            </a:r>
            <a:endParaRPr lang="zh-CN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521023"/>
            <a:ext cx="8151763" cy="5847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9841" y="1722016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967234" y="1632719"/>
            <a:ext cx="756895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訂單狀態追蹤</a:t>
            </a:r>
            <a:endParaRPr lang="zh-CN" sz="950" dirty="0"/>
          </a:p>
        </p:txBody>
      </p:sp>
      <p:sp>
        <p:nvSpPr>
          <p:cNvPr id="10" name="Text 6"/>
          <p:cNvSpPr/>
          <p:nvPr/>
        </p:nvSpPr>
        <p:spPr>
          <a:xfrm>
            <a:off x="967234" y="1825154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zh-CN" alt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驗證訂單狀態可自動追蹤、儀表板可顯示所有客戶進度、狀態變更通知功能正常。</a:t>
            </a:r>
            <a:endParaRPr lang="zh-CN" sz="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172742"/>
            <a:ext cx="8151763" cy="58474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9841" y="2373734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967234" y="2284437"/>
            <a:ext cx="756895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資料管理自動化</a:t>
            </a:r>
            <a:endParaRPr lang="zh-CN" sz="950" dirty="0"/>
          </a:p>
        </p:txBody>
      </p:sp>
      <p:sp>
        <p:nvSpPr>
          <p:cNvPr id="14" name="Text 9"/>
          <p:cNvSpPr/>
          <p:nvPr/>
        </p:nvSpPr>
        <p:spPr>
          <a:xfrm>
            <a:off x="967234" y="2476872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zh-CN" alt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驗證 Excel 自動轉 MySQL、File Watcher 可偵測新檔、Streamlit UI 可查詢報表。</a:t>
            </a:r>
            <a:endParaRPr lang="zh-CN" sz="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824460"/>
            <a:ext cx="8151763" cy="58474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9841" y="3025453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967234" y="2936156"/>
            <a:ext cx="756895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配對與排班 E 化</a:t>
            </a:r>
            <a:endParaRPr lang="zh-CN" sz="950" dirty="0"/>
          </a:p>
        </p:txBody>
      </p:sp>
      <p:sp>
        <p:nvSpPr>
          <p:cNvPr id="18" name="Text 12"/>
          <p:cNvSpPr/>
          <p:nvPr/>
        </p:nvSpPr>
        <p:spPr>
          <a:xfrm>
            <a:off x="967234" y="3128590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zh-CN" alt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驗證一鍵配對流程、自動比對排序、月嫂休假排班計算正確。</a:t>
            </a:r>
            <a:endParaRPr lang="zh-CN" sz="7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476179"/>
            <a:ext cx="8151763" cy="58474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9841" y="3677171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967234" y="3587874"/>
            <a:ext cx="756895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地端部署與安全</a:t>
            </a:r>
            <a:endParaRPr lang="zh-CN" sz="950" dirty="0"/>
          </a:p>
        </p:txBody>
      </p:sp>
      <p:sp>
        <p:nvSpPr>
          <p:cNvPr id="22" name="Text 15"/>
          <p:cNvSpPr/>
          <p:nvPr/>
        </p:nvSpPr>
        <p:spPr>
          <a:xfrm>
            <a:off x="967234" y="3780309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zh-CN" alt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驗證資料全存地端、無外洩風險，且備份復原機制可正常運作。</a:t>
            </a:r>
            <a:endParaRPr lang="zh-CN" sz="7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6119" y="4127897"/>
            <a:ext cx="8151763" cy="58474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9841" y="4328889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967234" y="4239592"/>
            <a:ext cx="756895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行政助理</a:t>
            </a:r>
            <a:endParaRPr lang="zh-CN" sz="950" dirty="0"/>
          </a:p>
        </p:txBody>
      </p:sp>
      <p:sp>
        <p:nvSpPr>
          <p:cNvPr id="26" name="Text 18"/>
          <p:cNvSpPr/>
          <p:nvPr/>
        </p:nvSpPr>
        <p:spPr>
          <a:xfrm>
            <a:off x="967234" y="4432027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zh-CN" alt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驗證自然語言可驅動 agent 執行搜尋、修改資料等任務。</a:t>
            </a:r>
            <a:endParaRPr lang="zh-CN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2026-07-12T05:20:16Z</dcterms:created>
  <dcterms:modified xsi:type="dcterms:W3CDTF">2026-07-12T05:20:16Z</dcterms:modified>
</cp:coreProperties>
</file>