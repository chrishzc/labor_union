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bin" ContentType="image/sv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8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337bce5b6e4c90" /><Relationship Type="http://schemas.openxmlformats.org/officeDocument/2006/relationships/extended-properties" Target="/docProps/app.xml" Id="R2888cdc91eba47a4" /><Relationship Type="http://schemas.openxmlformats.org/officeDocument/2006/relationships/officeDocument" Target="/ppt/presentation.xml" Id="R8238faa8e23541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578d6a8c654c65"/>
    <p:sldMasterId xmlns:r="http://schemas.openxmlformats.org/officeDocument/2006/relationships" id="2147483652" r:id="R2de297ac9f984444"/>
    <p:sldMasterId xmlns:r="http://schemas.openxmlformats.org/officeDocument/2006/relationships" id="2147483654" r:id="R614c3d2f3df3447f"/>
    <p:sldMasterId xmlns:r="http://schemas.openxmlformats.org/officeDocument/2006/relationships" id="2147483656" r:id="R27db9f500d694c13"/>
    <p:sldMasterId xmlns:r="http://schemas.openxmlformats.org/officeDocument/2006/relationships" id="2147483658" r:id="R4e424e5b7f644778"/>
    <p:sldMasterId xmlns:r="http://schemas.openxmlformats.org/officeDocument/2006/relationships" id="2147483660" r:id="Rb138e5e127574da2"/>
  </p:sldMasterIdLst>
  <p:notesMasterIdLst>
    <p:notesMasterId xmlns:r="http://schemas.openxmlformats.org/officeDocument/2006/relationships" r:id="R6f64334fff5344cf"/>
  </p:notesMasterIdLst>
  <p:sldIdLst>
    <p:sldId xmlns:r="http://schemas.openxmlformats.org/officeDocument/2006/relationships" id="256" r:id="R5a795e4aec644ee1"/>
    <p:sldId xmlns:r="http://schemas.openxmlformats.org/officeDocument/2006/relationships" id="257" r:id="R8259ff10bfde45f6"/>
    <p:sldId xmlns:r="http://schemas.openxmlformats.org/officeDocument/2006/relationships" id="258" r:id="R2397364c4afc43b7"/>
    <p:sldId xmlns:r="http://schemas.openxmlformats.org/officeDocument/2006/relationships" id="259" r:id="Re2c8954e53c54f88"/>
    <p:sldId xmlns:r="http://schemas.openxmlformats.org/officeDocument/2006/relationships" id="260" r:id="R5e71164a483841b4"/>
    <p:sldId xmlns:r="http://schemas.openxmlformats.org/officeDocument/2006/relationships" id="261" r:id="Rfeda3a882834479d"/>
    <p:sldId xmlns:r="http://schemas.openxmlformats.org/officeDocument/2006/relationships" id="262" r:id="R4e63ec9809de4639"/>
    <p:sldId xmlns:r="http://schemas.openxmlformats.org/officeDocument/2006/relationships" id="263" r:id="Rf94b6e32d3cb4ae8"/>
    <p:sldId xmlns:r="http://schemas.openxmlformats.org/officeDocument/2006/relationships" id="264" r:id="R12d444e2a03a46ef"/>
    <p:sldId xmlns:r="http://schemas.openxmlformats.org/officeDocument/2006/relationships" id="265" r:id="Rd09bf8cb7ca84bcd"/>
    <p:sldId xmlns:r="http://schemas.openxmlformats.org/officeDocument/2006/relationships" id="266" r:id="Re0ec346e17e14bbd"/>
    <p:sldId xmlns:r="http://schemas.openxmlformats.org/officeDocument/2006/relationships" id="267" r:id="R5d484d69345e46ee"/>
    <p:sldId xmlns:r="http://schemas.openxmlformats.org/officeDocument/2006/relationships" id="268" r:id="R2cf404eb66134468"/>
    <p:sldId xmlns:r="http://schemas.openxmlformats.org/officeDocument/2006/relationships" id="269" r:id="R67ba646dcfb94fa1"/>
    <p:sldId xmlns:r="http://schemas.openxmlformats.org/officeDocument/2006/relationships" id="270" r:id="Ra2f080a7f5b846c6"/>
    <p:sldId xmlns:r="http://schemas.openxmlformats.org/officeDocument/2006/relationships" id="271" r:id="R7654fb232e8f4910"/>
    <p:sldId xmlns:r="http://schemas.openxmlformats.org/officeDocument/2006/relationships" id="272" r:id="Rdb16022abfdc4264"/>
    <p:sldId xmlns:r="http://schemas.openxmlformats.org/officeDocument/2006/relationships" id="273" r:id="Rb9586a3413ec4e15"/>
    <p:sldId xmlns:r="http://schemas.openxmlformats.org/officeDocument/2006/relationships" id="274" r:id="R5273815e3b674eff"/>
    <p:sldId xmlns:r="http://schemas.openxmlformats.org/officeDocument/2006/relationships" id="275" r:id="R761411a13eec4d2e"/>
    <p:sldId xmlns:r="http://schemas.openxmlformats.org/officeDocument/2006/relationships" id="276" r:id="R05ccbb4e3c414db6"/>
    <p:sldId xmlns:r="http://schemas.openxmlformats.org/officeDocument/2006/relationships" id="277" r:id="R523af4fd3919444f"/>
    <p:sldId xmlns:r="http://schemas.openxmlformats.org/officeDocument/2006/relationships" id="278" r:id="R897856d6192b46c8"/>
    <p:sldId xmlns:r="http://schemas.openxmlformats.org/officeDocument/2006/relationships" id="279" r:id="R43be9f72081a40a8"/>
    <p:sldId xmlns:r="http://schemas.openxmlformats.org/officeDocument/2006/relationships" id="280" r:id="Rd9ab15229f884fbf"/>
    <p:sldId xmlns:r="http://schemas.openxmlformats.org/officeDocument/2006/relationships" id="281" r:id="Rad9818f3010a4b28"/>
    <p:sldId xmlns:r="http://schemas.openxmlformats.org/officeDocument/2006/relationships" id="282" r:id="R657febc0571243eb"/>
    <p:sldId xmlns:r="http://schemas.openxmlformats.org/officeDocument/2006/relationships" id="283" r:id="R744569680a8a4a51"/>
    <p:sldId xmlns:r="http://schemas.openxmlformats.org/officeDocument/2006/relationships" id="284" r:id="R60e79e699ac44f7a"/>
    <p:sldId xmlns:r="http://schemas.openxmlformats.org/officeDocument/2006/relationships" id="285" r:id="Reff3ee21992647c7"/>
    <p:sldId xmlns:r="http://schemas.openxmlformats.org/officeDocument/2006/relationships" id="286" r:id="Rbeaf9e92164b45a7"/>
    <p:sldId xmlns:r="http://schemas.openxmlformats.org/officeDocument/2006/relationships" id="287" r:id="R85e4d1e0527842d4"/>
    <p:sldId xmlns:r="http://schemas.openxmlformats.org/officeDocument/2006/relationships" id="288" r:id="R2b125cf38ca94cb8"/>
    <p:sldId xmlns:r="http://schemas.openxmlformats.org/officeDocument/2006/relationships" id="289" r:id="R5c534b20d97e4a71"/>
    <p:sldId xmlns:r="http://schemas.openxmlformats.org/officeDocument/2006/relationships" id="290" r:id="R6af516d546244f95"/>
    <p:sldId xmlns:r="http://schemas.openxmlformats.org/officeDocument/2006/relationships" id="291" r:id="R2dfd9ec488c24257"/>
    <p:sldId xmlns:r="http://schemas.openxmlformats.org/officeDocument/2006/relationships" id="292" r:id="Rc710f1ab2ad94497"/>
    <p:sldId xmlns:r="http://schemas.openxmlformats.org/officeDocument/2006/relationships" id="293" r:id="R40e3ecea47a64111"/>
    <p:sldId xmlns:r="http://schemas.openxmlformats.org/officeDocument/2006/relationships" id="294" r:id="R4d75090352214a18"/>
    <p:sldId xmlns:r="http://schemas.openxmlformats.org/officeDocument/2006/relationships" id="295" r:id="R036e2ceea3354ebb"/>
    <p:sldId xmlns:r="http://schemas.openxmlformats.org/officeDocument/2006/relationships" id="296" r:id="Rc93570d828e74e91"/>
    <p:sldId xmlns:r="http://schemas.openxmlformats.org/officeDocument/2006/relationships" id="297" r:id="R4946b180d8634a46"/>
    <p:sldId xmlns:r="http://schemas.openxmlformats.org/officeDocument/2006/relationships" id="298" r:id="Rbd5a51ca0e1b480b"/>
    <p:sldId xmlns:r="http://schemas.openxmlformats.org/officeDocument/2006/relationships" id="299" r:id="R04ce4f3245bb4edf"/>
    <p:sldId xmlns:r="http://schemas.openxmlformats.org/officeDocument/2006/relationships" id="300" r:id="R1a14bf85d74948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5146f3e91b47fb" /><Relationship Type="http://schemas.openxmlformats.org/officeDocument/2006/relationships/slideMaster" Target="/ppt/slideMasters/slideMaster1.xml" Id="Ree578d6a8c654c65" /><Relationship Type="http://schemas.openxmlformats.org/officeDocument/2006/relationships/slideMaster" Target="/ppt/slideMasters/slideMaster2.xml" Id="R2de297ac9f984444" /><Relationship Type="http://schemas.openxmlformats.org/officeDocument/2006/relationships/slideMaster" Target="/ppt/slideMasters/slideMaster3.xml" Id="R614c3d2f3df3447f" /><Relationship Type="http://schemas.openxmlformats.org/officeDocument/2006/relationships/slideMaster" Target="/ppt/slideMasters/slideMaster4.xml" Id="R27db9f500d694c13" /><Relationship Type="http://schemas.openxmlformats.org/officeDocument/2006/relationships/slideMaster" Target="/ppt/slideMasters/slideMaster5.xml" Id="R4e424e5b7f644778" /><Relationship Type="http://schemas.openxmlformats.org/officeDocument/2006/relationships/slideMaster" Target="/ppt/slideMasters/slideMaster6.xml" Id="Rb138e5e127574da2" /><Relationship Type="http://schemas.openxmlformats.org/officeDocument/2006/relationships/notesMaster" Target="/ppt/notesMasters/notesMaster1.xml" Id="R6f64334fff5344cf" /><Relationship Type="http://schemas.openxmlformats.org/officeDocument/2006/relationships/presProps" Target="/ppt/presProps.xml" Id="R9d1685d0b33b4e78" /><Relationship Type="http://schemas.openxmlformats.org/officeDocument/2006/relationships/tableStyles" Target="/ppt/tableStyles.xml" Id="Rcbf2dbbc39e34b3e" /><Relationship Type="http://schemas.openxmlformats.org/officeDocument/2006/relationships/slide" Target="/ppt/slides/slide1.xml" Id="R5a795e4aec644ee1" /><Relationship Type="http://schemas.openxmlformats.org/officeDocument/2006/relationships/slide" Target="/ppt/slides/slide2.xml" Id="R8259ff10bfde45f6" /><Relationship Type="http://schemas.openxmlformats.org/officeDocument/2006/relationships/slide" Target="/ppt/slides/slide3.xml" Id="R2397364c4afc43b7" /><Relationship Type="http://schemas.openxmlformats.org/officeDocument/2006/relationships/slide" Target="/ppt/slides/slide4.xml" Id="Re2c8954e53c54f88" /><Relationship Type="http://schemas.openxmlformats.org/officeDocument/2006/relationships/slide" Target="/ppt/slides/slide5.xml" Id="R5e71164a483841b4" /><Relationship Type="http://schemas.openxmlformats.org/officeDocument/2006/relationships/slide" Target="/ppt/slides/slide6.xml" Id="Rfeda3a882834479d" /><Relationship Type="http://schemas.openxmlformats.org/officeDocument/2006/relationships/slide" Target="/ppt/slides/slide7.xml" Id="R4e63ec9809de4639" /><Relationship Type="http://schemas.openxmlformats.org/officeDocument/2006/relationships/slide" Target="/ppt/slides/slide8.xml" Id="Rf94b6e32d3cb4ae8" /><Relationship Type="http://schemas.openxmlformats.org/officeDocument/2006/relationships/slide" Target="/ppt/slides/slide9.xml" Id="R12d444e2a03a46ef" /><Relationship Type="http://schemas.openxmlformats.org/officeDocument/2006/relationships/slide" Target="/ppt/slides/slide10.xml" Id="Rd09bf8cb7ca84bcd" /><Relationship Type="http://schemas.openxmlformats.org/officeDocument/2006/relationships/slide" Target="/ppt/slides/slide11.xml" Id="Re0ec346e17e14bbd" /><Relationship Type="http://schemas.openxmlformats.org/officeDocument/2006/relationships/slide" Target="/ppt/slides/slide12.xml" Id="R5d484d69345e46ee" /><Relationship Type="http://schemas.openxmlformats.org/officeDocument/2006/relationships/slide" Target="/ppt/slides/slide13.xml" Id="R2cf404eb66134468" /><Relationship Type="http://schemas.openxmlformats.org/officeDocument/2006/relationships/slide" Target="/ppt/slides/slide14.xml" Id="R67ba646dcfb94fa1" /><Relationship Type="http://schemas.openxmlformats.org/officeDocument/2006/relationships/slide" Target="/ppt/slides/slide15.xml" Id="Ra2f080a7f5b846c6" /><Relationship Type="http://schemas.openxmlformats.org/officeDocument/2006/relationships/slide" Target="/ppt/slides/slide16.xml" Id="R7654fb232e8f4910" /><Relationship Type="http://schemas.openxmlformats.org/officeDocument/2006/relationships/slide" Target="/ppt/slides/slide17.xml" Id="Rdb16022abfdc4264" /><Relationship Type="http://schemas.openxmlformats.org/officeDocument/2006/relationships/slide" Target="/ppt/slides/slide18.xml" Id="Rb9586a3413ec4e15" /><Relationship Type="http://schemas.openxmlformats.org/officeDocument/2006/relationships/slide" Target="/ppt/slides/slide19.xml" Id="R5273815e3b674eff" /><Relationship Type="http://schemas.openxmlformats.org/officeDocument/2006/relationships/slide" Target="/ppt/slides/slide20.xml" Id="R761411a13eec4d2e" /><Relationship Type="http://schemas.openxmlformats.org/officeDocument/2006/relationships/slide" Target="/ppt/slides/slide21.xml" Id="R05ccbb4e3c414db6" /><Relationship Type="http://schemas.openxmlformats.org/officeDocument/2006/relationships/slide" Target="/ppt/slides/slide22.xml" Id="R523af4fd3919444f" /><Relationship Type="http://schemas.openxmlformats.org/officeDocument/2006/relationships/slide" Target="/ppt/slides/slide23.xml" Id="R897856d6192b46c8" /><Relationship Type="http://schemas.openxmlformats.org/officeDocument/2006/relationships/slide" Target="/ppt/slides/slide24.xml" Id="R43be9f72081a40a8" /><Relationship Type="http://schemas.openxmlformats.org/officeDocument/2006/relationships/slide" Target="/ppt/slides/slide25.xml" Id="Rd9ab15229f884fbf" /><Relationship Type="http://schemas.openxmlformats.org/officeDocument/2006/relationships/slide" Target="/ppt/slides/slide26.xml" Id="Rad9818f3010a4b28" /><Relationship Type="http://schemas.openxmlformats.org/officeDocument/2006/relationships/slide" Target="/ppt/slides/slide27.xml" Id="R657febc0571243eb" /><Relationship Type="http://schemas.openxmlformats.org/officeDocument/2006/relationships/slide" Target="/ppt/slides/slide28.xml" Id="R744569680a8a4a51" /><Relationship Type="http://schemas.openxmlformats.org/officeDocument/2006/relationships/slide" Target="/ppt/slides/slide29.xml" Id="R60e79e699ac44f7a" /><Relationship Type="http://schemas.openxmlformats.org/officeDocument/2006/relationships/slide" Target="/ppt/slides/slide30.xml" Id="Reff3ee21992647c7" /><Relationship Type="http://schemas.openxmlformats.org/officeDocument/2006/relationships/slide" Target="/ppt/slides/slide31.xml" Id="Rbeaf9e92164b45a7" /><Relationship Type="http://schemas.openxmlformats.org/officeDocument/2006/relationships/slide" Target="/ppt/slides/slide32.xml" Id="R85e4d1e0527842d4" /><Relationship Type="http://schemas.openxmlformats.org/officeDocument/2006/relationships/slide" Target="/ppt/slides/slide33.xml" Id="R2b125cf38ca94cb8" /><Relationship Type="http://schemas.openxmlformats.org/officeDocument/2006/relationships/slide" Target="/ppt/slides/slide34.xml" Id="R5c534b20d97e4a71" /><Relationship Type="http://schemas.openxmlformats.org/officeDocument/2006/relationships/slide" Target="/ppt/slides/slide35.xml" Id="R6af516d546244f95" /><Relationship Type="http://schemas.openxmlformats.org/officeDocument/2006/relationships/slide" Target="/ppt/slides/slide36.xml" Id="R2dfd9ec488c24257" /><Relationship Type="http://schemas.openxmlformats.org/officeDocument/2006/relationships/slide" Target="/ppt/slides/slide37.xml" Id="Rc710f1ab2ad94497" /><Relationship Type="http://schemas.openxmlformats.org/officeDocument/2006/relationships/slide" Target="/ppt/slides/slide38.xml" Id="R40e3ecea47a64111" /><Relationship Type="http://schemas.openxmlformats.org/officeDocument/2006/relationships/slide" Target="/ppt/slides/slide39.xml" Id="R4d75090352214a18" /><Relationship Type="http://schemas.openxmlformats.org/officeDocument/2006/relationships/slide" Target="/ppt/slides/slide40.xml" Id="R036e2ceea3354ebb" /><Relationship Type="http://schemas.openxmlformats.org/officeDocument/2006/relationships/slide" Target="/ppt/slides/slide41.xml" Id="Rc93570d828e74e91" /><Relationship Type="http://schemas.openxmlformats.org/officeDocument/2006/relationships/slide" Target="/ppt/slides/slide42.xml" Id="R4946b180d8634a46" /><Relationship Type="http://schemas.openxmlformats.org/officeDocument/2006/relationships/slide" Target="/ppt/slides/slide43.xml" Id="Rbd5a51ca0e1b480b" /><Relationship Type="http://schemas.openxmlformats.org/officeDocument/2006/relationships/slide" Target="/ppt/slides/slide44.xml" Id="R04ce4f3245bb4edf" /><Relationship Type="http://schemas.openxmlformats.org/officeDocument/2006/relationships/slide" Target="/ppt/slides/slide45.xml" Id="R1a14bf85d74948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8.xml" Id="R6e2ddee0094546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32fcb287154a8c" /><Relationship Type="http://schemas.openxmlformats.org/officeDocument/2006/relationships/notesMaster" Target="/ppt/notesMasters/notesMaster1.xml" Id="R879082fa73cb4c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465f5b0b0b4fb3" /><Relationship Type="http://schemas.openxmlformats.org/officeDocument/2006/relationships/notesMaster" Target="/ppt/notesMasters/notesMaster1.xml" Id="R29c145d34bf34f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f713f861124193" /><Relationship Type="http://schemas.openxmlformats.org/officeDocument/2006/relationships/notesMaster" Target="/ppt/notesMasters/notesMaster1.xml" Id="R9ad62a33feb148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7b8ee7246347ab" /><Relationship Type="http://schemas.openxmlformats.org/officeDocument/2006/relationships/notesMaster" Target="/ppt/notesMasters/notesMaster1.xml" Id="R6b8b29f4dae648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e84fe5f6884808" /><Relationship Type="http://schemas.openxmlformats.org/officeDocument/2006/relationships/notesMaster" Target="/ppt/notesMasters/notesMaster1.xml" Id="R43c53887a79249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e89cca66354437" /><Relationship Type="http://schemas.openxmlformats.org/officeDocument/2006/relationships/notesMaster" Target="/ppt/notesMasters/notesMaster1.xml" Id="R9e184e9a4b4c4e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666f18ef214f3c" /><Relationship Type="http://schemas.openxmlformats.org/officeDocument/2006/relationships/notesMaster" Target="/ppt/notesMasters/notesMaster1.xml" Id="Rb9dbc114a5934b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7d4122688b4e3e" /><Relationship Type="http://schemas.openxmlformats.org/officeDocument/2006/relationships/notesMaster" Target="/ppt/notesMasters/notesMaster1.xml" Id="R372785d7f47e40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1b423ed49e4543" /><Relationship Type="http://schemas.openxmlformats.org/officeDocument/2006/relationships/notesMaster" Target="/ppt/notesMasters/notesMaster1.xml" Id="R656420636b1942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2f7fd2fe834bbb" /><Relationship Type="http://schemas.openxmlformats.org/officeDocument/2006/relationships/notesMaster" Target="/ppt/notesMasters/notesMaster1.xml" Id="R8246a63ade8f48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1f7c7c18354307" /><Relationship Type="http://schemas.openxmlformats.org/officeDocument/2006/relationships/notesMaster" Target="/ppt/notesMasters/notesMaster1.xml" Id="R1e788f1e2adb42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a5080336c04cd9" /><Relationship Type="http://schemas.openxmlformats.org/officeDocument/2006/relationships/notesMaster" Target="/ppt/notesMasters/notesMaster1.xml" Id="Rc9167d066d2542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64e263e84c4f0f" /><Relationship Type="http://schemas.openxmlformats.org/officeDocument/2006/relationships/notesMaster" Target="/ppt/notesMasters/notesMaster1.xml" Id="R47c315f3652e48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0b1263f4a842a0" /><Relationship Type="http://schemas.openxmlformats.org/officeDocument/2006/relationships/notesMaster" Target="/ppt/notesMasters/notesMaster1.xml" Id="R9a4dd0f218ef45b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5b250ae29274eea" /><Relationship Type="http://schemas.openxmlformats.org/officeDocument/2006/relationships/notesMaster" Target="/ppt/notesMasters/notesMaster1.xml" Id="Re9feb86e8f574b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ffad9aa93de47b6" /><Relationship Type="http://schemas.openxmlformats.org/officeDocument/2006/relationships/notesMaster" Target="/ppt/notesMasters/notesMaster1.xml" Id="R8675f1d92f2a4eb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a8ec88acc68429a" /><Relationship Type="http://schemas.openxmlformats.org/officeDocument/2006/relationships/notesMaster" Target="/ppt/notesMasters/notesMaster1.xml" Id="R7ca7dcb8bec04c4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4e6945c1bf74a62" /><Relationship Type="http://schemas.openxmlformats.org/officeDocument/2006/relationships/notesMaster" Target="/ppt/notesMasters/notesMaster1.xml" Id="R7d9526492d25491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9f7b44fe85943dd" /><Relationship Type="http://schemas.openxmlformats.org/officeDocument/2006/relationships/notesMaster" Target="/ppt/notesMasters/notesMaster1.xml" Id="R2016f475c18f4e3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9c86fd4ef5c4618" /><Relationship Type="http://schemas.openxmlformats.org/officeDocument/2006/relationships/notesMaster" Target="/ppt/notesMasters/notesMaster1.xml" Id="R98bf6b39c93347f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58d3f185094409e" /><Relationship Type="http://schemas.openxmlformats.org/officeDocument/2006/relationships/notesMaster" Target="/ppt/notesMasters/notesMaster1.xml" Id="Rf44cad1adec7459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21cd7f225e645f8" /><Relationship Type="http://schemas.openxmlformats.org/officeDocument/2006/relationships/notesMaster" Target="/ppt/notesMasters/notesMaster1.xml" Id="R47b8d180a7914ea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405131abd5f420e" /><Relationship Type="http://schemas.openxmlformats.org/officeDocument/2006/relationships/notesMaster" Target="/ppt/notesMasters/notesMaster1.xml" Id="Rbed77e95b5c84a6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a3132bf86074f80" /><Relationship Type="http://schemas.openxmlformats.org/officeDocument/2006/relationships/notesMaster" Target="/ppt/notesMasters/notesMaster1.xml" Id="Reae3f4ed1b5b428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469a1f13da44a11" /><Relationship Type="http://schemas.openxmlformats.org/officeDocument/2006/relationships/notesMaster" Target="/ppt/notesMasters/notesMaster1.xml" Id="R8a5371f6f9d8490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cc19ce0c991442b" /><Relationship Type="http://schemas.openxmlformats.org/officeDocument/2006/relationships/notesMaster" Target="/ppt/notesMasters/notesMaster1.xml" Id="Ra5c2c3abcb69460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4b075b161e34b71" /><Relationship Type="http://schemas.openxmlformats.org/officeDocument/2006/relationships/notesMaster" Target="/ppt/notesMasters/notesMaster1.xml" Id="R0537a34099cc4f1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6669b2a02fb4bb5" /><Relationship Type="http://schemas.openxmlformats.org/officeDocument/2006/relationships/notesMaster" Target="/ppt/notesMasters/notesMaster1.xml" Id="R43d1c0b01668440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09a8fec63aa4b50" /><Relationship Type="http://schemas.openxmlformats.org/officeDocument/2006/relationships/notesMaster" Target="/ppt/notesMasters/notesMaster1.xml" Id="R6448a878610b43f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ed955781be249e4" /><Relationship Type="http://schemas.openxmlformats.org/officeDocument/2006/relationships/notesMaster" Target="/ppt/notesMasters/notesMaster1.xml" Id="Rff729cac12b544d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f4d01fc001e466c" /><Relationship Type="http://schemas.openxmlformats.org/officeDocument/2006/relationships/notesMaster" Target="/ppt/notesMasters/notesMaster1.xml" Id="R2b3f773da3c84df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5e23e7bf63f49a6" /><Relationship Type="http://schemas.openxmlformats.org/officeDocument/2006/relationships/notesMaster" Target="/ppt/notesMasters/notesMaster1.xml" Id="Rcbef75992a1749f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09a3dfd4578473f" /><Relationship Type="http://schemas.openxmlformats.org/officeDocument/2006/relationships/notesMaster" Target="/ppt/notesMasters/notesMaster1.xml" Id="R0208c90400054b5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23f3b9aa1514f18" /><Relationship Type="http://schemas.openxmlformats.org/officeDocument/2006/relationships/notesMaster" Target="/ppt/notesMasters/notesMaster1.xml" Id="R6fc70e0c3bcc481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1f2eeae37eb4514" /><Relationship Type="http://schemas.openxmlformats.org/officeDocument/2006/relationships/notesMaster" Target="/ppt/notesMasters/notesMaster1.xml" Id="R42635caa44fd4c6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4a9d93b2dc94084" /><Relationship Type="http://schemas.openxmlformats.org/officeDocument/2006/relationships/notesMaster" Target="/ppt/notesMasters/notesMaster1.xml" Id="R9209d2d3bd0a44f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0e72fd5da8345ce" /><Relationship Type="http://schemas.openxmlformats.org/officeDocument/2006/relationships/notesMaster" Target="/ppt/notesMasters/notesMaster1.xml" Id="R70b477991926455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c2cc8a877054774" /><Relationship Type="http://schemas.openxmlformats.org/officeDocument/2006/relationships/notesMaster" Target="/ppt/notesMasters/notesMaster1.xml" Id="R0362cc4891b341b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790f7bc67704af9" /><Relationship Type="http://schemas.openxmlformats.org/officeDocument/2006/relationships/notesMaster" Target="/ppt/notesMasters/notesMaster1.xml" Id="Rafef65a61b5f43c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a5180dcaa7940bb" /><Relationship Type="http://schemas.openxmlformats.org/officeDocument/2006/relationships/notesMaster" Target="/ppt/notesMasters/notesMaster1.xml" Id="R21e314f65f864bf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bb1e498da564adb" /><Relationship Type="http://schemas.openxmlformats.org/officeDocument/2006/relationships/notesMaster" Target="/ppt/notesMasters/notesMaster1.xml" Id="R21e23ae5d3744f4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19b612fcd26478c" /><Relationship Type="http://schemas.openxmlformats.org/officeDocument/2006/relationships/notesMaster" Target="/ppt/notesMasters/notesMaster1.xml" Id="R48806963dc2f40b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aa21f91efd14054" /><Relationship Type="http://schemas.openxmlformats.org/officeDocument/2006/relationships/notesMaster" Target="/ppt/notesMasters/notesMaster1.xml" Id="R321e7c3bbf6d4d4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0d5067b43cc4449" /><Relationship Type="http://schemas.openxmlformats.org/officeDocument/2006/relationships/notesMaster" Target="/ppt/notesMasters/notesMaster1.xml" Id="R4be31e67fee049b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196904cc29c4322" /><Relationship Type="http://schemas.openxmlformats.org/officeDocument/2006/relationships/notesMaster" Target="/ppt/notesMasters/notesMaster1.xml" Id="Rb25393f2e4f743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README.md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document/LINE (1).pptx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README.md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document/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架構重整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/01_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規格基線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/00_Global_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共同契約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document/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架構重整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/01_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規格基線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/00_Global_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共同契約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document/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架構重整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/01_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規格基線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/01_Orders_Domain.md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document/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架構重整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/01_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規格基線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/02_Assignments_Scheduling_Domain.md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document/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架構重整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/01_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規格基線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/04_Client_Finance_Domain.md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README.md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document/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架構重整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/01_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規格基線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/00_Global_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共同契約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document/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架構重整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/01_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規格基線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/17_External_Integration_LINE_Access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正式規格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整合自使用者提供的《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LINE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流程說明簡報》，配合 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CKI101 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原簡報風格與報告脈絡重寫。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整合自使用者提供的《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LINE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流程說明簡報》，配合 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CKI101 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原簡報風格與報告脈絡重寫。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整合自使用者提供的《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LINE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流程說明簡報》，配合 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CKI101 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原簡報風格與報告脈絡重寫。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整合自使用者提供的《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LINE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流程說明簡報》，配合 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CKI101 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原簡報風格與報告脈絡重寫。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整合自使用者提供的《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LINE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流程說明簡報》，配合 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CKI101 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原簡報風格與報告脈絡重寫。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整合自使用者提供的《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LINE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流程說明簡報》，配合 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CKI101 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原簡報風格與報告脈絡重寫。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README.md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document/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架構重整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/01_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規格基線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/07_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跨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Domain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交易與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pytest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驗收架構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document/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架構重整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/01_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規格基線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/18_Global_Deployment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與治理正式規格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document/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架構重整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/01_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規格基線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/18_Global_Deployment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與治理正式規格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document/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文件整併工作區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/04_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部署架構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_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無損合併稿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document/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架構重整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/01_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規格基線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/18_Global_Deployment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與治理正式規格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document/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文件整併工作區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/04_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部署架構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_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無損合併稿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README.md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document/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架構重整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/01_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規格基線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/00_Global_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共同契約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document/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架構重整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/01_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規格基線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/18_Global_Deployment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與治理正式規格</a:t>
            </a: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ba906d5334d1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a22d6b04b845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49aa0ee97b458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01712d0beb498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e414e73fca745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116cf3ebba394ca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6bcca16335fe417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ff8dcecd65ba4dce" /><Relationship Type="http://schemas.openxmlformats.org/officeDocument/2006/relationships/image" Target="/ppt/media/image.jpeg" Id="R6f9160990b1f4499" /><Relationship Type="http://schemas.openxmlformats.org/officeDocument/2006/relationships/image" Target="/ppt/media/image.png" Id="Rce0941f8245d428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72d40d452a38403a" /><Relationship Type="http://schemas.openxmlformats.org/officeDocument/2006/relationships/image" Target="/ppt/media/image.png" Id="R5593119ddd074c9b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686059F-7886-4309-9DF1-96DBA24D06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543960"/>
            <a:ext cx="10971000" cy="603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indent="0" algn="l">
              <a:lnSpc>
                <a:spcPct val="90000"/>
              </a:lnSpc>
              <a:buNone/>
              <a:tabLst>
                <a:tab pos="0" algn="l"/>
              </a:tabLst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請按這裡編輯題名文字格式</a:t>
            </a:r>
            <a:endParaRPr sz="4400" b="0" u="non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463CF61-6B0D-4D85-B12A-DE6BF769696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08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請按這裡編輯大綱文字格式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第二個大綱層次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第三個大綱層次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第四個大綱層次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第五個大綱層次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第六個大綱層次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第七個大綱層次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6F3DEF7-1671-4377-914A-C4F5C53A37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543960"/>
            <a:ext cx="10971000" cy="603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indent="0" algn="l">
              <a:lnSpc>
                <a:spcPct val="90000"/>
              </a:lnSpc>
              <a:buNone/>
              <a:tabLst>
                <a:tab pos="0" algn="l"/>
              </a:tabLst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請按這裡編輯題名文字格式</a:t>
            </a:r>
            <a:endParaRPr sz="4400" b="0" u="non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C87FDC2-BDEF-4767-8135-EF1517AA093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08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請按這裡編輯大綱文字格式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第二個大綱層次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第三個大綱層次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第四個大綱層次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第五個大綱層次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第六個大綱層次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第七個大綱層次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預設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7C411ED-BA29-4008-B8BF-935DB5B41E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543960"/>
            <a:ext cx="10971000" cy="603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endParaRPr sz="4400" b="0" u="non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093F5E6-244E-48F8-AEA0-2B7A8CA4CFEE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09480" y="1604520"/>
            <a:ext cx="1097208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lide master 1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blank" preserve="1">
  <p:cSld name="Slide master 1_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blank" preserve="1">
  <p:cSld name="Slide master 2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hape 0">
            <a:extLst xmlns:a="http://schemas.openxmlformats.org/drawingml/2006/main">
              <a:ext uri="{FF2B5EF4-FFF2-40B4-BE49-F238E27FC236}">
                <a16:creationId xmlns:a16="http://schemas.microsoft.com/office/drawing/2014/main" id="{1CDB7F34-690D-4B8D-8DB7-7AE7DC8B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040" cy="6856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FB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hape 1">
            <a:extLst xmlns:a="http://schemas.openxmlformats.org/drawingml/2006/main">
              <a:ext uri="{FF2B5EF4-FFF2-40B4-BE49-F238E27FC236}">
                <a16:creationId xmlns:a16="http://schemas.microsoft.com/office/drawing/2014/main" id="{C097B372-3D1F-436B-91A2-B76CF93D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040" cy="6856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6F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160990b1f4499"/>
          <a:stretch xmlns:a="http://schemas.openxmlformats.org/drawingml/2006/main"/>
        </p:blipFill>
        <p:spPr>
          <a:xfrm xmlns:a="http://schemas.openxmlformats.org/drawingml/2006/main">
            <a:off x="0" y="0"/>
            <a:ext cx="12191040" cy="68569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3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941f8245d428b"/>
          <a:stretch xmlns:a="http://schemas.openxmlformats.org/drawingml/2006/main"/>
        </p:blipFill>
        <p:spPr>
          <a:xfrm xmlns:a="http://schemas.openxmlformats.org/drawingml/2006/main">
            <a:off x="11076840" y="6558840"/>
            <a:ext cx="1070640" cy="2548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51AEB83-B26E-449D-98C7-0D6B6C636A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1720" cy="114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請按這裡編輯題名文字格式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795BC1F-8FB6-494B-80C7-504D1563515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1720" cy="3976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請按這裡編輯大綱文字格式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第二個大綱層次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第三個大綱層次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第四個大綱層次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第五個大綱層次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第六個大綱層次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第七個大綱層次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1_Slide master 1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hape 0">
            <a:extLst xmlns:a="http://schemas.openxmlformats.org/drawingml/2006/main">
              <a:ext uri="{FF2B5EF4-FFF2-40B4-BE49-F238E27FC236}">
                <a16:creationId xmlns:a16="http://schemas.microsoft.com/office/drawing/2014/main" id="{895CA8C7-2CB2-4ECD-8C06-28B31912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040" cy="6856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FB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hape 1">
            <a:extLst xmlns:a="http://schemas.openxmlformats.org/drawingml/2006/main">
              <a:ext uri="{FF2B5EF4-FFF2-40B4-BE49-F238E27FC236}">
                <a16:creationId xmlns:a16="http://schemas.microsoft.com/office/drawing/2014/main" id="{78722573-6F74-49D3-B87B-F25B9DF2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040" cy="6856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6F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3119ddd074c9b"/>
          <a:stretch xmlns:a="http://schemas.openxmlformats.org/drawingml/2006/main"/>
        </p:blipFill>
        <p:spPr>
          <a:xfrm xmlns:a="http://schemas.openxmlformats.org/drawingml/2006/main">
            <a:off x="11076840" y="6558840"/>
            <a:ext cx="1070640" cy="2548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B2A80E3-21BE-4AA8-B5EC-6BC7583FC8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1720" cy="114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請按這裡編輯題名文字格式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FC75626-7700-4C9C-9D51-E4A5A6957E8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1720" cy="3976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請按這裡編輯大綱文字格式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第二個大綱層次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第三個大綱層次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第四個大綱層次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第五個大綱層次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第六個大綱層次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第七個大綱層次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ceee99417046dd" /><Relationship Type="http://schemas.openxmlformats.org/officeDocument/2006/relationships/slideLayout" Target="/ppt/slideLayouts/slideLayout1.xml" Id="R7a042429065f4232" /><Relationship Type="http://schemas.openxmlformats.org/officeDocument/2006/relationships/slideLayout" Target="/ppt/slideLayouts/slideLayout2.xml" Id="Re12a1a7fa0b54338" /><Relationship Type="http://schemas.openxmlformats.org/officeDocument/2006/relationships/slideLayout" Target="/ppt/slideLayouts/slideLayout3.xml" Id="R387af7c0946c4d3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9e83608993b4e5c" /><Relationship Type="http://schemas.openxmlformats.org/officeDocument/2006/relationships/slideLayout" Target="/ppt/slideLayouts/slideLayout4.xml" Id="R3ff81b10a5da4216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257633cc6614789" /><Relationship Type="http://schemas.openxmlformats.org/officeDocument/2006/relationships/slideLayout" Target="/ppt/slideLayouts/slideLayout5.xml" Id="Rad794d6dab6b42fb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.png" Id="Radfdb3f82d15474b" /><Relationship Type="http://schemas.openxmlformats.org/officeDocument/2006/relationships/theme" Target="/ppt/slideMasters/theme/theme5.xml" Id="Rf94f2d027f3a48dd" /><Relationship Type="http://schemas.openxmlformats.org/officeDocument/2006/relationships/slideLayout" Target="/ppt/slideLayouts/slideLayout6.xml" Id="R0284f92523244706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image" Target="/ppt/media/image.png" Id="R9b9f8ddc12bd4106" /><Relationship Type="http://schemas.openxmlformats.org/officeDocument/2006/relationships/theme" Target="/ppt/slideMasters/theme/theme6.xml" Id="R7b1b846ab9274316" /><Relationship Type="http://schemas.openxmlformats.org/officeDocument/2006/relationships/slideLayout" Target="/ppt/slideLayouts/slideLayout7.xml" Id="Rd374040798e747fc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theme" Target="/ppt/slideMasters/theme/theme7.xml" Id="R3f2f9760f3e24bd0" /><Relationship Type="http://schemas.openxmlformats.org/officeDocument/2006/relationships/slideLayout" Target="/ppt/slideLayouts/slideLayout8.xml" Id="R0d3d5feaf18f422d" /><Relationship Type="http://schemas.openxmlformats.org/officeDocument/2006/relationships/slideLayout" Target="/ppt/slideLayouts/slideLayout9.xml" Id="R7090ce2a109a498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042429065f4232"/>
    <p:sldLayoutId xmlns:r="http://schemas.openxmlformats.org/officeDocument/2006/relationships" id="2147483650" r:id="Re12a1a7fa0b54338"/>
    <p:sldLayoutId xmlns:r="http://schemas.openxmlformats.org/officeDocument/2006/relationships" id="2147483651" r:id="R387af7c0946c4d31"/>
  </p:sldLayoutIdLst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DD960D8-4083-451E-A60A-F7C21BC4C1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buNone/>
              <a:tabLst>
                <a:tab pos="0" algn="l"/>
              </a:tabLst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l">
              <a:buNone/>
              <a:tabLst>
                <a:tab pos="0" algn="l"/>
              </a:tabLst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07C7E46-B007-4762-82BC-3E813C88952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Clr>
                <a:srgbClr val="000000"/>
              </a:buClr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indent="-324000" algn="l">
              <a:buClr>
                <a:srgbClr val="000000"/>
              </a:buClr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3" r:id="R3ff81b10a5da4216"/>
  </p:sldLayoutIdLst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0123597-181D-4027-83CE-9165D5EA73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543960"/>
            <a:ext cx="10971000" cy="603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indent="0" algn="l">
              <a:lnSpc>
                <a:spcPct val="90000"/>
              </a:lnSpc>
              <a:buNone/>
              <a:tabLst>
                <a:tab pos="0" algn="l"/>
              </a:tabLst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請按這裡編輯題名文字格式</a:t>
            </a:r>
            <a:endParaRPr sz="4400" b="0" u="non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9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FBDC2DA-39AE-4CFA-BDD7-ED089E052A7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請按這裡編輯大綱文字格式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第二個大綱層次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第三個大綱層次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第四個大綱層次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第五個大綱層次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第六個大綱層次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第七個大綱層次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ad794d6dab6b42fb"/>
  </p:sldLayoutIdLst>
</p:sldMaster>
</file>

<file path=ppt/slideMasters/slideMaster4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0">
            <a:extLst xmlns:a="http://schemas.openxmlformats.org/drawingml/2006/main">
              <a:ext uri="{FF2B5EF4-FFF2-40B4-BE49-F238E27FC236}">
                <a16:creationId xmlns:a16="http://schemas.microsoft.com/office/drawing/2014/main" id="{89E89A2D-9B7D-4C00-B6F7-6E869F49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0320" cy="685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C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hape 1">
            <a:extLst xmlns:a="http://schemas.openxmlformats.org/drawingml/2006/main">
              <a:ext uri="{FF2B5EF4-FFF2-40B4-BE49-F238E27FC236}">
                <a16:creationId xmlns:a16="http://schemas.microsoft.com/office/drawing/2014/main" id="{E9E7998B-8A0E-4AA7-ADF3-2F2BDDAC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0320" cy="685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db3f82d15474b"/>
          <a:stretch xmlns:a="http://schemas.openxmlformats.org/drawingml/2006/main"/>
        </p:blipFill>
        <p:spPr>
          <a:xfrm xmlns:a="http://schemas.openxmlformats.org/drawingml/2006/main">
            <a:off x="10705320" y="6459120"/>
            <a:ext cx="1427400" cy="3394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42FAD2F-EC08-4FC4-9E3E-53F967B1FB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buNone/>
              <a:tabLst>
                <a:tab pos="0" algn="l"/>
              </a:tabLst>
              <a:defRPr sz="586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l">
              <a:buNone/>
              <a:tabLst>
                <a:tab pos="0" algn="l"/>
              </a:tabLst>
            </a:pPr>
            <a:r>
              <a:rPr sz="586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586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A2E779A-D8E3-431B-8ADC-6655E8EC993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Clr>
                <a:srgbClr val="000000"/>
              </a:buClr>
              <a:buFont typeface="Wingdings"/>
              <a:buChar char=""/>
              <a:defRPr sz="427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Clr>
                <a:srgbClr val="000000"/>
              </a:buClr>
              <a:buSzPct val="75000"/>
              <a:buFont typeface="Symbol"/>
              <a:buChar char=""/>
              <a:defRPr sz="373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Clr>
                <a:srgbClr val="000000"/>
              </a:buClr>
              <a:buSzPct val="75000"/>
              <a:buFont typeface="Symbol"/>
              <a:buChar char=""/>
              <a:defRPr sz="267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Clr>
                <a:srgbClr val="000000"/>
              </a:buClr>
              <a:buSzPct val="45000"/>
              <a:buFont typeface="Wingdings"/>
              <a:buChar char=""/>
              <a:defRPr sz="267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Clr>
                <a:srgbClr val="000000"/>
              </a:buClr>
              <a:buSzPct val="45000"/>
              <a:buFont typeface="Wingdings"/>
              <a:buChar char=""/>
              <a:defRPr sz="267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Clr>
                <a:srgbClr val="000000"/>
              </a:buClr>
              <a:buSzPct val="45000"/>
              <a:buFont typeface="Wingdings"/>
              <a:buChar char=""/>
              <a:defRPr sz="267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indent="-324000" algn="l">
              <a:buClr>
                <a:srgbClr val="000000"/>
              </a:buClr>
              <a:buFont typeface="Wingdings"/>
              <a:buChar char=""/>
            </a:pPr>
            <a:r>
              <a:rPr sz="427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42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buClr>
                <a:srgbClr val="000000"/>
              </a:buClr>
              <a:buSzPct val="75000"/>
              <a:buFont typeface="Symbol"/>
              <a:buChar char=""/>
            </a:pPr>
            <a:r>
              <a:rPr sz="373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37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buClr>
                <a:srgbClr val="000000"/>
              </a:buClr>
              <a:buSzPct val="75000"/>
              <a:buFont typeface="Symbol"/>
              <a:buChar char=""/>
            </a:pPr>
            <a:r>
              <a:rPr sz="267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2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67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2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67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2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67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2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7" r:id="R0284f92523244706"/>
  </p:sldLayoutIdLst>
</p:sldMaster>
</file>

<file path=ppt/slideMasters/slideMaster5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hape 0">
            <a:extLst xmlns:a="http://schemas.openxmlformats.org/drawingml/2006/main">
              <a:ext uri="{FF2B5EF4-FFF2-40B4-BE49-F238E27FC236}">
                <a16:creationId xmlns:a16="http://schemas.microsoft.com/office/drawing/2014/main" id="{DE906D76-6244-4DBC-9817-CBF67381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9960" cy="685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C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hape 1">
            <a:extLst xmlns:a="http://schemas.openxmlformats.org/drawingml/2006/main">
              <a:ext uri="{FF2B5EF4-FFF2-40B4-BE49-F238E27FC236}">
                <a16:creationId xmlns:a16="http://schemas.microsoft.com/office/drawing/2014/main" id="{11242E48-1AAC-4986-BBB8-292E298B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9960" cy="685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f8ddc12bd4106"/>
          <a:stretch xmlns:a="http://schemas.openxmlformats.org/drawingml/2006/main"/>
        </p:blipFill>
        <p:spPr>
          <a:xfrm xmlns:a="http://schemas.openxmlformats.org/drawingml/2006/main">
            <a:off x="10705320" y="6459120"/>
            <a:ext cx="1426680" cy="339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714A138-F8FE-4B63-951B-F7715AE1BF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buNone/>
              <a:tabLst>
                <a:tab pos="0" algn="l"/>
              </a:tabLst>
              <a:defRPr sz="586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l">
              <a:buNone/>
              <a:tabLst>
                <a:tab pos="0" algn="l"/>
              </a:tabLst>
            </a:pPr>
            <a:r>
              <a:rPr sz="586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586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4A2CBFA-ACEF-4CE0-8878-45CB835B1CE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Clr>
                <a:srgbClr val="000000"/>
              </a:buClr>
              <a:buFont typeface="Wingdings"/>
              <a:buChar char=""/>
              <a:defRPr sz="427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Clr>
                <a:srgbClr val="000000"/>
              </a:buClr>
              <a:buSzPct val="75000"/>
              <a:buFont typeface="Symbol"/>
              <a:buChar char=""/>
              <a:defRPr sz="373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Clr>
                <a:srgbClr val="000000"/>
              </a:buClr>
              <a:buSzPct val="75000"/>
              <a:buFont typeface="Symbol"/>
              <a:buChar char=""/>
              <a:defRPr sz="267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Clr>
                <a:srgbClr val="000000"/>
              </a:buClr>
              <a:buSzPct val="45000"/>
              <a:buFont typeface="Wingdings"/>
              <a:buChar char=""/>
              <a:defRPr sz="267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Clr>
                <a:srgbClr val="000000"/>
              </a:buClr>
              <a:buSzPct val="45000"/>
              <a:buFont typeface="Wingdings"/>
              <a:buChar char=""/>
              <a:defRPr sz="267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Clr>
                <a:srgbClr val="000000"/>
              </a:buClr>
              <a:buSzPct val="45000"/>
              <a:buFont typeface="Wingdings"/>
              <a:buChar char=""/>
              <a:defRPr sz="267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indent="-324000" algn="l">
              <a:buClr>
                <a:srgbClr val="000000"/>
              </a:buClr>
              <a:buFont typeface="Wingdings"/>
              <a:buChar char=""/>
            </a:pPr>
            <a:r>
              <a:rPr sz="427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42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buClr>
                <a:srgbClr val="000000"/>
              </a:buClr>
              <a:buSzPct val="75000"/>
              <a:buFont typeface="Symbol"/>
              <a:buChar char=""/>
            </a:pPr>
            <a:r>
              <a:rPr sz="373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37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buClr>
                <a:srgbClr val="000000"/>
              </a:buClr>
              <a:buSzPct val="75000"/>
              <a:buFont typeface="Symbol"/>
              <a:buChar char=""/>
            </a:pPr>
            <a:r>
              <a:rPr sz="267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2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67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2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67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2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67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2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9" r:id="Rd374040798e747fc"/>
  </p:sldLayoutIdLst>
</p:sldMaster>
</file>

<file path=ppt/slideMasters/slideMaster6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0d3d5feaf18f422d"/>
    <p:sldLayoutId xmlns:r="http://schemas.openxmlformats.org/officeDocument/2006/relationships" id="2147483662" r:id="R7090ce2a109a498a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Masters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Masters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Masters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01fd4f34f4aa0" /><Relationship Type="http://schemas.openxmlformats.org/officeDocument/2006/relationships/notesSlide" Target="/ppt/notesSlides/notesSlide1.xml" Id="Ra1f9d4bef7544f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29d2b7e87409c" /><Relationship Type="http://schemas.openxmlformats.org/officeDocument/2006/relationships/notesSlide" Target="/ppt/notesSlides/notesSlide2.xml" Id="Radde4463d5b847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186f09cae463d" /><Relationship Type="http://schemas.openxmlformats.org/officeDocument/2006/relationships/notesSlide" Target="/ppt/notesSlides/notesSlide3.xml" Id="R3db30ffd51644f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0142fb853884fca" /><Relationship Type="http://schemas.openxmlformats.org/officeDocument/2006/relationships/notesSlide" Target="/ppt/notesSlides/notesSlide4.xml" Id="R0ba37756a1214e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281a747d34546a2" /><Relationship Type="http://schemas.openxmlformats.org/officeDocument/2006/relationships/notesSlide" Target="/ppt/notesSlides/notesSlide5.xml" Id="R9daca843927945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421d4c55346cc" /><Relationship Type="http://schemas.openxmlformats.org/officeDocument/2006/relationships/notesSlide" Target="/ppt/notesSlides/notesSlide6.xml" Id="R1444c0766f3b47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15f192030994b06" /><Relationship Type="http://schemas.openxmlformats.org/officeDocument/2006/relationships/notesSlide" Target="/ppt/notesSlides/notesSlide7.xml" Id="Rf49298cd15f04a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c2aded0024e64" /><Relationship Type="http://schemas.openxmlformats.org/officeDocument/2006/relationships/notesSlide" Target="/ppt/notesSlides/notesSlide8.xml" Id="R819d9ac8135943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b0cc5da3d4a41" /><Relationship Type="http://schemas.openxmlformats.org/officeDocument/2006/relationships/notesSlide" Target="/ppt/notesSlides/notesSlide9.xml" Id="Re35f2623191547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f83b4638ce3498a" /><Relationship Type="http://schemas.openxmlformats.org/officeDocument/2006/relationships/image" Target="/ppt/media/image2.png" Id="Rf0ea3087a4584335" /><Relationship Type="http://schemas.openxmlformats.org/officeDocument/2006/relationships/image" Target="/ppt/media/image3.png" Id="Rb087f7d16337464e" /><Relationship Type="http://schemas.openxmlformats.org/officeDocument/2006/relationships/image" Target="/ppt/media/image4.png" Id="Rb44edbd9fbac4dd8" /><Relationship Type="http://schemas.openxmlformats.org/officeDocument/2006/relationships/image" Target="/ppt/media/image5.png" Id="R654ec6ecb41b4c3f" /><Relationship Type="http://schemas.openxmlformats.org/officeDocument/2006/relationships/notesSlide" Target="/ppt/notesSlides/notesSlide10.xml" Id="R65135926c62448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be6f987afa340b7" /><Relationship Type="http://schemas.openxmlformats.org/officeDocument/2006/relationships/image" Target="/ppt/media/image6.png" Id="R7c52a9c620964b78" /><Relationship Type="http://schemas.openxmlformats.org/officeDocument/2006/relationships/image" Target="/ppt/media/image7.png" Id="Rb148266938344890" /><Relationship Type="http://schemas.openxmlformats.org/officeDocument/2006/relationships/image" Target="/ppt/media/image8.png" Id="R945451e694a44f07" /><Relationship Type="http://schemas.openxmlformats.org/officeDocument/2006/relationships/image" Target="/ppt/media/image9.png" Id="R68b3937ead014e83" /><Relationship Type="http://schemas.openxmlformats.org/officeDocument/2006/relationships/notesSlide" Target="/ppt/notesSlides/notesSlide11.xml" Id="Reb06cc28188243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b3803577498489c" /><Relationship Type="http://schemas.openxmlformats.org/officeDocument/2006/relationships/image" Target="/ppt/media/image10.png" Id="R3ed386a31e424f39" /><Relationship Type="http://schemas.openxmlformats.org/officeDocument/2006/relationships/image" Target="/ppt/media/image11.png" Id="Rb0cab9ccae4a4ec2" /><Relationship Type="http://schemas.openxmlformats.org/officeDocument/2006/relationships/image" Target="/ppt/media/image12.png" Id="R9884b28890254fe3" /><Relationship Type="http://schemas.openxmlformats.org/officeDocument/2006/relationships/image" Target="/ppt/media/image6.png" Id="Rce3ec9a8b6b14c7a" /><Relationship Type="http://schemas.openxmlformats.org/officeDocument/2006/relationships/image" Target="/ppt/media/image13.png" Id="R09c9194797a449a0" /><Relationship Type="http://schemas.openxmlformats.org/officeDocument/2006/relationships/notesSlide" Target="/ppt/notesSlides/notesSlide12.xml" Id="Re1451a1e3a1444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3d2bc84351c4e71" /><Relationship Type="http://schemas.openxmlformats.org/officeDocument/2006/relationships/notesSlide" Target="/ppt/notesSlides/notesSlide13.xml" Id="R1be9cfafb0fa42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b856f1f84bc4bae" /><Relationship Type="http://schemas.openxmlformats.org/officeDocument/2006/relationships/notesSlide" Target="/ppt/notesSlides/notesSlide14.xml" Id="Rccd58212d32b42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6044f5ed9284335" /><Relationship Type="http://schemas.openxmlformats.org/officeDocument/2006/relationships/notesSlide" Target="/ppt/notesSlides/notesSlide15.xml" Id="R3cebef06bde74f8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5cb791e7a1e4f1e" /><Relationship Type="http://schemas.openxmlformats.org/officeDocument/2006/relationships/image" Target="/ppt/media/image14.png" Id="Rb0f920fffaed42a0" /><Relationship Type="http://schemas.openxmlformats.org/officeDocument/2006/relationships/image" Target="/ppt/media/image15.png" Id="Red6af33e105b4fcf" /><Relationship Type="http://schemas.openxmlformats.org/officeDocument/2006/relationships/notesSlide" Target="/ppt/notesSlides/notesSlide16.xml" Id="R9a00fadd158d45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72e5f9960ac41e5" /><Relationship Type="http://schemas.openxmlformats.org/officeDocument/2006/relationships/notesSlide" Target="/ppt/notesSlides/notesSlide17.xml" Id="Rec95e92dfab642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c502d77a64f4a" /><Relationship Type="http://schemas.openxmlformats.org/officeDocument/2006/relationships/notesSlide" Target="/ppt/notesSlides/notesSlide18.xml" Id="Ra62dcba235e34e4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fe522597a404323" /><Relationship Type="http://schemas.openxmlformats.org/officeDocument/2006/relationships/notesSlide" Target="/ppt/notesSlides/notesSlide19.xml" Id="R7628cb2adbd24bd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a0082ee108f4bf8" /><Relationship Type="http://schemas.openxmlformats.org/officeDocument/2006/relationships/notesSlide" Target="/ppt/notesSlides/notesSlide20.xml" Id="R238c1d8c2e4e408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62fc7dca8374a96" /><Relationship Type="http://schemas.openxmlformats.org/officeDocument/2006/relationships/notesSlide" Target="/ppt/notesSlides/notesSlide21.xml" Id="R48e70805b426476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4d5c122703c4102" /><Relationship Type="http://schemas.openxmlformats.org/officeDocument/2006/relationships/notesSlide" Target="/ppt/notesSlides/notesSlide22.xml" Id="Re0bafa2f61ad46b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ef44d2ca16746b3" /><Relationship Type="http://schemas.openxmlformats.org/officeDocument/2006/relationships/notesSlide" Target="/ppt/notesSlides/notesSlide23.xml" Id="Rc863965594704dd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0446415be944d9a" /><Relationship Type="http://schemas.openxmlformats.org/officeDocument/2006/relationships/notesSlide" Target="/ppt/notesSlides/notesSlide24.xml" Id="Raac3785b62824ad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8478cedbedf94eca" /><Relationship Type="http://schemas.openxmlformats.org/officeDocument/2006/relationships/image" Target="/ppt/media/image16.png" Id="R9b02e3bf5af14982" /><Relationship Type="http://schemas.openxmlformats.org/officeDocument/2006/relationships/image" Target="/ppt/media/image17.png" Id="R4ae1152391bc401e" /><Relationship Type="http://schemas.openxmlformats.org/officeDocument/2006/relationships/notesSlide" Target="/ppt/notesSlides/notesSlide25.xml" Id="Reff6d8a9de39432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a96628689c44c59" /><Relationship Type="http://schemas.openxmlformats.org/officeDocument/2006/relationships/notesSlide" Target="/ppt/notesSlides/notesSlide26.xml" Id="R91e3a64262b043c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72ecf6702134938" /><Relationship Type="http://schemas.openxmlformats.org/officeDocument/2006/relationships/notesSlide" Target="/ppt/notesSlides/notesSlide27.xml" Id="Rf893a1cfca6b4b3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6b0c88149284707" /><Relationship Type="http://schemas.openxmlformats.org/officeDocument/2006/relationships/notesSlide" Target="/ppt/notesSlides/notesSlide28.xml" Id="Rc6d54f622330431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3d3b1682591488d" /><Relationship Type="http://schemas.openxmlformats.org/officeDocument/2006/relationships/notesSlide" Target="/ppt/notesSlides/notesSlide29.xml" Id="R1ea1cd8aca2945a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344b44053374bc1" /><Relationship Type="http://schemas.openxmlformats.org/officeDocument/2006/relationships/notesSlide" Target="/ppt/notesSlides/notesSlide30.xml" Id="R2edca10b9e444ef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c34192d354d2c" /><Relationship Type="http://schemas.openxmlformats.org/officeDocument/2006/relationships/notesSlide" Target="/ppt/notesSlides/notesSlide31.xml" Id="Rac9ed460613a4ae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8149a28b5b6044bd" /><Relationship Type="http://schemas.openxmlformats.org/officeDocument/2006/relationships/image" Target="/ppt/media/image.bin" Id="R69ca13c530584009" /><Relationship Type="http://schemas.openxmlformats.org/officeDocument/2006/relationships/image" Target="/ppt/media/image2.bin" Id="Rf423d3c7bba94650" /><Relationship Type="http://schemas.openxmlformats.org/officeDocument/2006/relationships/image" Target="/ppt/media/image3.bin" Id="R13c68d3845d24070" /><Relationship Type="http://schemas.openxmlformats.org/officeDocument/2006/relationships/image" Target="/ppt/media/image4.bin" Id="R4b3a85709ff14938" /><Relationship Type="http://schemas.openxmlformats.org/officeDocument/2006/relationships/notesSlide" Target="/ppt/notesSlides/notesSlide32.xml" Id="Re065d327df754e8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4fd7d5a6674aaa" /><Relationship Type="http://schemas.openxmlformats.org/officeDocument/2006/relationships/notesSlide" Target="/ppt/notesSlides/notesSlide33.xml" Id="R9325456e233743d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8fe32229c4420" /><Relationship Type="http://schemas.openxmlformats.org/officeDocument/2006/relationships/notesSlide" Target="/ppt/notesSlides/notesSlide34.xml" Id="R51a306242a684cb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a2674d1cb4465" /><Relationship Type="http://schemas.openxmlformats.org/officeDocument/2006/relationships/notesSlide" Target="/ppt/notesSlides/notesSlide35.xml" Id="R3a31f5a7afc64c9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67379965f2465a" /><Relationship Type="http://schemas.openxmlformats.org/officeDocument/2006/relationships/image" Target="/ppt/media/image5.bin" Id="R215e68989e164b9d" /><Relationship Type="http://schemas.openxmlformats.org/officeDocument/2006/relationships/image" Target="/ppt/media/image18.png" Id="R3b01e1b3ee8f4eaa" /><Relationship Type="http://schemas.openxmlformats.org/officeDocument/2006/relationships/notesSlide" Target="/ppt/notesSlides/notesSlide36.xml" Id="R91f881647c0d40a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4ed7b34d24c12" /><Relationship Type="http://schemas.openxmlformats.org/officeDocument/2006/relationships/image" Target="/ppt/media/image19.png" Id="R459277e633874d0f" /><Relationship Type="http://schemas.openxmlformats.org/officeDocument/2006/relationships/notesSlide" Target="/ppt/notesSlides/notesSlide37.xml" Id="R49352e46e94440c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bf18b548294201" /><Relationship Type="http://schemas.openxmlformats.org/officeDocument/2006/relationships/image" Target="/ppt/media/image6.bin" Id="R6dae38277aec4f37" /><Relationship Type="http://schemas.openxmlformats.org/officeDocument/2006/relationships/image" Target="/ppt/media/image7.bin" Id="R3eeaffd29fc44190" /><Relationship Type="http://schemas.openxmlformats.org/officeDocument/2006/relationships/image" Target="/ppt/media/image8.bin" Id="R07ab39b82ab84967" /><Relationship Type="http://schemas.openxmlformats.org/officeDocument/2006/relationships/image" Target="/ppt/media/image9.bin" Id="R3a81d3c49bba40f8" /><Relationship Type="http://schemas.openxmlformats.org/officeDocument/2006/relationships/notesSlide" Target="/ppt/notesSlides/notesSlide38.xml" Id="R3538e93b6db2402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1e0d686a584f1e" /><Relationship Type="http://schemas.openxmlformats.org/officeDocument/2006/relationships/image" Target="/ppt/media/image20.png" Id="R01d24dee5887404c" /><Relationship Type="http://schemas.openxmlformats.org/officeDocument/2006/relationships/notesSlide" Target="/ppt/notesSlides/notesSlide39.xml" Id="R100382e80cd64db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e20c560cd04e67" /><Relationship Type="http://schemas.openxmlformats.org/officeDocument/2006/relationships/image" Target="/ppt/media/image10.bin" Id="R258688e52fd14b0b" /><Relationship Type="http://schemas.openxmlformats.org/officeDocument/2006/relationships/image" Target="/ppt/media/image11.bin" Id="R71080df48f034e7b" /><Relationship Type="http://schemas.openxmlformats.org/officeDocument/2006/relationships/image" Target="/ppt/media/image12.bin" Id="Ra82a8b0f3da640b0" /><Relationship Type="http://schemas.openxmlformats.org/officeDocument/2006/relationships/image" Target="/ppt/media/image13.bin" Id="R0f39818244f74ec2" /><Relationship Type="http://schemas.openxmlformats.org/officeDocument/2006/relationships/notesSlide" Target="/ppt/notesSlides/notesSlide40.xml" Id="Rcd60c1a964b044f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9ee283fb154539" /><Relationship Type="http://schemas.openxmlformats.org/officeDocument/2006/relationships/image" Target="/ppt/media/image14.bin" Id="R2e06f31c2b674d00" /><Relationship Type="http://schemas.openxmlformats.org/officeDocument/2006/relationships/notesSlide" Target="/ppt/notesSlides/notesSlide41.xml" Id="R4b0c6030611d42c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1af93c1c104c32" /><Relationship Type="http://schemas.openxmlformats.org/officeDocument/2006/relationships/image" Target="/ppt/media/image15.bin" Id="Rf4294cdcfd3c49d1" /><Relationship Type="http://schemas.openxmlformats.org/officeDocument/2006/relationships/notesSlide" Target="/ppt/notesSlides/notesSlide42.xml" Id="R20c926583305474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7e3b44fad1c4ec4" /><Relationship Type="http://schemas.openxmlformats.org/officeDocument/2006/relationships/image" Target="/ppt/media/image21.png" Id="R29162e3976fa4b30" /><Relationship Type="http://schemas.openxmlformats.org/officeDocument/2006/relationships/notesSlide" Target="/ppt/notesSlides/notesSlide43.xml" Id="Rd1abe6eaefa6416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82900ffcd94220" /><Relationship Type="http://schemas.openxmlformats.org/officeDocument/2006/relationships/notesSlide" Target="/ppt/notesSlides/notesSlide44.xml" Id="R58f94293abea4c7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9007686d240f5" /><Relationship Type="http://schemas.openxmlformats.org/officeDocument/2006/relationships/notesSlide" Target="/ppt/notesSlides/notesSlide45.xml" Id="Reaf85768456640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E26063-3317-4556-A3A4-06A0B990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880" y="-571680"/>
            <a:ext cx="5617800" cy="7427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E0821A-1402-49E6-A318-78CE5DB6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400" y="1523880"/>
            <a:ext cx="2855880" cy="2855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857C07-A999-4EF9-82D8-B1AFC1FE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781200"/>
            <a:ext cx="44748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50" b="1" u="none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工會行政流程 </a:t>
            </a:r>
            <a:r>
              <a:rPr sz="1650" b="1" u="none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E </a:t>
            </a:r>
            <a:r>
              <a:rPr sz="1650" b="1" u="none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化與自動化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155B54-91CE-493D-94DE-97766EEC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1504800"/>
            <a:ext cx="6189480" cy="171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540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CKI101 </a:t>
            </a:r>
            <a:r>
              <a:rPr sz="540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第三組專案成果發表</a:t>
            </a:r>
            <a:endParaRPr sz="5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8B7F5E-67AC-4B9A-9A22-1255B616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40" y="3619440"/>
            <a:ext cx="5617800" cy="85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32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月子照顧服務工會數位轉型成果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EA233C-745C-4454-AD3F-3BE73DFC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40" y="5191200"/>
            <a:ext cx="5903640" cy="39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流程 </a:t>
            </a:r>
            <a:r>
              <a:rPr sz="180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E </a:t>
            </a:r>
            <a:r>
              <a:rPr sz="180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化 </a:t>
            </a:r>
            <a:r>
              <a:rPr sz="180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× </a:t>
            </a:r>
            <a:r>
              <a:rPr sz="180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安全自動化 </a:t>
            </a:r>
            <a:r>
              <a:rPr sz="180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× </a:t>
            </a:r>
            <a:r>
              <a:rPr sz="180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跨地協作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732250-DD6D-442F-ADC1-E7C688AD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440" y="419040"/>
            <a:ext cx="132840" cy="742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4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4027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1EEDE1-916A-4539-A897-17038B54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報告大綱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大綱序號 01">
            <a:extLst xmlns:a="http://schemas.openxmlformats.org/drawingml/2006/main">
              <a:ext uri="{FF2B5EF4-FFF2-40B4-BE49-F238E27FC236}">
                <a16:creationId xmlns:a16="http://schemas.microsoft.com/office/drawing/2014/main" id="{FAC1C533-0254-41EC-9B7C-2CC42361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0" y="1981080"/>
            <a:ext cx="323640" cy="323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F4D"/>
          </a:solidFill>
          <a:ln xmlns:a="http://schemas.openxmlformats.org/drawingml/2006/main" w="9525">
            <a:solidFill>
              <a:srgbClr val="B96F4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  <a:endParaRPr sz="14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大綱標題 01">
            <a:extLst xmlns:a="http://schemas.openxmlformats.org/drawingml/2006/main">
              <a:ext uri="{FF2B5EF4-FFF2-40B4-BE49-F238E27FC236}">
                <a16:creationId xmlns:a16="http://schemas.microsoft.com/office/drawing/2014/main" id="{086FCB5D-71A7-4C88-8982-A553B19F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840" y="1952640"/>
            <a:ext cx="385740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專案管理與團隊分工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大綱說明 01">
            <a:extLst xmlns:a="http://schemas.openxmlformats.org/drawingml/2006/main">
              <a:ext uri="{FF2B5EF4-FFF2-40B4-BE49-F238E27FC236}">
                <a16:creationId xmlns:a16="http://schemas.microsoft.com/office/drawing/2014/main" id="{B2E6E1AB-1A6D-4026-921A-B10F0BD8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840" y="2286000"/>
            <a:ext cx="38574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0" u="none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成員角色、工作範圍與開發時程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大綱分隔 01">
            <a:extLst xmlns:a="http://schemas.openxmlformats.org/drawingml/2006/main">
              <a:ext uri="{FF2B5EF4-FFF2-40B4-BE49-F238E27FC236}">
                <a16:creationId xmlns:a16="http://schemas.microsoft.com/office/drawing/2014/main" id="{D7B06CD7-5902-435D-98DE-E42BEF46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840" y="2752560"/>
            <a:ext cx="385740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0B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5640" rIns="90000" bIns="-35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大綱序號 02">
            <a:extLst xmlns:a="http://schemas.openxmlformats.org/drawingml/2006/main">
              <a:ext uri="{FF2B5EF4-FFF2-40B4-BE49-F238E27FC236}">
                <a16:creationId xmlns:a16="http://schemas.microsoft.com/office/drawing/2014/main" id="{302F28D5-F0CE-4001-BA01-38AA1B14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0" y="1981080"/>
            <a:ext cx="323640" cy="323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F4D"/>
          </a:solidFill>
          <a:ln xmlns:a="http://schemas.openxmlformats.org/drawingml/2006/main" w="9525">
            <a:solidFill>
              <a:srgbClr val="B96F4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  <a:endParaRPr sz="14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大綱標題 02">
            <a:extLst xmlns:a="http://schemas.openxmlformats.org/drawingml/2006/main">
              <a:ext uri="{FF2B5EF4-FFF2-40B4-BE49-F238E27FC236}">
                <a16:creationId xmlns:a16="http://schemas.microsoft.com/office/drawing/2014/main" id="{79F02F8D-2797-471F-BAB2-7144546B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080" y="1952640"/>
            <a:ext cx="385740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需求釐清與資料基礎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大綱說明 02">
            <a:extLst xmlns:a="http://schemas.openxmlformats.org/drawingml/2006/main">
              <a:ext uri="{FF2B5EF4-FFF2-40B4-BE49-F238E27FC236}">
                <a16:creationId xmlns:a16="http://schemas.microsoft.com/office/drawing/2014/main" id="{94903021-2DD9-4DAA-BB48-6E5EF2D0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080" y="2286000"/>
            <a:ext cx="38574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0" u="none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公會流程、資料結構與實測回饋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大綱分隔 02">
            <a:extLst xmlns:a="http://schemas.openxmlformats.org/drawingml/2006/main">
              <a:ext uri="{FF2B5EF4-FFF2-40B4-BE49-F238E27FC236}">
                <a16:creationId xmlns:a16="http://schemas.microsoft.com/office/drawing/2014/main" id="{443C9DE5-9CC9-4DD7-A17B-D4C2C65D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080" y="2752560"/>
            <a:ext cx="385740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0B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5640" rIns="90000" bIns="-35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大綱序號 03">
            <a:extLst xmlns:a="http://schemas.openxmlformats.org/drawingml/2006/main">
              <a:ext uri="{FF2B5EF4-FFF2-40B4-BE49-F238E27FC236}">
                <a16:creationId xmlns:a16="http://schemas.microsoft.com/office/drawing/2014/main" id="{2F0FAFCE-FCF4-44C8-9754-EA818730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0" y="3505320"/>
            <a:ext cx="323640" cy="323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F4D"/>
          </a:solidFill>
          <a:ln xmlns:a="http://schemas.openxmlformats.org/drawingml/2006/main" w="9525">
            <a:solidFill>
              <a:srgbClr val="B96F4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  <a:endParaRPr sz="14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大綱標題 03">
            <a:extLst xmlns:a="http://schemas.openxmlformats.org/drawingml/2006/main">
              <a:ext uri="{FF2B5EF4-FFF2-40B4-BE49-F238E27FC236}">
                <a16:creationId xmlns:a16="http://schemas.microsoft.com/office/drawing/2014/main" id="{478C290C-6130-48A3-B47E-9E8453C3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840" y="3476520"/>
            <a:ext cx="385740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系統架構與後台實作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大綱說明 03">
            <a:extLst xmlns:a="http://schemas.openxmlformats.org/drawingml/2006/main">
              <a:ext uri="{FF2B5EF4-FFF2-40B4-BE49-F238E27FC236}">
                <a16:creationId xmlns:a16="http://schemas.microsoft.com/office/drawing/2014/main" id="{517A8F1B-24EF-46B9-8FA5-32740EB7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840" y="3809880"/>
            <a:ext cx="38574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0" u="none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系統分層、管理後台與核心模組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大綱分隔 03">
            <a:extLst xmlns:a="http://schemas.openxmlformats.org/drawingml/2006/main">
              <a:ext uri="{FF2B5EF4-FFF2-40B4-BE49-F238E27FC236}">
                <a16:creationId xmlns:a16="http://schemas.microsoft.com/office/drawing/2014/main" id="{E3C69D34-DB71-4AAF-B4BB-2B3589F6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840" y="4276800"/>
            <a:ext cx="385740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0B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5640" rIns="90000" bIns="-35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大綱序號 04">
            <a:extLst xmlns:a="http://schemas.openxmlformats.org/drawingml/2006/main">
              <a:ext uri="{FF2B5EF4-FFF2-40B4-BE49-F238E27FC236}">
                <a16:creationId xmlns:a16="http://schemas.microsoft.com/office/drawing/2014/main" id="{06E3B623-4932-41AA-B9B1-8BCAC56B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0" y="3505320"/>
            <a:ext cx="323640" cy="323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F4D"/>
          </a:solidFill>
          <a:ln xmlns:a="http://schemas.openxmlformats.org/drawingml/2006/main" w="9525">
            <a:solidFill>
              <a:srgbClr val="B96F4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  <a:endParaRPr sz="14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大綱標題 04">
            <a:extLst xmlns:a="http://schemas.openxmlformats.org/drawingml/2006/main">
              <a:ext uri="{FF2B5EF4-FFF2-40B4-BE49-F238E27FC236}">
                <a16:creationId xmlns:a16="http://schemas.microsoft.com/office/drawing/2014/main" id="{82645A16-F139-4EA1-AACD-9E63F040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080" y="3476520"/>
            <a:ext cx="385740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LINE </a:t>
            </a:r>
            <a:r>
              <a:rPr sz="1500" b="1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服務流程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大綱說明 04">
            <a:extLst xmlns:a="http://schemas.openxmlformats.org/drawingml/2006/main">
              <a:ext uri="{FF2B5EF4-FFF2-40B4-BE49-F238E27FC236}">
                <a16:creationId xmlns:a16="http://schemas.microsoft.com/office/drawing/2014/main" id="{1E14F7BE-327A-4E0E-A5B4-E5C8E415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080" y="3809880"/>
            <a:ext cx="38574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0" u="none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客戶、月嫂與後台的互動設計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大綱分隔 04">
            <a:extLst xmlns:a="http://schemas.openxmlformats.org/drawingml/2006/main">
              <a:ext uri="{FF2B5EF4-FFF2-40B4-BE49-F238E27FC236}">
                <a16:creationId xmlns:a16="http://schemas.microsoft.com/office/drawing/2014/main" id="{ADD9078A-035B-4EAA-8BED-863E719F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080" y="4276800"/>
            <a:ext cx="385740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0B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5640" rIns="90000" bIns="-35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大綱序號 05">
            <a:extLst xmlns:a="http://schemas.openxmlformats.org/drawingml/2006/main">
              <a:ext uri="{FF2B5EF4-FFF2-40B4-BE49-F238E27FC236}">
                <a16:creationId xmlns:a16="http://schemas.microsoft.com/office/drawing/2014/main" id="{A93FF787-47EE-4EFF-9088-478112FB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0" y="5029200"/>
            <a:ext cx="323640" cy="323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F4D"/>
          </a:solidFill>
          <a:ln xmlns:a="http://schemas.openxmlformats.org/drawingml/2006/main" w="9525">
            <a:solidFill>
              <a:srgbClr val="B96F4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05</a:t>
            </a:r>
            <a:endParaRPr sz="14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大綱標題 05">
            <a:extLst xmlns:a="http://schemas.openxmlformats.org/drawingml/2006/main">
              <a:ext uri="{FF2B5EF4-FFF2-40B4-BE49-F238E27FC236}">
                <a16:creationId xmlns:a16="http://schemas.microsoft.com/office/drawing/2014/main" id="{AC3EDFA6-FE67-4E0D-8E9A-0789883F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840" y="5000760"/>
            <a:ext cx="385740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品質驗證與 </a:t>
            </a:r>
            <a:r>
              <a:rPr sz="1500" b="1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CI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大綱說明 05">
            <a:extLst xmlns:a="http://schemas.openxmlformats.org/drawingml/2006/main">
              <a:ext uri="{FF2B5EF4-FFF2-40B4-BE49-F238E27FC236}">
                <a16:creationId xmlns:a16="http://schemas.microsoft.com/office/drawing/2014/main" id="{832BC059-F30D-459D-9026-A7EE6BA8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840" y="5334120"/>
            <a:ext cx="38574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0" u="none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程式測試、持續整合與問題追蹤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大綱分隔 05">
            <a:extLst xmlns:a="http://schemas.openxmlformats.org/drawingml/2006/main">
              <a:ext uri="{FF2B5EF4-FFF2-40B4-BE49-F238E27FC236}">
                <a16:creationId xmlns:a16="http://schemas.microsoft.com/office/drawing/2014/main" id="{1A0F9F8B-EF7A-4D79-8142-A3B96F0C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840" y="5800680"/>
            <a:ext cx="385740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0B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5640" rIns="90000" bIns="-35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大綱序號 06">
            <a:extLst xmlns:a="http://schemas.openxmlformats.org/drawingml/2006/main">
              <a:ext uri="{FF2B5EF4-FFF2-40B4-BE49-F238E27FC236}">
                <a16:creationId xmlns:a16="http://schemas.microsoft.com/office/drawing/2014/main" id="{175F3FCD-E46B-49C0-902F-427D45E0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0" y="5029200"/>
            <a:ext cx="323640" cy="323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F4D"/>
          </a:solidFill>
          <a:ln xmlns:a="http://schemas.openxmlformats.org/drawingml/2006/main" w="9525">
            <a:solidFill>
              <a:srgbClr val="B96F4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06</a:t>
            </a:r>
            <a:endParaRPr sz="14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大綱標題 06">
            <a:extLst xmlns:a="http://schemas.openxmlformats.org/drawingml/2006/main">
              <a:ext uri="{FF2B5EF4-FFF2-40B4-BE49-F238E27FC236}">
                <a16:creationId xmlns:a16="http://schemas.microsoft.com/office/drawing/2014/main" id="{B199D46A-A23A-4DBC-9CA5-C3B51D94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080" y="5000760"/>
            <a:ext cx="385740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部署方案與決策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大綱說明 06">
            <a:extLst xmlns:a="http://schemas.openxmlformats.org/drawingml/2006/main">
              <a:ext uri="{FF2B5EF4-FFF2-40B4-BE49-F238E27FC236}">
                <a16:creationId xmlns:a16="http://schemas.microsoft.com/office/drawing/2014/main" id="{21F46510-C26D-4992-B8AD-A861609D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080" y="5334120"/>
            <a:ext cx="38574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0" u="none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地端與雲端方案的安全與可用性取捨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大綱分隔 06">
            <a:extLst xmlns:a="http://schemas.openxmlformats.org/drawingml/2006/main">
              <a:ext uri="{FF2B5EF4-FFF2-40B4-BE49-F238E27FC236}">
                <a16:creationId xmlns:a16="http://schemas.microsoft.com/office/drawing/2014/main" id="{11511919-5A5B-44AC-AD43-6AD18AE4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080" y="5800680"/>
            <a:ext cx="385740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0B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5640" rIns="90000" bIns="-35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449DBE58-644C-458B-AF65-1B53E2BC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C89E798F-0179-4008-BC9B-5D2F47E8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85904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C49D2B9-E1A9-4452-839E-D2D13AA3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成員與工作分配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(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補大頭貼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)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990AB44-5832-4BA5-A89E-B5541B79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800" y="2543040"/>
            <a:ext cx="379080" cy="74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8640" rIns="90000" bIns="8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739B97F-04A2-4118-85E8-51D09CED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1952640"/>
            <a:ext cx="1807920" cy="1255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FF4BB51-5DDF-4AFF-90FF-99E32573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800" y="2333520"/>
            <a:ext cx="1503000" cy="47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17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侯子曦</a:t>
            </a:r>
            <a:endParaRPr sz="21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190425A-BEA8-4492-85ED-B1D6AC32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240" y="2543040"/>
            <a:ext cx="379080" cy="74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8640" rIns="90000" bIns="8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4D04337-291A-4254-9DE7-0D1ECEFB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240" y="1952640"/>
            <a:ext cx="1807920" cy="1255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7C0CA9C-A373-4393-A903-5053800E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880" y="2333520"/>
            <a:ext cx="1503000" cy="47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17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蔡欣怡</a:t>
            </a:r>
            <a:endParaRPr sz="21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0516E3E-181D-4685-80A3-54A2D2D1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320" y="2543040"/>
            <a:ext cx="379080" cy="74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8640" rIns="90000" bIns="8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515879A-218B-46E8-8A05-DE2A5414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680" y="1952640"/>
            <a:ext cx="1807920" cy="1255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5AD8489-BDE4-41FC-A595-A5A1AB32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60" y="2333520"/>
            <a:ext cx="1503000" cy="47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17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張琬偲</a:t>
            </a:r>
            <a:endParaRPr sz="21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A8E8DED-818D-4C74-B342-EFCFEF03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400" y="2543040"/>
            <a:ext cx="379080" cy="74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8640" rIns="90000" bIns="8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753D3CB-2EB6-439C-B31F-35D4B2D7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760" y="1952640"/>
            <a:ext cx="1807920" cy="1255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2C45CFB-526B-4D55-95A3-9F797DEC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40" y="2333520"/>
            <a:ext cx="1503000" cy="47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17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溫瑞祥</a:t>
            </a:r>
            <a:endParaRPr sz="21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6704AAD-E1BC-401D-AC49-F54417C7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840" y="1952640"/>
            <a:ext cx="1807920" cy="1255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776283C-F214-4B67-966C-FAE6F587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20" y="2333520"/>
            <a:ext cx="1503000" cy="47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17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陳翊庭</a:t>
            </a:r>
            <a:endParaRPr sz="21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A3B6B38-960B-460B-9550-808619F9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40" y="3780000"/>
            <a:ext cx="1256040" cy="457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76320" rIns="76320" bIns="76320" anchor="ctr">
            <a:normAutofit fontScale="85000" lnSpcReduction="19999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成員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／工作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94E0B0A-F5D6-4189-92BC-562809B4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520" y="3780000"/>
            <a:ext cx="1027440" cy="457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76320" rIns="76320" bIns="76320" anchor="ctr">
            <a:normAutofit fontScale="85000" lnSpcReduction="1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需求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溝通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206A895-E2F4-4A2D-902F-89F50FA2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040" y="3780000"/>
            <a:ext cx="1103400" cy="457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76320" rIns="76320" bIns="76320" anchor="ctr">
            <a:normAutofit fontScale="85000" lnSpcReduction="1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資料庫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建立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C004FFD-D974-41DD-AF4D-39FDB430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880" y="3780000"/>
            <a:ext cx="1027440" cy="457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76320" rIns="76320" bIns="76320" anchor="ctr">
            <a:normAutofit fontScale="85000" lnSpcReduction="1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地端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測試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1B569D8-4180-400F-B627-4729FF9F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60" y="3780000"/>
            <a:ext cx="1751040" cy="457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76320" rIns="76320" bIns="76320" anchor="ctr">
            <a:normAutofit fontScale="85000" lnSpcReduction="1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後台 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UI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與系統演算法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CFE9465-F739-4B8B-8FE7-7C3141F9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240" y="3780000"/>
            <a:ext cx="1065240" cy="457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76320" rIns="76320" bIns="76320" anchor="ctr">
            <a:normAutofit fontScale="85000" lnSpcReduction="1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LINE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應用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3E0CED7-4D7D-479C-B222-3E70C28D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280" y="3780000"/>
            <a:ext cx="1217880" cy="457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76320" rIns="76320" bIns="76320" anchor="ctr">
            <a:normAutofit fontScale="85000" lnSpcReduction="1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Agent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客服應用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A770CA4-50AB-45F4-A603-1310139B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240" y="3780000"/>
            <a:ext cx="1046160" cy="457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76320" rIns="76320" bIns="76320" anchor="ctr">
            <a:normAutofit fontScale="85000" lnSpcReduction="1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CI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測試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AC473EB-A3C1-4167-80EA-A865A05C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40" y="4239360"/>
            <a:ext cx="1256040" cy="3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侯子曦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80B0CAD-7B32-4986-8D08-A3B64A13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520" y="4239360"/>
            <a:ext cx="1027440" cy="3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E1DA401-BA81-4FB7-868F-09F64A86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040" y="4239360"/>
            <a:ext cx="1103400" cy="3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AFA6C90-22BC-4001-809B-47F8A02A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880" y="4239360"/>
            <a:ext cx="1027440" cy="3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C0AB295-0542-43BD-81DC-232B3DD4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60" y="4239360"/>
            <a:ext cx="1751040" cy="3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07FCF76-99C3-4976-9948-42F0F9C3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240" y="4239360"/>
            <a:ext cx="1065240" cy="3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7628A8B-EA70-4511-BFBE-29A3CAFE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280" y="4239360"/>
            <a:ext cx="1217880" cy="3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A1C28D3-FF5C-4DC2-87FB-C504B970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240" y="4239360"/>
            <a:ext cx="1046160" cy="3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16F9DBB-A7E6-4F34-A2E9-9C46195B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40" y="4629960"/>
            <a:ext cx="1256040" cy="3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蔡欣怡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0A6050C-4943-4014-9A03-AD77DCDF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520" y="4629960"/>
            <a:ext cx="1027440" cy="3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C251058-D8EF-4503-920E-78A76A19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040" y="4629960"/>
            <a:ext cx="1103400" cy="3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0C63545-36B0-41C5-83A3-AE582ED8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880" y="4629960"/>
            <a:ext cx="1027440" cy="3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232C4A0-F8D8-469C-B45B-7E101EF1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60" y="4629960"/>
            <a:ext cx="1751040" cy="3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A229D25-5072-4B18-9E28-805AE350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240" y="4629960"/>
            <a:ext cx="1065240" cy="3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6E56980-67A2-4B55-8DE2-ED65F0DF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280" y="4629960"/>
            <a:ext cx="1217880" cy="3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866DADB-AF04-4A7C-97D0-63608401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240" y="4629960"/>
            <a:ext cx="1046160" cy="3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FE767E9-420B-4150-8E04-AAE593F0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40" y="5019840"/>
            <a:ext cx="125604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張琬偲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770DFEF-D602-4E64-A4FF-48AD30B2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520" y="5019840"/>
            <a:ext cx="102744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63199FF-8BA6-4292-9980-6629C5FF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040" y="5019840"/>
            <a:ext cx="110340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925D93F-5C69-4A03-BCD0-CF14EC8F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880" y="5019840"/>
            <a:ext cx="102744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6C5DAAC-EE79-4918-9807-7BE4D5C4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60" y="5019840"/>
            <a:ext cx="175104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DD1293D-D97B-406C-828E-40440AB5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240" y="5019840"/>
            <a:ext cx="106524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A19C470-D543-4FD7-AF90-0D9D437F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280" y="5019840"/>
            <a:ext cx="121788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04B7AD1-76D1-4ADD-806F-CE3F95E0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240" y="5019840"/>
            <a:ext cx="104616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B2EF0EA-51C3-4679-A2A3-2315C9D3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40" y="5410440"/>
            <a:ext cx="125604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溫瑞祥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78FC637-F476-4FF4-BA39-5AEED85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520" y="5410440"/>
            <a:ext cx="102744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D698EA9-F633-48C8-BEDF-7AF59925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040" y="5410440"/>
            <a:ext cx="110340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B0C917D-D8B6-487D-B8F0-53656E74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880" y="5410440"/>
            <a:ext cx="102744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311223D-FDBC-49A0-9A4E-8278353E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60" y="5410440"/>
            <a:ext cx="175104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F40A744-1881-47AC-B2DF-A270E177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240" y="5410440"/>
            <a:ext cx="106524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2FEB6ED-8D01-4C9F-A1AA-296ABECA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280" y="5410440"/>
            <a:ext cx="121788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5B80F38-D095-4841-9346-8EE81420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240" y="5410440"/>
            <a:ext cx="104616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10E9C3C-F842-4962-9229-946BE4FC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40" y="5800680"/>
            <a:ext cx="125604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陳翊庭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93B5D38-D8FF-4DB1-A095-393EFD45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520" y="5800680"/>
            <a:ext cx="102744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4B30468-BF73-4FB4-972F-16268E95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040" y="5800680"/>
            <a:ext cx="110340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DB753E6-C65F-4ED8-8FDB-D8738753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880" y="5800680"/>
            <a:ext cx="102744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790F29F-C56F-4132-B5C4-D08828F9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60" y="5800680"/>
            <a:ext cx="175104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3F2E6D5-B98E-4664-BEA4-4FB7022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240" y="5800680"/>
            <a:ext cx="106524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CF7244C-EF53-4CB6-A7A5-2342BDE4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280" y="5800680"/>
            <a:ext cx="121788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BEF1868-491B-439C-ACB1-5F39963A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240" y="5800680"/>
            <a:ext cx="104616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E50594B-E6C3-4519-9BC2-08216481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240" y="5410440"/>
            <a:ext cx="106524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A637065-44A7-49D6-B5C8-03C84D49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240" y="5800680"/>
            <a:ext cx="106524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3F48B5C-E28A-4DF5-AA72-5EA8E22B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200" y="3780000"/>
            <a:ext cx="1808280" cy="457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76320" rIns="76320" bIns="76320" anchor="ctr">
            <a:normAutofit fontScale="85000" lnSpcReduction="1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程式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部署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E5E4FD3-589A-431C-917B-8CE5B3A1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200" y="4239360"/>
            <a:ext cx="1808280" cy="3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6EC933C-9E01-4494-9414-B3FB468B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200" y="4629960"/>
            <a:ext cx="1808280" cy="3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DFA01AE-F36D-4514-8DE0-307860B0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200" y="5019840"/>
            <a:ext cx="180828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D487BEC-E691-42C1-88B7-B2D62431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200" y="5410440"/>
            <a:ext cx="180828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BA22435-2038-47B4-B7D2-A12C6185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200" y="5800680"/>
            <a:ext cx="1808280" cy="38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66600" rIns="76320" bIns="666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091CC4B7-3588-4A92-BF42-27A1031B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3FF7E5D2-892C-49BF-A449-68993278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23607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Text 297">
            <a:extLst xmlns:a="http://schemas.openxmlformats.org/drawingml/2006/main">
              <a:ext uri="{FF2B5EF4-FFF2-40B4-BE49-F238E27FC236}">
                <a16:creationId xmlns:a16="http://schemas.microsoft.com/office/drawing/2014/main" id="{2E2ACF25-9F93-4E1A-A33A-F8567BE6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專案管理時程表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Text 298">
            <a:extLst xmlns:a="http://schemas.openxmlformats.org/drawingml/2006/main">
              <a:ext uri="{FF2B5EF4-FFF2-40B4-BE49-F238E27FC236}">
                <a16:creationId xmlns:a16="http://schemas.microsoft.com/office/drawing/2014/main" id="{A535A7FD-C3B4-4D45-B3FC-906571DC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60" y="1585800"/>
            <a:ext cx="1147752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以分工並行推進，完成整合測試與成果發表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Text 299">
            <a:extLst xmlns:a="http://schemas.openxmlformats.org/drawingml/2006/main">
              <a:ext uri="{FF2B5EF4-FFF2-40B4-BE49-F238E27FC236}">
                <a16:creationId xmlns:a16="http://schemas.microsoft.com/office/drawing/2014/main" id="{64AF165F-A5E9-401F-8821-B37C8E3B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00" y="2114640"/>
            <a:ext cx="178992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0" name="Text 300">
            <a:extLst xmlns:a="http://schemas.openxmlformats.org/drawingml/2006/main">
              <a:ext uri="{FF2B5EF4-FFF2-40B4-BE49-F238E27FC236}">
                <a16:creationId xmlns:a16="http://schemas.microsoft.com/office/drawing/2014/main" id="{69B681CA-630E-48B7-8AFF-E2001199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400" y="211464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46558"/>
                </a:solidFill>
                <a:latin typeface="Gelasio Bold"/>
                <a:ea typeface="Gelasio Bold"/>
                <a:cs typeface="Gelasio Bold"/>
              </a:rPr>
              <a:t>6/29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Text 301">
            <a:extLst xmlns:a="http://schemas.openxmlformats.org/drawingml/2006/main">
              <a:ext uri="{FF2B5EF4-FFF2-40B4-BE49-F238E27FC236}">
                <a16:creationId xmlns:a16="http://schemas.microsoft.com/office/drawing/2014/main" id="{74014FE8-D3E2-4CE8-9597-4924E3D9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520" y="211464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46558"/>
                </a:solidFill>
                <a:latin typeface="Gelasio Bold"/>
                <a:ea typeface="Gelasio Bold"/>
                <a:cs typeface="Gelasio Bold"/>
              </a:rPr>
              <a:t>7/6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Text 302">
            <a:extLst xmlns:a="http://schemas.openxmlformats.org/drawingml/2006/main">
              <a:ext uri="{FF2B5EF4-FFF2-40B4-BE49-F238E27FC236}">
                <a16:creationId xmlns:a16="http://schemas.microsoft.com/office/drawing/2014/main" id="{718BBC8F-0BBD-4851-8FA4-DB6427E5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640" y="211464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46558"/>
                </a:solidFill>
                <a:latin typeface="Gelasio Bold"/>
                <a:ea typeface="Gelasio Bold"/>
                <a:cs typeface="Gelasio Bold"/>
              </a:rPr>
              <a:t>7/13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Text 303">
            <a:extLst xmlns:a="http://schemas.openxmlformats.org/drawingml/2006/main">
              <a:ext uri="{FF2B5EF4-FFF2-40B4-BE49-F238E27FC236}">
                <a16:creationId xmlns:a16="http://schemas.microsoft.com/office/drawing/2014/main" id="{C7C51E7B-CA97-4584-B7D2-42A499C4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760" y="211464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46558"/>
                </a:solidFill>
                <a:latin typeface="Gelasio Bold"/>
                <a:ea typeface="Gelasio Bold"/>
                <a:cs typeface="Gelasio Bold"/>
              </a:rPr>
              <a:t>7/20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Text 304">
            <a:extLst xmlns:a="http://schemas.openxmlformats.org/drawingml/2006/main">
              <a:ext uri="{FF2B5EF4-FFF2-40B4-BE49-F238E27FC236}">
                <a16:creationId xmlns:a16="http://schemas.microsoft.com/office/drawing/2014/main" id="{435D8C5C-A27E-4999-8EA1-140600E4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40" y="211464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46558"/>
                </a:solidFill>
                <a:latin typeface="Gelasio Bold"/>
                <a:ea typeface="Gelasio Bold"/>
                <a:cs typeface="Gelasio Bold"/>
              </a:rPr>
              <a:t>7/27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Text 305">
            <a:extLst xmlns:a="http://schemas.openxmlformats.org/drawingml/2006/main">
              <a:ext uri="{FF2B5EF4-FFF2-40B4-BE49-F238E27FC236}">
                <a16:creationId xmlns:a16="http://schemas.microsoft.com/office/drawing/2014/main" id="{C1576979-E577-4557-9B91-A145F665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9360" y="211464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46558"/>
                </a:solidFill>
                <a:latin typeface="Gelasio Bold"/>
                <a:ea typeface="Gelasio Bold"/>
                <a:cs typeface="Gelasio Bold"/>
              </a:rPr>
              <a:t>8/3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Text 306">
            <a:extLst xmlns:a="http://schemas.openxmlformats.org/drawingml/2006/main">
              <a:ext uri="{FF2B5EF4-FFF2-40B4-BE49-F238E27FC236}">
                <a16:creationId xmlns:a16="http://schemas.microsoft.com/office/drawing/2014/main" id="{4E3C3AFE-7B3C-4F09-88FC-D5B66B85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480" y="211464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46558"/>
                </a:solidFill>
                <a:latin typeface="Gelasio Bold"/>
                <a:ea typeface="Gelasio Bold"/>
                <a:cs typeface="Gelasio Bold"/>
              </a:rPr>
              <a:t>8/10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Text 307">
            <a:extLst xmlns:a="http://schemas.openxmlformats.org/drawingml/2006/main">
              <a:ext uri="{FF2B5EF4-FFF2-40B4-BE49-F238E27FC236}">
                <a16:creationId xmlns:a16="http://schemas.microsoft.com/office/drawing/2014/main" id="{74885A9B-C5B5-4064-8381-BF9D142B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600" y="211464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46558"/>
                </a:solidFill>
                <a:latin typeface="Gelasio Bold"/>
                <a:ea typeface="Gelasio Bold"/>
                <a:cs typeface="Gelasio Bold"/>
              </a:rPr>
              <a:t>8/17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Text 308">
            <a:extLst xmlns:a="http://schemas.openxmlformats.org/drawingml/2006/main">
              <a:ext uri="{FF2B5EF4-FFF2-40B4-BE49-F238E27FC236}">
                <a16:creationId xmlns:a16="http://schemas.microsoft.com/office/drawing/2014/main" id="{22F944B7-0E62-4AF6-BAB0-EB361D1B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720" y="211464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46558"/>
                </a:solidFill>
                <a:latin typeface="Gelasio Bold"/>
                <a:ea typeface="Gelasio Bold"/>
                <a:cs typeface="Gelasio Bold"/>
              </a:rPr>
              <a:t>8/24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Text 309">
            <a:extLst xmlns:a="http://schemas.openxmlformats.org/drawingml/2006/main">
              <a:ext uri="{FF2B5EF4-FFF2-40B4-BE49-F238E27FC236}">
                <a16:creationId xmlns:a16="http://schemas.microsoft.com/office/drawing/2014/main" id="{77B73ED1-9DBC-4289-A825-F74D6B17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1840" y="211464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46558"/>
                </a:solidFill>
                <a:latin typeface="Gelasio Bold"/>
                <a:ea typeface="Gelasio Bold"/>
                <a:cs typeface="Gelasio Bold"/>
              </a:rPr>
              <a:t>8/31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Shape 155">
            <a:extLst xmlns:a="http://schemas.openxmlformats.org/drawingml/2006/main">
              <a:ext uri="{FF2B5EF4-FFF2-40B4-BE49-F238E27FC236}">
                <a16:creationId xmlns:a16="http://schemas.microsoft.com/office/drawing/2014/main" id="{3C9ED1AA-A909-4849-9962-DA5EEC5D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80" y="2471400"/>
            <a:ext cx="15206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E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Text 310">
            <a:extLst xmlns:a="http://schemas.openxmlformats.org/drawingml/2006/main">
              <a:ext uri="{FF2B5EF4-FFF2-40B4-BE49-F238E27FC236}">
                <a16:creationId xmlns:a16="http://schemas.microsoft.com/office/drawing/2014/main" id="{25637D6D-603B-4ACC-A70D-016EA420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00" y="2569680"/>
            <a:ext cx="178992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A0826D"/>
                </a:solidFill>
                <a:latin typeface="Gelasio Bold"/>
                <a:ea typeface="Gelasio Bold"/>
                <a:cs typeface="Gelasio Bold"/>
              </a:rPr>
              <a:t>需求溝通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Shape 156">
            <a:extLst xmlns:a="http://schemas.openxmlformats.org/drawingml/2006/main">
              <a:ext uri="{FF2B5EF4-FFF2-40B4-BE49-F238E27FC236}">
                <a16:creationId xmlns:a16="http://schemas.microsoft.com/office/drawing/2014/main" id="{10176751-D8FD-4E65-B65F-77299006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040" y="247140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57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Text 311">
            <a:extLst xmlns:a="http://schemas.openxmlformats.org/drawingml/2006/main">
              <a:ext uri="{FF2B5EF4-FFF2-40B4-BE49-F238E27FC236}">
                <a16:creationId xmlns:a16="http://schemas.microsoft.com/office/drawing/2014/main" id="{0C129A31-8AE6-43A7-87DC-544AD866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400" y="25696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D4A574"/>
                </a:solidFill>
                <a:latin typeface="Gelasio"/>
                <a:ea typeface="Gelasio"/>
                <a:cs typeface="Gelasio"/>
              </a:rPr>
              <a:t>▬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Shape 157">
            <a:extLst xmlns:a="http://schemas.openxmlformats.org/drawingml/2006/main">
              <a:ext uri="{FF2B5EF4-FFF2-40B4-BE49-F238E27FC236}">
                <a16:creationId xmlns:a16="http://schemas.microsoft.com/office/drawing/2014/main" id="{E9D138DA-A23D-4910-8D00-8D57995E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160" y="247140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57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 312">
            <a:extLst xmlns:a="http://schemas.openxmlformats.org/drawingml/2006/main">
              <a:ext uri="{FF2B5EF4-FFF2-40B4-BE49-F238E27FC236}">
                <a16:creationId xmlns:a16="http://schemas.microsoft.com/office/drawing/2014/main" id="{2C83DAA5-7447-4D46-A035-B1593538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520" y="25696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D4A574"/>
                </a:solidFill>
                <a:latin typeface="Gelasio"/>
                <a:ea typeface="Gelasio"/>
                <a:cs typeface="Gelasio"/>
              </a:rPr>
              <a:t>▬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Shape 158">
            <a:extLst xmlns:a="http://schemas.openxmlformats.org/drawingml/2006/main">
              <a:ext uri="{FF2B5EF4-FFF2-40B4-BE49-F238E27FC236}">
                <a16:creationId xmlns:a16="http://schemas.microsoft.com/office/drawing/2014/main" id="{D0025A67-2874-438B-8AC7-9F9C2690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640" y="247140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57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 313">
            <a:extLst xmlns:a="http://schemas.openxmlformats.org/drawingml/2006/main">
              <a:ext uri="{FF2B5EF4-FFF2-40B4-BE49-F238E27FC236}">
                <a16:creationId xmlns:a16="http://schemas.microsoft.com/office/drawing/2014/main" id="{E162B8B9-10E9-414C-8BCA-A3B4C141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640" y="25696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D4A574"/>
                </a:solidFill>
                <a:latin typeface="Gelasio"/>
                <a:ea typeface="Gelasio"/>
                <a:cs typeface="Gelasio"/>
              </a:rPr>
              <a:t>▬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Shape 159">
            <a:extLst xmlns:a="http://schemas.openxmlformats.org/drawingml/2006/main">
              <a:ext uri="{FF2B5EF4-FFF2-40B4-BE49-F238E27FC236}">
                <a16:creationId xmlns:a16="http://schemas.microsoft.com/office/drawing/2014/main" id="{9CECBD1C-48D2-4B4A-9A6C-9543F4A3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760" y="247140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57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Text 314">
            <a:extLst xmlns:a="http://schemas.openxmlformats.org/drawingml/2006/main">
              <a:ext uri="{FF2B5EF4-FFF2-40B4-BE49-F238E27FC236}">
                <a16:creationId xmlns:a16="http://schemas.microsoft.com/office/drawing/2014/main" id="{C0F98E74-3E1A-4818-B72F-DA194583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760" y="25696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D4A574"/>
                </a:solidFill>
                <a:latin typeface="Gelasio"/>
                <a:ea typeface="Gelasio"/>
                <a:cs typeface="Gelasio"/>
              </a:rPr>
              <a:t>▬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Shape 160">
            <a:extLst xmlns:a="http://schemas.openxmlformats.org/drawingml/2006/main">
              <a:ext uri="{FF2B5EF4-FFF2-40B4-BE49-F238E27FC236}">
                <a16:creationId xmlns:a16="http://schemas.microsoft.com/office/drawing/2014/main" id="{2414F168-F06B-452D-80EF-B41A75EF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80" y="247140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57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 315">
            <a:extLst xmlns:a="http://schemas.openxmlformats.org/drawingml/2006/main">
              <a:ext uri="{FF2B5EF4-FFF2-40B4-BE49-F238E27FC236}">
                <a16:creationId xmlns:a16="http://schemas.microsoft.com/office/drawing/2014/main" id="{14843E47-1CC2-4266-985F-3BC13767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40" y="25696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D4A574"/>
                </a:solidFill>
                <a:latin typeface="Gelasio"/>
                <a:ea typeface="Gelasio"/>
                <a:cs typeface="Gelasio"/>
              </a:rPr>
              <a:t>▬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Text 316">
            <a:extLst xmlns:a="http://schemas.openxmlformats.org/drawingml/2006/main">
              <a:ext uri="{FF2B5EF4-FFF2-40B4-BE49-F238E27FC236}">
                <a16:creationId xmlns:a16="http://schemas.microsoft.com/office/drawing/2014/main" id="{2BFA16D9-E2F4-4643-9619-6FC751D9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3920" y="25696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3" name="Text 317">
            <a:extLst xmlns:a="http://schemas.openxmlformats.org/drawingml/2006/main">
              <a:ext uri="{FF2B5EF4-FFF2-40B4-BE49-F238E27FC236}">
                <a16:creationId xmlns:a16="http://schemas.microsoft.com/office/drawing/2014/main" id="{4CC1109A-B463-4CDE-95D0-5CA2DB58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400" y="25696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" name="Text 318">
            <a:extLst xmlns:a="http://schemas.openxmlformats.org/drawingml/2006/main">
              <a:ext uri="{FF2B5EF4-FFF2-40B4-BE49-F238E27FC236}">
                <a16:creationId xmlns:a16="http://schemas.microsoft.com/office/drawing/2014/main" id="{5FAF7A10-3AE4-462E-AF27-FE4C6DF9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520" y="25696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5" name="Text 319">
            <a:extLst xmlns:a="http://schemas.openxmlformats.org/drawingml/2006/main">
              <a:ext uri="{FF2B5EF4-FFF2-40B4-BE49-F238E27FC236}">
                <a16:creationId xmlns:a16="http://schemas.microsoft.com/office/drawing/2014/main" id="{E5D2C600-D1EA-48CF-BBFE-EBFD8233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8640" y="25696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6" name="Text 320">
            <a:extLst xmlns:a="http://schemas.openxmlformats.org/drawingml/2006/main">
              <a:ext uri="{FF2B5EF4-FFF2-40B4-BE49-F238E27FC236}">
                <a16:creationId xmlns:a16="http://schemas.microsoft.com/office/drawing/2014/main" id="{96FC15B3-3703-4103-8A94-5427226D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6760" y="2569680"/>
            <a:ext cx="103392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7" name="Shape 161">
            <a:extLst xmlns:a="http://schemas.openxmlformats.org/drawingml/2006/main">
              <a:ext uri="{FF2B5EF4-FFF2-40B4-BE49-F238E27FC236}">
                <a16:creationId xmlns:a16="http://schemas.microsoft.com/office/drawing/2014/main" id="{2C730DA4-57BC-4067-AC17-36B5011D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80" y="2926080"/>
            <a:ext cx="15206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E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Text 321">
            <a:extLst xmlns:a="http://schemas.openxmlformats.org/drawingml/2006/main">
              <a:ext uri="{FF2B5EF4-FFF2-40B4-BE49-F238E27FC236}">
                <a16:creationId xmlns:a16="http://schemas.microsoft.com/office/drawing/2014/main" id="{D4A26FE6-275D-43C9-AD67-4EBBF310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00" y="3024360"/>
            <a:ext cx="178992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8B7355"/>
                </a:solidFill>
                <a:latin typeface="Gelasio Bold"/>
                <a:ea typeface="Gelasio Bold"/>
                <a:cs typeface="Gelasio Bold"/>
              </a:rPr>
              <a:t>資料庫建立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" name="Shape 162">
            <a:extLst xmlns:a="http://schemas.openxmlformats.org/drawingml/2006/main">
              <a:ext uri="{FF2B5EF4-FFF2-40B4-BE49-F238E27FC236}">
                <a16:creationId xmlns:a16="http://schemas.microsoft.com/office/drawing/2014/main" id="{E42180FD-8904-4984-B41B-1EE852D3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040" y="292608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35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0" name="Text 322">
            <a:extLst xmlns:a="http://schemas.openxmlformats.org/drawingml/2006/main">
              <a:ext uri="{FF2B5EF4-FFF2-40B4-BE49-F238E27FC236}">
                <a16:creationId xmlns:a16="http://schemas.microsoft.com/office/drawing/2014/main" id="{7A1E1E55-0197-49DF-82D5-F132D839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320" y="30243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1" name="Shape 163">
            <a:extLst xmlns:a="http://schemas.openxmlformats.org/drawingml/2006/main">
              <a:ext uri="{FF2B5EF4-FFF2-40B4-BE49-F238E27FC236}">
                <a16:creationId xmlns:a16="http://schemas.microsoft.com/office/drawing/2014/main" id="{3B2F70DF-6A80-49F5-87CF-910567AC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160" y="292608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35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" name="Text 323">
            <a:extLst xmlns:a="http://schemas.openxmlformats.org/drawingml/2006/main">
              <a:ext uri="{FF2B5EF4-FFF2-40B4-BE49-F238E27FC236}">
                <a16:creationId xmlns:a16="http://schemas.microsoft.com/office/drawing/2014/main" id="{8B27DC3E-FCE5-4F40-94FC-DFAB69E8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440" y="30243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3" name="Shape 164">
            <a:extLst xmlns:a="http://schemas.openxmlformats.org/drawingml/2006/main">
              <a:ext uri="{FF2B5EF4-FFF2-40B4-BE49-F238E27FC236}">
                <a16:creationId xmlns:a16="http://schemas.microsoft.com/office/drawing/2014/main" id="{549CA280-7CD1-440F-B041-4F6670FD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640" y="292608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35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4" name="Text 324">
            <a:extLst xmlns:a="http://schemas.openxmlformats.org/drawingml/2006/main">
              <a:ext uri="{FF2B5EF4-FFF2-40B4-BE49-F238E27FC236}">
                <a16:creationId xmlns:a16="http://schemas.microsoft.com/office/drawing/2014/main" id="{4AEC0EF1-7021-47A7-B001-601DE8B3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560" y="30243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5" name="Text 325">
            <a:extLst xmlns:a="http://schemas.openxmlformats.org/drawingml/2006/main">
              <a:ext uri="{FF2B5EF4-FFF2-40B4-BE49-F238E27FC236}">
                <a16:creationId xmlns:a16="http://schemas.microsoft.com/office/drawing/2014/main" id="{EAAB2D40-3216-4963-B387-DD7FAEE7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680" y="30243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6" name="Text 326">
            <a:extLst xmlns:a="http://schemas.openxmlformats.org/drawingml/2006/main">
              <a:ext uri="{FF2B5EF4-FFF2-40B4-BE49-F238E27FC236}">
                <a16:creationId xmlns:a16="http://schemas.microsoft.com/office/drawing/2014/main" id="{14839990-26B4-4152-A4AB-ED4EE517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800" y="30243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7" name="Text 327">
            <a:extLst xmlns:a="http://schemas.openxmlformats.org/drawingml/2006/main">
              <a:ext uri="{FF2B5EF4-FFF2-40B4-BE49-F238E27FC236}">
                <a16:creationId xmlns:a16="http://schemas.microsoft.com/office/drawing/2014/main" id="{C6D3AFBC-ADAA-4C7B-9091-DDF1E5FF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3920" y="30243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8" name="Text 328">
            <a:extLst xmlns:a="http://schemas.openxmlformats.org/drawingml/2006/main">
              <a:ext uri="{FF2B5EF4-FFF2-40B4-BE49-F238E27FC236}">
                <a16:creationId xmlns:a16="http://schemas.microsoft.com/office/drawing/2014/main" id="{71D07E76-5429-45A1-BFF6-9FD47802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400" y="30243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9" name="Text 329">
            <a:extLst xmlns:a="http://schemas.openxmlformats.org/drawingml/2006/main">
              <a:ext uri="{FF2B5EF4-FFF2-40B4-BE49-F238E27FC236}">
                <a16:creationId xmlns:a16="http://schemas.microsoft.com/office/drawing/2014/main" id="{65265A2A-3FD2-4B8F-9613-C0CE82E8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520" y="30243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0" name="Text 330">
            <a:extLst xmlns:a="http://schemas.openxmlformats.org/drawingml/2006/main">
              <a:ext uri="{FF2B5EF4-FFF2-40B4-BE49-F238E27FC236}">
                <a16:creationId xmlns:a16="http://schemas.microsoft.com/office/drawing/2014/main" id="{E14984F0-F9B7-4B33-A706-C7DC0A35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8640" y="30243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1" name="Text 331">
            <a:extLst xmlns:a="http://schemas.openxmlformats.org/drawingml/2006/main">
              <a:ext uri="{FF2B5EF4-FFF2-40B4-BE49-F238E27FC236}">
                <a16:creationId xmlns:a16="http://schemas.microsoft.com/office/drawing/2014/main" id="{BBE47A39-ABEC-40AF-8AE1-4255645E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6760" y="3024360"/>
            <a:ext cx="103392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2" name="Shape 165">
            <a:extLst xmlns:a="http://schemas.openxmlformats.org/drawingml/2006/main">
              <a:ext uri="{FF2B5EF4-FFF2-40B4-BE49-F238E27FC236}">
                <a16:creationId xmlns:a16="http://schemas.microsoft.com/office/drawing/2014/main" id="{67BFDE63-3291-4871-AE71-8C151EF1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80" y="3381120"/>
            <a:ext cx="15206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E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Text 332">
            <a:extLst xmlns:a="http://schemas.openxmlformats.org/drawingml/2006/main">
              <a:ext uri="{FF2B5EF4-FFF2-40B4-BE49-F238E27FC236}">
                <a16:creationId xmlns:a16="http://schemas.microsoft.com/office/drawing/2014/main" id="{61655E0A-A328-4521-B443-25486BAD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00" y="3479040"/>
            <a:ext cx="178992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B8956A"/>
                </a:solidFill>
                <a:latin typeface="Gelasio Bold"/>
                <a:ea typeface="Gelasio Bold"/>
                <a:cs typeface="Gelasio Bold"/>
              </a:rPr>
              <a:t>地端測試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Text 333">
            <a:extLst xmlns:a="http://schemas.openxmlformats.org/drawingml/2006/main">
              <a:ext uri="{FF2B5EF4-FFF2-40B4-BE49-F238E27FC236}">
                <a16:creationId xmlns:a16="http://schemas.microsoft.com/office/drawing/2014/main" id="{FD94E7FE-B934-4BEC-91AE-DFBF3DB6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320" y="347904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5" name="Text 334">
            <a:extLst xmlns:a="http://schemas.openxmlformats.org/drawingml/2006/main">
              <a:ext uri="{FF2B5EF4-FFF2-40B4-BE49-F238E27FC236}">
                <a16:creationId xmlns:a16="http://schemas.microsoft.com/office/drawing/2014/main" id="{56B1970D-CBE6-438F-B7B3-E3BD3008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440" y="347904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" name="Text 335">
            <a:extLst xmlns:a="http://schemas.openxmlformats.org/drawingml/2006/main">
              <a:ext uri="{FF2B5EF4-FFF2-40B4-BE49-F238E27FC236}">
                <a16:creationId xmlns:a16="http://schemas.microsoft.com/office/drawing/2014/main" id="{A66D6650-F096-4492-8704-F1C18D9A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560" y="347904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7" name="Shape 166">
            <a:extLst xmlns:a="http://schemas.openxmlformats.org/drawingml/2006/main">
              <a:ext uri="{FF2B5EF4-FFF2-40B4-BE49-F238E27FC236}">
                <a16:creationId xmlns:a16="http://schemas.microsoft.com/office/drawing/2014/main" id="{AAD2D58E-C20E-4DDE-B31F-45EDF0A0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760" y="338112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Text 336">
            <a:extLst xmlns:a="http://schemas.openxmlformats.org/drawingml/2006/main">
              <a:ext uri="{FF2B5EF4-FFF2-40B4-BE49-F238E27FC236}">
                <a16:creationId xmlns:a16="http://schemas.microsoft.com/office/drawing/2014/main" id="{40E23762-F4F8-4215-A87D-32606346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680" y="347904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9" name="Shape 167">
            <a:extLst xmlns:a="http://schemas.openxmlformats.org/drawingml/2006/main">
              <a:ext uri="{FF2B5EF4-FFF2-40B4-BE49-F238E27FC236}">
                <a16:creationId xmlns:a16="http://schemas.microsoft.com/office/drawing/2014/main" id="{ED854C6A-A9CD-47F8-9E40-7476EED7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80" y="338112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Text 337">
            <a:extLst xmlns:a="http://schemas.openxmlformats.org/drawingml/2006/main">
              <a:ext uri="{FF2B5EF4-FFF2-40B4-BE49-F238E27FC236}">
                <a16:creationId xmlns:a16="http://schemas.microsoft.com/office/drawing/2014/main" id="{FC4B1AF8-911A-45FA-83F7-74292F7F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800" y="347904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1" name="Shape 168">
            <a:extLst xmlns:a="http://schemas.openxmlformats.org/drawingml/2006/main">
              <a:ext uri="{FF2B5EF4-FFF2-40B4-BE49-F238E27FC236}">
                <a16:creationId xmlns:a16="http://schemas.microsoft.com/office/drawing/2014/main" id="{24DD54F2-606A-4D71-A9DC-0A303371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000" y="338112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2" name="Text 338">
            <a:extLst xmlns:a="http://schemas.openxmlformats.org/drawingml/2006/main">
              <a:ext uri="{FF2B5EF4-FFF2-40B4-BE49-F238E27FC236}">
                <a16:creationId xmlns:a16="http://schemas.microsoft.com/office/drawing/2014/main" id="{5E009BF4-4CFA-47B2-8A00-030E5809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3920" y="347904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" name="Shape 169">
            <a:extLst xmlns:a="http://schemas.openxmlformats.org/drawingml/2006/main">
              <a:ext uri="{FF2B5EF4-FFF2-40B4-BE49-F238E27FC236}">
                <a16:creationId xmlns:a16="http://schemas.microsoft.com/office/drawing/2014/main" id="{3AC677E4-240B-4D97-B574-9F5BBC18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120" y="338112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4" name="Text 339">
            <a:extLst xmlns:a="http://schemas.openxmlformats.org/drawingml/2006/main">
              <a:ext uri="{FF2B5EF4-FFF2-40B4-BE49-F238E27FC236}">
                <a16:creationId xmlns:a16="http://schemas.microsoft.com/office/drawing/2014/main" id="{63C519C3-7A04-4590-999A-4EB876AB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400" y="347904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5" name="Shape 170">
            <a:extLst xmlns:a="http://schemas.openxmlformats.org/drawingml/2006/main">
              <a:ext uri="{FF2B5EF4-FFF2-40B4-BE49-F238E27FC236}">
                <a16:creationId xmlns:a16="http://schemas.microsoft.com/office/drawing/2014/main" id="{A01EE5A7-49F2-4EEF-979E-1746EEEE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0240" y="338112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6" name="Text 340">
            <a:extLst xmlns:a="http://schemas.openxmlformats.org/drawingml/2006/main">
              <a:ext uri="{FF2B5EF4-FFF2-40B4-BE49-F238E27FC236}">
                <a16:creationId xmlns:a16="http://schemas.microsoft.com/office/drawing/2014/main" id="{24549A4C-4428-41E2-92B9-E7660692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520" y="347904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7" name="Shape 171">
            <a:extLst xmlns:a="http://schemas.openxmlformats.org/drawingml/2006/main">
              <a:ext uri="{FF2B5EF4-FFF2-40B4-BE49-F238E27FC236}">
                <a16:creationId xmlns:a16="http://schemas.microsoft.com/office/drawing/2014/main" id="{C8BB7DEB-40AD-4116-80E0-A01F2833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720" y="338112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8" name="Text 341">
            <a:extLst xmlns:a="http://schemas.openxmlformats.org/drawingml/2006/main">
              <a:ext uri="{FF2B5EF4-FFF2-40B4-BE49-F238E27FC236}">
                <a16:creationId xmlns:a16="http://schemas.microsoft.com/office/drawing/2014/main" id="{90E704CD-15AD-49D8-91C5-FE69F664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8640" y="347904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9" name="Shape 172">
            <a:extLst xmlns:a="http://schemas.openxmlformats.org/drawingml/2006/main">
              <a:ext uri="{FF2B5EF4-FFF2-40B4-BE49-F238E27FC236}">
                <a16:creationId xmlns:a16="http://schemas.microsoft.com/office/drawing/2014/main" id="{8E020781-7011-4547-93EC-0C657EAD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840" y="338112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0" name="Text 342">
            <a:extLst xmlns:a="http://schemas.openxmlformats.org/drawingml/2006/main">
              <a:ext uri="{FF2B5EF4-FFF2-40B4-BE49-F238E27FC236}">
                <a16:creationId xmlns:a16="http://schemas.microsoft.com/office/drawing/2014/main" id="{7A47D6FB-05BE-4E38-B66F-21CBC4B4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6760" y="3479040"/>
            <a:ext cx="103392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1" name="Shape 173">
            <a:extLst xmlns:a="http://schemas.openxmlformats.org/drawingml/2006/main">
              <a:ext uri="{FF2B5EF4-FFF2-40B4-BE49-F238E27FC236}">
                <a16:creationId xmlns:a16="http://schemas.microsoft.com/office/drawing/2014/main" id="{EC8E2B65-C807-4B46-8605-7827A376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80" y="3835800"/>
            <a:ext cx="15206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E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" name="Text 343">
            <a:extLst xmlns:a="http://schemas.openxmlformats.org/drawingml/2006/main">
              <a:ext uri="{FF2B5EF4-FFF2-40B4-BE49-F238E27FC236}">
                <a16:creationId xmlns:a16="http://schemas.microsoft.com/office/drawing/2014/main" id="{EE5C6C20-6EA2-4B43-A837-81A89F6E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00" y="3934080"/>
            <a:ext cx="178992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9B8B7E"/>
                </a:solidFill>
                <a:latin typeface="Gelasio Bold"/>
                <a:ea typeface="Gelasio Bold"/>
                <a:cs typeface="Gelasio Bold"/>
              </a:rPr>
              <a:t>後台系統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3" name="Shape 174">
            <a:extLst xmlns:a="http://schemas.openxmlformats.org/drawingml/2006/main">
              <a:ext uri="{FF2B5EF4-FFF2-40B4-BE49-F238E27FC236}">
                <a16:creationId xmlns:a16="http://schemas.microsoft.com/office/drawing/2014/main" id="{B8BA3841-2A67-4FC4-8795-4D1BC164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040" y="383580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B7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4" name="Text 344">
            <a:extLst xmlns:a="http://schemas.openxmlformats.org/drawingml/2006/main">
              <a:ext uri="{FF2B5EF4-FFF2-40B4-BE49-F238E27FC236}">
                <a16:creationId xmlns:a16="http://schemas.microsoft.com/office/drawing/2014/main" id="{7E20AF55-6F91-45A0-ACEF-53CEE228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320" y="39340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5" name="Shape 175">
            <a:extLst xmlns:a="http://schemas.openxmlformats.org/drawingml/2006/main">
              <a:ext uri="{FF2B5EF4-FFF2-40B4-BE49-F238E27FC236}">
                <a16:creationId xmlns:a16="http://schemas.microsoft.com/office/drawing/2014/main" id="{BB0B84BE-910D-4D63-97AB-BB59C3C8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160" y="383580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B7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Text 345">
            <a:extLst xmlns:a="http://schemas.openxmlformats.org/drawingml/2006/main">
              <a:ext uri="{FF2B5EF4-FFF2-40B4-BE49-F238E27FC236}">
                <a16:creationId xmlns:a16="http://schemas.microsoft.com/office/drawing/2014/main" id="{A6A587DF-0115-460E-BAC3-181A9C6C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440" y="39340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7" name="Shape 176">
            <a:extLst xmlns:a="http://schemas.openxmlformats.org/drawingml/2006/main">
              <a:ext uri="{FF2B5EF4-FFF2-40B4-BE49-F238E27FC236}">
                <a16:creationId xmlns:a16="http://schemas.microsoft.com/office/drawing/2014/main" id="{F313A263-8586-490F-9E08-195C512C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640" y="383580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B7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8" name="Text 346">
            <a:extLst xmlns:a="http://schemas.openxmlformats.org/drawingml/2006/main">
              <a:ext uri="{FF2B5EF4-FFF2-40B4-BE49-F238E27FC236}">
                <a16:creationId xmlns:a16="http://schemas.microsoft.com/office/drawing/2014/main" id="{73554BFC-E48F-4BFC-8AC4-4EDEE6F2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560" y="39340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9" name="Shape 177">
            <a:extLst xmlns:a="http://schemas.openxmlformats.org/drawingml/2006/main">
              <a:ext uri="{FF2B5EF4-FFF2-40B4-BE49-F238E27FC236}">
                <a16:creationId xmlns:a16="http://schemas.microsoft.com/office/drawing/2014/main" id="{CABF4231-D9FF-4D9C-AE88-F5A3E0E8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760" y="383580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B7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0" name="Text 347">
            <a:extLst xmlns:a="http://schemas.openxmlformats.org/drawingml/2006/main">
              <a:ext uri="{FF2B5EF4-FFF2-40B4-BE49-F238E27FC236}">
                <a16:creationId xmlns:a16="http://schemas.microsoft.com/office/drawing/2014/main" id="{F1198238-FA28-4CCC-9D90-77D3802D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680" y="39340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Shape 178">
            <a:extLst xmlns:a="http://schemas.openxmlformats.org/drawingml/2006/main">
              <a:ext uri="{FF2B5EF4-FFF2-40B4-BE49-F238E27FC236}">
                <a16:creationId xmlns:a16="http://schemas.microsoft.com/office/drawing/2014/main" id="{DEB8E0D4-A8B2-467F-BFE0-466347C2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80" y="383580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B7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2" name="Text 348">
            <a:extLst xmlns:a="http://schemas.openxmlformats.org/drawingml/2006/main">
              <a:ext uri="{FF2B5EF4-FFF2-40B4-BE49-F238E27FC236}">
                <a16:creationId xmlns:a16="http://schemas.microsoft.com/office/drawing/2014/main" id="{51F94CCD-228C-4D8B-ABF4-0BB00A65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800" y="39340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Shape 179">
            <a:extLst xmlns:a="http://schemas.openxmlformats.org/drawingml/2006/main">
              <a:ext uri="{FF2B5EF4-FFF2-40B4-BE49-F238E27FC236}">
                <a16:creationId xmlns:a16="http://schemas.microsoft.com/office/drawing/2014/main" id="{4B25D56E-E1AE-4AE6-8A28-4E559B92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000" y="383580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B7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4" name="Text 349">
            <a:extLst xmlns:a="http://schemas.openxmlformats.org/drawingml/2006/main">
              <a:ext uri="{FF2B5EF4-FFF2-40B4-BE49-F238E27FC236}">
                <a16:creationId xmlns:a16="http://schemas.microsoft.com/office/drawing/2014/main" id="{9A1CD557-7817-4E8D-B0B9-940FB823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3920" y="39340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5" name="Shape 180">
            <a:extLst xmlns:a="http://schemas.openxmlformats.org/drawingml/2006/main">
              <a:ext uri="{FF2B5EF4-FFF2-40B4-BE49-F238E27FC236}">
                <a16:creationId xmlns:a16="http://schemas.microsoft.com/office/drawing/2014/main" id="{53074AAA-675A-41C2-A40B-46FE6F1E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120" y="383580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B7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Text 350">
            <a:extLst xmlns:a="http://schemas.openxmlformats.org/drawingml/2006/main">
              <a:ext uri="{FF2B5EF4-FFF2-40B4-BE49-F238E27FC236}">
                <a16:creationId xmlns:a16="http://schemas.microsoft.com/office/drawing/2014/main" id="{B21C1130-69BF-4588-B910-C85F8229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400" y="39340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Shape 181">
            <a:extLst xmlns:a="http://schemas.openxmlformats.org/drawingml/2006/main">
              <a:ext uri="{FF2B5EF4-FFF2-40B4-BE49-F238E27FC236}">
                <a16:creationId xmlns:a16="http://schemas.microsoft.com/office/drawing/2014/main" id="{26A56211-ED86-4427-9849-52589CE5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0240" y="383580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B7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8" name="Text 351">
            <a:extLst xmlns:a="http://schemas.openxmlformats.org/drawingml/2006/main">
              <a:ext uri="{FF2B5EF4-FFF2-40B4-BE49-F238E27FC236}">
                <a16:creationId xmlns:a16="http://schemas.microsoft.com/office/drawing/2014/main" id="{8CCB28AA-6BBD-4AC3-A87C-7FEA9290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520" y="39340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9" name="Text 352">
            <a:extLst xmlns:a="http://schemas.openxmlformats.org/drawingml/2006/main">
              <a:ext uri="{FF2B5EF4-FFF2-40B4-BE49-F238E27FC236}">
                <a16:creationId xmlns:a16="http://schemas.microsoft.com/office/drawing/2014/main" id="{AE6F67E6-A1BB-469D-85F4-476E00E7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8640" y="39340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Text 353">
            <a:extLst xmlns:a="http://schemas.openxmlformats.org/drawingml/2006/main">
              <a:ext uri="{FF2B5EF4-FFF2-40B4-BE49-F238E27FC236}">
                <a16:creationId xmlns:a16="http://schemas.microsoft.com/office/drawing/2014/main" id="{79931BFD-6B5C-45CC-B0EB-9D28D6E1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6760" y="3934080"/>
            <a:ext cx="103392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1" name="Shape 182">
            <a:extLst xmlns:a="http://schemas.openxmlformats.org/drawingml/2006/main">
              <a:ext uri="{FF2B5EF4-FFF2-40B4-BE49-F238E27FC236}">
                <a16:creationId xmlns:a16="http://schemas.microsoft.com/office/drawing/2014/main" id="{6E58EB7A-F45D-4487-BD1B-6641BAAA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80" y="4290840"/>
            <a:ext cx="15206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E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Text 354">
            <a:extLst xmlns:a="http://schemas.openxmlformats.org/drawingml/2006/main">
              <a:ext uri="{FF2B5EF4-FFF2-40B4-BE49-F238E27FC236}">
                <a16:creationId xmlns:a16="http://schemas.microsoft.com/office/drawing/2014/main" id="{38D64F4F-186C-4E4F-B894-E24DBA7E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00" y="4388760"/>
            <a:ext cx="178992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C4A57B"/>
                </a:solidFill>
                <a:latin typeface="Gelasio Bold"/>
                <a:ea typeface="Gelasio Bold"/>
                <a:cs typeface="Gelasio Bold"/>
              </a:rPr>
              <a:t>LINE </a:t>
            </a:r>
            <a:r>
              <a:rPr sz="1430" b="1" u="none">
                <a:solidFill>
                  <a:srgbClr val="C4A57B"/>
                </a:solidFill>
                <a:latin typeface="Gelasio Bold"/>
                <a:ea typeface="Gelasio Bold"/>
                <a:cs typeface="Gelasio Bold"/>
              </a:rPr>
              <a:t>應用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3" name="Text 355">
            <a:extLst xmlns:a="http://schemas.openxmlformats.org/drawingml/2006/main">
              <a:ext uri="{FF2B5EF4-FFF2-40B4-BE49-F238E27FC236}">
                <a16:creationId xmlns:a16="http://schemas.microsoft.com/office/drawing/2014/main" id="{9F63B335-1450-4D8F-89AA-33C73B52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320" y="43887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4" name="Text 356">
            <a:extLst xmlns:a="http://schemas.openxmlformats.org/drawingml/2006/main">
              <a:ext uri="{FF2B5EF4-FFF2-40B4-BE49-F238E27FC236}">
                <a16:creationId xmlns:a16="http://schemas.microsoft.com/office/drawing/2014/main" id="{9D2D28FB-25B3-4FFE-AFE2-03C11129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440" y="43887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5" name="Shape 183">
            <a:extLst xmlns:a="http://schemas.openxmlformats.org/drawingml/2006/main">
              <a:ext uri="{FF2B5EF4-FFF2-40B4-BE49-F238E27FC236}">
                <a16:creationId xmlns:a16="http://schemas.microsoft.com/office/drawing/2014/main" id="{19EE8291-E442-4E26-8C0C-C069D254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640" y="429084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57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Text 357">
            <a:extLst xmlns:a="http://schemas.openxmlformats.org/drawingml/2006/main">
              <a:ext uri="{FF2B5EF4-FFF2-40B4-BE49-F238E27FC236}">
                <a16:creationId xmlns:a16="http://schemas.microsoft.com/office/drawing/2014/main" id="{4FC411DB-DA72-4B7E-A8CA-743E5CC4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560" y="43887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7" name="Shape 184">
            <a:extLst xmlns:a="http://schemas.openxmlformats.org/drawingml/2006/main">
              <a:ext uri="{FF2B5EF4-FFF2-40B4-BE49-F238E27FC236}">
                <a16:creationId xmlns:a16="http://schemas.microsoft.com/office/drawing/2014/main" id="{8492363C-866D-4B2F-872B-CE4B88CD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760" y="429084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57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8" name="Text 358">
            <a:extLst xmlns:a="http://schemas.openxmlformats.org/drawingml/2006/main">
              <a:ext uri="{FF2B5EF4-FFF2-40B4-BE49-F238E27FC236}">
                <a16:creationId xmlns:a16="http://schemas.microsoft.com/office/drawing/2014/main" id="{432BA2E2-DE4B-4361-94A0-356D6B66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680" y="43887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9" name="Shape 185">
            <a:extLst xmlns:a="http://schemas.openxmlformats.org/drawingml/2006/main">
              <a:ext uri="{FF2B5EF4-FFF2-40B4-BE49-F238E27FC236}">
                <a16:creationId xmlns:a16="http://schemas.microsoft.com/office/drawing/2014/main" id="{0C0F675C-A68D-4644-A9FA-5FE36E81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80" y="429084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57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0" name="Text 359">
            <a:extLst xmlns:a="http://schemas.openxmlformats.org/drawingml/2006/main">
              <a:ext uri="{FF2B5EF4-FFF2-40B4-BE49-F238E27FC236}">
                <a16:creationId xmlns:a16="http://schemas.microsoft.com/office/drawing/2014/main" id="{99F876C8-9FD9-4F81-B8B1-8F8C1412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800" y="43887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1" name="Shape 186">
            <a:extLst xmlns:a="http://schemas.openxmlformats.org/drawingml/2006/main">
              <a:ext uri="{FF2B5EF4-FFF2-40B4-BE49-F238E27FC236}">
                <a16:creationId xmlns:a16="http://schemas.microsoft.com/office/drawing/2014/main" id="{7A7E0AD2-1C76-4D0A-B313-E8CCF594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000" y="429084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57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2" name="Text 360">
            <a:extLst xmlns:a="http://schemas.openxmlformats.org/drawingml/2006/main">
              <a:ext uri="{FF2B5EF4-FFF2-40B4-BE49-F238E27FC236}">
                <a16:creationId xmlns:a16="http://schemas.microsoft.com/office/drawing/2014/main" id="{82A2129E-209D-402A-A80C-D1739350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3920" y="43887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3" name="Shape 187">
            <a:extLst xmlns:a="http://schemas.openxmlformats.org/drawingml/2006/main">
              <a:ext uri="{FF2B5EF4-FFF2-40B4-BE49-F238E27FC236}">
                <a16:creationId xmlns:a16="http://schemas.microsoft.com/office/drawing/2014/main" id="{C0BCFCFD-06FE-4EC0-8B0E-D8772778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120" y="429084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57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4" name="Text 361">
            <a:extLst xmlns:a="http://schemas.openxmlformats.org/drawingml/2006/main">
              <a:ext uri="{FF2B5EF4-FFF2-40B4-BE49-F238E27FC236}">
                <a16:creationId xmlns:a16="http://schemas.microsoft.com/office/drawing/2014/main" id="{76060137-422F-4FCE-9EAA-4EAA92FA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400" y="43887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5" name="Shape 188">
            <a:extLst xmlns:a="http://schemas.openxmlformats.org/drawingml/2006/main">
              <a:ext uri="{FF2B5EF4-FFF2-40B4-BE49-F238E27FC236}">
                <a16:creationId xmlns:a16="http://schemas.microsoft.com/office/drawing/2014/main" id="{CBE90BAD-7F4A-43E5-841B-81741728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0240" y="429084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57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6" name="Text 362">
            <a:extLst xmlns:a="http://schemas.openxmlformats.org/drawingml/2006/main">
              <a:ext uri="{FF2B5EF4-FFF2-40B4-BE49-F238E27FC236}">
                <a16:creationId xmlns:a16="http://schemas.microsoft.com/office/drawing/2014/main" id="{0F993363-6364-4E85-A750-5EBC2D8A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520" y="43887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7" name="Shape 189">
            <a:extLst xmlns:a="http://schemas.openxmlformats.org/drawingml/2006/main">
              <a:ext uri="{FF2B5EF4-FFF2-40B4-BE49-F238E27FC236}">
                <a16:creationId xmlns:a16="http://schemas.microsoft.com/office/drawing/2014/main" id="{B80E51DD-6461-4BAC-A5C3-397265B2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720" y="429084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57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8" name="Text 363">
            <a:extLst xmlns:a="http://schemas.openxmlformats.org/drawingml/2006/main">
              <a:ext uri="{FF2B5EF4-FFF2-40B4-BE49-F238E27FC236}">
                <a16:creationId xmlns:a16="http://schemas.microsoft.com/office/drawing/2014/main" id="{3D211EE6-B7F9-4AB6-BF12-DD954F38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8640" y="43887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9" name="Shape 190">
            <a:extLst xmlns:a="http://schemas.openxmlformats.org/drawingml/2006/main">
              <a:ext uri="{FF2B5EF4-FFF2-40B4-BE49-F238E27FC236}">
                <a16:creationId xmlns:a16="http://schemas.microsoft.com/office/drawing/2014/main" id="{F5484ACB-57C8-4DF2-BF47-96BDBBF4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840" y="429084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57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0" name="Text 364">
            <a:extLst xmlns:a="http://schemas.openxmlformats.org/drawingml/2006/main">
              <a:ext uri="{FF2B5EF4-FFF2-40B4-BE49-F238E27FC236}">
                <a16:creationId xmlns:a16="http://schemas.microsoft.com/office/drawing/2014/main" id="{7D800D07-2DA5-47AD-9944-A986D6AD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6760" y="4388760"/>
            <a:ext cx="103392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1" name="Shape 191">
            <a:extLst xmlns:a="http://schemas.openxmlformats.org/drawingml/2006/main">
              <a:ext uri="{FF2B5EF4-FFF2-40B4-BE49-F238E27FC236}">
                <a16:creationId xmlns:a16="http://schemas.microsoft.com/office/drawing/2014/main" id="{E8217489-AEDE-4A4B-98F5-9376C622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80" y="4745520"/>
            <a:ext cx="15206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E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2" name="Text 365">
            <a:extLst xmlns:a="http://schemas.openxmlformats.org/drawingml/2006/main">
              <a:ext uri="{FF2B5EF4-FFF2-40B4-BE49-F238E27FC236}">
                <a16:creationId xmlns:a16="http://schemas.microsoft.com/office/drawing/2014/main" id="{5632EF42-8F32-4C1D-BA2C-387F6389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00" y="4843800"/>
            <a:ext cx="178992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C9A876"/>
                </a:solidFill>
                <a:latin typeface="Gelasio Bold"/>
                <a:ea typeface="Gelasio Bold"/>
                <a:cs typeface="Gelasio Bold"/>
              </a:rPr>
              <a:t>Agent </a:t>
            </a:r>
            <a:r>
              <a:rPr sz="1430" b="1" u="none">
                <a:solidFill>
                  <a:srgbClr val="C9A876"/>
                </a:solidFill>
                <a:latin typeface="Gelasio Bold"/>
                <a:ea typeface="Gelasio Bold"/>
                <a:cs typeface="Gelasio Bold"/>
              </a:rPr>
              <a:t>應用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3" name="Text 366">
            <a:extLst xmlns:a="http://schemas.openxmlformats.org/drawingml/2006/main">
              <a:ext uri="{FF2B5EF4-FFF2-40B4-BE49-F238E27FC236}">
                <a16:creationId xmlns:a16="http://schemas.microsoft.com/office/drawing/2014/main" id="{E85392C9-C986-45D1-AFC1-43700758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320" y="484380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4" name="Text 367">
            <a:extLst xmlns:a="http://schemas.openxmlformats.org/drawingml/2006/main">
              <a:ext uri="{FF2B5EF4-FFF2-40B4-BE49-F238E27FC236}">
                <a16:creationId xmlns:a16="http://schemas.microsoft.com/office/drawing/2014/main" id="{9794CD65-4A4C-4B6B-9B82-BEEFD974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440" y="484380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5" name="Text 368">
            <a:extLst xmlns:a="http://schemas.openxmlformats.org/drawingml/2006/main">
              <a:ext uri="{FF2B5EF4-FFF2-40B4-BE49-F238E27FC236}">
                <a16:creationId xmlns:a16="http://schemas.microsoft.com/office/drawing/2014/main" id="{F077C557-BE02-4190-A8C3-A54C7113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560" y="484380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6" name="Text 369">
            <a:extLst xmlns:a="http://schemas.openxmlformats.org/drawingml/2006/main">
              <a:ext uri="{FF2B5EF4-FFF2-40B4-BE49-F238E27FC236}">
                <a16:creationId xmlns:a16="http://schemas.microsoft.com/office/drawing/2014/main" id="{C33DB510-2EBB-4637-A62A-918EE427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680" y="484380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7" name="Text 370">
            <a:extLst xmlns:a="http://schemas.openxmlformats.org/drawingml/2006/main">
              <a:ext uri="{FF2B5EF4-FFF2-40B4-BE49-F238E27FC236}">
                <a16:creationId xmlns:a16="http://schemas.microsoft.com/office/drawing/2014/main" id="{F1F31BC6-A864-4B94-8993-03AFAC81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800" y="484380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8" name="Shape 192">
            <a:extLst xmlns:a="http://schemas.openxmlformats.org/drawingml/2006/main">
              <a:ext uri="{FF2B5EF4-FFF2-40B4-BE49-F238E27FC236}">
                <a16:creationId xmlns:a16="http://schemas.microsoft.com/office/drawing/2014/main" id="{9766FA25-9709-4AD2-AC25-07C9EDDB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000" y="474552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7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Text 371">
            <a:extLst xmlns:a="http://schemas.openxmlformats.org/drawingml/2006/main">
              <a:ext uri="{FF2B5EF4-FFF2-40B4-BE49-F238E27FC236}">
                <a16:creationId xmlns:a16="http://schemas.microsoft.com/office/drawing/2014/main" id="{B7140F66-DD4C-45D6-91EC-4E213763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3920" y="484380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0" name="Shape 193">
            <a:extLst xmlns:a="http://schemas.openxmlformats.org/drawingml/2006/main">
              <a:ext uri="{FF2B5EF4-FFF2-40B4-BE49-F238E27FC236}">
                <a16:creationId xmlns:a16="http://schemas.microsoft.com/office/drawing/2014/main" id="{B1C02DC0-3440-4C99-AF87-70C04845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120" y="474552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7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Text 372">
            <a:extLst xmlns:a="http://schemas.openxmlformats.org/drawingml/2006/main">
              <a:ext uri="{FF2B5EF4-FFF2-40B4-BE49-F238E27FC236}">
                <a16:creationId xmlns:a16="http://schemas.microsoft.com/office/drawing/2014/main" id="{DF98BF53-4720-4B10-8CB6-E57985C3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400" y="484380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2" name="Shape 194">
            <a:extLst xmlns:a="http://schemas.openxmlformats.org/drawingml/2006/main">
              <a:ext uri="{FF2B5EF4-FFF2-40B4-BE49-F238E27FC236}">
                <a16:creationId xmlns:a16="http://schemas.microsoft.com/office/drawing/2014/main" id="{78F8F712-93F7-4FAF-A494-E17CB2CE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0240" y="474552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7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3" name="Text 373">
            <a:extLst xmlns:a="http://schemas.openxmlformats.org/drawingml/2006/main">
              <a:ext uri="{FF2B5EF4-FFF2-40B4-BE49-F238E27FC236}">
                <a16:creationId xmlns:a16="http://schemas.microsoft.com/office/drawing/2014/main" id="{57ADCF3B-2B9A-4A9C-B807-596F5382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520" y="484380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4" name="Shape 195">
            <a:extLst xmlns:a="http://schemas.openxmlformats.org/drawingml/2006/main">
              <a:ext uri="{FF2B5EF4-FFF2-40B4-BE49-F238E27FC236}">
                <a16:creationId xmlns:a16="http://schemas.microsoft.com/office/drawing/2014/main" id="{C8E61CC7-3755-421A-AE07-7082F5A2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720" y="474552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7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5" name="Text 374">
            <a:extLst xmlns:a="http://schemas.openxmlformats.org/drawingml/2006/main">
              <a:ext uri="{FF2B5EF4-FFF2-40B4-BE49-F238E27FC236}">
                <a16:creationId xmlns:a16="http://schemas.microsoft.com/office/drawing/2014/main" id="{0E1678D6-AA79-46DA-B098-D607CA0E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8640" y="484380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6" name="Shape 196">
            <a:extLst xmlns:a="http://schemas.openxmlformats.org/drawingml/2006/main">
              <a:ext uri="{FF2B5EF4-FFF2-40B4-BE49-F238E27FC236}">
                <a16:creationId xmlns:a16="http://schemas.microsoft.com/office/drawing/2014/main" id="{20D5CA0D-6E7C-420D-83F3-25BB6DC5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840" y="474552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7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7" name="Text 375">
            <a:extLst xmlns:a="http://schemas.openxmlformats.org/drawingml/2006/main">
              <a:ext uri="{FF2B5EF4-FFF2-40B4-BE49-F238E27FC236}">
                <a16:creationId xmlns:a16="http://schemas.microsoft.com/office/drawing/2014/main" id="{AE839963-6A06-4FFD-BD44-D346D63E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6760" y="4843800"/>
            <a:ext cx="103392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8" name="Shape 197">
            <a:extLst xmlns:a="http://schemas.openxmlformats.org/drawingml/2006/main">
              <a:ext uri="{FF2B5EF4-FFF2-40B4-BE49-F238E27FC236}">
                <a16:creationId xmlns:a16="http://schemas.microsoft.com/office/drawing/2014/main" id="{6CED0348-296D-40CB-A636-B2712C0C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80" y="5200200"/>
            <a:ext cx="15206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E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9" name="Text 376">
            <a:extLst xmlns:a="http://schemas.openxmlformats.org/drawingml/2006/main">
              <a:ext uri="{FF2B5EF4-FFF2-40B4-BE49-F238E27FC236}">
                <a16:creationId xmlns:a16="http://schemas.microsoft.com/office/drawing/2014/main" id="{6984D287-31F7-4A1D-9F06-7AA32825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00" y="5298480"/>
            <a:ext cx="178992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A89968"/>
                </a:solidFill>
                <a:latin typeface="Gelasio Bold"/>
                <a:ea typeface="Gelasio Bold"/>
                <a:cs typeface="Gelasio Bold"/>
              </a:rPr>
              <a:t>CI </a:t>
            </a:r>
            <a:r>
              <a:rPr sz="1430" b="1" u="none">
                <a:solidFill>
                  <a:srgbClr val="A89968"/>
                </a:solidFill>
                <a:latin typeface="Gelasio Bold"/>
                <a:ea typeface="Gelasio Bold"/>
                <a:cs typeface="Gelasio Bold"/>
              </a:rPr>
              <a:t>測試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" name="Shape 198">
            <a:extLst xmlns:a="http://schemas.openxmlformats.org/drawingml/2006/main">
              <a:ext uri="{FF2B5EF4-FFF2-40B4-BE49-F238E27FC236}">
                <a16:creationId xmlns:a16="http://schemas.microsoft.com/office/drawing/2014/main" id="{C5C004B0-5953-4BD4-A19D-74C4C5A2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040" y="520020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996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1" name="Text 377">
            <a:extLst xmlns:a="http://schemas.openxmlformats.org/drawingml/2006/main">
              <a:ext uri="{FF2B5EF4-FFF2-40B4-BE49-F238E27FC236}">
                <a16:creationId xmlns:a16="http://schemas.microsoft.com/office/drawing/2014/main" id="{F4FA0E74-FE01-43BE-A6B3-816B987D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320" y="52984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2" name="Shape 199">
            <a:extLst xmlns:a="http://schemas.openxmlformats.org/drawingml/2006/main">
              <a:ext uri="{FF2B5EF4-FFF2-40B4-BE49-F238E27FC236}">
                <a16:creationId xmlns:a16="http://schemas.microsoft.com/office/drawing/2014/main" id="{56BD191B-0327-4ABB-9D17-1EFE34CA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160" y="520020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996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3" name="Text 378">
            <a:extLst xmlns:a="http://schemas.openxmlformats.org/drawingml/2006/main">
              <a:ext uri="{FF2B5EF4-FFF2-40B4-BE49-F238E27FC236}">
                <a16:creationId xmlns:a16="http://schemas.microsoft.com/office/drawing/2014/main" id="{90BB6094-03F9-48E7-934E-3505FB21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440" y="52984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4" name="Shape 200">
            <a:extLst xmlns:a="http://schemas.openxmlformats.org/drawingml/2006/main">
              <a:ext uri="{FF2B5EF4-FFF2-40B4-BE49-F238E27FC236}">
                <a16:creationId xmlns:a16="http://schemas.microsoft.com/office/drawing/2014/main" id="{4618F012-A2B7-4BF8-9175-DF56D800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640" y="520020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996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" name="Text 379">
            <a:extLst xmlns:a="http://schemas.openxmlformats.org/drawingml/2006/main">
              <a:ext uri="{FF2B5EF4-FFF2-40B4-BE49-F238E27FC236}">
                <a16:creationId xmlns:a16="http://schemas.microsoft.com/office/drawing/2014/main" id="{C08F5304-3EF7-4A21-A1B0-9929432A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560" y="52984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6" name="Shape 201">
            <a:extLst xmlns:a="http://schemas.openxmlformats.org/drawingml/2006/main">
              <a:ext uri="{FF2B5EF4-FFF2-40B4-BE49-F238E27FC236}">
                <a16:creationId xmlns:a16="http://schemas.microsoft.com/office/drawing/2014/main" id="{E9F45575-6C3B-4156-9CCE-6D5689F9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760" y="520020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996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7" name="Text 380">
            <a:extLst xmlns:a="http://schemas.openxmlformats.org/drawingml/2006/main">
              <a:ext uri="{FF2B5EF4-FFF2-40B4-BE49-F238E27FC236}">
                <a16:creationId xmlns:a16="http://schemas.microsoft.com/office/drawing/2014/main" id="{2C6781F7-A2BD-450D-B203-1DBA1473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680" y="52984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8" name="Shape 202">
            <a:extLst xmlns:a="http://schemas.openxmlformats.org/drawingml/2006/main">
              <a:ext uri="{FF2B5EF4-FFF2-40B4-BE49-F238E27FC236}">
                <a16:creationId xmlns:a16="http://schemas.microsoft.com/office/drawing/2014/main" id="{5A061E63-5E6F-4350-BEB6-568CE6FF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80" y="520020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996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9" name="Text 381">
            <a:extLst xmlns:a="http://schemas.openxmlformats.org/drawingml/2006/main">
              <a:ext uri="{FF2B5EF4-FFF2-40B4-BE49-F238E27FC236}">
                <a16:creationId xmlns:a16="http://schemas.microsoft.com/office/drawing/2014/main" id="{7D2D077F-E4A4-4602-BD16-F8116C9D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800" y="52984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0" name="Shape 203">
            <a:extLst xmlns:a="http://schemas.openxmlformats.org/drawingml/2006/main">
              <a:ext uri="{FF2B5EF4-FFF2-40B4-BE49-F238E27FC236}">
                <a16:creationId xmlns:a16="http://schemas.microsoft.com/office/drawing/2014/main" id="{8FCDFBC4-4E24-4249-83D4-E2F27FDB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000" y="520020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996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1" name="Text 382">
            <a:extLst xmlns:a="http://schemas.openxmlformats.org/drawingml/2006/main">
              <a:ext uri="{FF2B5EF4-FFF2-40B4-BE49-F238E27FC236}">
                <a16:creationId xmlns:a16="http://schemas.microsoft.com/office/drawing/2014/main" id="{5B47FDEB-F523-4A99-B6B5-CF067DF7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3920" y="52984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2" name="Shape 204">
            <a:extLst xmlns:a="http://schemas.openxmlformats.org/drawingml/2006/main">
              <a:ext uri="{FF2B5EF4-FFF2-40B4-BE49-F238E27FC236}">
                <a16:creationId xmlns:a16="http://schemas.microsoft.com/office/drawing/2014/main" id="{751FD707-1A5F-4B38-A1C1-B33726B0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120" y="520020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996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3" name="Text 383">
            <a:extLst xmlns:a="http://schemas.openxmlformats.org/drawingml/2006/main">
              <a:ext uri="{FF2B5EF4-FFF2-40B4-BE49-F238E27FC236}">
                <a16:creationId xmlns:a16="http://schemas.microsoft.com/office/drawing/2014/main" id="{A655C5C5-A198-413E-848E-AE1E6516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400" y="52984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4" name="Shape 205">
            <a:extLst xmlns:a="http://schemas.openxmlformats.org/drawingml/2006/main">
              <a:ext uri="{FF2B5EF4-FFF2-40B4-BE49-F238E27FC236}">
                <a16:creationId xmlns:a16="http://schemas.microsoft.com/office/drawing/2014/main" id="{D482DBC7-552F-4E1C-A0C4-696CC49A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0240" y="520020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996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5" name="Text 384">
            <a:extLst xmlns:a="http://schemas.openxmlformats.org/drawingml/2006/main">
              <a:ext uri="{FF2B5EF4-FFF2-40B4-BE49-F238E27FC236}">
                <a16:creationId xmlns:a16="http://schemas.microsoft.com/office/drawing/2014/main" id="{6521A321-49E9-4729-A43B-21744D6A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520" y="52984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6" name="Shape 206">
            <a:extLst xmlns:a="http://schemas.openxmlformats.org/drawingml/2006/main">
              <a:ext uri="{FF2B5EF4-FFF2-40B4-BE49-F238E27FC236}">
                <a16:creationId xmlns:a16="http://schemas.microsoft.com/office/drawing/2014/main" id="{B2C9E132-4721-417F-877C-E9BE30FE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720" y="520020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996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7" name="Text 385">
            <a:extLst xmlns:a="http://schemas.openxmlformats.org/drawingml/2006/main">
              <a:ext uri="{FF2B5EF4-FFF2-40B4-BE49-F238E27FC236}">
                <a16:creationId xmlns:a16="http://schemas.microsoft.com/office/drawing/2014/main" id="{084133A7-D27B-40DC-A29B-C09806F0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8640" y="529848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8" name="Shape 207">
            <a:extLst xmlns:a="http://schemas.openxmlformats.org/drawingml/2006/main">
              <a:ext uri="{FF2B5EF4-FFF2-40B4-BE49-F238E27FC236}">
                <a16:creationId xmlns:a16="http://schemas.microsoft.com/office/drawing/2014/main" id="{5B29A913-0C6E-49B1-AE92-C15E5C14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840" y="520020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996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9" name="Text 386">
            <a:extLst xmlns:a="http://schemas.openxmlformats.org/drawingml/2006/main">
              <a:ext uri="{FF2B5EF4-FFF2-40B4-BE49-F238E27FC236}">
                <a16:creationId xmlns:a16="http://schemas.microsoft.com/office/drawing/2014/main" id="{94DB2969-BE5B-478E-9EB1-7D5D42D8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6760" y="5298480"/>
            <a:ext cx="103392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0" name="Shape 208">
            <a:extLst xmlns:a="http://schemas.openxmlformats.org/drawingml/2006/main">
              <a:ext uri="{FF2B5EF4-FFF2-40B4-BE49-F238E27FC236}">
                <a16:creationId xmlns:a16="http://schemas.microsoft.com/office/drawing/2014/main" id="{3879DD39-EEED-4655-BC2D-BF3116C8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80" y="5655240"/>
            <a:ext cx="1520640" cy="453600"/>
          </a:xfrm>
          <a:custGeom xmlns:a="http://schemas.openxmlformats.org/drawingml/2006/main">
            <a:gdLst>
              <a:gd name="textAreaLeft" fmla="*/ 0 w 1520640"/>
              <a:gd name="textAreaRight" fmla="*/ 1521720 w 1520640"/>
              <a:gd name="textAreaTop" fmla="*/ 0 h 453600"/>
              <a:gd name="textAreaBottom" fmla="*/ 454680 h 453600"/>
            </a:gdLst>
            <a:rect l="textAreaLeft" t="textAreaTop" r="textAreaRight" b="textAreaBottom"/>
            <a:pathLst>
              <a:path w="1521581" h="454819">
                <a:moveTo>
                  <a:pt x="0" y="0"/>
                </a:moveTo>
                <a:lnTo>
                  <a:pt x="1521581" y="0"/>
                </a:lnTo>
                <a:lnTo>
                  <a:pt x="1521581" y="454819"/>
                </a:lnTo>
                <a:lnTo>
                  <a:pt x="21265" y="454819"/>
                </a:lnTo>
                <a:arcTo wR="21265" hR="21265" stAng="5400000" swAng="5400000"/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EBE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1" name="Text 387">
            <a:extLst xmlns:a="http://schemas.openxmlformats.org/drawingml/2006/main">
              <a:ext uri="{FF2B5EF4-FFF2-40B4-BE49-F238E27FC236}">
                <a16:creationId xmlns:a16="http://schemas.microsoft.com/office/drawing/2014/main" id="{177F5F3E-60A0-4B27-BF9A-7DC360A5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00" y="5753160"/>
            <a:ext cx="178992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7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A0826D"/>
                </a:solidFill>
                <a:latin typeface="Gelasio Bold"/>
                <a:ea typeface="Gelasio Bold"/>
                <a:cs typeface="Gelasio Bold"/>
              </a:rPr>
              <a:t>程式部署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2" name="Text 388">
            <a:extLst xmlns:a="http://schemas.openxmlformats.org/drawingml/2006/main">
              <a:ext uri="{FF2B5EF4-FFF2-40B4-BE49-F238E27FC236}">
                <a16:creationId xmlns:a16="http://schemas.microsoft.com/office/drawing/2014/main" id="{0207C665-5B77-4DD0-A572-0253C368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320" y="57531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3" name="Text 389">
            <a:extLst xmlns:a="http://schemas.openxmlformats.org/drawingml/2006/main">
              <a:ext uri="{FF2B5EF4-FFF2-40B4-BE49-F238E27FC236}">
                <a16:creationId xmlns:a16="http://schemas.microsoft.com/office/drawing/2014/main" id="{23A09667-13D1-48E6-9790-447C27DF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440" y="57531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4" name="Text 390">
            <a:extLst xmlns:a="http://schemas.openxmlformats.org/drawingml/2006/main">
              <a:ext uri="{FF2B5EF4-FFF2-40B4-BE49-F238E27FC236}">
                <a16:creationId xmlns:a16="http://schemas.microsoft.com/office/drawing/2014/main" id="{C0701C2F-7B72-4C65-83C1-C811F9CD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560" y="57531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5" name="Text 391">
            <a:extLst xmlns:a="http://schemas.openxmlformats.org/drawingml/2006/main">
              <a:ext uri="{FF2B5EF4-FFF2-40B4-BE49-F238E27FC236}">
                <a16:creationId xmlns:a16="http://schemas.microsoft.com/office/drawing/2014/main" id="{D060D01E-0DF1-43A4-AC9B-3CB2F165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680" y="57531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6" name="Text 392">
            <a:extLst xmlns:a="http://schemas.openxmlformats.org/drawingml/2006/main">
              <a:ext uri="{FF2B5EF4-FFF2-40B4-BE49-F238E27FC236}">
                <a16:creationId xmlns:a16="http://schemas.microsoft.com/office/drawing/2014/main" id="{1489D851-5CF3-4441-9F61-FD571145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800" y="57531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7" name="Text 393">
            <a:extLst xmlns:a="http://schemas.openxmlformats.org/drawingml/2006/main">
              <a:ext uri="{FF2B5EF4-FFF2-40B4-BE49-F238E27FC236}">
                <a16:creationId xmlns:a16="http://schemas.microsoft.com/office/drawing/2014/main" id="{19E6CEB9-BE39-4326-B6BB-2687597D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3920" y="57531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8" name="Text 394">
            <a:extLst xmlns:a="http://schemas.openxmlformats.org/drawingml/2006/main">
              <a:ext uri="{FF2B5EF4-FFF2-40B4-BE49-F238E27FC236}">
                <a16:creationId xmlns:a16="http://schemas.microsoft.com/office/drawing/2014/main" id="{D20130ED-6276-42C5-9327-4E5FA341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400" y="57531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9" name="Shape 209">
            <a:extLst xmlns:a="http://schemas.openxmlformats.org/drawingml/2006/main">
              <a:ext uri="{FF2B5EF4-FFF2-40B4-BE49-F238E27FC236}">
                <a16:creationId xmlns:a16="http://schemas.microsoft.com/office/drawing/2014/main" id="{3835FE12-5963-404A-9AFC-B1821498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0240" y="565524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826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0" name="Text 395">
            <a:extLst xmlns:a="http://schemas.openxmlformats.org/drawingml/2006/main">
              <a:ext uri="{FF2B5EF4-FFF2-40B4-BE49-F238E27FC236}">
                <a16:creationId xmlns:a16="http://schemas.microsoft.com/office/drawing/2014/main" id="{27B40472-C623-4C8C-AC9A-7C31561C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520" y="57531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1" name="Shape 210">
            <a:extLst xmlns:a="http://schemas.openxmlformats.org/drawingml/2006/main">
              <a:ext uri="{FF2B5EF4-FFF2-40B4-BE49-F238E27FC236}">
                <a16:creationId xmlns:a16="http://schemas.microsoft.com/office/drawing/2014/main" id="{3BCFD5FE-42BE-4A6A-9C79-B40F6AA3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720" y="5655240"/>
            <a:ext cx="977040" cy="4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826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2" name="Text 396">
            <a:extLst xmlns:a="http://schemas.openxmlformats.org/drawingml/2006/main">
              <a:ext uri="{FF2B5EF4-FFF2-40B4-BE49-F238E27FC236}">
                <a16:creationId xmlns:a16="http://schemas.microsoft.com/office/drawing/2014/main" id="{C59E9E7C-5FCE-4071-8C39-6EE0221D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8640" y="5753160"/>
            <a:ext cx="124668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3" name="Shape 211">
            <a:extLst xmlns:a="http://schemas.openxmlformats.org/drawingml/2006/main">
              <a:ext uri="{FF2B5EF4-FFF2-40B4-BE49-F238E27FC236}">
                <a16:creationId xmlns:a16="http://schemas.microsoft.com/office/drawing/2014/main" id="{2AFA8B27-8CB2-4625-96DD-B5FA60D1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840" y="5655240"/>
            <a:ext cx="977040" cy="453600"/>
          </a:xfrm>
          <a:custGeom xmlns:a="http://schemas.openxmlformats.org/drawingml/2006/main">
            <a:gdLst>
              <a:gd name="textAreaLeft" fmla="*/ 0 w 977040"/>
              <a:gd name="textAreaRight" fmla="*/ 978120 w 977040"/>
              <a:gd name="textAreaTop" fmla="*/ 0 h 453600"/>
              <a:gd name="textAreaBottom" fmla="*/ 454680 h 453600"/>
            </a:gdLst>
            <a:rect l="textAreaLeft" t="textAreaTop" r="textAreaRight" b="textAreaBottom"/>
            <a:pathLst>
              <a:path w="978173" h="454819">
                <a:moveTo>
                  <a:pt x="0" y="0"/>
                </a:moveTo>
                <a:lnTo>
                  <a:pt x="978173" y="0"/>
                </a:lnTo>
                <a:lnTo>
                  <a:pt x="978173" y="433554"/>
                </a:lnTo>
                <a:arcTo wR="21265" hR="21265" stAng="0" swAng="5400000"/>
                <a:lnTo>
                  <a:pt x="0" y="4548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0826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4" name="Text 397">
            <a:extLst xmlns:a="http://schemas.openxmlformats.org/drawingml/2006/main">
              <a:ext uri="{FF2B5EF4-FFF2-40B4-BE49-F238E27FC236}">
                <a16:creationId xmlns:a16="http://schemas.microsoft.com/office/drawing/2014/main" id="{F54481D4-9C2B-4791-85C8-AA1365FA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6760" y="5753160"/>
            <a:ext cx="1033920" cy="2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 sz="13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5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C424AF63-203B-475A-B5FB-C6163635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6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7C575FE4-05BC-4C7C-855A-ABE53CF3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269906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6" name="Text 398">
            <a:extLst xmlns:a="http://schemas.openxmlformats.org/drawingml/2006/main">
              <a:ext uri="{FF2B5EF4-FFF2-40B4-BE49-F238E27FC236}">
                <a16:creationId xmlns:a16="http://schemas.microsoft.com/office/drawing/2014/main" id="{BF6860D7-28EF-44A2-BDBB-21452F91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需求釐清：從流程與資料找出數位化入口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7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D34D2FBA-B1E8-4111-816D-FC577326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8" name="流程圖說明">
            <a:extLst xmlns:a="http://schemas.openxmlformats.org/drawingml/2006/main">
              <a:ext uri="{FF2B5EF4-FFF2-40B4-BE49-F238E27FC236}">
                <a16:creationId xmlns:a16="http://schemas.microsoft.com/office/drawing/2014/main" id="{916E0D0F-01E0-4DCD-A71E-B0953F5C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680" y="2333520"/>
            <a:ext cx="400032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從新訂單到帳務核銷的單一案件脈絡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9" name="需求釐清重點符號">
            <a:extLst xmlns:a="http://schemas.openxmlformats.org/drawingml/2006/main">
              <a:ext uri="{FF2B5EF4-FFF2-40B4-BE49-F238E27FC236}">
                <a16:creationId xmlns:a16="http://schemas.microsoft.com/office/drawing/2014/main" id="{405826C0-7DB7-4CB0-8DF5-69E6511A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320"/>
            <a:ext cx="95040" cy="95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F4D"/>
          </a:solidFill>
          <a:ln xmlns:a="http://schemas.openxmlformats.org/drawingml/2006/main" w="0">
            <a:solidFill>
              <a:srgbClr val="B96F4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2680" rIns="90000" bIns="2268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0" name="需求釐清重點">
            <a:extLst xmlns:a="http://schemas.openxmlformats.org/drawingml/2006/main">
              <a:ext uri="{FF2B5EF4-FFF2-40B4-BE49-F238E27FC236}">
                <a16:creationId xmlns:a16="http://schemas.microsoft.com/office/drawing/2014/main" id="{D098A8DD-95EB-483F-B280-913172E3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80" y="2143080"/>
            <a:ext cx="4000320" cy="4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0" u="none">
                <a:solidFill>
                  <a:srgbClr val="685344"/>
                </a:solidFill>
                <a:latin typeface="Noto Sans TC"/>
                <a:ea typeface="Noto Sans TC"/>
                <a:cs typeface="Noto Sans TC"/>
              </a:rPr>
              <a:t>先熟悉登記、媒合、排班、服務與帳務的實際交接。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1" name="需求釐清重點符號">
            <a:extLst xmlns:a="http://schemas.openxmlformats.org/drawingml/2006/main">
              <a:ext uri="{FF2B5EF4-FFF2-40B4-BE49-F238E27FC236}">
                <a16:creationId xmlns:a16="http://schemas.microsoft.com/office/drawing/2014/main" id="{8F9B04E9-CCD9-4992-93D5-1F10168A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440"/>
            <a:ext cx="95040" cy="95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F4D"/>
          </a:solidFill>
          <a:ln xmlns:a="http://schemas.openxmlformats.org/drawingml/2006/main" w="0">
            <a:solidFill>
              <a:srgbClr val="B96F4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2680" rIns="90000" bIns="2268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2" name="需求釐清重點">
            <a:extLst xmlns:a="http://schemas.openxmlformats.org/drawingml/2006/main">
              <a:ext uri="{FF2B5EF4-FFF2-40B4-BE49-F238E27FC236}">
                <a16:creationId xmlns:a16="http://schemas.microsoft.com/office/drawing/2014/main" id="{C0C578C5-49CB-4E66-B4B2-49EA7124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80" y="2905200"/>
            <a:ext cx="4000320" cy="4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0" u="none">
                <a:solidFill>
                  <a:srgbClr val="685344"/>
                </a:solidFill>
                <a:latin typeface="Noto Sans TC"/>
                <a:ea typeface="Noto Sans TC"/>
                <a:cs typeface="Noto Sans TC"/>
              </a:rPr>
              <a:t>將 </a:t>
            </a:r>
            <a:r>
              <a:rPr sz="1430" b="0" u="none">
                <a:solidFill>
                  <a:srgbClr val="685344"/>
                </a:solidFill>
                <a:latin typeface="Noto Sans TC"/>
                <a:ea typeface="Noto Sans TC"/>
                <a:cs typeface="Noto Sans TC"/>
              </a:rPr>
              <a:t>Excel </a:t>
            </a:r>
            <a:r>
              <a:rPr sz="1430" b="0" u="none">
                <a:solidFill>
                  <a:srgbClr val="685344"/>
                </a:solidFill>
                <a:latin typeface="Noto Sans TC"/>
                <a:ea typeface="Noto Sans TC"/>
                <a:cs typeface="Noto Sans TC"/>
              </a:rPr>
              <a:t>與紙本紀錄轉成可追蹤的訂單狀態與資料關係。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3" name="需求釐清重點符號">
            <a:extLst xmlns:a="http://schemas.openxmlformats.org/drawingml/2006/main">
              <a:ext uri="{FF2B5EF4-FFF2-40B4-BE49-F238E27FC236}">
                <a16:creationId xmlns:a16="http://schemas.microsoft.com/office/drawing/2014/main" id="{5D5919AD-73EA-4393-BDBB-840ABC3B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24200"/>
            <a:ext cx="95040" cy="95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F4D"/>
          </a:solidFill>
          <a:ln xmlns:a="http://schemas.openxmlformats.org/drawingml/2006/main" w="0">
            <a:solidFill>
              <a:srgbClr val="B96F4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2680" rIns="90000" bIns="2268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4" name="需求釐清重點">
            <a:extLst xmlns:a="http://schemas.openxmlformats.org/drawingml/2006/main">
              <a:ext uri="{FF2B5EF4-FFF2-40B4-BE49-F238E27FC236}">
                <a16:creationId xmlns:a16="http://schemas.microsoft.com/office/drawing/2014/main" id="{B1EC04CA-EC3E-4D74-BD5D-1CD338EB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80" y="3666960"/>
            <a:ext cx="4000320" cy="4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0" u="none">
                <a:solidFill>
                  <a:srgbClr val="685344"/>
                </a:solidFill>
                <a:latin typeface="Noto Sans TC"/>
                <a:ea typeface="Noto Sans TC"/>
                <a:cs typeface="Noto Sans TC"/>
              </a:rPr>
              <a:t>減少行政查找與重複核對，支援後續跨地協作。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5" name="訂單流程 1">
            <a:extLst xmlns:a="http://schemas.openxmlformats.org/drawingml/2006/main">
              <a:ext uri="{FF2B5EF4-FFF2-40B4-BE49-F238E27FC236}">
                <a16:creationId xmlns:a16="http://schemas.microsoft.com/office/drawing/2014/main" id="{EC0F9220-F4A8-42FA-884B-59A080C1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600" y="3143160"/>
            <a:ext cx="971280" cy="64728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B96F4D"/>
          </a:solidFill>
          <a:ln xmlns:a="http://schemas.openxmlformats.org/drawingml/2006/main" w="11430">
            <a:solidFill>
              <a:srgbClr val="B96F4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  <a:endParaRPr sz="14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新訂單</a:t>
            </a:r>
            <a:endParaRPr sz="14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6" name="訂單流程 2">
            <a:extLst xmlns:a="http://schemas.openxmlformats.org/drawingml/2006/main">
              <a:ext uri="{FF2B5EF4-FFF2-40B4-BE49-F238E27FC236}">
                <a16:creationId xmlns:a16="http://schemas.microsoft.com/office/drawing/2014/main" id="{C1262FBD-AF56-4AE6-90E2-8A4827E0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600" y="3143160"/>
            <a:ext cx="971280" cy="64728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E2D1"/>
          </a:solidFill>
          <a:ln xmlns:a="http://schemas.openxmlformats.org/drawingml/2006/main" w="11430">
            <a:solidFill>
              <a:srgbClr val="C98C6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0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2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0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確認需求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7" name="訂單流程 3">
            <a:extLst xmlns:a="http://schemas.openxmlformats.org/drawingml/2006/main">
              <a:ext uri="{FF2B5EF4-FFF2-40B4-BE49-F238E27FC236}">
                <a16:creationId xmlns:a16="http://schemas.microsoft.com/office/drawing/2014/main" id="{86764D3C-DFFC-44C1-86B3-91446E66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600" y="3143160"/>
            <a:ext cx="971280" cy="64728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E2D1"/>
          </a:solidFill>
          <a:ln xmlns:a="http://schemas.openxmlformats.org/drawingml/2006/main" w="11430">
            <a:solidFill>
              <a:srgbClr val="C98C6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0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3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0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媒合排班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8" name="訂單流程 4">
            <a:extLst xmlns:a="http://schemas.openxmlformats.org/drawingml/2006/main">
              <a:ext uri="{FF2B5EF4-FFF2-40B4-BE49-F238E27FC236}">
                <a16:creationId xmlns:a16="http://schemas.microsoft.com/office/drawing/2014/main" id="{89F5DE03-A7CC-40CD-9623-CD497E86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600" y="3143160"/>
            <a:ext cx="971280" cy="64728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E2D1"/>
          </a:solidFill>
          <a:ln xmlns:a="http://schemas.openxmlformats.org/drawingml/2006/main" w="11430">
            <a:solidFill>
              <a:srgbClr val="C98C6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0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4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0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服務完成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9" name="訂單流程 5">
            <a:extLst xmlns:a="http://schemas.openxmlformats.org/drawingml/2006/main">
              <a:ext uri="{FF2B5EF4-FFF2-40B4-BE49-F238E27FC236}">
                <a16:creationId xmlns:a16="http://schemas.microsoft.com/office/drawing/2014/main" id="{B3DBA960-7CB6-4B1A-BE8E-34152F41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600" y="3143160"/>
            <a:ext cx="971280" cy="64728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E2D1"/>
          </a:solidFill>
          <a:ln xmlns:a="http://schemas.openxmlformats.org/drawingml/2006/main" w="11430">
            <a:solidFill>
              <a:srgbClr val="C98C6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0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5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0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帳務核銷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41" name=""/>
          <p:cNvCxnSpPr>
            <a:stCxn xmlns:a="http://schemas.openxmlformats.org/drawingml/2006/main" id="315" idx="3"/>
            <a:endCxn xmlns:a="http://schemas.openxmlformats.org/drawingml/2006/main" id="316" idx="1"/>
          </p:cNvCxnSpPr>
          <p:nvPr/>
        </p:nvCxnSpPr>
        <p:spPr>
          <a:xfrm xmlns:a="http://schemas.openxmlformats.org/drawingml/2006/main">
            <a:off x="6590880" y="3466800"/>
            <a:ext cx="1720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A187"/>
            </a:solidFill>
            <a:round/>
            <a:headEnd type="arrow" w="sm" len="sm"/>
          </a:ln>
        </p:spPr>
      </p:cxnSp>
      <p:cxnSp>
        <p:nvCxnSpPr>
          <p:cNvPr id="342" name=""/>
          <p:cNvCxnSpPr>
            <a:stCxn xmlns:a="http://schemas.openxmlformats.org/drawingml/2006/main" id="316" idx="3"/>
            <a:endCxn xmlns:a="http://schemas.openxmlformats.org/drawingml/2006/main" id="317" idx="1"/>
          </p:cNvCxnSpPr>
          <p:nvPr/>
        </p:nvCxnSpPr>
        <p:spPr>
          <a:xfrm xmlns:a="http://schemas.openxmlformats.org/drawingml/2006/main">
            <a:off x="7733880" y="3466800"/>
            <a:ext cx="1720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A187"/>
            </a:solidFill>
            <a:round/>
            <a:headEnd type="arrow" w="sm" len="sm"/>
          </a:ln>
        </p:spPr>
      </p:cxnSp>
      <p:cxnSp>
        <p:nvCxnSpPr>
          <p:cNvPr id="343" name=""/>
          <p:cNvCxnSpPr>
            <a:stCxn xmlns:a="http://schemas.openxmlformats.org/drawingml/2006/main" id="317" idx="3"/>
            <a:endCxn xmlns:a="http://schemas.openxmlformats.org/drawingml/2006/main" id="318" idx="1"/>
          </p:cNvCxnSpPr>
          <p:nvPr/>
        </p:nvCxnSpPr>
        <p:spPr>
          <a:xfrm xmlns:a="http://schemas.openxmlformats.org/drawingml/2006/main">
            <a:off x="8876880" y="3466800"/>
            <a:ext cx="1720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A187"/>
            </a:solidFill>
            <a:round/>
            <a:headEnd type="arrow" w="sm" len="sm"/>
          </a:ln>
        </p:spPr>
      </p:cxnSp>
      <p:cxnSp>
        <p:nvCxnSpPr>
          <p:cNvPr id="344" name=""/>
          <p:cNvCxnSpPr>
            <a:stCxn xmlns:a="http://schemas.openxmlformats.org/drawingml/2006/main" id="318" idx="3"/>
            <a:endCxn xmlns:a="http://schemas.openxmlformats.org/drawingml/2006/main" id="319" idx="1"/>
          </p:cNvCxnSpPr>
          <p:nvPr/>
        </p:nvCxnSpPr>
        <p:spPr>
          <a:xfrm xmlns:a="http://schemas.openxmlformats.org/drawingml/2006/main">
            <a:off x="10019880" y="3466800"/>
            <a:ext cx="1720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A187"/>
            </a:solidFill>
            <a:round/>
            <a:headEnd type="arrow" w="sm" len="sm"/>
          </a:ln>
        </p:spPr>
      </p:cxnSp>
      <p:sp>
        <p:nvSpPr>
          <p:cNvPr id="324" name="需求釐清成果句">
            <a:extLst xmlns:a="http://schemas.openxmlformats.org/drawingml/2006/main">
              <a:ext uri="{FF2B5EF4-FFF2-40B4-BE49-F238E27FC236}">
                <a16:creationId xmlns:a16="http://schemas.microsoft.com/office/drawing/2014/main" id="{75FB6074-ACDE-44D8-AAE8-E742F9C6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960" y="5048280"/>
            <a:ext cx="9857880" cy="59004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E2D3"/>
          </a:solidFill>
          <a:ln xmlns:a="http://schemas.openxmlformats.org/drawingml/2006/main" w="9525">
            <a:solidFill>
              <a:srgbClr val="D5B69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5" name="需求釐清成果文字">
            <a:extLst xmlns:a="http://schemas.openxmlformats.org/drawingml/2006/main">
              <a:ext uri="{FF2B5EF4-FFF2-40B4-BE49-F238E27FC236}">
                <a16:creationId xmlns:a16="http://schemas.microsoft.com/office/drawing/2014/main" id="{0406BE47-8E18-4F44-92A0-76FF6C22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20" y="5181480"/>
            <a:ext cx="923904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0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行政工作由「找資料」轉向「判斷與服務」，後台、</a:t>
            </a:r>
            <a:r>
              <a:rPr sz="1430" b="0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LINE </a:t>
            </a:r>
            <a:r>
              <a:rPr sz="1430" b="0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與 </a:t>
            </a:r>
            <a:r>
              <a:rPr sz="1430" b="0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Agent </a:t>
            </a:r>
            <a:r>
              <a:rPr sz="1430" b="0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皆可使用同一份業務脈絡。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6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49C230A0-02F5-4973-BCE6-B72D49D6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629701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12900674-FAD3-447A-8547-8270AE5E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軟體分層架構圖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E8C64F40-5AE0-4D0E-AB68-4D18B8E9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80" y="1600200"/>
            <a:ext cx="128412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430" b="1" u="none">
                <a:solidFill>
                  <a:srgbClr val="6D6259"/>
                </a:solidFill>
                <a:latin typeface="Microsoft JhengHei"/>
                <a:ea typeface="Microsoft JhengHei"/>
                <a:cs typeface="Microsoft JhengHei"/>
              </a:rPr>
              <a:t>介面層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6864588B-98DE-4079-BDBF-EEAE0FCA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480" y="1504800"/>
            <a:ext cx="7237080" cy="64584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Streamlit 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管理端　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·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LINE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·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Excel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／檔案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2D7B12E8-BA9F-49EB-80EA-40894C11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80" y="2381400"/>
            <a:ext cx="128412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430" b="1" u="none">
                <a:solidFill>
                  <a:srgbClr val="6D6259"/>
                </a:solidFill>
                <a:latin typeface="Microsoft JhengHei"/>
                <a:ea typeface="Microsoft JhengHei"/>
                <a:cs typeface="Microsoft JhengHei"/>
              </a:rPr>
              <a:t>API </a:t>
            </a:r>
            <a:r>
              <a:rPr sz="1430" b="1" u="none">
                <a:solidFill>
                  <a:srgbClr val="6D6259"/>
                </a:solidFill>
                <a:latin typeface="Microsoft JhengHei"/>
                <a:ea typeface="Microsoft JhengHei"/>
                <a:cs typeface="Microsoft JhengHei"/>
              </a:rPr>
              <a:t>邊界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231D1FF3-7A21-4267-A9C9-5535F4ED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480" y="2286000"/>
            <a:ext cx="7237080" cy="64584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FastAPI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·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Webhook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·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Pydantic Schemas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7236DC12-ADEE-4722-9759-40BB56E3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80" y="3162240"/>
            <a:ext cx="128412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430" b="1" u="none">
                <a:solidFill>
                  <a:srgbClr val="6D6259"/>
                </a:solidFill>
                <a:latin typeface="Microsoft JhengHei"/>
                <a:ea typeface="Microsoft JhengHei"/>
                <a:cs typeface="Microsoft JhengHei"/>
              </a:rPr>
              <a:t>應用流程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F12FA6CE-E912-4E31-9EA3-3AE7C95C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480" y="3067200"/>
            <a:ext cx="7237080" cy="64584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Workflow Coordinator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·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Preview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／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Apply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·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Unit of Work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C19188E1-70E0-4F49-BBD5-E46A12D8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80" y="4038480"/>
            <a:ext cx="128412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430" b="1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業務核心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0D0BAAA0-1576-4915-9F6F-662B151C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480" y="3943440"/>
            <a:ext cx="7237080" cy="64584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19050">
            <a:solidFill>
              <a:srgbClr val="D8B49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Orders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·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Scheduling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·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Finance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·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Payroll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·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Anomalies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443FD710-A0DB-408C-A0E8-8E83678E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80" y="4915080"/>
            <a:ext cx="128412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430" b="1" u="none">
                <a:solidFill>
                  <a:srgbClr val="6D6259"/>
                </a:solidFill>
                <a:latin typeface="Microsoft JhengHei"/>
                <a:ea typeface="Microsoft JhengHei"/>
                <a:cs typeface="Microsoft JhengHei"/>
              </a:rPr>
              <a:t>基礎設施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1A199418-B3A7-4C16-B8EC-7D0CC1A7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480" y="4819680"/>
            <a:ext cx="7237080" cy="64584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Typed Ports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→　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MySQL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／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LINE Provider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／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Archive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78" name=""/>
          <p:cNvCxnSpPr>
            <a:stCxn xmlns:a="http://schemas.openxmlformats.org/drawingml/2006/main" id="329" idx="2"/>
            <a:endCxn xmlns:a="http://schemas.openxmlformats.org/drawingml/2006/main" id="331" idx="0"/>
          </p:cNvCxnSpPr>
          <p:nvPr/>
        </p:nvCxnSpPr>
        <p:spPr>
          <a:xfrm xmlns:a="http://schemas.openxmlformats.org/drawingml/2006/main">
            <a:off x="5857200" y="2150640"/>
            <a:ext cx="360" cy="1357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round/>
            <a:tailEnd type="triangle" w="sm" len="sm"/>
          </a:ln>
        </p:spPr>
      </p:cxnSp>
      <p:cxnSp>
        <p:nvCxnSpPr>
          <p:cNvPr id="379" name=""/>
          <p:cNvCxnSpPr>
            <a:stCxn xmlns:a="http://schemas.openxmlformats.org/drawingml/2006/main" id="331" idx="2"/>
            <a:endCxn xmlns:a="http://schemas.openxmlformats.org/drawingml/2006/main" id="333" idx="0"/>
          </p:cNvCxnSpPr>
          <p:nvPr/>
        </p:nvCxnSpPr>
        <p:spPr>
          <a:xfrm xmlns:a="http://schemas.openxmlformats.org/drawingml/2006/main">
            <a:off x="5857200" y="2931840"/>
            <a:ext cx="360" cy="1357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round/>
            <a:tailEnd type="triangle" w="sm" len="sm"/>
          </a:ln>
        </p:spPr>
      </p:cxnSp>
      <p:cxnSp>
        <p:nvCxnSpPr>
          <p:cNvPr id="380" name=""/>
          <p:cNvCxnSpPr>
            <a:stCxn xmlns:a="http://schemas.openxmlformats.org/drawingml/2006/main" id="333" idx="2"/>
            <a:endCxn xmlns:a="http://schemas.openxmlformats.org/drawingml/2006/main" id="335" idx="0"/>
          </p:cNvCxnSpPr>
          <p:nvPr/>
        </p:nvCxnSpPr>
        <p:spPr>
          <a:xfrm xmlns:a="http://schemas.openxmlformats.org/drawingml/2006/main">
            <a:off x="5857200" y="3713040"/>
            <a:ext cx="360" cy="2307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round/>
            <a:tailEnd type="triangle" w="sm" len="sm"/>
          </a:ln>
        </p:spPr>
      </p:cxnSp>
      <p:cxnSp>
        <p:nvCxnSpPr>
          <p:cNvPr id="381" name=""/>
          <p:cNvCxnSpPr>
            <a:stCxn xmlns:a="http://schemas.openxmlformats.org/drawingml/2006/main" id="335" idx="2"/>
            <a:endCxn xmlns:a="http://schemas.openxmlformats.org/drawingml/2006/main" id="337" idx="0"/>
          </p:cNvCxnSpPr>
          <p:nvPr/>
        </p:nvCxnSpPr>
        <p:spPr>
          <a:xfrm xmlns:a="http://schemas.openxmlformats.org/drawingml/2006/main">
            <a:off x="5857200" y="4589280"/>
            <a:ext cx="360" cy="2307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round/>
            <a:tailEnd type="triangle" w="sm" len="sm"/>
          </a:ln>
        </p:spPr>
      </p:cxn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4DADDCEF-DAEC-446F-95D6-0A9084F0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71840"/>
            <a:ext cx="1712880" cy="223668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4E9DF"/>
          </a:solidFill>
          <a:ln xmlns:a="http://schemas.openxmlformats.org/drawingml/2006/main" w="11430">
            <a:solidFill>
              <a:srgbClr val="AAB6A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A951F63D-C29A-4396-869D-BFD2BEF2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000" y="2647800"/>
            <a:ext cx="1446120" cy="26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>
                <a:solidFill>
                  <a:srgbClr val="65735B"/>
                </a:solidFill>
                <a:latin typeface="Microsoft JhengHei"/>
                <a:ea typeface="Microsoft JhengHei"/>
                <a:cs typeface="Microsoft JhengHei"/>
              </a:rPr>
              <a:t>非同步工作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5B0CDFFF-1075-4607-94B1-DD1A6204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160" y="3048120"/>
            <a:ext cx="1369800" cy="137916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AAB6A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 fontScale="85000"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Durable Worker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Inbox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／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Outbox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Background Jobs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85" name=""/>
          <p:cNvCxnSpPr>
            <a:stCxn xmlns:a="http://schemas.openxmlformats.org/drawingml/2006/main" id="331" idx="3"/>
            <a:endCxn xmlns:a="http://schemas.openxmlformats.org/drawingml/2006/main" id="344" idx="0"/>
          </p:cNvCxnSpPr>
          <p:nvPr/>
        </p:nvCxnSpPr>
        <p:spPr>
          <a:xfrm xmlns:a="http://schemas.openxmlformats.org/drawingml/2006/main">
            <a:off x="9475560" y="2608920"/>
            <a:ext cx="1211040" cy="43956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AAB6A0"/>
            </a:solidFill>
            <a:round/>
            <a:tailEnd type="triangle" w="sm" len="sm"/>
          </a:ln>
        </p:spPr>
      </p:cxnSp>
      <p:cxnSp>
        <p:nvCxnSpPr>
          <p:cNvPr id="386" name=""/>
          <p:cNvCxnSpPr>
            <a:stCxn xmlns:a="http://schemas.openxmlformats.org/drawingml/2006/main" id="344" idx="1"/>
            <a:endCxn xmlns:a="http://schemas.openxmlformats.org/drawingml/2006/main" id="335" idx="3"/>
          </p:cNvCxnSpPr>
          <p:nvPr/>
        </p:nvCxnSpPr>
        <p:spPr>
          <a:xfrm xmlns:a="http://schemas.openxmlformats.org/drawingml/2006/main" rot="10800000" flipV="1">
            <a:off x="9475560" y="3737880"/>
            <a:ext cx="525960" cy="528840"/>
          </a:xfrm>
          <a:prstGeom xmlns:a="http://schemas.openxmlformats.org/drawingml/2006/main" prst="bentConnector3">
            <a:avLst>
              <a:gd name="adj1" fmla="val 49794"/>
            </a:avLst>
          </a:prstGeom>
          <a:ln xmlns:a="http://schemas.openxmlformats.org/drawingml/2006/main" w="19050">
            <a:solidFill>
              <a:srgbClr val="AAB6A0"/>
            </a:solidFill>
            <a:round/>
            <a:tailEnd type="triangle" w="sm" len="sm"/>
          </a:ln>
        </p:spPr>
      </p:cxn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B830B2A1-99F9-4250-9BC3-22CEFE66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680" y="5638680"/>
            <a:ext cx="6570360" cy="32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0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所有正式異動共用同一套命令、交易與稽核規則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8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3F5E6393-066D-4B34-8ABD-E09819B6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9" name="資料庫設計共用暖米色背景">
            <a:extLst xmlns:a="http://schemas.openxmlformats.org/drawingml/2006/main">
              <a:ext uri="{FF2B5EF4-FFF2-40B4-BE49-F238E27FC236}">
                <a16:creationId xmlns:a16="http://schemas.microsoft.com/office/drawing/2014/main" id="{E89A9F49-21C8-4F04-A4C6-2877D549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0" name="Text 399">
            <a:extLst xmlns:a="http://schemas.openxmlformats.org/drawingml/2006/main">
              <a:ext uri="{FF2B5EF4-FFF2-40B4-BE49-F238E27FC236}">
                <a16:creationId xmlns:a16="http://schemas.microsoft.com/office/drawing/2014/main" id="{3BEC8E61-93D7-481F-A1BA-B37CEF59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8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資料庫設計：以資料結構承接真實業務流程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1" name="Text 400">
            <a:extLst xmlns:a="http://schemas.openxmlformats.org/drawingml/2006/main">
              <a:ext uri="{FF2B5EF4-FFF2-40B4-BE49-F238E27FC236}">
                <a16:creationId xmlns:a16="http://schemas.microsoft.com/office/drawing/2014/main" id="{0B1C1A91-4051-4B1F-8030-94DC4E36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680" y="1952640"/>
            <a:ext cx="4857480" cy="138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 marL="294480" indent="-294480" defTabSz="914400">
              <a:lnSpc>
                <a:spcPct val="133000"/>
              </a:lnSpc>
              <a:buClr>
                <a:srgbClr val="746558"/>
              </a:buClr>
              <a:buFont typeface="Symbol"/>
              <a:buChar char=""/>
            </a:pPr>
            <a:r>
              <a:rPr sz="1700" b="0" u="none">
                <a:solidFill>
                  <a:srgbClr val="806857"/>
                </a:solidFill>
                <a:latin typeface="Noto Sans TC Thin"/>
                <a:ea typeface="Noto Sans TC Thin"/>
                <a:cs typeface="Noto Sans TC Thin"/>
              </a:rPr>
              <a:t>依公會實際資料格式建立對應資料結構</a:t>
            </a:r>
            <a:endParaRPr sz="1700" b="0" u="none">
              <a:solidFill>
                <a:srgbClr val="000000"/>
              </a:solidFill>
              <a:latin typeface="Noto Sans TC Thin"/>
              <a:ea typeface="Noto Sans TC Thin"/>
              <a:cs typeface="Noto Sans TC Thin"/>
            </a:endParaRPr>
          </a:p>
          <a:p xmlns:a="http://schemas.openxmlformats.org/drawingml/2006/main">
            <a:pPr marL="294480" indent="-294480" defTabSz="914400">
              <a:lnSpc>
                <a:spcPct val="133000"/>
              </a:lnSpc>
              <a:buClr>
                <a:srgbClr val="746558"/>
              </a:buClr>
              <a:buFont typeface="Symbol"/>
              <a:buChar char=""/>
            </a:pPr>
            <a:r>
              <a:rPr sz="1700" b="0" u="none">
                <a:solidFill>
                  <a:srgbClr val="806857"/>
                </a:solidFill>
                <a:latin typeface="Noto Sans TC Thin"/>
                <a:ea typeface="Noto Sans TC Thin"/>
                <a:cs typeface="Noto Sans TC Thin"/>
              </a:rPr>
              <a:t>個資受限時，以欄位結構與</a:t>
            </a:r>
            <a:r>
              <a:rPr sz="1700" b="1" u="none">
                <a:solidFill>
                  <a:srgbClr val="806857"/>
                </a:solidFill>
                <a:latin typeface="Noto Sans TC Thin"/>
                <a:ea typeface="Noto Sans TC Thin"/>
                <a:cs typeface="Noto Sans TC Thin"/>
              </a:rPr>
              <a:t>去識別測試資料</a:t>
            </a:r>
            <a:r>
              <a:rPr sz="1700" b="0" u="none">
                <a:solidFill>
                  <a:srgbClr val="806857"/>
                </a:solidFill>
                <a:latin typeface="Noto Sans TC Thin"/>
                <a:ea typeface="Noto Sans TC Thin"/>
                <a:cs typeface="Noto Sans TC Thin"/>
              </a:rPr>
              <a:t>完成驗證</a:t>
            </a:r>
            <a:endParaRPr sz="1700" b="0" u="none">
              <a:solidFill>
                <a:srgbClr val="000000"/>
              </a:solidFill>
              <a:latin typeface="Noto Sans TC Thin"/>
              <a:ea typeface="Noto Sans TC Thin"/>
              <a:cs typeface="Noto Sans TC Thin"/>
            </a:endParaRPr>
          </a:p>
          <a:p xmlns:a="http://schemas.openxmlformats.org/drawingml/2006/main">
            <a:pPr marL="294480" indent="-294480" defTabSz="914400">
              <a:lnSpc>
                <a:spcPct val="133000"/>
              </a:lnSpc>
              <a:buClr>
                <a:srgbClr val="746558"/>
              </a:buClr>
              <a:buFont typeface="Symbol"/>
              <a:buChar char=""/>
            </a:pPr>
            <a:r>
              <a:rPr sz="1700" b="0" u="none">
                <a:solidFill>
                  <a:srgbClr val="806857"/>
                </a:solidFill>
                <a:latin typeface="Noto Sans TC Thin"/>
                <a:ea typeface="Noto Sans TC Thin"/>
                <a:cs typeface="Noto Sans TC Thin"/>
              </a:rPr>
              <a:t>統一業務資料，供後台系統與後續 </a:t>
            </a:r>
            <a:r>
              <a:rPr sz="1700" b="0" u="none">
                <a:solidFill>
                  <a:srgbClr val="806857"/>
                </a:solidFill>
                <a:latin typeface="Noto Sans TC Thin"/>
                <a:ea typeface="Noto Sans TC Thin"/>
                <a:cs typeface="Noto Sans TC Thin"/>
              </a:rPr>
              <a:t>Agent </a:t>
            </a:r>
            <a:r>
              <a:rPr sz="1700" b="0" u="none">
                <a:solidFill>
                  <a:srgbClr val="806857"/>
                </a:solidFill>
                <a:latin typeface="Noto Sans TC Thin"/>
                <a:ea typeface="Noto Sans TC Thin"/>
                <a:cs typeface="Noto Sans TC Thin"/>
              </a:rPr>
              <a:t>應用使用</a:t>
            </a:r>
            <a:endParaRPr sz="1700" b="0" u="none">
              <a:solidFill>
                <a:srgbClr val="000000"/>
              </a:solidFill>
              <a:latin typeface="Noto Sans TC Thin"/>
              <a:ea typeface="Noto Sans TC Thin"/>
              <a:cs typeface="Noto Sans TC Thin"/>
            </a:endParaRPr>
          </a:p>
        </p:txBody>
      </p:sp>
      <p:sp>
        <p:nvSpPr>
          <p:cNvPr id="352" name="資料關聯圖：訂單 1">
            <a:extLst xmlns:a="http://schemas.openxmlformats.org/drawingml/2006/main">
              <a:ext uri="{FF2B5EF4-FFF2-40B4-BE49-F238E27FC236}">
                <a16:creationId xmlns:a16="http://schemas.microsoft.com/office/drawing/2014/main" id="{A244E5F6-83DA-4A81-B833-AF7E5DE0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720" y="3286080"/>
            <a:ext cx="1238040" cy="60912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B96F4D"/>
          </a:solidFill>
          <a:ln xmlns:a="http://schemas.openxmlformats.org/drawingml/2006/main" w="14288">
            <a:solidFill>
              <a:srgbClr val="B96F4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訂單</a:t>
            </a: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3" name="資料關聯圖：客戶資料 1">
            <a:extLst xmlns:a="http://schemas.openxmlformats.org/drawingml/2006/main">
              <a:ext uri="{FF2B5EF4-FFF2-40B4-BE49-F238E27FC236}">
                <a16:creationId xmlns:a16="http://schemas.microsoft.com/office/drawing/2014/main" id="{70771622-DE6A-4F61-8797-7227409A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920" y="2495520"/>
            <a:ext cx="1199880" cy="47592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3E7D6"/>
          </a:solidFill>
          <a:ln xmlns:a="http://schemas.openxmlformats.org/drawingml/2006/main" w="14288">
            <a:solidFill>
              <a:srgbClr val="C986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0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客戶資料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4" name="資料關聯圖：服務排班 1">
            <a:extLst xmlns:a="http://schemas.openxmlformats.org/drawingml/2006/main">
              <a:ext uri="{FF2B5EF4-FFF2-40B4-BE49-F238E27FC236}">
                <a16:creationId xmlns:a16="http://schemas.microsoft.com/office/drawing/2014/main" id="{3BC00764-BA47-4178-B959-9D49DF58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160" y="2495520"/>
            <a:ext cx="1199880" cy="47592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3E7D6"/>
          </a:solidFill>
          <a:ln xmlns:a="http://schemas.openxmlformats.org/drawingml/2006/main" w="14288">
            <a:solidFill>
              <a:srgbClr val="C986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0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服務排班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5" name="資料關聯圖：收付款紀錄 1">
            <a:extLst xmlns:a="http://schemas.openxmlformats.org/drawingml/2006/main">
              <a:ext uri="{FF2B5EF4-FFF2-40B4-BE49-F238E27FC236}">
                <a16:creationId xmlns:a16="http://schemas.microsoft.com/office/drawing/2014/main" id="{E415C6EA-1C21-4C6F-836E-49D29B27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4000" y="3543480"/>
            <a:ext cx="1199880" cy="47592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3E7D6"/>
          </a:solidFill>
          <a:ln xmlns:a="http://schemas.openxmlformats.org/drawingml/2006/main" w="14288">
            <a:solidFill>
              <a:srgbClr val="C986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0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收付款紀錄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6" name="資料關聯圖：月嫂資料 1">
            <a:extLst xmlns:a="http://schemas.openxmlformats.org/drawingml/2006/main">
              <a:ext uri="{FF2B5EF4-FFF2-40B4-BE49-F238E27FC236}">
                <a16:creationId xmlns:a16="http://schemas.microsoft.com/office/drawing/2014/main" id="{ACBD14BB-5DF2-4DC4-9617-E9058C76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160" y="4591080"/>
            <a:ext cx="1199880" cy="47592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3E7D6"/>
          </a:solidFill>
          <a:ln xmlns:a="http://schemas.openxmlformats.org/drawingml/2006/main" w="14288">
            <a:solidFill>
              <a:srgbClr val="C986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0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月嫂資料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7" name="資料關聯圖：客服知識 1">
            <a:extLst xmlns:a="http://schemas.openxmlformats.org/drawingml/2006/main">
              <a:ext uri="{FF2B5EF4-FFF2-40B4-BE49-F238E27FC236}">
                <a16:creationId xmlns:a16="http://schemas.microsoft.com/office/drawing/2014/main" id="{94A98AFF-78AF-464A-B7F4-1A88599E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920" y="4591080"/>
            <a:ext cx="1199880" cy="47592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3E7D6"/>
          </a:solidFill>
          <a:ln xmlns:a="http://schemas.openxmlformats.org/drawingml/2006/main" w="14288">
            <a:solidFill>
              <a:srgbClr val="C986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0" u="none">
                <a:solidFill>
                  <a:srgbClr val="5A3B2E"/>
                </a:solidFill>
                <a:latin typeface="Noto Sans TC"/>
                <a:ea typeface="Noto Sans TC"/>
                <a:cs typeface="Noto Sans TC"/>
              </a:rPr>
              <a:t>客服知識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98" name=""/>
          <p:cNvCxnSpPr>
            <a:stCxn xmlns:a="http://schemas.openxmlformats.org/drawingml/2006/main" id="352" idx="1"/>
            <a:endCxn xmlns:a="http://schemas.openxmlformats.org/drawingml/2006/main" id="353" idx="3"/>
          </p:cNvCxnSpPr>
          <p:nvPr/>
        </p:nvCxnSpPr>
        <p:spPr>
          <a:xfrm xmlns:a="http://schemas.openxmlformats.org/drawingml/2006/main" flipH="1" flipV="1">
            <a:off x="7867800" y="2733480"/>
            <a:ext cx="305280" cy="85752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C7A187"/>
            </a:solidFill>
            <a:round/>
          </a:ln>
        </p:spPr>
      </p:cxnSp>
      <p:cxnSp>
        <p:nvCxnSpPr>
          <p:cNvPr id="399" name=""/>
          <p:cNvCxnSpPr>
            <a:stCxn xmlns:a="http://schemas.openxmlformats.org/drawingml/2006/main" id="352" idx="3"/>
            <a:endCxn xmlns:a="http://schemas.openxmlformats.org/drawingml/2006/main" id="354" idx="1"/>
          </p:cNvCxnSpPr>
          <p:nvPr/>
        </p:nvCxnSpPr>
        <p:spPr>
          <a:xfrm xmlns:a="http://schemas.openxmlformats.org/drawingml/2006/main" flipV="1">
            <a:off x="9410760" y="2733480"/>
            <a:ext cx="257760" cy="85752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C7A187"/>
            </a:solidFill>
            <a:round/>
          </a:ln>
        </p:spPr>
      </p:cxnSp>
      <p:cxnSp>
        <p:nvCxnSpPr>
          <p:cNvPr id="400" name=""/>
          <p:cNvCxnSpPr>
            <a:stCxn xmlns:a="http://schemas.openxmlformats.org/drawingml/2006/main" id="352" idx="3"/>
            <a:endCxn xmlns:a="http://schemas.openxmlformats.org/drawingml/2006/main" id="355" idx="1"/>
          </p:cNvCxnSpPr>
          <p:nvPr/>
        </p:nvCxnSpPr>
        <p:spPr>
          <a:xfrm xmlns:a="http://schemas.openxmlformats.org/drawingml/2006/main">
            <a:off x="9410760" y="3590640"/>
            <a:ext cx="543600" cy="19116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C7A187"/>
            </a:solidFill>
            <a:round/>
          </a:ln>
        </p:spPr>
      </p:cxnSp>
      <p:cxnSp>
        <p:nvCxnSpPr>
          <p:cNvPr id="401" name=""/>
          <p:cNvCxnSpPr>
            <a:stCxn xmlns:a="http://schemas.openxmlformats.org/drawingml/2006/main" id="352" idx="3"/>
            <a:endCxn xmlns:a="http://schemas.openxmlformats.org/drawingml/2006/main" id="356" idx="1"/>
          </p:cNvCxnSpPr>
          <p:nvPr/>
        </p:nvCxnSpPr>
        <p:spPr>
          <a:xfrm xmlns:a="http://schemas.openxmlformats.org/drawingml/2006/main">
            <a:off x="9410760" y="3590640"/>
            <a:ext cx="257760" cy="123876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C7A187"/>
            </a:solidFill>
            <a:round/>
          </a:ln>
        </p:spPr>
      </p:cxnSp>
      <p:cxnSp>
        <p:nvCxnSpPr>
          <p:cNvPr id="402" name=""/>
          <p:cNvCxnSpPr>
            <a:stCxn xmlns:a="http://schemas.openxmlformats.org/drawingml/2006/main" id="352" idx="1"/>
            <a:endCxn xmlns:a="http://schemas.openxmlformats.org/drawingml/2006/main" id="357" idx="3"/>
          </p:cNvCxnSpPr>
          <p:nvPr/>
        </p:nvCxnSpPr>
        <p:spPr>
          <a:xfrm xmlns:a="http://schemas.openxmlformats.org/drawingml/2006/main" flipH="1">
            <a:off x="7867800" y="3590640"/>
            <a:ext cx="305280" cy="123876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C7A187"/>
            </a:solidFill>
            <a:round/>
          </a:ln>
        </p:spPr>
      </p:cxnSp>
      <p:sp>
        <p:nvSpPr>
          <p:cNvPr id="364" name="資料庫設計分隔線 1">
            <a:extLst xmlns:a="http://schemas.openxmlformats.org/drawingml/2006/main">
              <a:ext uri="{FF2B5EF4-FFF2-40B4-BE49-F238E27FC236}">
                <a16:creationId xmlns:a16="http://schemas.microsoft.com/office/drawing/2014/main" id="{07E2549D-4307-41F2-B12A-407BA0EF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640" y="1809720"/>
            <a:ext cx="14040" cy="3619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0B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5" name="統一章節標記 1">
            <a:extLst xmlns:a="http://schemas.openxmlformats.org/drawingml/2006/main">
              <a:ext uri="{FF2B5EF4-FFF2-40B4-BE49-F238E27FC236}">
                <a16:creationId xmlns:a16="http://schemas.microsoft.com/office/drawing/2014/main" id="{2DCEBBE3-E252-49C7-BB14-7509A30C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44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6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DF53A156-EAF4-4699-A411-4A5991E5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830344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6" name="Shape 0">
            <a:extLst xmlns:a="http://schemas.openxmlformats.org/drawingml/2006/main">
              <a:ext uri="{FF2B5EF4-FFF2-40B4-BE49-F238E27FC236}">
                <a16:creationId xmlns:a16="http://schemas.microsoft.com/office/drawing/2014/main" id="{E334B652-E246-4181-90BA-E43EF181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-1463040"/>
            <a:ext cx="5941800" cy="5941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>
              <a:alpha val="12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67" name="Shape 1">
            <a:extLst xmlns:a="http://schemas.openxmlformats.org/drawingml/2006/main">
              <a:ext uri="{FF2B5EF4-FFF2-40B4-BE49-F238E27FC236}">
                <a16:creationId xmlns:a16="http://schemas.microsoft.com/office/drawing/2014/main" id="{0D09B84F-4BE4-48F5-BE73-E23BD6D7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4114800"/>
            <a:ext cx="4570200" cy="457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>
              <a:alpha val="8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68" name="Shape 2">
            <a:extLst xmlns:a="http://schemas.openxmlformats.org/drawingml/2006/main">
              <a:ext uri="{FF2B5EF4-FFF2-40B4-BE49-F238E27FC236}">
                <a16:creationId xmlns:a16="http://schemas.microsoft.com/office/drawing/2014/main" id="{2FFD3572-C5F1-4809-8DA4-52F8E0E4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2649960" cy="382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69" name="Text 3">
            <a:extLst xmlns:a="http://schemas.openxmlformats.org/drawingml/2006/main">
              <a:ext uri="{FF2B5EF4-FFF2-40B4-BE49-F238E27FC236}">
                <a16:creationId xmlns:a16="http://schemas.microsoft.com/office/drawing/2014/main" id="{A6A9D494-0D1F-44D5-8F1D-00F83048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UI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管理後台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0" name="Text 4">
            <a:extLst xmlns:a="http://schemas.openxmlformats.org/drawingml/2006/main">
              <a:ext uri="{FF2B5EF4-FFF2-40B4-BE49-F238E27FC236}">
                <a16:creationId xmlns:a16="http://schemas.microsoft.com/office/drawing/2014/main" id="{24D21CCD-96A7-400F-B263-C9B5471A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10239480" cy="173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1" name="Text 5">
            <a:extLst xmlns:a="http://schemas.openxmlformats.org/drawingml/2006/main">
              <a:ext uri="{FF2B5EF4-FFF2-40B4-BE49-F238E27FC236}">
                <a16:creationId xmlns:a16="http://schemas.microsoft.com/office/drawing/2014/main" id="{CE742B6F-4FA8-4AD4-9CA0-5ECEEFBA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959940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從人工作業到自動化治理系統的建置歷程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2" name="Shape 6">
            <a:extLst xmlns:a="http://schemas.openxmlformats.org/drawingml/2006/main">
              <a:ext uri="{FF2B5EF4-FFF2-40B4-BE49-F238E27FC236}">
                <a16:creationId xmlns:a16="http://schemas.microsoft.com/office/drawing/2014/main" id="{A6359BCD-44BE-41AD-ABB7-2EB7B3E0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34840"/>
            <a:ext cx="29260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A66C4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73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15A2CF04-B3FA-4752-926A-3CCCC11C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4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E2218D87-7358-41F7-B98E-415E0426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818184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25CBF285-0D5F-45D0-BA6F-789B3243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Domain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邊界讓資料責任保持清楚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24ED9EEF-3A1E-4F12-88D6-B93D289C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080" y="2876400"/>
            <a:ext cx="3331800" cy="9507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DED0"/>
          </a:solidFill>
          <a:ln xmlns:a="http://schemas.openxmlformats.org/drawingml/2006/main" w="19050">
            <a:solidFill>
              <a:srgbClr val="B56F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Workflow Coordinator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唯一跨域交易協調者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D59289F1-9FFC-475F-9512-E7CDF0BB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1952640"/>
            <a:ext cx="1998360" cy="7794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Orders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契約／生命週期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EA0A4CBD-ED24-4686-B50A-BCFC6CC7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00" y="1571760"/>
            <a:ext cx="1998360" cy="7794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Scheduling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媒合／排班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BEA6C5DB-1FE6-4710-B87E-D156A578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440" y="1952640"/>
            <a:ext cx="1998360" cy="7794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Anomalies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異常／修復入口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7E38091D-CD01-4EE1-9917-195AFF8E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4334040"/>
            <a:ext cx="1998360" cy="7794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4E9DF"/>
          </a:solidFill>
          <a:ln xmlns:a="http://schemas.openxmlformats.org/drawingml/2006/main" w="11430">
            <a:solidFill>
              <a:srgbClr val="AAB6A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LINE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／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Knowledge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外部互動／知識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0230680A-F3D8-47FD-BFBB-5C7E75A2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00" y="4809960"/>
            <a:ext cx="1998360" cy="7794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Client Finance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應收／核銷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6147361F-5529-4250-B5AE-49A78BF9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440" y="4334040"/>
            <a:ext cx="1998360" cy="7794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Payroll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／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Payables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薪資／應付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01" name=""/>
          <p:cNvCxnSpPr>
            <a:stCxn xmlns:a="http://schemas.openxmlformats.org/drawingml/2006/main" id="376" idx="1"/>
            <a:endCxn xmlns:a="http://schemas.openxmlformats.org/drawingml/2006/main" id="377" idx="3"/>
          </p:cNvCxnSpPr>
          <p:nvPr/>
        </p:nvCxnSpPr>
        <p:spPr>
          <a:xfrm xmlns:a="http://schemas.openxmlformats.org/drawingml/2006/main" rot="10800000">
            <a:off x="2855160" y="2342520"/>
            <a:ext cx="1573920" cy="1009800"/>
          </a:xfrm>
          <a:prstGeom xmlns:a="http://schemas.openxmlformats.org/drawingml/2006/main" prst="bentConnector3">
            <a:avLst>
              <a:gd name="adj1" fmla="val 49919"/>
            </a:avLst>
          </a:prstGeom>
          <a:ln xmlns:a="http://schemas.openxmlformats.org/drawingml/2006/main" w="19050">
            <a:solidFill>
              <a:srgbClr val="B56F49"/>
            </a:solidFill>
            <a:round/>
            <a:tailEnd type="triangle" w="sm" len="sm"/>
          </a:ln>
        </p:spPr>
      </p:cxnSp>
      <p:cxnSp>
        <p:nvCxnSpPr>
          <p:cNvPr id="402" name=""/>
          <p:cNvCxnSpPr>
            <a:stCxn xmlns:a="http://schemas.openxmlformats.org/drawingml/2006/main" id="376" idx="0"/>
            <a:endCxn xmlns:a="http://schemas.openxmlformats.org/drawingml/2006/main" id="378" idx="2"/>
          </p:cNvCxnSpPr>
          <p:nvPr/>
        </p:nvCxnSpPr>
        <p:spPr>
          <a:xfrm xmlns:a="http://schemas.openxmlformats.org/drawingml/2006/main" flipV="1">
            <a:off x="6095160" y="2351160"/>
            <a:ext cx="360" cy="525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round/>
            <a:tailEnd type="triangle" w="sm" len="sm"/>
          </a:ln>
        </p:spPr>
      </p:cxnSp>
      <p:cxnSp>
        <p:nvCxnSpPr>
          <p:cNvPr id="403" name=""/>
          <p:cNvCxnSpPr>
            <a:stCxn xmlns:a="http://schemas.openxmlformats.org/drawingml/2006/main" id="376" idx="3"/>
            <a:endCxn xmlns:a="http://schemas.openxmlformats.org/drawingml/2006/main" id="379" idx="1"/>
          </p:cNvCxnSpPr>
          <p:nvPr/>
        </p:nvCxnSpPr>
        <p:spPr>
          <a:xfrm xmlns:a="http://schemas.openxmlformats.org/drawingml/2006/main" flipV="1">
            <a:off x="7760880" y="2342520"/>
            <a:ext cx="1573920" cy="1009800"/>
          </a:xfrm>
          <a:prstGeom xmlns:a="http://schemas.openxmlformats.org/drawingml/2006/main" prst="bentConnector3">
            <a:avLst>
              <a:gd name="adj1" fmla="val 50057"/>
            </a:avLst>
          </a:prstGeom>
          <a:ln xmlns:a="http://schemas.openxmlformats.org/drawingml/2006/main" w="19050">
            <a:solidFill>
              <a:srgbClr val="B56F49"/>
            </a:solidFill>
            <a:round/>
            <a:tailEnd type="triangle" w="sm" len="sm"/>
          </a:ln>
        </p:spPr>
      </p:cxnSp>
      <p:cxnSp>
        <p:nvCxnSpPr>
          <p:cNvPr id="404" name=""/>
          <p:cNvCxnSpPr>
            <a:stCxn xmlns:a="http://schemas.openxmlformats.org/drawingml/2006/main" id="376" idx="1"/>
            <a:endCxn xmlns:a="http://schemas.openxmlformats.org/drawingml/2006/main" id="380" idx="3"/>
          </p:cNvCxnSpPr>
          <p:nvPr/>
        </p:nvCxnSpPr>
        <p:spPr>
          <a:xfrm xmlns:a="http://schemas.openxmlformats.org/drawingml/2006/main" rot="10800000" flipV="1">
            <a:off x="2855160" y="3351600"/>
            <a:ext cx="1573920" cy="1372320"/>
          </a:xfrm>
          <a:prstGeom xmlns:a="http://schemas.openxmlformats.org/drawingml/2006/main" prst="bentConnector3">
            <a:avLst>
              <a:gd name="adj1" fmla="val 49919"/>
            </a:avLst>
          </a:prstGeom>
          <a:ln xmlns:a="http://schemas.openxmlformats.org/drawingml/2006/main" w="19050">
            <a:solidFill>
              <a:srgbClr val="AAB6A0"/>
            </a:solidFill>
            <a:round/>
            <a:tailEnd type="triangle" w="sm" len="sm"/>
          </a:ln>
        </p:spPr>
      </p:cxnSp>
      <p:cxnSp>
        <p:nvCxnSpPr>
          <p:cNvPr id="405" name=""/>
          <p:cNvCxnSpPr>
            <a:stCxn xmlns:a="http://schemas.openxmlformats.org/drawingml/2006/main" id="376" idx="2"/>
            <a:endCxn xmlns:a="http://schemas.openxmlformats.org/drawingml/2006/main" id="381" idx="0"/>
          </p:cNvCxnSpPr>
          <p:nvPr/>
        </p:nvCxnSpPr>
        <p:spPr>
          <a:xfrm xmlns:a="http://schemas.openxmlformats.org/drawingml/2006/main">
            <a:off x="6095160" y="3827160"/>
            <a:ext cx="360" cy="9831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round/>
            <a:tailEnd type="triangle" w="sm" len="sm"/>
          </a:ln>
        </p:spPr>
      </p:cxnSp>
      <p:cxnSp>
        <p:nvCxnSpPr>
          <p:cNvPr id="406" name=""/>
          <p:cNvCxnSpPr>
            <a:stCxn xmlns:a="http://schemas.openxmlformats.org/drawingml/2006/main" id="376" idx="3"/>
            <a:endCxn xmlns:a="http://schemas.openxmlformats.org/drawingml/2006/main" id="382" idx="1"/>
          </p:cNvCxnSpPr>
          <p:nvPr/>
        </p:nvCxnSpPr>
        <p:spPr>
          <a:xfrm xmlns:a="http://schemas.openxmlformats.org/drawingml/2006/main">
            <a:off x="7760880" y="3351960"/>
            <a:ext cx="1573920" cy="1372320"/>
          </a:xfrm>
          <a:prstGeom xmlns:a="http://schemas.openxmlformats.org/drawingml/2006/main" prst="bentConnector3">
            <a:avLst>
              <a:gd name="adj1" fmla="val 50057"/>
            </a:avLst>
          </a:prstGeom>
          <a:ln xmlns:a="http://schemas.openxmlformats.org/drawingml/2006/main" w="19050">
            <a:solidFill>
              <a:srgbClr val="B56F49"/>
            </a:solidFill>
            <a:round/>
            <a:tailEnd type="triangle" w="sm" len="sm"/>
          </a:ln>
        </p:spPr>
      </p:cxn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E9E793C8-EBDC-44AB-AAE3-A47BFF35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400" y="3124080"/>
            <a:ext cx="998280" cy="32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 fontScale="85000"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Typed Ports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111DA528-4399-480F-AF5D-B9AE1993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080" y="5829480"/>
            <a:ext cx="5617800" cy="28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0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根事實、狀態機與寫入規則由各 </a:t>
            </a:r>
            <a:r>
              <a:rPr sz="1430" b="0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Domain </a:t>
            </a:r>
            <a:r>
              <a:rPr sz="1430" b="0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自行擁有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1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F1826341-6F49-4ADA-A46F-680BB6F6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2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CE779E36-D404-4CDE-BB25-E0CF5928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181220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355BC3CA-5637-409F-B24B-AAB101E4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440" y="419040"/>
            <a:ext cx="131400" cy="741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5880" tIns="45000" rIns="6588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171C4EA0-5B7E-4BBF-A27E-4E4FF8FC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428760"/>
            <a:ext cx="10475640" cy="836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60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軟體分層架構圖</a:t>
            </a:r>
            <a:endParaRPr sz="3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F3065FB6-228A-4F2B-98BF-EEC06E5C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80" y="1600200"/>
            <a:ext cx="128412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280" b="1" u="none">
                <a:solidFill>
                  <a:srgbClr val="6D6259"/>
                </a:solidFill>
                <a:latin typeface="Microsoft JhengHei"/>
                <a:ea typeface="Microsoft JhengHei"/>
                <a:cs typeface="Microsoft JhengHei"/>
              </a:rPr>
              <a:t>介面層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5B0003B0-EECD-46D9-BE48-C29EB81D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480" y="1504800"/>
            <a:ext cx="7237080" cy="64584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Streamlit 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管理端　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·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LINE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·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Excel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／檔案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105B92C5-DB37-48A3-8FDE-487E243D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80" y="2381400"/>
            <a:ext cx="128412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280" b="1" u="none">
                <a:solidFill>
                  <a:srgbClr val="6D6259"/>
                </a:solidFill>
                <a:latin typeface="Microsoft JhengHei"/>
                <a:ea typeface="Microsoft JhengHei"/>
                <a:cs typeface="Microsoft JhengHei"/>
              </a:rPr>
              <a:t>API </a:t>
            </a:r>
            <a:r>
              <a:rPr sz="1280" b="1" u="none">
                <a:solidFill>
                  <a:srgbClr val="6D6259"/>
                </a:solidFill>
                <a:latin typeface="Microsoft JhengHei"/>
                <a:ea typeface="Microsoft JhengHei"/>
                <a:cs typeface="Microsoft JhengHei"/>
              </a:rPr>
              <a:t>邊界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5F25534E-C3F4-4C64-B1A5-BC8ED4AA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480" y="2286000"/>
            <a:ext cx="7237080" cy="64584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FastAPI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·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Webhook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·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Pydantic Schemas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B8F0C4AA-6A0E-4CA7-B48D-1B606665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80" y="3162240"/>
            <a:ext cx="128412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280" b="1" u="none">
                <a:solidFill>
                  <a:srgbClr val="6D6259"/>
                </a:solidFill>
                <a:latin typeface="Microsoft JhengHei"/>
                <a:ea typeface="Microsoft JhengHei"/>
                <a:cs typeface="Microsoft JhengHei"/>
              </a:rPr>
              <a:t>應用流程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48302256-51A0-4421-A063-8F4E78D7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480" y="3067200"/>
            <a:ext cx="7237080" cy="64584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Workflow Coordinator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·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Preview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／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Apply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·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Unit of Work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2BBFA418-B394-40F5-99A0-0B387D5F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80" y="4038480"/>
            <a:ext cx="128412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280" b="1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業務核心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9E9D8D8C-861F-4E98-943B-68786F84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480" y="3943440"/>
            <a:ext cx="7237080" cy="64584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19050">
            <a:solidFill>
              <a:srgbClr val="D8B49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Orders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·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Scheduling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·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Finance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·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Payroll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·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Anomalies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5176FEF1-BAB7-4D67-BD6A-7E5C3360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80" y="4915080"/>
            <a:ext cx="128412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280" b="1" u="none">
                <a:solidFill>
                  <a:srgbClr val="6D6259"/>
                </a:solidFill>
                <a:latin typeface="Microsoft JhengHei"/>
                <a:ea typeface="Microsoft JhengHei"/>
                <a:cs typeface="Microsoft JhengHei"/>
              </a:rPr>
              <a:t>基礎設施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C24A4333-B137-4C99-B3D5-403F7C1D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480" y="4819680"/>
            <a:ext cx="7237080" cy="64584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Typed Ports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　→　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MySQL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／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LINE Provider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／</a:t>
            </a:r>
            <a:r>
              <a:rPr sz="135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Archive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28" name=""/>
          <p:cNvCxnSpPr>
            <a:stCxn xmlns:a="http://schemas.openxmlformats.org/drawingml/2006/main" id="396" idx="2"/>
            <a:endCxn xmlns:a="http://schemas.openxmlformats.org/drawingml/2006/main" id="398" idx="0"/>
          </p:cNvCxnSpPr>
          <p:nvPr/>
        </p:nvCxnSpPr>
        <p:spPr>
          <a:xfrm xmlns:a="http://schemas.openxmlformats.org/drawingml/2006/main">
            <a:off x="5857200" y="2150640"/>
            <a:ext cx="360" cy="1357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round/>
            <a:tailEnd type="triangle" w="sm" len="sm"/>
          </a:ln>
        </p:spPr>
      </p:cxnSp>
      <p:cxnSp>
        <p:nvCxnSpPr>
          <p:cNvPr id="429" name=""/>
          <p:cNvCxnSpPr>
            <a:stCxn xmlns:a="http://schemas.openxmlformats.org/drawingml/2006/main" id="398" idx="2"/>
            <a:endCxn xmlns:a="http://schemas.openxmlformats.org/drawingml/2006/main" id="400" idx="0"/>
          </p:cNvCxnSpPr>
          <p:nvPr/>
        </p:nvCxnSpPr>
        <p:spPr>
          <a:xfrm xmlns:a="http://schemas.openxmlformats.org/drawingml/2006/main">
            <a:off x="5857200" y="2931840"/>
            <a:ext cx="360" cy="1357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round/>
            <a:tailEnd type="triangle" w="sm" len="sm"/>
          </a:ln>
        </p:spPr>
      </p:cxnSp>
      <p:cxnSp>
        <p:nvCxnSpPr>
          <p:cNvPr id="430" name=""/>
          <p:cNvCxnSpPr>
            <a:stCxn xmlns:a="http://schemas.openxmlformats.org/drawingml/2006/main" id="400" idx="2"/>
            <a:endCxn xmlns:a="http://schemas.openxmlformats.org/drawingml/2006/main" id="402" idx="0"/>
          </p:cNvCxnSpPr>
          <p:nvPr/>
        </p:nvCxnSpPr>
        <p:spPr>
          <a:xfrm xmlns:a="http://schemas.openxmlformats.org/drawingml/2006/main">
            <a:off x="5857200" y="3713040"/>
            <a:ext cx="360" cy="2307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round/>
            <a:tailEnd type="triangle" w="sm" len="sm"/>
          </a:ln>
        </p:spPr>
      </p:cxnSp>
      <p:cxnSp>
        <p:nvCxnSpPr>
          <p:cNvPr id="431" name=""/>
          <p:cNvCxnSpPr>
            <a:stCxn xmlns:a="http://schemas.openxmlformats.org/drawingml/2006/main" id="402" idx="2"/>
            <a:endCxn xmlns:a="http://schemas.openxmlformats.org/drawingml/2006/main" id="404" idx="0"/>
          </p:cNvCxnSpPr>
          <p:nvPr/>
        </p:nvCxnSpPr>
        <p:spPr>
          <a:xfrm xmlns:a="http://schemas.openxmlformats.org/drawingml/2006/main">
            <a:off x="5857200" y="4589280"/>
            <a:ext cx="360" cy="2307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round/>
            <a:tailEnd type="triangle" w="sm" len="sm"/>
          </a:ln>
        </p:spPr>
      </p:cxn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B1A0A447-1541-47BB-901C-3E9A1DDF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71840"/>
            <a:ext cx="1712880" cy="223668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4E9DF"/>
          </a:solidFill>
          <a:ln xmlns:a="http://schemas.openxmlformats.org/drawingml/2006/main" w="11430">
            <a:solidFill>
              <a:srgbClr val="AAB6A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2253A7D4-1F91-4859-9343-93553533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000" y="2647800"/>
            <a:ext cx="1446120" cy="26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1" u="none">
                <a:solidFill>
                  <a:srgbClr val="65735B"/>
                </a:solidFill>
                <a:latin typeface="Microsoft JhengHei"/>
                <a:ea typeface="Microsoft JhengHei"/>
                <a:cs typeface="Microsoft JhengHei"/>
              </a:rPr>
              <a:t>非同步工作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477D6661-BA2D-4D18-80C0-F83DB56A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160" y="3048120"/>
            <a:ext cx="1369800" cy="137916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AAB6A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Durable Worker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Inbox</a:t>
            </a:r>
            <a:r>
              <a:rPr sz="120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／</a:t>
            </a:r>
            <a:r>
              <a:rPr sz="120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Outbox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Background Jobs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35" name=""/>
          <p:cNvCxnSpPr>
            <a:stCxn xmlns:a="http://schemas.openxmlformats.org/drawingml/2006/main" id="398" idx="3"/>
            <a:endCxn xmlns:a="http://schemas.openxmlformats.org/drawingml/2006/main" id="411" idx="0"/>
          </p:cNvCxnSpPr>
          <p:nvPr/>
        </p:nvCxnSpPr>
        <p:spPr>
          <a:xfrm xmlns:a="http://schemas.openxmlformats.org/drawingml/2006/main">
            <a:off x="9475560" y="2608920"/>
            <a:ext cx="1211040" cy="43956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AAB6A0"/>
            </a:solidFill>
            <a:round/>
            <a:tailEnd type="triangle" w="sm" len="sm"/>
          </a:ln>
        </p:spPr>
      </p:cxnSp>
      <p:cxnSp>
        <p:nvCxnSpPr>
          <p:cNvPr id="436" name=""/>
          <p:cNvCxnSpPr>
            <a:stCxn xmlns:a="http://schemas.openxmlformats.org/drawingml/2006/main" id="411" idx="1"/>
            <a:endCxn xmlns:a="http://schemas.openxmlformats.org/drawingml/2006/main" id="402" idx="3"/>
          </p:cNvCxnSpPr>
          <p:nvPr/>
        </p:nvCxnSpPr>
        <p:spPr>
          <a:xfrm xmlns:a="http://schemas.openxmlformats.org/drawingml/2006/main" rot="10800000" flipV="1">
            <a:off x="9475560" y="3737880"/>
            <a:ext cx="525960" cy="528840"/>
          </a:xfrm>
          <a:prstGeom xmlns:a="http://schemas.openxmlformats.org/drawingml/2006/main" prst="bentConnector3">
            <a:avLst>
              <a:gd name="adj1" fmla="val 49794"/>
            </a:avLst>
          </a:prstGeom>
          <a:ln xmlns:a="http://schemas.openxmlformats.org/drawingml/2006/main" w="19050">
            <a:solidFill>
              <a:srgbClr val="AAB6A0"/>
            </a:solidFill>
            <a:round/>
            <a:tailEnd type="triangle" w="sm" len="sm"/>
          </a:ln>
        </p:spPr>
      </p:cxn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0B8C4ABA-5BD8-47AA-9E16-92A3043A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680" y="5638680"/>
            <a:ext cx="6570360" cy="32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所有正式異動共用同一套命令、交易與稽核規則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5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EBEC53DC-A550-409C-9FD4-80687486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966984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5" name="Shape 3">
            <a:extLst xmlns:a="http://schemas.openxmlformats.org/drawingml/2006/main">
              <a:ext uri="{FF2B5EF4-FFF2-40B4-BE49-F238E27FC236}">
                <a16:creationId xmlns:a16="http://schemas.microsoft.com/office/drawing/2014/main" id="{54216EFD-8888-44E5-BE78-059BBBD1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2375640" cy="345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16" name="Text 1">
            <a:extLst xmlns:a="http://schemas.openxmlformats.org/drawingml/2006/main">
              <a:ext uri="{FF2B5EF4-FFF2-40B4-BE49-F238E27FC236}">
                <a16:creationId xmlns:a16="http://schemas.microsoft.com/office/drawing/2014/main" id="{43081D20-54E5-4D0A-9BA6-B562DFC7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現況痛點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7" name="Text 2">
            <a:extLst xmlns:a="http://schemas.openxmlformats.org/drawingml/2006/main">
              <a:ext uri="{FF2B5EF4-FFF2-40B4-BE49-F238E27FC236}">
                <a16:creationId xmlns:a16="http://schemas.microsoft.com/office/drawing/2014/main" id="{22C5B2AD-2FF9-458A-8000-64939C3F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14400"/>
            <a:ext cx="11062440" cy="63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為什麼需要這個專案？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8" name="Text 6">
            <a:extLst xmlns:a="http://schemas.openxmlformats.org/drawingml/2006/main">
              <a:ext uri="{FF2B5EF4-FFF2-40B4-BE49-F238E27FC236}">
                <a16:creationId xmlns:a16="http://schemas.microsoft.com/office/drawing/2014/main" id="{91F58C45-6D1D-4274-A6B8-CB6BC178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10056600" cy="36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工會行政人員原本每天要面對的四個日常困境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Shape 4">
            <a:extLst xmlns:a="http://schemas.openxmlformats.org/drawingml/2006/main">
              <a:ext uri="{FF2B5EF4-FFF2-40B4-BE49-F238E27FC236}">
                <a16:creationId xmlns:a16="http://schemas.microsoft.com/office/drawing/2014/main" id="{D494B6B2-2628-475E-863E-F190E5A4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1062440" cy="8758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0D3"/>
            </a:solidFill>
          </a:ln>
          <a:effectLst xmlns:a="http://schemas.openxmlformats.org/drawingml/2006/main">
            <a:outerShdw blurRad="76320" dist="25560" dir="5400000" sx="100000" sy="100000" kx="0" ky="0" algn="bl" rotWithShape="0">
              <a:srgbClr val="6F7069">
                <a:alpha val="18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20" name="Shape 5">
            <a:extLst xmlns:a="http://schemas.openxmlformats.org/drawingml/2006/main">
              <a:ext uri="{FF2B5EF4-FFF2-40B4-BE49-F238E27FC236}">
                <a16:creationId xmlns:a16="http://schemas.microsoft.com/office/drawing/2014/main" id="{0D19667C-3491-4AF3-8612-8A15FD80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2121480"/>
            <a:ext cx="565200" cy="56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45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a3087a4584335"/>
          <a:stretch xmlns:a="http://schemas.openxmlformats.org/drawingml/2006/main"/>
        </p:blipFill>
        <p:spPr>
          <a:xfrm xmlns:a="http://schemas.openxmlformats.org/drawingml/2006/main">
            <a:off x="987480" y="2267640"/>
            <a:ext cx="272520" cy="2725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22" name="Text 7">
            <a:extLst xmlns:a="http://schemas.openxmlformats.org/drawingml/2006/main">
              <a:ext uri="{FF2B5EF4-FFF2-40B4-BE49-F238E27FC236}">
                <a16:creationId xmlns:a16="http://schemas.microsoft.com/office/drawing/2014/main" id="{EF7D0EEC-A0E5-4147-BC60-08F98181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57400"/>
            <a:ext cx="9690840" cy="31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銀行對帳單靠人工比對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10">
            <a:extLst xmlns:a="http://schemas.openxmlformats.org/drawingml/2006/main">
              <a:ext uri="{FF2B5EF4-FFF2-40B4-BE49-F238E27FC236}">
                <a16:creationId xmlns:a16="http://schemas.microsoft.com/office/drawing/2014/main" id="{62EC6A89-0ED3-4F47-8034-6E9C29D1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86440"/>
            <a:ext cx="978228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每筆客戶收款、月嫂撥款、政府補助入帳，都要逐筆對照 </a:t>
            </a: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Excel </a:t>
            </a: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記錄，容易漏掉或算錯。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Shape 8">
            <a:extLst xmlns:a="http://schemas.openxmlformats.org/drawingml/2006/main">
              <a:ext uri="{FF2B5EF4-FFF2-40B4-BE49-F238E27FC236}">
                <a16:creationId xmlns:a16="http://schemas.microsoft.com/office/drawing/2014/main" id="{AE3EAC27-776E-40BB-A7DC-78925A09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08520"/>
            <a:ext cx="11062440" cy="8758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0D3"/>
            </a:solidFill>
          </a:ln>
          <a:effectLst xmlns:a="http://schemas.openxmlformats.org/drawingml/2006/main">
            <a:outerShdw blurRad="76320" dist="25560" dir="5400000" sx="100000" sy="100000" kx="0" ky="0" algn="bl" rotWithShape="0">
              <a:srgbClr val="6F7069">
                <a:alpha val="18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25" name="Shape 9">
            <a:extLst xmlns:a="http://schemas.openxmlformats.org/drawingml/2006/main">
              <a:ext uri="{FF2B5EF4-FFF2-40B4-BE49-F238E27FC236}">
                <a16:creationId xmlns:a16="http://schemas.microsoft.com/office/drawing/2014/main" id="{5BAD33D9-2215-4914-A3DF-C2750362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3163680"/>
            <a:ext cx="565200" cy="56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4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7f7d16337464e"/>
          <a:stretch xmlns:a="http://schemas.openxmlformats.org/drawingml/2006/main"/>
        </p:blipFill>
        <p:spPr>
          <a:xfrm xmlns:a="http://schemas.openxmlformats.org/drawingml/2006/main">
            <a:off x="987480" y="3310200"/>
            <a:ext cx="272520" cy="2725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27" name="Text 11">
            <a:extLst xmlns:a="http://schemas.openxmlformats.org/drawingml/2006/main">
              <a:ext uri="{FF2B5EF4-FFF2-40B4-BE49-F238E27FC236}">
                <a16:creationId xmlns:a16="http://schemas.microsoft.com/office/drawing/2014/main" id="{01CFC9BA-FEB0-4FA1-AE96-125F0FD5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99960"/>
            <a:ext cx="9690840" cy="31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客戶與月嫂聯繫全靠電話簡訊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4">
            <a:extLst xmlns:a="http://schemas.openxmlformats.org/drawingml/2006/main">
              <a:ext uri="{FF2B5EF4-FFF2-40B4-BE49-F238E27FC236}">
                <a16:creationId xmlns:a16="http://schemas.microsoft.com/office/drawing/2014/main" id="{DBC1CD98-7093-4D99-89DE-08762664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29000"/>
            <a:ext cx="978228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通知繳費、確認排班、催補件，全部要一通一通打電話或發簡訊，耗費大量人力與時間。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Shape 12">
            <a:extLst xmlns:a="http://schemas.openxmlformats.org/drawingml/2006/main">
              <a:ext uri="{FF2B5EF4-FFF2-40B4-BE49-F238E27FC236}">
                <a16:creationId xmlns:a16="http://schemas.microsoft.com/office/drawing/2014/main" id="{99A53D06-6A83-46D2-8B31-93C8C0FD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50720"/>
            <a:ext cx="11062440" cy="8758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0D3"/>
            </a:solidFill>
          </a:ln>
          <a:effectLst xmlns:a="http://schemas.openxmlformats.org/drawingml/2006/main">
            <a:outerShdw blurRad="76320" dist="25560" dir="5400000" sx="100000" sy="100000" kx="0" ky="0" algn="bl" rotWithShape="0">
              <a:srgbClr val="6F7069">
                <a:alpha val="18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30" name="Shape 13">
            <a:extLst xmlns:a="http://schemas.openxmlformats.org/drawingml/2006/main">
              <a:ext uri="{FF2B5EF4-FFF2-40B4-BE49-F238E27FC236}">
                <a16:creationId xmlns:a16="http://schemas.microsoft.com/office/drawing/2014/main" id="{D110D913-2C05-4899-A894-493FB6A8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4206240"/>
            <a:ext cx="565200" cy="56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4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edbd9fbac4dd8"/>
          <a:stretch xmlns:a="http://schemas.openxmlformats.org/drawingml/2006/main"/>
        </p:blipFill>
        <p:spPr>
          <a:xfrm xmlns:a="http://schemas.openxmlformats.org/drawingml/2006/main">
            <a:off x="987480" y="4352400"/>
            <a:ext cx="272520" cy="2725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32" name="Text 15">
            <a:extLst xmlns:a="http://schemas.openxmlformats.org/drawingml/2006/main">
              <a:ext uri="{FF2B5EF4-FFF2-40B4-BE49-F238E27FC236}">
                <a16:creationId xmlns:a16="http://schemas.microsoft.com/office/drawing/2014/main" id="{13EFB328-7FAD-4639-AE41-60988968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42160"/>
            <a:ext cx="9690840" cy="31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名冊資料重複人工輸入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8">
            <a:extLst xmlns:a="http://schemas.openxmlformats.org/drawingml/2006/main">
              <a:ext uri="{FF2B5EF4-FFF2-40B4-BE49-F238E27FC236}">
                <a16:creationId xmlns:a16="http://schemas.microsoft.com/office/drawing/2014/main" id="{74A789E5-6E30-4F44-8570-B858436A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71560"/>
            <a:ext cx="978228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HCM</a:t>
            </a: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、</a:t>
            </a: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BeClass </a:t>
            </a: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問卷下載下來的 </a:t>
            </a: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Excel</a:t>
            </a: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，每次都要人工謄寫進系統，容易打錯字或漏登。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 xmlns:a="http://schemas.openxmlformats.org/drawingml/2006/main">
              <a:ext uri="{FF2B5EF4-FFF2-40B4-BE49-F238E27FC236}">
                <a16:creationId xmlns:a16="http://schemas.microsoft.com/office/drawing/2014/main" id="{2694918C-C93C-4C03-866E-70880915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93280"/>
            <a:ext cx="11062440" cy="8758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0D3"/>
            </a:solidFill>
          </a:ln>
          <a:effectLst xmlns:a="http://schemas.openxmlformats.org/drawingml/2006/main">
            <a:outerShdw blurRad="76320" dist="25560" dir="5400000" sx="100000" sy="100000" kx="0" ky="0" algn="bl" rotWithShape="0">
              <a:srgbClr val="6F7069">
                <a:alpha val="18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35" name="Shape 17">
            <a:extLst xmlns:a="http://schemas.openxmlformats.org/drawingml/2006/main">
              <a:ext uri="{FF2B5EF4-FFF2-40B4-BE49-F238E27FC236}">
                <a16:creationId xmlns:a16="http://schemas.microsoft.com/office/drawing/2014/main" id="{28450DC8-C75C-4D7B-994F-40FA39D8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5248800"/>
            <a:ext cx="565200" cy="56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467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ec6ecb41b4c3f"/>
          <a:stretch xmlns:a="http://schemas.openxmlformats.org/drawingml/2006/main"/>
        </p:blipFill>
        <p:spPr>
          <a:xfrm xmlns:a="http://schemas.openxmlformats.org/drawingml/2006/main">
            <a:off x="987480" y="5394960"/>
            <a:ext cx="272520" cy="2725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37" name="Text 19">
            <a:extLst xmlns:a="http://schemas.openxmlformats.org/drawingml/2006/main">
              <a:ext uri="{FF2B5EF4-FFF2-40B4-BE49-F238E27FC236}">
                <a16:creationId xmlns:a16="http://schemas.microsoft.com/office/drawing/2014/main" id="{2819C890-C4C2-40A0-B7DE-73BF65BA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84720"/>
            <a:ext cx="9690840" cy="31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排班衝突全憑肉眼檢查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Text 20">
            <a:extLst xmlns:a="http://schemas.openxmlformats.org/drawingml/2006/main">
              <a:ext uri="{FF2B5EF4-FFF2-40B4-BE49-F238E27FC236}">
                <a16:creationId xmlns:a16="http://schemas.microsoft.com/office/drawing/2014/main" id="{B07BF929-8CD6-4C49-B589-77CF4A2A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13760"/>
            <a:ext cx="978228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月嫂檔期是否重疊、國定假日該不該休、服務天數對不對，都要人工逐案核對，出錯也難即時發現。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0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964DB577-A404-4BAA-A935-1A8F4993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5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F1FB8A7B-3C0B-410B-802D-9A4FCAB5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600462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1" name="Shape 19">
            <a:extLst xmlns:a="http://schemas.openxmlformats.org/drawingml/2006/main">
              <a:ext uri="{FF2B5EF4-FFF2-40B4-BE49-F238E27FC236}">
                <a16:creationId xmlns:a16="http://schemas.microsoft.com/office/drawing/2014/main" id="{83B47772-1315-4DC6-B823-DB93308E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2375640" cy="345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42" name="Text 8">
            <a:extLst xmlns:a="http://schemas.openxmlformats.org/drawingml/2006/main">
              <a:ext uri="{FF2B5EF4-FFF2-40B4-BE49-F238E27FC236}">
                <a16:creationId xmlns:a16="http://schemas.microsoft.com/office/drawing/2014/main" id="{10DD3C35-88F3-49F3-A8EB-838E0113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解決方案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3" name="Text 9">
            <a:extLst xmlns:a="http://schemas.openxmlformats.org/drawingml/2006/main">
              <a:ext uri="{FF2B5EF4-FFF2-40B4-BE49-F238E27FC236}">
                <a16:creationId xmlns:a16="http://schemas.microsoft.com/office/drawing/2014/main" id="{86C18E25-E312-460D-8C2C-A0B44890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14400"/>
            <a:ext cx="11062440" cy="63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自動化了什麼？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4" name="Text 12">
            <a:extLst xmlns:a="http://schemas.openxmlformats.org/drawingml/2006/main">
              <a:ext uri="{FF2B5EF4-FFF2-40B4-BE49-F238E27FC236}">
                <a16:creationId xmlns:a16="http://schemas.microsoft.com/office/drawing/2014/main" id="{512C6E44-2408-4DF1-9732-22C0589B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10056600" cy="36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針對前一頁的四個痛點，系統實際做到的事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5" name="Shape 7">
            <a:extLst xmlns:a="http://schemas.openxmlformats.org/drawingml/2006/main">
              <a:ext uri="{FF2B5EF4-FFF2-40B4-BE49-F238E27FC236}">
                <a16:creationId xmlns:a16="http://schemas.microsoft.com/office/drawing/2014/main" id="{4716E67B-866D-4279-8277-0266A431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1062440" cy="8758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0D3"/>
            </a:solidFill>
          </a:ln>
          <a:effectLst xmlns:a="http://schemas.openxmlformats.org/drawingml/2006/main">
            <a:outerShdw blurRad="76320" dist="25560" dir="5400000" sx="100000" sy="100000" kx="0" ky="0" algn="bl" rotWithShape="0">
              <a:srgbClr val="A66C4E">
                <a:alpha val="12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46" name="Shape 10">
            <a:extLst xmlns:a="http://schemas.openxmlformats.org/drawingml/2006/main">
              <a:ext uri="{FF2B5EF4-FFF2-40B4-BE49-F238E27FC236}">
                <a16:creationId xmlns:a16="http://schemas.microsoft.com/office/drawing/2014/main" id="{1D57AAC4-620A-429C-80E7-1600C57A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2121480"/>
            <a:ext cx="565200" cy="56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47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2a9c620964b78"/>
          <a:stretch xmlns:a="http://schemas.openxmlformats.org/drawingml/2006/main"/>
        </p:blipFill>
        <p:spPr>
          <a:xfrm xmlns:a="http://schemas.openxmlformats.org/drawingml/2006/main">
            <a:off x="987480" y="2267640"/>
            <a:ext cx="272520" cy="2725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48" name="Text 13">
            <a:extLst xmlns:a="http://schemas.openxmlformats.org/drawingml/2006/main">
              <a:ext uri="{FF2B5EF4-FFF2-40B4-BE49-F238E27FC236}">
                <a16:creationId xmlns:a16="http://schemas.microsoft.com/office/drawing/2014/main" id="{C54B7FFF-7506-4DE6-A988-DBFDD2B3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57400"/>
            <a:ext cx="9690840" cy="31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銀行對帳單自動匯入分類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9" name="Text 16">
            <a:extLst xmlns:a="http://schemas.openxmlformats.org/drawingml/2006/main">
              <a:ext uri="{FF2B5EF4-FFF2-40B4-BE49-F238E27FC236}">
                <a16:creationId xmlns:a16="http://schemas.microsoft.com/office/drawing/2014/main" id="{708ECEED-2C79-48B1-8535-1CD3B483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86440"/>
            <a:ext cx="978228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系統自動讀取對帳單、自動歸戶核銷，比對不上的才跳出來給人工確認，不再逐筆手動核對。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0" name="Shape 11">
            <a:extLst xmlns:a="http://schemas.openxmlformats.org/drawingml/2006/main">
              <a:ext uri="{FF2B5EF4-FFF2-40B4-BE49-F238E27FC236}">
                <a16:creationId xmlns:a16="http://schemas.microsoft.com/office/drawing/2014/main" id="{B954E0F0-1F5E-4EA3-85B7-9A265D9A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08520"/>
            <a:ext cx="11062440" cy="8758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0D3"/>
            </a:solidFill>
          </a:ln>
          <a:effectLst xmlns:a="http://schemas.openxmlformats.org/drawingml/2006/main">
            <a:outerShdw blurRad="76320" dist="25560" dir="5400000" sx="100000" sy="100000" kx="0" ky="0" algn="bl" rotWithShape="0">
              <a:srgbClr val="A66C4E">
                <a:alpha val="12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51" name="Shape 14">
            <a:extLst xmlns:a="http://schemas.openxmlformats.org/drawingml/2006/main">
              <a:ext uri="{FF2B5EF4-FFF2-40B4-BE49-F238E27FC236}">
                <a16:creationId xmlns:a16="http://schemas.microsoft.com/office/drawing/2014/main" id="{11649BD2-E4CB-4740-A5CB-F9D30504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3163680"/>
            <a:ext cx="565200" cy="56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48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8266938344890"/>
          <a:stretch xmlns:a="http://schemas.openxmlformats.org/drawingml/2006/main"/>
        </p:blipFill>
        <p:spPr>
          <a:xfrm xmlns:a="http://schemas.openxmlformats.org/drawingml/2006/main">
            <a:off x="987480" y="3310200"/>
            <a:ext cx="272520" cy="2725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53" name="Text 17">
            <a:extLst xmlns:a="http://schemas.openxmlformats.org/drawingml/2006/main">
              <a:ext uri="{FF2B5EF4-FFF2-40B4-BE49-F238E27FC236}">
                <a16:creationId xmlns:a16="http://schemas.microsoft.com/office/drawing/2014/main" id="{1EECD7B9-E58C-485C-9165-A6F91AC4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99960"/>
            <a:ext cx="9690840" cy="31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LINE </a:t>
            </a:r>
            <a:r>
              <a:rPr sz="150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官方帳號自動通知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4" name="Text 21">
            <a:extLst xmlns:a="http://schemas.openxmlformats.org/drawingml/2006/main">
              <a:ext uri="{FF2B5EF4-FFF2-40B4-BE49-F238E27FC236}">
                <a16:creationId xmlns:a16="http://schemas.microsoft.com/office/drawing/2014/main" id="{757F2E3C-F5B2-47E2-B591-D808C032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29000"/>
            <a:ext cx="978228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Rich Menu</a:t>
            </a: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、即時推播取代電話簡訊，客戶與月嫂自己就能查詢繳費與排班進度。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5" name="Shape 15">
            <a:extLst xmlns:a="http://schemas.openxmlformats.org/drawingml/2006/main">
              <a:ext uri="{FF2B5EF4-FFF2-40B4-BE49-F238E27FC236}">
                <a16:creationId xmlns:a16="http://schemas.microsoft.com/office/drawing/2014/main" id="{F719BA71-3C9E-4F65-861A-17417D60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50720"/>
            <a:ext cx="11062440" cy="8758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0D3"/>
            </a:solidFill>
          </a:ln>
          <a:effectLst xmlns:a="http://schemas.openxmlformats.org/drawingml/2006/main">
            <a:outerShdw blurRad="76320" dist="25560" dir="5400000" sx="100000" sy="100000" kx="0" ky="0" algn="bl" rotWithShape="0">
              <a:srgbClr val="A66C4E">
                <a:alpha val="12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56" name="Shape 18">
            <a:extLst xmlns:a="http://schemas.openxmlformats.org/drawingml/2006/main">
              <a:ext uri="{FF2B5EF4-FFF2-40B4-BE49-F238E27FC236}">
                <a16:creationId xmlns:a16="http://schemas.microsoft.com/office/drawing/2014/main" id="{12E7F338-995C-4DC6-9A3E-62718DEA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4206240"/>
            <a:ext cx="565200" cy="56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48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451e694a44f07"/>
          <a:stretch xmlns:a="http://schemas.openxmlformats.org/drawingml/2006/main"/>
        </p:blipFill>
        <p:spPr>
          <a:xfrm xmlns:a="http://schemas.openxmlformats.org/drawingml/2006/main">
            <a:off x="987480" y="4352400"/>
            <a:ext cx="272520" cy="2725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58" name="Text 22">
            <a:extLst xmlns:a="http://schemas.openxmlformats.org/drawingml/2006/main">
              <a:ext uri="{FF2B5EF4-FFF2-40B4-BE49-F238E27FC236}">
                <a16:creationId xmlns:a16="http://schemas.microsoft.com/office/drawing/2014/main" id="{180EDCD2-D3A2-48CE-A731-2BDA7F5D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42160"/>
            <a:ext cx="9690840" cy="31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Excel </a:t>
            </a:r>
            <a:r>
              <a:rPr sz="150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名冊自動匯入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9" name="Text 23">
            <a:extLst xmlns:a="http://schemas.openxmlformats.org/drawingml/2006/main">
              <a:ext uri="{FF2B5EF4-FFF2-40B4-BE49-F238E27FC236}">
                <a16:creationId xmlns:a16="http://schemas.microsoft.com/office/drawing/2014/main" id="{FDE91198-4434-4666-A694-3033E9F8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71560"/>
            <a:ext cx="978228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File Watcher </a:t>
            </a: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偵測到新檔案立即自動讀取寫入資料庫，欄位格式錯誤自動攔截、不再人工謄寫。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0" name="Shape 28">
            <a:extLst xmlns:a="http://schemas.openxmlformats.org/drawingml/2006/main">
              <a:ext uri="{FF2B5EF4-FFF2-40B4-BE49-F238E27FC236}">
                <a16:creationId xmlns:a16="http://schemas.microsoft.com/office/drawing/2014/main" id="{066F4E32-31A8-4110-9083-E825F568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93280"/>
            <a:ext cx="11062440" cy="8758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0D3"/>
            </a:solidFill>
          </a:ln>
          <a:effectLst xmlns:a="http://schemas.openxmlformats.org/drawingml/2006/main">
            <a:outerShdw blurRad="76320" dist="25560" dir="5400000" sx="100000" sy="100000" kx="0" ky="0" algn="bl" rotWithShape="0">
              <a:srgbClr val="A66C4E">
                <a:alpha val="12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61" name="Shape 29">
            <a:extLst xmlns:a="http://schemas.openxmlformats.org/drawingml/2006/main">
              <a:ext uri="{FF2B5EF4-FFF2-40B4-BE49-F238E27FC236}">
                <a16:creationId xmlns:a16="http://schemas.microsoft.com/office/drawing/2014/main" id="{12C167C6-1C86-46D2-91BE-ABB3F7B1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5248800"/>
            <a:ext cx="565200" cy="56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493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3937ead014e83"/>
          <a:stretch xmlns:a="http://schemas.openxmlformats.org/drawingml/2006/main"/>
        </p:blipFill>
        <p:spPr>
          <a:xfrm xmlns:a="http://schemas.openxmlformats.org/drawingml/2006/main">
            <a:off x="987480" y="5394960"/>
            <a:ext cx="272520" cy="2725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63" name="Text 24">
            <a:extLst xmlns:a="http://schemas.openxmlformats.org/drawingml/2006/main">
              <a:ext uri="{FF2B5EF4-FFF2-40B4-BE49-F238E27FC236}">
                <a16:creationId xmlns:a16="http://schemas.microsoft.com/office/drawing/2014/main" id="{A1E4DD76-CCB8-4891-89F9-B4C96DA6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84720"/>
            <a:ext cx="9690840" cy="31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33 </a:t>
            </a:r>
            <a:r>
              <a:rPr sz="150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種異常自動偵測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4" name="Text 37">
            <a:extLst xmlns:a="http://schemas.openxmlformats.org/drawingml/2006/main">
              <a:ext uri="{FF2B5EF4-FFF2-40B4-BE49-F238E27FC236}">
                <a16:creationId xmlns:a16="http://schemas.microsoft.com/office/drawing/2014/main" id="{BEF7B5F0-A8D7-4959-A0BB-F6634CEB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13760"/>
            <a:ext cx="978228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檔期重疊、國定假日衝突、服務天數不符，背景系統每分鐘自動掃描，異常直接送進警示中心。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6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601F7073-B246-46AA-8E5B-9A2E2233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1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FA568742-ED27-49AD-9221-24045CCD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02019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7" name="Shape 20">
            <a:extLst xmlns:a="http://schemas.openxmlformats.org/drawingml/2006/main">
              <a:ext uri="{FF2B5EF4-FFF2-40B4-BE49-F238E27FC236}">
                <a16:creationId xmlns:a16="http://schemas.microsoft.com/office/drawing/2014/main" id="{4BF5A798-77C8-4D9B-AD85-689E0F0A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2375640" cy="345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68" name="Text 26">
            <a:extLst xmlns:a="http://schemas.openxmlformats.org/drawingml/2006/main">
              <a:ext uri="{FF2B5EF4-FFF2-40B4-BE49-F238E27FC236}">
                <a16:creationId xmlns:a16="http://schemas.microsoft.com/office/drawing/2014/main" id="{BFB5CC14-20DF-4E68-9397-4216D348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系統架構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7">
            <a:extLst xmlns:a="http://schemas.openxmlformats.org/drawingml/2006/main">
              <a:ext uri="{FF2B5EF4-FFF2-40B4-BE49-F238E27FC236}">
                <a16:creationId xmlns:a16="http://schemas.microsoft.com/office/drawing/2014/main" id="{8BEDE2A2-A919-482A-8C46-246A14D4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14400"/>
            <a:ext cx="11062440" cy="63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技術架構總覽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Shape 21">
            <a:extLst xmlns:a="http://schemas.openxmlformats.org/drawingml/2006/main">
              <a:ext uri="{FF2B5EF4-FFF2-40B4-BE49-F238E27FC236}">
                <a16:creationId xmlns:a16="http://schemas.microsoft.com/office/drawing/2014/main" id="{696A31EF-6A6E-4299-8922-0AA8A40A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872720" cy="13698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5D49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71" name="Shape 22">
            <a:extLst xmlns:a="http://schemas.openxmlformats.org/drawingml/2006/main">
              <a:ext uri="{FF2B5EF4-FFF2-40B4-BE49-F238E27FC236}">
                <a16:creationId xmlns:a16="http://schemas.microsoft.com/office/drawing/2014/main" id="{B07F7476-EB05-4B95-AFF9-14CDF222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760" y="2084760"/>
            <a:ext cx="510120" cy="51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49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534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386a31e424f39"/>
          <a:stretch xmlns:a="http://schemas.openxmlformats.org/drawingml/2006/main"/>
        </p:blipFill>
        <p:spPr>
          <a:xfrm xmlns:a="http://schemas.openxmlformats.org/drawingml/2006/main">
            <a:off x="1357920" y="2212920"/>
            <a:ext cx="254160" cy="2541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73" name="Text 28">
            <a:extLst xmlns:a="http://schemas.openxmlformats.org/drawingml/2006/main">
              <a:ext uri="{FF2B5EF4-FFF2-40B4-BE49-F238E27FC236}">
                <a16:creationId xmlns:a16="http://schemas.microsoft.com/office/drawing/2014/main" id="{505FF799-261F-4954-9C2F-F0B99A7D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51760"/>
            <a:ext cx="1872720" cy="27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資料來源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29">
            <a:extLst xmlns:a="http://schemas.openxmlformats.org/drawingml/2006/main">
              <a:ext uri="{FF2B5EF4-FFF2-40B4-BE49-F238E27FC236}">
                <a16:creationId xmlns:a16="http://schemas.microsoft.com/office/drawing/2014/main" id="{FD966930-5B82-450B-BDC7-0BBC4BC4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20" y="2907720"/>
            <a:ext cx="1726560" cy="36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D8C2AE"/>
                </a:solidFill>
                <a:latin typeface="Microsoft JhengHei"/>
                <a:ea typeface="Microsoft JhengHei"/>
                <a:cs typeface="Microsoft JhengHei"/>
              </a:rPr>
              <a:t>Excel </a:t>
            </a:r>
            <a:r>
              <a:rPr sz="1430" b="0" u="none">
                <a:solidFill>
                  <a:srgbClr val="D8C2AE"/>
                </a:solidFill>
                <a:latin typeface="Microsoft JhengHei"/>
                <a:ea typeface="Microsoft JhengHei"/>
                <a:cs typeface="Microsoft JhengHei"/>
              </a:rPr>
              <a:t>名冊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D8C2AE"/>
                </a:solidFill>
                <a:latin typeface="Microsoft JhengHei"/>
                <a:ea typeface="Microsoft JhengHei"/>
                <a:cs typeface="Microsoft JhengHei"/>
              </a:rPr>
              <a:t>LINE Webhook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Text 30">
            <a:extLst xmlns:a="http://schemas.openxmlformats.org/drawingml/2006/main">
              <a:ext uri="{FF2B5EF4-FFF2-40B4-BE49-F238E27FC236}">
                <a16:creationId xmlns:a16="http://schemas.microsoft.com/office/drawing/2014/main" id="{D5C6243A-5608-49CB-946B-70130E01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377440"/>
            <a:ext cx="31824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Shape 23">
            <a:extLst xmlns:a="http://schemas.openxmlformats.org/drawingml/2006/main">
              <a:ext uri="{FF2B5EF4-FFF2-40B4-BE49-F238E27FC236}">
                <a16:creationId xmlns:a16="http://schemas.microsoft.com/office/drawing/2014/main" id="{BAEE8D1C-A287-4E6E-978E-2E1E61A4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20240"/>
            <a:ext cx="1872720" cy="13698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5D49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77" name="Shape 24">
            <a:extLst xmlns:a="http://schemas.openxmlformats.org/drawingml/2006/main">
              <a:ext uri="{FF2B5EF4-FFF2-40B4-BE49-F238E27FC236}">
                <a16:creationId xmlns:a16="http://schemas.microsoft.com/office/drawing/2014/main" id="{E802CBC0-4413-41F3-AEDE-987EFA03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320" y="2084760"/>
            <a:ext cx="510120" cy="51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49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540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ab9ccae4a4ec2"/>
          <a:stretch xmlns:a="http://schemas.openxmlformats.org/drawingml/2006/main"/>
        </p:blipFill>
        <p:spPr>
          <a:xfrm xmlns:a="http://schemas.openxmlformats.org/drawingml/2006/main">
            <a:off x="3552480" y="2212920"/>
            <a:ext cx="254160" cy="2541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79" name="Text 31">
            <a:extLst xmlns:a="http://schemas.openxmlformats.org/drawingml/2006/main">
              <a:ext uri="{FF2B5EF4-FFF2-40B4-BE49-F238E27FC236}">
                <a16:creationId xmlns:a16="http://schemas.microsoft.com/office/drawing/2014/main" id="{993F298C-195A-406A-BBB4-EE4A59F1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51760"/>
            <a:ext cx="1872720" cy="27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匯入與驗證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32">
            <a:extLst xmlns:a="http://schemas.openxmlformats.org/drawingml/2006/main">
              <a:ext uri="{FF2B5EF4-FFF2-40B4-BE49-F238E27FC236}">
                <a16:creationId xmlns:a16="http://schemas.microsoft.com/office/drawing/2014/main" id="{BD246D1E-918D-4299-A0D6-FCE98F3D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280" y="2907720"/>
            <a:ext cx="1726560" cy="36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D8C2AE"/>
                </a:solidFill>
                <a:latin typeface="Microsoft JhengHei"/>
                <a:ea typeface="Microsoft JhengHei"/>
                <a:cs typeface="Microsoft JhengHei"/>
              </a:rPr>
              <a:t>File Watcher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D8C2AE"/>
                </a:solidFill>
                <a:latin typeface="Microsoft JhengHei"/>
                <a:ea typeface="Microsoft JhengHei"/>
                <a:cs typeface="Microsoft JhengHei"/>
              </a:rPr>
              <a:t>Webhook Intake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33">
            <a:extLst xmlns:a="http://schemas.openxmlformats.org/drawingml/2006/main">
              <a:ext uri="{FF2B5EF4-FFF2-40B4-BE49-F238E27FC236}">
                <a16:creationId xmlns:a16="http://schemas.microsoft.com/office/drawing/2014/main" id="{AF4C1B9C-BA1F-474C-8013-DB944AD4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377440"/>
            <a:ext cx="31824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Shape 25">
            <a:extLst xmlns:a="http://schemas.openxmlformats.org/drawingml/2006/main">
              <a:ext uri="{FF2B5EF4-FFF2-40B4-BE49-F238E27FC236}">
                <a16:creationId xmlns:a16="http://schemas.microsoft.com/office/drawing/2014/main" id="{8E9A85E7-E6DD-4042-8733-706984AB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920240"/>
            <a:ext cx="1872720" cy="13698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5D49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83" name="Shape 26">
            <a:extLst xmlns:a="http://schemas.openxmlformats.org/drawingml/2006/main">
              <a:ext uri="{FF2B5EF4-FFF2-40B4-BE49-F238E27FC236}">
                <a16:creationId xmlns:a16="http://schemas.microsoft.com/office/drawing/2014/main" id="{55F4FF03-8430-4036-A3E2-A18576F2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880" y="2084760"/>
            <a:ext cx="510120" cy="51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49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546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4b28890254fe3"/>
          <a:stretch xmlns:a="http://schemas.openxmlformats.org/drawingml/2006/main"/>
        </p:blipFill>
        <p:spPr>
          <a:xfrm xmlns:a="http://schemas.openxmlformats.org/drawingml/2006/main">
            <a:off x="5747040" y="2212920"/>
            <a:ext cx="254160" cy="2541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85" name="Text 34">
            <a:extLst xmlns:a="http://schemas.openxmlformats.org/drawingml/2006/main">
              <a:ext uri="{FF2B5EF4-FFF2-40B4-BE49-F238E27FC236}">
                <a16:creationId xmlns:a16="http://schemas.microsoft.com/office/drawing/2014/main" id="{DA5E63DC-720C-4705-BC51-6EA28602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651760"/>
            <a:ext cx="1872720" cy="27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應用層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6" name="Text 35">
            <a:extLst xmlns:a="http://schemas.openxmlformats.org/drawingml/2006/main">
              <a:ext uri="{FF2B5EF4-FFF2-40B4-BE49-F238E27FC236}">
                <a16:creationId xmlns:a16="http://schemas.microsoft.com/office/drawing/2014/main" id="{3BCAAF45-0469-4A09-B50C-82923BE1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840" y="2907720"/>
            <a:ext cx="1726560" cy="36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D8C2AE"/>
                </a:solidFill>
                <a:latin typeface="Microsoft JhengHei"/>
                <a:ea typeface="Microsoft JhengHei"/>
                <a:cs typeface="Microsoft JhengHei"/>
              </a:rPr>
              <a:t>FastAPI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D8C2AE"/>
                </a:solidFill>
                <a:latin typeface="Microsoft JhengHei"/>
                <a:ea typeface="Microsoft JhengHei"/>
                <a:cs typeface="Microsoft JhengHei"/>
              </a:rPr>
              <a:t>Query / Preview / Apply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7" name="Text 36">
            <a:extLst xmlns:a="http://schemas.openxmlformats.org/drawingml/2006/main">
              <a:ext uri="{FF2B5EF4-FFF2-40B4-BE49-F238E27FC236}">
                <a16:creationId xmlns:a16="http://schemas.microsoft.com/office/drawing/2014/main" id="{AB90A6AB-3BF0-4B57-8F95-6B8BE188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377440"/>
            <a:ext cx="31824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8" name="Shape 27">
            <a:extLst xmlns:a="http://schemas.openxmlformats.org/drawingml/2006/main">
              <a:ext uri="{FF2B5EF4-FFF2-40B4-BE49-F238E27FC236}">
                <a16:creationId xmlns:a16="http://schemas.microsoft.com/office/drawing/2014/main" id="{5713D821-6955-4295-853C-31C35DB1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920240"/>
            <a:ext cx="1872720" cy="13698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5D49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89" name="Shape 31">
            <a:extLst xmlns:a="http://schemas.openxmlformats.org/drawingml/2006/main">
              <a:ext uri="{FF2B5EF4-FFF2-40B4-BE49-F238E27FC236}">
                <a16:creationId xmlns:a16="http://schemas.microsoft.com/office/drawing/2014/main" id="{38B71B9C-B5C5-45B9-B3A5-FFE008ED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3440" y="2084760"/>
            <a:ext cx="510120" cy="51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49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552" name="Imag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ec9a8b6b14c7a"/>
          <a:stretch xmlns:a="http://schemas.openxmlformats.org/drawingml/2006/main"/>
        </p:blipFill>
        <p:spPr>
          <a:xfrm xmlns:a="http://schemas.openxmlformats.org/drawingml/2006/main">
            <a:off x="7941600" y="2212920"/>
            <a:ext cx="254160" cy="2541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91" name="Text 40">
            <a:extLst xmlns:a="http://schemas.openxmlformats.org/drawingml/2006/main">
              <a:ext uri="{FF2B5EF4-FFF2-40B4-BE49-F238E27FC236}">
                <a16:creationId xmlns:a16="http://schemas.microsoft.com/office/drawing/2014/main" id="{6CF653FF-0641-4107-B7B6-9CD00688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651760"/>
            <a:ext cx="1872720" cy="27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資料庫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2" name="Text 42">
            <a:extLst xmlns:a="http://schemas.openxmlformats.org/drawingml/2006/main">
              <a:ext uri="{FF2B5EF4-FFF2-40B4-BE49-F238E27FC236}">
                <a16:creationId xmlns:a16="http://schemas.microsoft.com/office/drawing/2014/main" id="{8E640AC4-4786-42E2-BD8E-2A62506C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00" y="2907720"/>
            <a:ext cx="1726560" cy="36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D8C2AE"/>
                </a:solidFill>
                <a:latin typeface="Microsoft JhengHei"/>
                <a:ea typeface="Microsoft JhengHei"/>
                <a:cs typeface="Microsoft JhengHei"/>
              </a:rPr>
              <a:t>MySQL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D8C2AE"/>
                </a:solidFill>
                <a:latin typeface="Microsoft JhengHei"/>
                <a:ea typeface="Microsoft JhengHei"/>
                <a:cs typeface="Microsoft JhengHei"/>
              </a:rPr>
              <a:t>33 </a:t>
            </a:r>
            <a:r>
              <a:rPr sz="1430" b="0" u="none">
                <a:solidFill>
                  <a:srgbClr val="D8C2AE"/>
                </a:solidFill>
                <a:latin typeface="Microsoft JhengHei"/>
                <a:ea typeface="Microsoft JhengHei"/>
                <a:cs typeface="Microsoft JhengHei"/>
              </a:rPr>
              <a:t>種異常註冊表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3" name="Text 44">
            <a:extLst xmlns:a="http://schemas.openxmlformats.org/drawingml/2006/main">
              <a:ext uri="{FF2B5EF4-FFF2-40B4-BE49-F238E27FC236}">
                <a16:creationId xmlns:a16="http://schemas.microsoft.com/office/drawing/2014/main" id="{166BF7DC-2989-456C-8003-DEDAE8FB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77440"/>
            <a:ext cx="31824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4" name="Shape 33">
            <a:extLst xmlns:a="http://schemas.openxmlformats.org/drawingml/2006/main">
              <a:ext uri="{FF2B5EF4-FFF2-40B4-BE49-F238E27FC236}">
                <a16:creationId xmlns:a16="http://schemas.microsoft.com/office/drawing/2014/main" id="{D5310C6E-9670-4DD9-87F0-457C6E18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920240"/>
            <a:ext cx="1872720" cy="13698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5D49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95" name="Shape 35">
            <a:extLst xmlns:a="http://schemas.openxmlformats.org/drawingml/2006/main">
              <a:ext uri="{FF2B5EF4-FFF2-40B4-BE49-F238E27FC236}">
                <a16:creationId xmlns:a16="http://schemas.microsoft.com/office/drawing/2014/main" id="{E2F4C903-1F92-462A-AB31-276C872B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000" y="2084760"/>
            <a:ext cx="510120" cy="51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49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558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c9194797a449a0"/>
          <a:stretch xmlns:a="http://schemas.openxmlformats.org/drawingml/2006/main"/>
        </p:blipFill>
        <p:spPr>
          <a:xfrm xmlns:a="http://schemas.openxmlformats.org/drawingml/2006/main">
            <a:off x="10136160" y="2212920"/>
            <a:ext cx="254160" cy="2541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97" name="Text 46">
            <a:extLst xmlns:a="http://schemas.openxmlformats.org/drawingml/2006/main">
              <a:ext uri="{FF2B5EF4-FFF2-40B4-BE49-F238E27FC236}">
                <a16:creationId xmlns:a16="http://schemas.microsoft.com/office/drawing/2014/main" id="{46972444-2F25-4E11-8142-90D76B35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2651760"/>
            <a:ext cx="1872720" cy="27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使用介面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8" name="Text 48">
            <a:extLst xmlns:a="http://schemas.openxmlformats.org/drawingml/2006/main">
              <a:ext uri="{FF2B5EF4-FFF2-40B4-BE49-F238E27FC236}">
                <a16:creationId xmlns:a16="http://schemas.microsoft.com/office/drawing/2014/main" id="{F3FAD062-70E5-4575-8FD8-8978D043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960" y="2907720"/>
            <a:ext cx="1726560" cy="36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D8C2AE"/>
                </a:solidFill>
                <a:latin typeface="Microsoft JhengHei"/>
                <a:ea typeface="Microsoft JhengHei"/>
                <a:cs typeface="Microsoft JhengHei"/>
              </a:rPr>
              <a:t>Streamlit </a:t>
            </a:r>
            <a:r>
              <a:rPr sz="1430" b="0" u="none">
                <a:solidFill>
                  <a:srgbClr val="D8C2AE"/>
                </a:solidFill>
                <a:latin typeface="Microsoft JhengHei"/>
                <a:ea typeface="Microsoft JhengHei"/>
                <a:cs typeface="Microsoft JhengHei"/>
              </a:rPr>
              <a:t>後台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D8C2AE"/>
                </a:solidFill>
                <a:latin typeface="Microsoft JhengHei"/>
                <a:ea typeface="Microsoft JhengHei"/>
                <a:cs typeface="Microsoft JhengHei"/>
              </a:rPr>
              <a:t>LINE Bot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9" name="Text 49">
            <a:extLst xmlns:a="http://schemas.openxmlformats.org/drawingml/2006/main">
              <a:ext uri="{FF2B5EF4-FFF2-40B4-BE49-F238E27FC236}">
                <a16:creationId xmlns:a16="http://schemas.microsoft.com/office/drawing/2014/main" id="{94112753-08EC-4495-BC4C-283E69E7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11062440" cy="36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0" i="1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每一層都有明確 </a:t>
            </a:r>
            <a:r>
              <a:rPr sz="1430" b="0" i="1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Owner</a:t>
            </a:r>
            <a:r>
              <a:rPr sz="1430" b="0" i="1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：資料匯入不直接改帳務，</a:t>
            </a:r>
            <a:r>
              <a:rPr sz="1430" b="0" i="1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LINE </a:t>
            </a:r>
            <a:r>
              <a:rPr sz="1430" b="0" i="1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只管平台互動不直接改案件狀態。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0" name="Text 69">
            <a:extLst xmlns:a="http://schemas.openxmlformats.org/drawingml/2006/main">
              <a:ext uri="{FF2B5EF4-FFF2-40B4-BE49-F238E27FC236}">
                <a16:creationId xmlns:a16="http://schemas.microsoft.com/office/drawing/2014/main" id="{E4367991-4D02-4B1A-98DD-9D1DF06B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0"/>
            <a:ext cx="2741400" cy="31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技術棧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1" name="Shape 37">
            <a:extLst xmlns:a="http://schemas.openxmlformats.org/drawingml/2006/main">
              <a:ext uri="{FF2B5EF4-FFF2-40B4-BE49-F238E27FC236}">
                <a16:creationId xmlns:a16="http://schemas.microsoft.com/office/drawing/2014/main" id="{2C352F28-A42F-48CA-BEAE-DA3D2ABC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1539000" cy="382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0D3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02" name="Text 70">
            <a:extLst xmlns:a="http://schemas.openxmlformats.org/drawingml/2006/main">
              <a:ext uri="{FF2B5EF4-FFF2-40B4-BE49-F238E27FC236}">
                <a16:creationId xmlns:a16="http://schemas.microsoft.com/office/drawing/2014/main" id="{3DEEBEE5-82C5-4D90-A045-C28F7F7F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1539000" cy="38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Python 3.11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3" name="Shape 39">
            <a:extLst xmlns:a="http://schemas.openxmlformats.org/drawingml/2006/main">
              <a:ext uri="{FF2B5EF4-FFF2-40B4-BE49-F238E27FC236}">
                <a16:creationId xmlns:a16="http://schemas.microsoft.com/office/drawing/2014/main" id="{43F7E3D1-81EE-4BC5-BA35-6BDC2C78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3960" y="4617720"/>
            <a:ext cx="1118520" cy="382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0D3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04" name="Text 71">
            <a:extLst xmlns:a="http://schemas.openxmlformats.org/drawingml/2006/main">
              <a:ext uri="{FF2B5EF4-FFF2-40B4-BE49-F238E27FC236}">
                <a16:creationId xmlns:a16="http://schemas.microsoft.com/office/drawing/2014/main" id="{0BDBFF59-4BCE-406A-A25D-701E2CD3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3960" y="4617720"/>
            <a:ext cx="1118520" cy="38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FastAPI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5" name="Shape 41">
            <a:extLst xmlns:a="http://schemas.openxmlformats.org/drawingml/2006/main">
              <a:ext uri="{FF2B5EF4-FFF2-40B4-BE49-F238E27FC236}">
                <a16:creationId xmlns:a16="http://schemas.microsoft.com/office/drawing/2014/main" id="{E5411472-E9E2-4DF8-B8EC-9F886CAD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800" y="4617720"/>
            <a:ext cx="1328760" cy="382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0D3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06" name="Text 72">
            <a:extLst xmlns:a="http://schemas.openxmlformats.org/drawingml/2006/main">
              <a:ext uri="{FF2B5EF4-FFF2-40B4-BE49-F238E27FC236}">
                <a16:creationId xmlns:a16="http://schemas.microsoft.com/office/drawing/2014/main" id="{5564F7C8-1E80-4722-9553-159E769E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800" y="4617720"/>
            <a:ext cx="1328760" cy="38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Streamlit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7" name="Shape 43">
            <a:extLst xmlns:a="http://schemas.openxmlformats.org/drawingml/2006/main">
              <a:ext uri="{FF2B5EF4-FFF2-40B4-BE49-F238E27FC236}">
                <a16:creationId xmlns:a16="http://schemas.microsoft.com/office/drawing/2014/main" id="{95B9E7F3-B60F-41FE-8361-A90A9BD4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880" y="4617720"/>
            <a:ext cx="907920" cy="382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0D3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08" name="Text 73">
            <a:extLst xmlns:a="http://schemas.openxmlformats.org/drawingml/2006/main">
              <a:ext uri="{FF2B5EF4-FFF2-40B4-BE49-F238E27FC236}">
                <a16:creationId xmlns:a16="http://schemas.microsoft.com/office/drawing/2014/main" id="{9784CCB9-2D1C-4873-B630-938D764D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880" y="4617720"/>
            <a:ext cx="907920" cy="38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MySQL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9" name="Shape 45">
            <a:extLst xmlns:a="http://schemas.openxmlformats.org/drawingml/2006/main">
              <a:ext uri="{FF2B5EF4-FFF2-40B4-BE49-F238E27FC236}">
                <a16:creationId xmlns:a16="http://schemas.microsoft.com/office/drawing/2014/main" id="{28A6DF96-3F11-46DB-A884-605E66EE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20" y="4617720"/>
            <a:ext cx="907920" cy="382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0D3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10" name="Text 74">
            <a:extLst xmlns:a="http://schemas.openxmlformats.org/drawingml/2006/main">
              <a:ext uri="{FF2B5EF4-FFF2-40B4-BE49-F238E27FC236}">
                <a16:creationId xmlns:a16="http://schemas.microsoft.com/office/drawing/2014/main" id="{0A7010FD-7DE2-4B52-BCB5-0C20B15B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20" y="4617720"/>
            <a:ext cx="907920" cy="38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Redis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1" name="Shape 47">
            <a:extLst xmlns:a="http://schemas.openxmlformats.org/drawingml/2006/main">
              <a:ext uri="{FF2B5EF4-FFF2-40B4-BE49-F238E27FC236}">
                <a16:creationId xmlns:a16="http://schemas.microsoft.com/office/drawing/2014/main" id="{643ECFE0-C6B5-4731-979A-1A20D292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2720" y="4617720"/>
            <a:ext cx="2275200" cy="382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0D3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12" name="Text 75">
            <a:extLst xmlns:a="http://schemas.openxmlformats.org/drawingml/2006/main">
              <a:ext uri="{FF2B5EF4-FFF2-40B4-BE49-F238E27FC236}">
                <a16:creationId xmlns:a16="http://schemas.microsoft.com/office/drawing/2014/main" id="{D21DBAD6-11C1-49E1-B4EC-09CF8B3F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2720" y="4617720"/>
            <a:ext cx="2275200" cy="38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LINE Messaging API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3" name="Shape 56">
            <a:extLst xmlns:a="http://schemas.openxmlformats.org/drawingml/2006/main">
              <a:ext uri="{FF2B5EF4-FFF2-40B4-BE49-F238E27FC236}">
                <a16:creationId xmlns:a16="http://schemas.microsoft.com/office/drawing/2014/main" id="{7EF34C52-B5B8-4C54-881F-E6AA2B6B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240" y="4617720"/>
            <a:ext cx="1223640" cy="382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0D3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14" name="Text 76">
            <a:extLst xmlns:a="http://schemas.openxmlformats.org/drawingml/2006/main">
              <a:ext uri="{FF2B5EF4-FFF2-40B4-BE49-F238E27FC236}">
                <a16:creationId xmlns:a16="http://schemas.microsoft.com/office/drawing/2014/main" id="{32CC799D-ADC7-43CA-ABBB-97870215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240" y="4617720"/>
            <a:ext cx="1223640" cy="38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ChromaDB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5" name="Shape 57">
            <a:extLst xmlns:a="http://schemas.openxmlformats.org/drawingml/2006/main">
              <a:ext uri="{FF2B5EF4-FFF2-40B4-BE49-F238E27FC236}">
                <a16:creationId xmlns:a16="http://schemas.microsoft.com/office/drawing/2014/main" id="{406E057E-349B-40FA-A9E0-84ED135C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1013040" cy="382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0D3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16" name="Text 77">
            <a:extLst xmlns:a="http://schemas.openxmlformats.org/drawingml/2006/main">
              <a:ext uri="{FF2B5EF4-FFF2-40B4-BE49-F238E27FC236}">
                <a16:creationId xmlns:a16="http://schemas.microsoft.com/office/drawing/2014/main" id="{91DDDCFF-ADA4-40FA-B5BF-BE4800C9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1013040" cy="38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Docker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7" name="Shape 58">
            <a:extLst xmlns:a="http://schemas.openxmlformats.org/drawingml/2006/main">
              <a:ext uri="{FF2B5EF4-FFF2-40B4-BE49-F238E27FC236}">
                <a16:creationId xmlns:a16="http://schemas.microsoft.com/office/drawing/2014/main" id="{8FCFCDE6-07A7-4525-9F87-2BCFFEEB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360" y="5120640"/>
            <a:ext cx="1013040" cy="382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0D3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18" name="Text 78">
            <a:extLst xmlns:a="http://schemas.openxmlformats.org/drawingml/2006/main">
              <a:ext uri="{FF2B5EF4-FFF2-40B4-BE49-F238E27FC236}">
                <a16:creationId xmlns:a16="http://schemas.microsoft.com/office/drawing/2014/main" id="{BCCEF8F9-F86E-412F-A62F-6AF399B5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360" y="5120640"/>
            <a:ext cx="1013040" cy="38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pytest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9" name="Shape 59">
            <a:extLst xmlns:a="http://schemas.openxmlformats.org/drawingml/2006/main">
              <a:ext uri="{FF2B5EF4-FFF2-40B4-BE49-F238E27FC236}">
                <a16:creationId xmlns:a16="http://schemas.microsoft.com/office/drawing/2014/main" id="{9AA766FD-FF01-4744-85F3-29A0E20E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20" y="5120640"/>
            <a:ext cx="1433880" cy="382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0D3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20" name="Text 79">
            <a:extLst xmlns:a="http://schemas.openxmlformats.org/drawingml/2006/main">
              <a:ext uri="{FF2B5EF4-FFF2-40B4-BE49-F238E27FC236}">
                <a16:creationId xmlns:a16="http://schemas.microsoft.com/office/drawing/2014/main" id="{2E482C5B-11E0-4DEB-934D-2B107287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20" y="5120640"/>
            <a:ext cx="1433880" cy="38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Playwright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2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C7005641-04FB-4660-A227-04B61CB8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8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46D31A2D-EFEB-4F9A-9A20-07B7ACF9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39619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3" name="Text 39">
            <a:extLst xmlns:a="http://schemas.openxmlformats.org/drawingml/2006/main">
              <a:ext uri="{FF2B5EF4-FFF2-40B4-BE49-F238E27FC236}">
                <a16:creationId xmlns:a16="http://schemas.microsoft.com/office/drawing/2014/main" id="{F80DC9A7-6528-4064-9F76-2EECA95A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管理端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Streamlit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：七大功能頁面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4" name="Text 41">
            <a:extLst xmlns:a="http://schemas.openxmlformats.org/drawingml/2006/main">
              <a:ext uri="{FF2B5EF4-FFF2-40B4-BE49-F238E27FC236}">
                <a16:creationId xmlns:a16="http://schemas.microsoft.com/office/drawing/2014/main" id="{F8D69092-D28F-42E2-84BE-4473A215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760"/>
            <a:ext cx="11089800" cy="36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側邊欄自動掃描頁面模組，動態產生導覽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5" name="Shape 30">
            <a:extLst xmlns:a="http://schemas.openxmlformats.org/drawingml/2006/main">
              <a:ext uri="{FF2B5EF4-FFF2-40B4-BE49-F238E27FC236}">
                <a16:creationId xmlns:a16="http://schemas.microsoft.com/office/drawing/2014/main" id="{CF11E5FF-656E-4396-9928-692E599D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1591200"/>
            <a:ext cx="510120" cy="51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50760" dist="19080" dir="5400000" sx="100000" sy="100000" kx="0" ky="0" algn="bl" rotWithShape="0">
              <a:srgbClr val="5D493D">
                <a:alpha val="2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26" name="Text 43">
            <a:extLst xmlns:a="http://schemas.openxmlformats.org/drawingml/2006/main">
              <a:ext uri="{FF2B5EF4-FFF2-40B4-BE49-F238E27FC236}">
                <a16:creationId xmlns:a16="http://schemas.microsoft.com/office/drawing/2014/main" id="{58AF2E25-BA7E-4078-9706-0E1D5C90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1591200"/>
            <a:ext cx="510120" cy="51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瀏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7" name="Text 45">
            <a:extLst xmlns:a="http://schemas.openxmlformats.org/drawingml/2006/main">
              <a:ext uri="{FF2B5EF4-FFF2-40B4-BE49-F238E27FC236}">
                <a16:creationId xmlns:a16="http://schemas.microsoft.com/office/drawing/2014/main" id="{4D4D691C-5C50-40F2-8038-1D577DEA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536120"/>
            <a:ext cx="4707360" cy="82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資料庫原始資料瀏覽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管理端資料表查詢與稽核工具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8" name="Shape 32">
            <a:extLst xmlns:a="http://schemas.openxmlformats.org/drawingml/2006/main">
              <a:ext uri="{FF2B5EF4-FFF2-40B4-BE49-F238E27FC236}">
                <a16:creationId xmlns:a16="http://schemas.microsoft.com/office/drawing/2014/main" id="{D2781883-30F3-46AB-94FC-D88168E6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2642760"/>
            <a:ext cx="510120" cy="51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50760" dist="19080" dir="5400000" sx="100000" sy="100000" kx="0" ky="0" algn="bl" rotWithShape="0">
              <a:srgbClr val="5D493D">
                <a:alpha val="2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29" name="Text 47">
            <a:extLst xmlns:a="http://schemas.openxmlformats.org/drawingml/2006/main">
              <a:ext uri="{FF2B5EF4-FFF2-40B4-BE49-F238E27FC236}">
                <a16:creationId xmlns:a16="http://schemas.microsoft.com/office/drawing/2014/main" id="{6035D2FE-3191-41DE-8F69-280581A6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2642760"/>
            <a:ext cx="510120" cy="51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帳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0" name="Text 50">
            <a:extLst xmlns:a="http://schemas.openxmlformats.org/drawingml/2006/main">
              <a:ext uri="{FF2B5EF4-FFF2-40B4-BE49-F238E27FC236}">
                <a16:creationId xmlns:a16="http://schemas.microsoft.com/office/drawing/2014/main" id="{78CC23CD-DA12-4206-8573-5E2A1435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587680"/>
            <a:ext cx="4707360" cy="82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訂單與帳務管理系統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訂單總覽、人力指派、財務、應付帳款、補助對帳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1" name="Shape 34">
            <a:extLst xmlns:a="http://schemas.openxmlformats.org/drawingml/2006/main">
              <a:ext uri="{FF2B5EF4-FFF2-40B4-BE49-F238E27FC236}">
                <a16:creationId xmlns:a16="http://schemas.microsoft.com/office/drawing/2014/main" id="{31935A17-EF72-4481-BD5E-17EE88F2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3694320"/>
            <a:ext cx="510120" cy="51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50760" dist="19080" dir="5400000" sx="100000" sy="100000" kx="0" ky="0" algn="bl" rotWithShape="0">
              <a:srgbClr val="5D493D">
                <a:alpha val="2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32" name="Text 51">
            <a:extLst xmlns:a="http://schemas.openxmlformats.org/drawingml/2006/main">
              <a:ext uri="{FF2B5EF4-FFF2-40B4-BE49-F238E27FC236}">
                <a16:creationId xmlns:a16="http://schemas.microsoft.com/office/drawing/2014/main" id="{0290F712-E7F6-4B96-BB02-938E4EA8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3694320"/>
            <a:ext cx="510120" cy="51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曆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3" name="Text 52">
            <a:extLst xmlns:a="http://schemas.openxmlformats.org/drawingml/2006/main">
              <a:ext uri="{FF2B5EF4-FFF2-40B4-BE49-F238E27FC236}">
                <a16:creationId xmlns:a16="http://schemas.microsoft.com/office/drawing/2014/main" id="{69C35B01-8039-4577-A6D2-59F1C450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639240"/>
            <a:ext cx="4707360" cy="82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多月嫂排班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行事曆、請假代班、排班試算 </a:t>
            </a:r>
            <a:r>
              <a:rPr sz="105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Preview / Apply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4" name="Shape 36">
            <a:extLst xmlns:a="http://schemas.openxmlformats.org/drawingml/2006/main">
              <a:ext uri="{FF2B5EF4-FFF2-40B4-BE49-F238E27FC236}">
                <a16:creationId xmlns:a16="http://schemas.microsoft.com/office/drawing/2014/main" id="{E542FD97-FB47-41EE-A409-51E743E1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4745880"/>
            <a:ext cx="510120" cy="51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50760" dist="19080" dir="5400000" sx="100000" sy="100000" kx="0" ky="0" algn="bl" rotWithShape="0">
              <a:srgbClr val="5D493D">
                <a:alpha val="2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35" name="Text 53">
            <a:extLst xmlns:a="http://schemas.openxmlformats.org/drawingml/2006/main">
              <a:ext uri="{FF2B5EF4-FFF2-40B4-BE49-F238E27FC236}">
                <a16:creationId xmlns:a16="http://schemas.microsoft.com/office/drawing/2014/main" id="{D0DB6B2A-84C3-40A9-8434-D348967F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4745880"/>
            <a:ext cx="510120" cy="51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表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6" name="Text 54">
            <a:extLst xmlns:a="http://schemas.openxmlformats.org/drawingml/2006/main">
              <a:ext uri="{FF2B5EF4-FFF2-40B4-BE49-F238E27FC236}">
                <a16:creationId xmlns:a16="http://schemas.microsoft.com/office/drawing/2014/main" id="{05E309CE-A610-47B6-A11A-EAAD8DB1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90800"/>
            <a:ext cx="4707360" cy="82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表單與履歷問卷管理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範本庫、合約管理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7" name="Shape 38">
            <a:extLst xmlns:a="http://schemas.openxmlformats.org/drawingml/2006/main">
              <a:ext uri="{FF2B5EF4-FFF2-40B4-BE49-F238E27FC236}">
                <a16:creationId xmlns:a16="http://schemas.microsoft.com/office/drawing/2014/main" id="{6788FF00-DB6C-4B1F-A6B0-E413EC38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000" y="1591200"/>
            <a:ext cx="510120" cy="51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50760" dist="19080" dir="5400000" sx="100000" sy="100000" kx="0" ky="0" algn="bl" rotWithShape="0">
              <a:srgbClr val="5D493D">
                <a:alpha val="2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38" name="Text 55">
            <a:extLst xmlns:a="http://schemas.openxmlformats.org/drawingml/2006/main">
              <a:ext uri="{FF2B5EF4-FFF2-40B4-BE49-F238E27FC236}">
                <a16:creationId xmlns:a16="http://schemas.microsoft.com/office/drawing/2014/main" id="{20F6B009-3119-4611-A1D2-DEB3BE59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000" y="1591200"/>
            <a:ext cx="510120" cy="51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警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9" name="Text 56">
            <a:extLst xmlns:a="http://schemas.openxmlformats.org/drawingml/2006/main">
              <a:ext uri="{FF2B5EF4-FFF2-40B4-BE49-F238E27FC236}">
                <a16:creationId xmlns:a16="http://schemas.microsoft.com/office/drawing/2014/main" id="{0FED5A5C-15E4-4E6E-8F8A-893A87F1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536120"/>
            <a:ext cx="4707360" cy="82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異常警示中心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自動偵測流程異常，指派人工處理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0" name="Shape 40">
            <a:extLst xmlns:a="http://schemas.openxmlformats.org/drawingml/2006/main">
              <a:ext uri="{FF2B5EF4-FFF2-40B4-BE49-F238E27FC236}">
                <a16:creationId xmlns:a16="http://schemas.microsoft.com/office/drawing/2014/main" id="{9D464A32-F5AF-4B6B-967D-0FC8C7F7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000" y="2642760"/>
            <a:ext cx="510120" cy="51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50760" dist="19080" dir="5400000" sx="100000" sy="100000" kx="0" ky="0" algn="bl" rotWithShape="0">
              <a:srgbClr val="5D493D">
                <a:alpha val="2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41" name="Text 57">
            <a:extLst xmlns:a="http://schemas.openxmlformats.org/drawingml/2006/main">
              <a:ext uri="{FF2B5EF4-FFF2-40B4-BE49-F238E27FC236}">
                <a16:creationId xmlns:a16="http://schemas.microsoft.com/office/drawing/2014/main" id="{16EAC25A-CA58-44A5-9CAD-384E0656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000" y="2642760"/>
            <a:ext cx="510120" cy="51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訊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2" name="Text 58">
            <a:extLst xmlns:a="http://schemas.openxmlformats.org/drawingml/2006/main">
              <a:ext uri="{FF2B5EF4-FFF2-40B4-BE49-F238E27FC236}">
                <a16:creationId xmlns:a16="http://schemas.microsoft.com/office/drawing/2014/main" id="{A0D6225C-0908-41E7-B8DF-C35C8502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587680"/>
            <a:ext cx="4707360" cy="82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LINE </a:t>
            </a:r>
            <a:r>
              <a:rPr sz="135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管理中心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訊息、</a:t>
            </a:r>
            <a:r>
              <a:rPr sz="105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Rich Menu</a:t>
            </a:r>
            <a:r>
              <a:rPr sz="105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、</a:t>
            </a:r>
            <a:r>
              <a:rPr sz="105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LIFF</a:t>
            </a:r>
            <a:r>
              <a:rPr sz="105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、客服、排程任務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3" name="Shape 42">
            <a:extLst xmlns:a="http://schemas.openxmlformats.org/drawingml/2006/main">
              <a:ext uri="{FF2B5EF4-FFF2-40B4-BE49-F238E27FC236}">
                <a16:creationId xmlns:a16="http://schemas.microsoft.com/office/drawing/2014/main" id="{948A8365-5818-4889-AFD8-DD8BB9AF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000" y="3694320"/>
            <a:ext cx="510120" cy="51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50760" dist="19080" dir="5400000" sx="100000" sy="100000" kx="0" ky="0" algn="bl" rotWithShape="0">
              <a:srgbClr val="5D493D">
                <a:alpha val="2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44" name="Text 59">
            <a:extLst xmlns:a="http://schemas.openxmlformats.org/drawingml/2006/main">
              <a:ext uri="{FF2B5EF4-FFF2-40B4-BE49-F238E27FC236}">
                <a16:creationId xmlns:a16="http://schemas.microsoft.com/office/drawing/2014/main" id="{536C627E-B697-47F0-A27F-99FC186C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000" y="3694320"/>
            <a:ext cx="510120" cy="51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況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5" name="Text 60">
            <a:extLst xmlns:a="http://schemas.openxmlformats.org/drawingml/2006/main">
              <a:ext uri="{FF2B5EF4-FFF2-40B4-BE49-F238E27FC236}">
                <a16:creationId xmlns:a16="http://schemas.microsoft.com/office/drawing/2014/main" id="{2C684670-DA93-4C00-B3F6-818D7CAF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639240"/>
            <a:ext cx="4707360" cy="82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系統狀態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後端健康監控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6" name="Shape 44">
            <a:extLst xmlns:a="http://schemas.openxmlformats.org/drawingml/2006/main">
              <a:ext uri="{FF2B5EF4-FFF2-40B4-BE49-F238E27FC236}">
                <a16:creationId xmlns:a16="http://schemas.microsoft.com/office/drawing/2014/main" id="{5BEFA067-761F-4D2B-9420-DCF2DB87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709160"/>
            <a:ext cx="5393160" cy="141552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63360" dist="25560" dir="5400000" sx="100000" sy="100000" kx="0" ky="0" algn="bl" rotWithShape="0">
              <a:srgbClr val="5D493D">
                <a:alpha val="18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47" name="Text 61">
            <a:extLst xmlns:a="http://schemas.openxmlformats.org/drawingml/2006/main">
              <a:ext uri="{FF2B5EF4-FFF2-40B4-BE49-F238E27FC236}">
                <a16:creationId xmlns:a16="http://schemas.microsoft.com/office/drawing/2014/main" id="{239316A8-ABB1-4CE2-9540-E9B008E9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864680"/>
            <a:ext cx="4935960" cy="2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薄顯示層原則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8" name="Text 62">
            <a:extLst xmlns:a="http://schemas.openxmlformats.org/drawingml/2006/main">
              <a:ext uri="{FF2B5EF4-FFF2-40B4-BE49-F238E27FC236}">
                <a16:creationId xmlns:a16="http://schemas.microsoft.com/office/drawing/2014/main" id="{76BD11BC-48CA-4C4B-B698-EA2A770D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175360"/>
            <a:ext cx="4935960" cy="86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七個頁面都只負責 </a:t>
            </a: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layout</a:t>
            </a: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、</a:t>
            </a: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widget </a:t>
            </a: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與 </a:t>
            </a: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API </a:t>
            </a: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呼叫；排班、金額、資格等正式計算全部留在後端 </a:t>
            </a: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Service</a:t>
            </a: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，</a:t>
            </a: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Streamlit </a:t>
            </a: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隨時可被 </a:t>
            </a: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React </a:t>
            </a: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取代。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9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06AEB6F5-FC81-4AC4-A351-AD0F0171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0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94497981-3CF1-4D1D-99F2-C926B00E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084602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0" name="Text 0">
            <a:extLst xmlns:a="http://schemas.openxmlformats.org/drawingml/2006/main">
              <a:ext uri="{FF2B5EF4-FFF2-40B4-BE49-F238E27FC236}">
                <a16:creationId xmlns:a16="http://schemas.microsoft.com/office/drawing/2014/main" id="{E1AF4732-C53B-4F5A-90DE-C4DFD14C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業務範疇：十大核心領域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1" name="Text 63">
            <a:extLst xmlns:a="http://schemas.openxmlformats.org/drawingml/2006/main">
              <a:ext uri="{FF2B5EF4-FFF2-40B4-BE49-F238E27FC236}">
                <a16:creationId xmlns:a16="http://schemas.microsoft.com/office/drawing/2014/main" id="{EDDECAC1-E5AC-4840-B358-DF8D1BFC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760"/>
            <a:ext cx="11089800" cy="36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涵蓋案件全生命週期，從接案、排班到帳務、補助與客服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2" name="Shape 46">
            <a:extLst xmlns:a="http://schemas.openxmlformats.org/drawingml/2006/main">
              <a:ext uri="{FF2B5EF4-FFF2-40B4-BE49-F238E27FC236}">
                <a16:creationId xmlns:a16="http://schemas.microsoft.com/office/drawing/2014/main" id="{06289DF0-20E4-451F-B206-104646E5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81400"/>
            <a:ext cx="2085480" cy="2119680"/>
          </a:xfrm>
          <a:prstGeom xmlns:a="http://schemas.openxmlformats.org/drawingml/2006/main" prst="roundRect">
            <a:avLst>
              <a:gd name="adj" fmla="val 4381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63360" dist="25560" dir="5400000" sx="100000" sy="100000" kx="0" ky="0" algn="bl" rotWithShape="0">
              <a:srgbClr val="5D493D">
                <a:alpha val="18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53" name="Shape 48">
            <a:extLst xmlns:a="http://schemas.openxmlformats.org/drawingml/2006/main">
              <a:ext uri="{FF2B5EF4-FFF2-40B4-BE49-F238E27FC236}">
                <a16:creationId xmlns:a16="http://schemas.microsoft.com/office/drawing/2014/main" id="{B0480B4F-523E-4DA9-BCB5-4F5AE057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960" y="1764720"/>
            <a:ext cx="565200" cy="56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50760" dist="19080" dir="5400000" sx="100000" sy="100000" kx="0" ky="0" algn="bl" rotWithShape="0">
              <a:srgbClr val="5D493D">
                <a:alpha val="2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54" name="Text 64">
            <a:extLst xmlns:a="http://schemas.openxmlformats.org/drawingml/2006/main">
              <a:ext uri="{FF2B5EF4-FFF2-40B4-BE49-F238E27FC236}">
                <a16:creationId xmlns:a16="http://schemas.microsoft.com/office/drawing/2014/main" id="{2274E4D1-EC6F-4A1F-A242-6E595533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960" y="1764720"/>
            <a:ext cx="565200" cy="5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訂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5" name="Text 65">
            <a:extLst xmlns:a="http://schemas.openxmlformats.org/drawingml/2006/main">
              <a:ext uri="{FF2B5EF4-FFF2-40B4-BE49-F238E27FC236}">
                <a16:creationId xmlns:a16="http://schemas.microsoft.com/office/drawing/2014/main" id="{53D6C3AC-EBC7-4775-933C-C919B8E6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20" y="2468880"/>
            <a:ext cx="1938960" cy="31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Orders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6" name="Text 66">
            <a:extLst xmlns:a="http://schemas.openxmlformats.org/drawingml/2006/main">
              <a:ext uri="{FF2B5EF4-FFF2-40B4-BE49-F238E27FC236}">
                <a16:creationId xmlns:a16="http://schemas.microsoft.com/office/drawing/2014/main" id="{290FF69A-B2C0-475D-89C7-445E8D57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79920"/>
            <a:ext cx="1902600" cy="72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訂單條款、生命週期、取消 </a:t>
            </a: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/ </a:t>
            </a: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重開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7" name="Shape 49">
            <a:extLst xmlns:a="http://schemas.openxmlformats.org/drawingml/2006/main">
              <a:ext uri="{FF2B5EF4-FFF2-40B4-BE49-F238E27FC236}">
                <a16:creationId xmlns:a16="http://schemas.microsoft.com/office/drawing/2014/main" id="{C5B6DA03-B361-48CA-BB90-AF942D81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440" y="1481400"/>
            <a:ext cx="2085480" cy="2119680"/>
          </a:xfrm>
          <a:prstGeom xmlns:a="http://schemas.openxmlformats.org/drawingml/2006/main" prst="roundRect">
            <a:avLst>
              <a:gd name="adj" fmla="val 4381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63360" dist="25560" dir="5400000" sx="100000" sy="100000" kx="0" ky="0" algn="bl" rotWithShape="0">
              <a:srgbClr val="5D493D">
                <a:alpha val="18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58" name="Shape 50">
            <a:extLst xmlns:a="http://schemas.openxmlformats.org/drawingml/2006/main">
              <a:ext uri="{FF2B5EF4-FFF2-40B4-BE49-F238E27FC236}">
                <a16:creationId xmlns:a16="http://schemas.microsoft.com/office/drawing/2014/main" id="{C62E2A04-1298-43F7-85FF-1221FDD1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760" y="1764720"/>
            <a:ext cx="565200" cy="56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50760" dist="19080" dir="5400000" sx="100000" sy="100000" kx="0" ky="0" algn="bl" rotWithShape="0">
              <a:srgbClr val="5D493D">
                <a:alpha val="2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59" name="Text 67">
            <a:extLst xmlns:a="http://schemas.openxmlformats.org/drawingml/2006/main">
              <a:ext uri="{FF2B5EF4-FFF2-40B4-BE49-F238E27FC236}">
                <a16:creationId xmlns:a16="http://schemas.microsoft.com/office/drawing/2014/main" id="{89ECDE01-4229-43E3-8E40-BCCD291D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760" y="1764720"/>
            <a:ext cx="565200" cy="5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班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0" name="Text 68">
            <a:extLst xmlns:a="http://schemas.openxmlformats.org/drawingml/2006/main">
              <a:ext uri="{FF2B5EF4-FFF2-40B4-BE49-F238E27FC236}">
                <a16:creationId xmlns:a16="http://schemas.microsoft.com/office/drawing/2014/main" id="{80DE1B20-489E-45E8-B5CC-660CDA20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520" y="2468880"/>
            <a:ext cx="1938960" cy="31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Scheduling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1" name="Text 81">
            <a:extLst xmlns:a="http://schemas.openxmlformats.org/drawingml/2006/main">
              <a:ext uri="{FF2B5EF4-FFF2-40B4-BE49-F238E27FC236}">
                <a16:creationId xmlns:a16="http://schemas.microsoft.com/office/drawing/2014/main" id="{E3AC8E4B-8957-4CEC-9E78-DC92BE64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880" y="2779920"/>
            <a:ext cx="1902600" cy="72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派班、服務日、請假與代班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2" name="Shape 51">
            <a:extLst xmlns:a="http://schemas.openxmlformats.org/drawingml/2006/main">
              <a:ext uri="{FF2B5EF4-FFF2-40B4-BE49-F238E27FC236}">
                <a16:creationId xmlns:a16="http://schemas.microsoft.com/office/drawing/2014/main" id="{1C79A0EA-236C-43D9-A49B-B3801ECA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240" y="1481400"/>
            <a:ext cx="2085480" cy="2119680"/>
          </a:xfrm>
          <a:prstGeom xmlns:a="http://schemas.openxmlformats.org/drawingml/2006/main" prst="roundRect">
            <a:avLst>
              <a:gd name="adj" fmla="val 4381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63360" dist="25560" dir="5400000" sx="100000" sy="100000" kx="0" ky="0" algn="bl" rotWithShape="0">
              <a:srgbClr val="5D493D">
                <a:alpha val="18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63" name="Shape 52">
            <a:extLst xmlns:a="http://schemas.openxmlformats.org/drawingml/2006/main">
              <a:ext uri="{FF2B5EF4-FFF2-40B4-BE49-F238E27FC236}">
                <a16:creationId xmlns:a16="http://schemas.microsoft.com/office/drawing/2014/main" id="{C462ABA4-5EDB-4696-824E-E31359F2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560" y="1764720"/>
            <a:ext cx="565200" cy="56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50760" dist="19080" dir="5400000" sx="100000" sy="100000" kx="0" ky="0" algn="bl" rotWithShape="0">
              <a:srgbClr val="5D493D">
                <a:alpha val="2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64" name="Text 82">
            <a:extLst xmlns:a="http://schemas.openxmlformats.org/drawingml/2006/main">
              <a:ext uri="{FF2B5EF4-FFF2-40B4-BE49-F238E27FC236}">
                <a16:creationId xmlns:a16="http://schemas.microsoft.com/office/drawing/2014/main" id="{0D80750F-6788-47A1-941D-0B3EE762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560" y="1764720"/>
            <a:ext cx="565200" cy="5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薪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5" name="Text 83">
            <a:extLst xmlns:a="http://schemas.openxmlformats.org/drawingml/2006/main">
              <a:ext uri="{FF2B5EF4-FFF2-40B4-BE49-F238E27FC236}">
                <a16:creationId xmlns:a16="http://schemas.microsoft.com/office/drawing/2014/main" id="{EBC54B2D-616E-4B80-A4E6-60FCCDED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5320" y="2468880"/>
            <a:ext cx="1938960" cy="31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Payroll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6" name="Text 84">
            <a:extLst xmlns:a="http://schemas.openxmlformats.org/drawingml/2006/main">
              <a:ext uri="{FF2B5EF4-FFF2-40B4-BE49-F238E27FC236}">
                <a16:creationId xmlns:a16="http://schemas.microsoft.com/office/drawing/2014/main" id="{801A24EF-5444-4E70-8A55-109C8224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680" y="2779920"/>
            <a:ext cx="1902600" cy="72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月嫂薪資義務與調整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7" name="Shape 53">
            <a:extLst xmlns:a="http://schemas.openxmlformats.org/drawingml/2006/main">
              <a:ext uri="{FF2B5EF4-FFF2-40B4-BE49-F238E27FC236}">
                <a16:creationId xmlns:a16="http://schemas.microsoft.com/office/drawing/2014/main" id="{CA9E7C68-9D4F-4236-AD13-D711E2AE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040" y="1481400"/>
            <a:ext cx="2085480" cy="2119680"/>
          </a:xfrm>
          <a:prstGeom xmlns:a="http://schemas.openxmlformats.org/drawingml/2006/main" prst="roundRect">
            <a:avLst>
              <a:gd name="adj" fmla="val 4381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63360" dist="25560" dir="5400000" sx="100000" sy="100000" kx="0" ky="0" algn="bl" rotWithShape="0">
              <a:srgbClr val="5D493D">
                <a:alpha val="18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68" name="Shape 54">
            <a:extLst xmlns:a="http://schemas.openxmlformats.org/drawingml/2006/main">
              <a:ext uri="{FF2B5EF4-FFF2-40B4-BE49-F238E27FC236}">
                <a16:creationId xmlns:a16="http://schemas.microsoft.com/office/drawing/2014/main" id="{58979889-AA5F-45D3-BCA9-9629794D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360" y="1764720"/>
            <a:ext cx="565200" cy="56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50760" dist="19080" dir="5400000" sx="100000" sy="100000" kx="0" ky="0" algn="bl" rotWithShape="0">
              <a:srgbClr val="5D493D">
                <a:alpha val="2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69" name="Text 85">
            <a:extLst xmlns:a="http://schemas.openxmlformats.org/drawingml/2006/main">
              <a:ext uri="{FF2B5EF4-FFF2-40B4-BE49-F238E27FC236}">
                <a16:creationId xmlns:a16="http://schemas.microsoft.com/office/drawing/2014/main" id="{5A1E662B-A258-4D97-95E4-45542379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360" y="1764720"/>
            <a:ext cx="565200" cy="5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收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0" name="Text 86">
            <a:extLst xmlns:a="http://schemas.openxmlformats.org/drawingml/2006/main">
              <a:ext uri="{FF2B5EF4-FFF2-40B4-BE49-F238E27FC236}">
                <a16:creationId xmlns:a16="http://schemas.microsoft.com/office/drawing/2014/main" id="{5E9D8E81-0920-4A22-A1E6-97F16974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120" y="2468880"/>
            <a:ext cx="1938960" cy="31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Client Finance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1" name="Text 87">
            <a:extLst xmlns:a="http://schemas.openxmlformats.org/drawingml/2006/main">
              <a:ext uri="{FF2B5EF4-FFF2-40B4-BE49-F238E27FC236}">
                <a16:creationId xmlns:a16="http://schemas.microsoft.com/office/drawing/2014/main" id="{8F30DCEA-863C-4585-A9C3-A24B0176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480" y="2779920"/>
            <a:ext cx="1902600" cy="72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客戶應收、收款、退款、核銷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2" name="Shape 55">
            <a:extLst xmlns:a="http://schemas.openxmlformats.org/drawingml/2006/main">
              <a:ext uri="{FF2B5EF4-FFF2-40B4-BE49-F238E27FC236}">
                <a16:creationId xmlns:a16="http://schemas.microsoft.com/office/drawing/2014/main" id="{8AD38898-63B8-4C33-B7FF-5C1FCD39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840" y="1481400"/>
            <a:ext cx="2085480" cy="2119680"/>
          </a:xfrm>
          <a:prstGeom xmlns:a="http://schemas.openxmlformats.org/drawingml/2006/main" prst="roundRect">
            <a:avLst>
              <a:gd name="adj" fmla="val 4381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63360" dist="25560" dir="5400000" sx="100000" sy="100000" kx="0" ky="0" algn="bl" rotWithShape="0">
              <a:srgbClr val="5D493D">
                <a:alpha val="18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73" name="Shape 60">
            <a:extLst xmlns:a="http://schemas.openxmlformats.org/drawingml/2006/main">
              <a:ext uri="{FF2B5EF4-FFF2-40B4-BE49-F238E27FC236}">
                <a16:creationId xmlns:a16="http://schemas.microsoft.com/office/drawing/2014/main" id="{9A5B4E7C-86DC-43E1-90AB-5E7FE9A7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6160" y="1764720"/>
            <a:ext cx="565200" cy="56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50760" dist="19080" dir="5400000" sx="100000" sy="100000" kx="0" ky="0" algn="bl" rotWithShape="0">
              <a:srgbClr val="5D493D">
                <a:alpha val="2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74" name="Text 88">
            <a:extLst xmlns:a="http://schemas.openxmlformats.org/drawingml/2006/main">
              <a:ext uri="{FF2B5EF4-FFF2-40B4-BE49-F238E27FC236}">
                <a16:creationId xmlns:a16="http://schemas.microsoft.com/office/drawing/2014/main" id="{97696F63-795A-4DFA-AC30-A657272F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6160" y="1764720"/>
            <a:ext cx="565200" cy="5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付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5" name="Text 120">
            <a:extLst xmlns:a="http://schemas.openxmlformats.org/drawingml/2006/main">
              <a:ext uri="{FF2B5EF4-FFF2-40B4-BE49-F238E27FC236}">
                <a16:creationId xmlns:a16="http://schemas.microsoft.com/office/drawing/2014/main" id="{F1D1C535-5398-41B0-B2FA-DC746172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920" y="2468880"/>
            <a:ext cx="1938960" cy="31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Staff Payables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6" name="Text 121">
            <a:extLst xmlns:a="http://schemas.openxmlformats.org/drawingml/2006/main">
              <a:ext uri="{FF2B5EF4-FFF2-40B4-BE49-F238E27FC236}">
                <a16:creationId xmlns:a16="http://schemas.microsoft.com/office/drawing/2014/main" id="{D051515E-87BC-4283-B34C-50D9D5B1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7280" y="2779920"/>
            <a:ext cx="1902600" cy="72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月嫂應付、出款、退匯沖正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7" name="Shape 61">
            <a:extLst xmlns:a="http://schemas.openxmlformats.org/drawingml/2006/main">
              <a:ext uri="{FF2B5EF4-FFF2-40B4-BE49-F238E27FC236}">
                <a16:creationId xmlns:a16="http://schemas.microsoft.com/office/drawing/2014/main" id="{8745BC23-EAEB-47F4-BEAB-39C91ADB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03760"/>
            <a:ext cx="2085480" cy="2119680"/>
          </a:xfrm>
          <a:prstGeom xmlns:a="http://schemas.openxmlformats.org/drawingml/2006/main" prst="roundRect">
            <a:avLst>
              <a:gd name="adj" fmla="val 4381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63360" dist="25560" dir="5400000" sx="100000" sy="100000" kx="0" ky="0" algn="bl" rotWithShape="0">
              <a:srgbClr val="5D493D">
                <a:alpha val="18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78" name="Shape 62">
            <a:extLst xmlns:a="http://schemas.openxmlformats.org/drawingml/2006/main">
              <a:ext uri="{FF2B5EF4-FFF2-40B4-BE49-F238E27FC236}">
                <a16:creationId xmlns:a16="http://schemas.microsoft.com/office/drawing/2014/main" id="{0D079FFC-B754-49A5-9B9B-33A355F3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960" y="4087440"/>
            <a:ext cx="565200" cy="56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50760" dist="19080" dir="5400000" sx="100000" sy="100000" kx="0" ky="0" algn="bl" rotWithShape="0">
              <a:srgbClr val="5D493D">
                <a:alpha val="2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79" name="Text 122">
            <a:extLst xmlns:a="http://schemas.openxmlformats.org/drawingml/2006/main">
              <a:ext uri="{FF2B5EF4-FFF2-40B4-BE49-F238E27FC236}">
                <a16:creationId xmlns:a16="http://schemas.microsoft.com/office/drawing/2014/main" id="{B63A3275-4F3A-4F51-9843-22398134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960" y="4087440"/>
            <a:ext cx="565200" cy="5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匯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0" name="Text 123">
            <a:extLst xmlns:a="http://schemas.openxmlformats.org/drawingml/2006/main">
              <a:ext uri="{FF2B5EF4-FFF2-40B4-BE49-F238E27FC236}">
                <a16:creationId xmlns:a16="http://schemas.microsoft.com/office/drawing/2014/main" id="{28EF52B0-6D8A-4857-B95C-A1DA9FA5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20" y="4791600"/>
            <a:ext cx="1938960" cy="31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Finance Import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1" name="Text 124">
            <a:extLst xmlns:a="http://schemas.openxmlformats.org/drawingml/2006/main">
              <a:ext uri="{FF2B5EF4-FFF2-40B4-BE49-F238E27FC236}">
                <a16:creationId xmlns:a16="http://schemas.microsoft.com/office/drawing/2014/main" id="{C69A7395-8DD2-4EFF-BA09-136514C9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02280"/>
            <a:ext cx="1902600" cy="72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銀行對帳單匯入與分類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2" name="Shape 78">
            <a:extLst xmlns:a="http://schemas.openxmlformats.org/drawingml/2006/main">
              <a:ext uri="{FF2B5EF4-FFF2-40B4-BE49-F238E27FC236}">
                <a16:creationId xmlns:a16="http://schemas.microsoft.com/office/drawing/2014/main" id="{0099C6A8-0612-4E83-9105-58ED8913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440" y="3803760"/>
            <a:ext cx="2085480" cy="2119680"/>
          </a:xfrm>
          <a:prstGeom xmlns:a="http://schemas.openxmlformats.org/drawingml/2006/main" prst="roundRect">
            <a:avLst>
              <a:gd name="adj" fmla="val 4381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63360" dist="25560" dir="5400000" sx="100000" sy="100000" kx="0" ky="0" algn="bl" rotWithShape="0">
              <a:srgbClr val="5D493D">
                <a:alpha val="18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83" name="Shape 79">
            <a:extLst xmlns:a="http://schemas.openxmlformats.org/drawingml/2006/main">
              <a:ext uri="{FF2B5EF4-FFF2-40B4-BE49-F238E27FC236}">
                <a16:creationId xmlns:a16="http://schemas.microsoft.com/office/drawing/2014/main" id="{B422B933-B7FD-4A96-B18E-40014265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760" y="4087440"/>
            <a:ext cx="565200" cy="56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50760" dist="19080" dir="5400000" sx="100000" sy="100000" kx="0" ky="0" algn="bl" rotWithShape="0">
              <a:srgbClr val="5D493D">
                <a:alpha val="2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84" name="Text 125">
            <a:extLst xmlns:a="http://schemas.openxmlformats.org/drawingml/2006/main">
              <a:ext uri="{FF2B5EF4-FFF2-40B4-BE49-F238E27FC236}">
                <a16:creationId xmlns:a16="http://schemas.microsoft.com/office/drawing/2014/main" id="{C07C9CE8-A49C-410E-8A87-C1B9D197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760" y="4087440"/>
            <a:ext cx="565200" cy="5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補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5" name="Text 126">
            <a:extLst xmlns:a="http://schemas.openxmlformats.org/drawingml/2006/main">
              <a:ext uri="{FF2B5EF4-FFF2-40B4-BE49-F238E27FC236}">
                <a16:creationId xmlns:a16="http://schemas.microsoft.com/office/drawing/2014/main" id="{EB5D32E4-F401-49E7-91F4-09915E98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520" y="4791600"/>
            <a:ext cx="1938960" cy="31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Gov. Subsidy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6" name="Text 127">
            <a:extLst xmlns:a="http://schemas.openxmlformats.org/drawingml/2006/main">
              <a:ext uri="{FF2B5EF4-FFF2-40B4-BE49-F238E27FC236}">
                <a16:creationId xmlns:a16="http://schemas.microsoft.com/office/drawing/2014/main" id="{FF026403-AFC0-48E4-9960-1C9BAF92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880" y="5102280"/>
            <a:ext cx="1902600" cy="72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補助申請、核准、撥款核銷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7" name="Shape 80">
            <a:extLst xmlns:a="http://schemas.openxmlformats.org/drawingml/2006/main">
              <a:ext uri="{FF2B5EF4-FFF2-40B4-BE49-F238E27FC236}">
                <a16:creationId xmlns:a16="http://schemas.microsoft.com/office/drawing/2014/main" id="{90D46FEF-C1FD-490C-9CCA-EFA631ED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240" y="3803760"/>
            <a:ext cx="2085480" cy="2119680"/>
          </a:xfrm>
          <a:prstGeom xmlns:a="http://schemas.openxmlformats.org/drawingml/2006/main" prst="roundRect">
            <a:avLst>
              <a:gd name="adj" fmla="val 4381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63360" dist="25560" dir="5400000" sx="100000" sy="100000" kx="0" ky="0" algn="bl" rotWithShape="0">
              <a:srgbClr val="5D493D">
                <a:alpha val="18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88" name="Shape 81">
            <a:extLst xmlns:a="http://schemas.openxmlformats.org/drawingml/2006/main">
              <a:ext uri="{FF2B5EF4-FFF2-40B4-BE49-F238E27FC236}">
                <a16:creationId xmlns:a16="http://schemas.microsoft.com/office/drawing/2014/main" id="{4CE1432C-0E6A-4217-9F46-CE9B2E97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560" y="4087440"/>
            <a:ext cx="565200" cy="56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50760" dist="19080" dir="5400000" sx="100000" sy="100000" kx="0" ky="0" algn="bl" rotWithShape="0">
              <a:srgbClr val="5D493D">
                <a:alpha val="2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89" name="Text 128">
            <a:extLst xmlns:a="http://schemas.openxmlformats.org/drawingml/2006/main">
              <a:ext uri="{FF2B5EF4-FFF2-40B4-BE49-F238E27FC236}">
                <a16:creationId xmlns:a16="http://schemas.microsoft.com/office/drawing/2014/main" id="{37E532AB-2F84-45C4-9227-E06A166C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560" y="4087440"/>
            <a:ext cx="565200" cy="5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警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0" name="Text 129">
            <a:extLst xmlns:a="http://schemas.openxmlformats.org/drawingml/2006/main">
              <a:ext uri="{FF2B5EF4-FFF2-40B4-BE49-F238E27FC236}">
                <a16:creationId xmlns:a16="http://schemas.microsoft.com/office/drawing/2014/main" id="{238C6830-1C75-414F-B008-2425C0F4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5320" y="4791600"/>
            <a:ext cx="1938960" cy="31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Anomalies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1" name="Text 130">
            <a:extLst xmlns:a="http://schemas.openxmlformats.org/drawingml/2006/main">
              <a:ext uri="{FF2B5EF4-FFF2-40B4-BE49-F238E27FC236}">
                <a16:creationId xmlns:a16="http://schemas.microsoft.com/office/drawing/2014/main" id="{6F59CF59-7C46-4D83-8677-C7E80AEF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680" y="5102280"/>
            <a:ext cx="1902600" cy="72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異常偵測、告警與處理進度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2" name="Shape 82">
            <a:extLst xmlns:a="http://schemas.openxmlformats.org/drawingml/2006/main">
              <a:ext uri="{FF2B5EF4-FFF2-40B4-BE49-F238E27FC236}">
                <a16:creationId xmlns:a16="http://schemas.microsoft.com/office/drawing/2014/main" id="{1E808017-8C4F-481A-B639-F5040547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040" y="3803760"/>
            <a:ext cx="2085480" cy="2119680"/>
          </a:xfrm>
          <a:prstGeom xmlns:a="http://schemas.openxmlformats.org/drawingml/2006/main" prst="roundRect">
            <a:avLst>
              <a:gd name="adj" fmla="val 4381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63360" dist="25560" dir="5400000" sx="100000" sy="100000" kx="0" ky="0" algn="bl" rotWithShape="0">
              <a:srgbClr val="5D493D">
                <a:alpha val="18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93" name="Shape 83">
            <a:extLst xmlns:a="http://schemas.openxmlformats.org/drawingml/2006/main">
              <a:ext uri="{FF2B5EF4-FFF2-40B4-BE49-F238E27FC236}">
                <a16:creationId xmlns:a16="http://schemas.microsoft.com/office/drawing/2014/main" id="{A05220E8-8319-4C14-BD5E-91774148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360" y="4087440"/>
            <a:ext cx="565200" cy="56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50760" dist="19080" dir="5400000" sx="100000" sy="100000" kx="0" ky="0" algn="bl" rotWithShape="0">
              <a:srgbClr val="5D493D">
                <a:alpha val="2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94" name="Text 131">
            <a:extLst xmlns:a="http://schemas.openxmlformats.org/drawingml/2006/main">
              <a:ext uri="{FF2B5EF4-FFF2-40B4-BE49-F238E27FC236}">
                <a16:creationId xmlns:a16="http://schemas.microsoft.com/office/drawing/2014/main" id="{C6AB8E13-D9E8-4CC3-9C1D-36609D1A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360" y="4087440"/>
            <a:ext cx="565200" cy="5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案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5" name="Text 132">
            <a:extLst xmlns:a="http://schemas.openxmlformats.org/drawingml/2006/main">
              <a:ext uri="{FF2B5EF4-FFF2-40B4-BE49-F238E27FC236}">
                <a16:creationId xmlns:a16="http://schemas.microsoft.com/office/drawing/2014/main" id="{2FE95A0F-89A8-4223-9E32-D004A9B3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120" y="4791600"/>
            <a:ext cx="1938960" cy="31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Case Import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6" name="Text 133">
            <a:extLst xmlns:a="http://schemas.openxmlformats.org/drawingml/2006/main">
              <a:ext uri="{FF2B5EF4-FFF2-40B4-BE49-F238E27FC236}">
                <a16:creationId xmlns:a16="http://schemas.microsoft.com/office/drawing/2014/main" id="{599FF798-ECB5-4537-B36E-AC7762DF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480" y="5102280"/>
            <a:ext cx="1902600" cy="72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外部案件來源驗證與匯入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7" name="Shape 84">
            <a:extLst xmlns:a="http://schemas.openxmlformats.org/drawingml/2006/main">
              <a:ext uri="{FF2B5EF4-FFF2-40B4-BE49-F238E27FC236}">
                <a16:creationId xmlns:a16="http://schemas.microsoft.com/office/drawing/2014/main" id="{D5E95908-1B90-4A06-A2DA-A5459F46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840" y="3803760"/>
            <a:ext cx="2085480" cy="2119680"/>
          </a:xfrm>
          <a:prstGeom xmlns:a="http://schemas.openxmlformats.org/drawingml/2006/main" prst="roundRect">
            <a:avLst>
              <a:gd name="adj" fmla="val 4381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63360" dist="25560" dir="5400000" sx="100000" sy="100000" kx="0" ky="0" algn="bl" rotWithShape="0">
              <a:srgbClr val="5D493D">
                <a:alpha val="18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98" name="Shape 85">
            <a:extLst xmlns:a="http://schemas.openxmlformats.org/drawingml/2006/main">
              <a:ext uri="{FF2B5EF4-FFF2-40B4-BE49-F238E27FC236}">
                <a16:creationId xmlns:a16="http://schemas.microsoft.com/office/drawing/2014/main" id="{36977102-1723-49F2-8813-A7DE87CB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6160" y="4087440"/>
            <a:ext cx="565200" cy="56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  <a:effectLst xmlns:a="http://schemas.openxmlformats.org/drawingml/2006/main">
            <a:outerShdw blurRad="50760" dist="19080" dir="5400000" sx="100000" sy="100000" kx="0" ky="0" algn="bl" rotWithShape="0">
              <a:srgbClr val="5D493D">
                <a:alpha val="2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99" name="Text 134">
            <a:extLst xmlns:a="http://schemas.openxmlformats.org/drawingml/2006/main">
              <a:ext uri="{FF2B5EF4-FFF2-40B4-BE49-F238E27FC236}">
                <a16:creationId xmlns:a16="http://schemas.microsoft.com/office/drawing/2014/main" id="{58FEAD2E-BD77-4F9F-977A-6B4FEC8E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6160" y="4087440"/>
            <a:ext cx="565200" cy="5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權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0" name="Text 135">
            <a:extLst xmlns:a="http://schemas.openxmlformats.org/drawingml/2006/main">
              <a:ext uri="{FF2B5EF4-FFF2-40B4-BE49-F238E27FC236}">
                <a16:creationId xmlns:a16="http://schemas.microsoft.com/office/drawing/2014/main" id="{C723CA16-E352-42EF-83AE-D8196FC6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920" y="4791600"/>
            <a:ext cx="1938960" cy="31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Access / LINE / Jobs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1" name="Text 136">
            <a:extLst xmlns:a="http://schemas.openxmlformats.org/drawingml/2006/main">
              <a:ext uri="{FF2B5EF4-FFF2-40B4-BE49-F238E27FC236}">
                <a16:creationId xmlns:a16="http://schemas.microsoft.com/office/drawing/2014/main" id="{C8D40D6B-3465-452E-B751-2C259649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7280" y="5102280"/>
            <a:ext cx="1902600" cy="72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管理權限、全通路、背景排程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2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2B53E1F9-7B36-4F44-8509-58BAF035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3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B4EDF64F-74B4-4CDD-B8ED-CCB26091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444522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3" name="Shape 63">
            <a:extLst xmlns:a="http://schemas.openxmlformats.org/drawingml/2006/main">
              <a:ext uri="{FF2B5EF4-FFF2-40B4-BE49-F238E27FC236}">
                <a16:creationId xmlns:a16="http://schemas.microsoft.com/office/drawing/2014/main" id="{045B07C7-4D43-4371-8395-E21DA7D6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2375640" cy="345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04" name="Text 89">
            <a:extLst xmlns:a="http://schemas.openxmlformats.org/drawingml/2006/main">
              <a:ext uri="{FF2B5EF4-FFF2-40B4-BE49-F238E27FC236}">
                <a16:creationId xmlns:a16="http://schemas.microsoft.com/office/drawing/2014/main" id="{CE4CEF08-FAF4-4848-BE4A-33482B5A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自動偵測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5" name="Text 90">
            <a:extLst xmlns:a="http://schemas.openxmlformats.org/drawingml/2006/main">
              <a:ext uri="{FF2B5EF4-FFF2-40B4-BE49-F238E27FC236}">
                <a16:creationId xmlns:a16="http://schemas.microsoft.com/office/drawing/2014/main" id="{4CB7F312-E7CF-47EE-B668-BA0951A1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14400"/>
            <a:ext cx="11062440" cy="63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異常自動偵測系統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6" name="Shape 64">
            <a:extLst xmlns:a="http://schemas.openxmlformats.org/drawingml/2006/main">
              <a:ext uri="{FF2B5EF4-FFF2-40B4-BE49-F238E27FC236}">
                <a16:creationId xmlns:a16="http://schemas.microsoft.com/office/drawing/2014/main" id="{F4CC7222-0777-4E39-94FC-2D95AA85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3290040" cy="415872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5D49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07" name="Text 91">
            <a:extLst xmlns:a="http://schemas.openxmlformats.org/drawingml/2006/main">
              <a:ext uri="{FF2B5EF4-FFF2-40B4-BE49-F238E27FC236}">
                <a16:creationId xmlns:a16="http://schemas.microsoft.com/office/drawing/2014/main" id="{2800F847-726D-4A76-8014-21C47B55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0"/>
            <a:ext cx="3290040" cy="118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0" b="1" u="none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  <a:endParaRPr sz="7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8" name="Text 92">
            <a:extLst xmlns:a="http://schemas.openxmlformats.org/drawingml/2006/main">
              <a:ext uri="{FF2B5EF4-FFF2-40B4-BE49-F238E27FC236}">
                <a16:creationId xmlns:a16="http://schemas.microsoft.com/office/drawing/2014/main" id="{AB9D807C-D80B-418E-B2DD-1AD16834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29000"/>
            <a:ext cx="3290040" cy="36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種異常自動偵測類型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9" name="Shape 65">
            <a:extLst xmlns:a="http://schemas.openxmlformats.org/drawingml/2006/main">
              <a:ext uri="{FF2B5EF4-FFF2-40B4-BE49-F238E27FC236}">
                <a16:creationId xmlns:a16="http://schemas.microsoft.com/office/drawing/2014/main" id="{7762790D-3C20-4125-A9E2-A200074F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931920"/>
            <a:ext cx="1828800" cy="3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A66C4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10" name="Text 93">
            <a:extLst xmlns:a="http://schemas.openxmlformats.org/drawingml/2006/main">
              <a:ext uri="{FF2B5EF4-FFF2-40B4-BE49-F238E27FC236}">
                <a16:creationId xmlns:a16="http://schemas.microsoft.com/office/drawing/2014/main" id="{FFE927E4-3CA1-439D-BBBC-CE3CA2C4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60520"/>
            <a:ext cx="2741400" cy="72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3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D8C2AE"/>
                </a:solidFill>
                <a:latin typeface="Microsoft JhengHei"/>
                <a:ea typeface="Microsoft JhengHei"/>
                <a:cs typeface="Microsoft JhengHei"/>
              </a:rPr>
              <a:t>背景系統每 </a:t>
            </a:r>
            <a:r>
              <a:rPr sz="1430" b="0" u="none">
                <a:solidFill>
                  <a:srgbClr val="D8C2AE"/>
                </a:solidFill>
                <a:latin typeface="Microsoft JhengHei"/>
                <a:ea typeface="Microsoft JhengHei"/>
                <a:cs typeface="Microsoft JhengHei"/>
              </a:rPr>
              <a:t>60 </a:t>
            </a:r>
            <a:r>
              <a:rPr sz="1430" b="0" u="none">
                <a:solidFill>
                  <a:srgbClr val="D8C2AE"/>
                </a:solidFill>
                <a:latin typeface="Microsoft JhengHei"/>
                <a:ea typeface="Microsoft JhengHei"/>
                <a:cs typeface="Microsoft JhengHei"/>
              </a:rPr>
              <a:t>秒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3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D8C2AE"/>
                </a:solidFill>
                <a:latin typeface="Microsoft JhengHei"/>
                <a:ea typeface="Microsoft JhengHei"/>
                <a:cs typeface="Microsoft JhengHei"/>
              </a:rPr>
              <a:t>重新掃描一次全庫現況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1" name="Text 94">
            <a:extLst xmlns:a="http://schemas.openxmlformats.org/drawingml/2006/main">
              <a:ext uri="{FF2B5EF4-FFF2-40B4-BE49-F238E27FC236}">
                <a16:creationId xmlns:a16="http://schemas.microsoft.com/office/drawing/2014/main" id="{911D95BC-C83D-4CA1-BC3C-16CD9779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12080"/>
            <a:ext cx="2741400" cy="63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D8C2AE"/>
                </a:solidFill>
                <a:latin typeface="Microsoft JhengHei"/>
                <a:ea typeface="Microsoft JhengHei"/>
                <a:cs typeface="Microsoft JhengHei"/>
              </a:rPr>
              <a:t>涵蓋 </a:t>
            </a:r>
            <a:r>
              <a:rPr sz="1430" b="0" u="none">
                <a:solidFill>
                  <a:srgbClr val="D8C2AE"/>
                </a:solidFill>
                <a:latin typeface="Microsoft JhengHei"/>
                <a:ea typeface="Microsoft JhengHei"/>
                <a:cs typeface="Microsoft JhengHei"/>
              </a:rPr>
              <a:t>7 </a:t>
            </a:r>
            <a:r>
              <a:rPr sz="1430" b="0" u="none">
                <a:solidFill>
                  <a:srgbClr val="D8C2AE"/>
                </a:solidFill>
                <a:latin typeface="Microsoft JhengHei"/>
                <a:ea typeface="Microsoft JhengHei"/>
                <a:cs typeface="Microsoft JhengHei"/>
              </a:rPr>
              <a:t>大類別：訂單媒合、資料匯入、排班衝突、帳務提醒、政府補助、月嫂應付款、</a:t>
            </a:r>
            <a:r>
              <a:rPr sz="1430" b="0" u="none">
                <a:solidFill>
                  <a:srgbClr val="D8C2AE"/>
                </a:solidFill>
                <a:latin typeface="Microsoft JhengHei"/>
                <a:ea typeface="Microsoft JhengHei"/>
                <a:cs typeface="Microsoft JhengHei"/>
              </a:rPr>
              <a:t>LINE </a:t>
            </a:r>
            <a:r>
              <a:rPr sz="1430" b="0" u="none">
                <a:solidFill>
                  <a:srgbClr val="D8C2AE"/>
                </a:solidFill>
                <a:latin typeface="Microsoft JhengHei"/>
                <a:ea typeface="Microsoft JhengHei"/>
                <a:cs typeface="Microsoft JhengHei"/>
              </a:rPr>
              <a:t>整合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2" name="Text 95">
            <a:extLst xmlns:a="http://schemas.openxmlformats.org/drawingml/2006/main">
              <a:ext uri="{FF2B5EF4-FFF2-40B4-BE49-F238E27FC236}">
                <a16:creationId xmlns:a16="http://schemas.microsoft.com/office/drawing/2014/main" id="{032DEEDF-6AC2-4151-AECA-8100CB8F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828800"/>
            <a:ext cx="2101320" cy="51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訂單媒合流程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3" name="Shape 66">
            <a:extLst xmlns:a="http://schemas.openxmlformats.org/drawingml/2006/main">
              <a:ext uri="{FF2B5EF4-FFF2-40B4-BE49-F238E27FC236}">
                <a16:creationId xmlns:a16="http://schemas.microsoft.com/office/drawing/2014/main" id="{19BD6DC6-DF0A-4EC3-9EF4-A4A4EBD1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938600"/>
            <a:ext cx="4204440" cy="29088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14" name="Shape 67">
            <a:extLst xmlns:a="http://schemas.openxmlformats.org/drawingml/2006/main">
              <a:ext uri="{FF2B5EF4-FFF2-40B4-BE49-F238E27FC236}">
                <a16:creationId xmlns:a16="http://schemas.microsoft.com/office/drawing/2014/main" id="{78C9C1D7-D3A4-4FCC-ACFA-35C599A1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938600"/>
            <a:ext cx="2101320" cy="29088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15" name="Text 96">
            <a:extLst xmlns:a="http://schemas.openxmlformats.org/drawingml/2006/main">
              <a:ext uri="{FF2B5EF4-FFF2-40B4-BE49-F238E27FC236}">
                <a16:creationId xmlns:a16="http://schemas.microsoft.com/office/drawing/2014/main" id="{85308E0C-237B-4EC7-A7B1-50A66D03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1828800"/>
            <a:ext cx="455400" cy="51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4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6" name="Text 97">
            <a:extLst xmlns:a="http://schemas.openxmlformats.org/drawingml/2006/main">
              <a:ext uri="{FF2B5EF4-FFF2-40B4-BE49-F238E27FC236}">
                <a16:creationId xmlns:a16="http://schemas.microsoft.com/office/drawing/2014/main" id="{F3969319-EBCA-415E-BC2A-7294C2CE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414160"/>
            <a:ext cx="2101320" cy="51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資料匯入驗證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7" name="Shape 68">
            <a:extLst xmlns:a="http://schemas.openxmlformats.org/drawingml/2006/main">
              <a:ext uri="{FF2B5EF4-FFF2-40B4-BE49-F238E27FC236}">
                <a16:creationId xmlns:a16="http://schemas.microsoft.com/office/drawing/2014/main" id="{C991DB64-F8C6-40FF-993C-9F237819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523600"/>
            <a:ext cx="4204440" cy="29088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18" name="Shape 69">
            <a:extLst xmlns:a="http://schemas.openxmlformats.org/drawingml/2006/main">
              <a:ext uri="{FF2B5EF4-FFF2-40B4-BE49-F238E27FC236}">
                <a16:creationId xmlns:a16="http://schemas.microsoft.com/office/drawing/2014/main" id="{F5DE8E44-D165-499B-95D4-AFA6D894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523600"/>
            <a:ext cx="2101320" cy="29088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19" name="Text 98">
            <a:extLst xmlns:a="http://schemas.openxmlformats.org/drawingml/2006/main">
              <a:ext uri="{FF2B5EF4-FFF2-40B4-BE49-F238E27FC236}">
                <a16:creationId xmlns:a16="http://schemas.microsoft.com/office/drawing/2014/main" id="{33C1B736-EF09-49B6-A869-1FE4166B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414160"/>
            <a:ext cx="455400" cy="51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4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0" name="Text 99">
            <a:extLst xmlns:a="http://schemas.openxmlformats.org/drawingml/2006/main">
              <a:ext uri="{FF2B5EF4-FFF2-40B4-BE49-F238E27FC236}">
                <a16:creationId xmlns:a16="http://schemas.microsoft.com/office/drawing/2014/main" id="{2543265B-7413-4D0F-A8B0-D83F69CD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999160"/>
            <a:ext cx="2101320" cy="51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排班衝突偵測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1" name="Shape 70">
            <a:extLst xmlns:a="http://schemas.openxmlformats.org/drawingml/2006/main">
              <a:ext uri="{FF2B5EF4-FFF2-40B4-BE49-F238E27FC236}">
                <a16:creationId xmlns:a16="http://schemas.microsoft.com/office/drawing/2014/main" id="{FACC12D6-4CEA-4811-9B10-4D343CD1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108960"/>
            <a:ext cx="4204440" cy="29088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22" name="Shape 71">
            <a:extLst xmlns:a="http://schemas.openxmlformats.org/drawingml/2006/main">
              <a:ext uri="{FF2B5EF4-FFF2-40B4-BE49-F238E27FC236}">
                <a16:creationId xmlns:a16="http://schemas.microsoft.com/office/drawing/2014/main" id="{12917680-B56E-4935-A219-20CD38B0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108960"/>
            <a:ext cx="2627280" cy="29088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23" name="Text 100">
            <a:extLst xmlns:a="http://schemas.openxmlformats.org/drawingml/2006/main">
              <a:ext uri="{FF2B5EF4-FFF2-40B4-BE49-F238E27FC236}">
                <a16:creationId xmlns:a16="http://schemas.microsoft.com/office/drawing/2014/main" id="{CD8402E8-A1CE-4B5C-A42F-2EF13D42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999160"/>
            <a:ext cx="455400" cy="51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5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4" name="Text 101">
            <a:extLst xmlns:a="http://schemas.openxmlformats.org/drawingml/2006/main">
              <a:ext uri="{FF2B5EF4-FFF2-40B4-BE49-F238E27FC236}">
                <a16:creationId xmlns:a16="http://schemas.microsoft.com/office/drawing/2014/main" id="{2BE673FE-A1BA-42D2-BCF2-7E226E2A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584520"/>
            <a:ext cx="2101320" cy="51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帳務與流程提醒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5" name="Shape 72">
            <a:extLst xmlns:a="http://schemas.openxmlformats.org/drawingml/2006/main">
              <a:ext uri="{FF2B5EF4-FFF2-40B4-BE49-F238E27FC236}">
                <a16:creationId xmlns:a16="http://schemas.microsoft.com/office/drawing/2014/main" id="{1DC00A59-90FA-4A2C-8361-2FBAD2AB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694320"/>
            <a:ext cx="4204440" cy="29088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26" name="Shape 73">
            <a:extLst xmlns:a="http://schemas.openxmlformats.org/drawingml/2006/main">
              <a:ext uri="{FF2B5EF4-FFF2-40B4-BE49-F238E27FC236}">
                <a16:creationId xmlns:a16="http://schemas.microsoft.com/office/drawing/2014/main" id="{9DC0A709-0A93-435D-9084-D438057E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694320"/>
            <a:ext cx="4204440" cy="29088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27" name="Text 102">
            <a:extLst xmlns:a="http://schemas.openxmlformats.org/drawingml/2006/main">
              <a:ext uri="{FF2B5EF4-FFF2-40B4-BE49-F238E27FC236}">
                <a16:creationId xmlns:a16="http://schemas.microsoft.com/office/drawing/2014/main" id="{96558CC2-545C-4EDE-8956-FD01B309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3584520"/>
            <a:ext cx="455400" cy="51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8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8" name="Text 103">
            <a:extLst xmlns:a="http://schemas.openxmlformats.org/drawingml/2006/main">
              <a:ext uri="{FF2B5EF4-FFF2-40B4-BE49-F238E27FC236}">
                <a16:creationId xmlns:a16="http://schemas.microsoft.com/office/drawing/2014/main" id="{70D027FF-76DF-4E96-979B-4B9D026B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4169520"/>
            <a:ext cx="2101320" cy="51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政府補助對帳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9" name="Shape 74">
            <a:extLst xmlns:a="http://schemas.openxmlformats.org/drawingml/2006/main">
              <a:ext uri="{FF2B5EF4-FFF2-40B4-BE49-F238E27FC236}">
                <a16:creationId xmlns:a16="http://schemas.microsoft.com/office/drawing/2014/main" id="{EBFBD0FF-84EB-4FBB-8C3D-F18769F2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279320"/>
            <a:ext cx="4204440" cy="29088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30" name="Shape 75">
            <a:extLst xmlns:a="http://schemas.openxmlformats.org/drawingml/2006/main">
              <a:ext uri="{FF2B5EF4-FFF2-40B4-BE49-F238E27FC236}">
                <a16:creationId xmlns:a16="http://schemas.microsoft.com/office/drawing/2014/main" id="{62FD9F05-BD81-4CD3-B990-519B89D9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279320"/>
            <a:ext cx="2627280" cy="29088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31" name="Text 104">
            <a:extLst xmlns:a="http://schemas.openxmlformats.org/drawingml/2006/main">
              <a:ext uri="{FF2B5EF4-FFF2-40B4-BE49-F238E27FC236}">
                <a16:creationId xmlns:a16="http://schemas.microsoft.com/office/drawing/2014/main" id="{35E018AF-3C67-4F15-B476-6468780A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4169520"/>
            <a:ext cx="455400" cy="51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5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2" name="Text 105">
            <a:extLst xmlns:a="http://schemas.openxmlformats.org/drawingml/2006/main">
              <a:ext uri="{FF2B5EF4-FFF2-40B4-BE49-F238E27FC236}">
                <a16:creationId xmlns:a16="http://schemas.microsoft.com/office/drawing/2014/main" id="{7675A889-5FA5-46D7-965E-83F1806C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4754880"/>
            <a:ext cx="2101320" cy="51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月嫂應付款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3" name="Shape 76">
            <a:extLst xmlns:a="http://schemas.openxmlformats.org/drawingml/2006/main">
              <a:ext uri="{FF2B5EF4-FFF2-40B4-BE49-F238E27FC236}">
                <a16:creationId xmlns:a16="http://schemas.microsoft.com/office/drawing/2014/main" id="{4654BB42-F7A1-4F6C-AC2E-D5BAD2D0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864680"/>
            <a:ext cx="4204440" cy="29088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34" name="Shape 77">
            <a:extLst xmlns:a="http://schemas.openxmlformats.org/drawingml/2006/main">
              <a:ext uri="{FF2B5EF4-FFF2-40B4-BE49-F238E27FC236}">
                <a16:creationId xmlns:a16="http://schemas.microsoft.com/office/drawing/2014/main" id="{23076CC3-3D6C-44A5-8866-BAB90B9E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864680"/>
            <a:ext cx="1575720" cy="29088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35" name="Text 106">
            <a:extLst xmlns:a="http://schemas.openxmlformats.org/drawingml/2006/main">
              <a:ext uri="{FF2B5EF4-FFF2-40B4-BE49-F238E27FC236}">
                <a16:creationId xmlns:a16="http://schemas.microsoft.com/office/drawing/2014/main" id="{62CB4C71-5647-41D6-AEAB-AC601625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4754880"/>
            <a:ext cx="455400" cy="51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6" name="Text 107">
            <a:extLst xmlns:a="http://schemas.openxmlformats.org/drawingml/2006/main">
              <a:ext uri="{FF2B5EF4-FFF2-40B4-BE49-F238E27FC236}">
                <a16:creationId xmlns:a16="http://schemas.microsoft.com/office/drawing/2014/main" id="{9023919D-6CE3-4B7B-87D6-346FA43F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5340240"/>
            <a:ext cx="2101320" cy="51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LINE </a:t>
            </a:r>
            <a:r>
              <a:rPr sz="143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整合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7" name="Shape 88">
            <a:extLst xmlns:a="http://schemas.openxmlformats.org/drawingml/2006/main">
              <a:ext uri="{FF2B5EF4-FFF2-40B4-BE49-F238E27FC236}">
                <a16:creationId xmlns:a16="http://schemas.microsoft.com/office/drawing/2014/main" id="{485C09A5-3336-428C-AAFF-E52D34A6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449680"/>
            <a:ext cx="4204440" cy="29088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38" name="Shape 89">
            <a:extLst xmlns:a="http://schemas.openxmlformats.org/drawingml/2006/main">
              <a:ext uri="{FF2B5EF4-FFF2-40B4-BE49-F238E27FC236}">
                <a16:creationId xmlns:a16="http://schemas.microsoft.com/office/drawing/2014/main" id="{54D3962A-CAD8-4E26-AD1A-34177874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449680"/>
            <a:ext cx="2101320" cy="29088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A66C4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39" name="Text 108">
            <a:extLst xmlns:a="http://schemas.openxmlformats.org/drawingml/2006/main">
              <a:ext uri="{FF2B5EF4-FFF2-40B4-BE49-F238E27FC236}">
                <a16:creationId xmlns:a16="http://schemas.microsoft.com/office/drawing/2014/main" id="{3E1EEC37-B71D-4597-A279-E6D286FC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5340240"/>
            <a:ext cx="455400" cy="51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4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1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05B5EC54-ECAC-47F0-A730-F549A206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2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DC1F78C3-52F1-4CF2-8339-ACAFCCE1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582495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2" name="Shape 86">
            <a:extLst xmlns:a="http://schemas.openxmlformats.org/drawingml/2006/main">
              <a:ext uri="{FF2B5EF4-FFF2-40B4-BE49-F238E27FC236}">
                <a16:creationId xmlns:a16="http://schemas.microsoft.com/office/drawing/2014/main" id="{7E028AAC-148D-466F-A8F1-C0A78B9B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2375640" cy="345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43" name="Text 110">
            <a:extLst xmlns:a="http://schemas.openxmlformats.org/drawingml/2006/main">
              <a:ext uri="{FF2B5EF4-FFF2-40B4-BE49-F238E27FC236}">
                <a16:creationId xmlns:a16="http://schemas.microsoft.com/office/drawing/2014/main" id="{F0E5E903-5B33-4902-9644-C746B375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實機畫面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4" name="Text 111">
            <a:extLst xmlns:a="http://schemas.openxmlformats.org/drawingml/2006/main">
              <a:ext uri="{FF2B5EF4-FFF2-40B4-BE49-F238E27FC236}">
                <a16:creationId xmlns:a16="http://schemas.microsoft.com/office/drawing/2014/main" id="{BF042D68-6507-425F-BFF0-93022A12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14400"/>
            <a:ext cx="11062440" cy="63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系統實際運作畫面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5" name="Shape 87">
            <a:extLst xmlns:a="http://schemas.openxmlformats.org/drawingml/2006/main">
              <a:ext uri="{FF2B5EF4-FFF2-40B4-BE49-F238E27FC236}">
                <a16:creationId xmlns:a16="http://schemas.microsoft.com/office/drawing/2014/main" id="{BCB96C31-BDFB-445A-8A0D-2FDEADFC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530320" cy="4158720"/>
          </a:xfrm>
          <a:prstGeom xmlns:a="http://schemas.openxmlformats.org/drawingml/2006/main" prst="roundRect">
            <a:avLst>
              <a:gd name="adj" fmla="val 1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0D3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6F7069">
                <a:alpha val="2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660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920fffaed42a0"/>
          <a:stretch xmlns:a="http://schemas.openxmlformats.org/drawingml/2006/main"/>
        </p:blipFill>
        <p:spPr>
          <a:xfrm xmlns:a="http://schemas.openxmlformats.org/drawingml/2006/main">
            <a:off x="685800" y="1920240"/>
            <a:ext cx="5256000" cy="35643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47" name="Text 112">
            <a:extLst xmlns:a="http://schemas.openxmlformats.org/drawingml/2006/main">
              <a:ext uri="{FF2B5EF4-FFF2-40B4-BE49-F238E27FC236}">
                <a16:creationId xmlns:a16="http://schemas.microsoft.com/office/drawing/2014/main" id="{A754E164-BE08-4902-BEB4-5372CE7A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2120"/>
            <a:ext cx="5256000" cy="31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異常警示中心｜服務人員排班衝突自動列出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8" name="Shape 91">
            <a:extLst xmlns:a="http://schemas.openxmlformats.org/drawingml/2006/main">
              <a:ext uri="{FF2B5EF4-FFF2-40B4-BE49-F238E27FC236}">
                <a16:creationId xmlns:a16="http://schemas.microsoft.com/office/drawing/2014/main" id="{70ADA32D-0FC6-4F49-B072-BA41CDDB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83080"/>
            <a:ext cx="5530320" cy="4158720"/>
          </a:xfrm>
          <a:prstGeom xmlns:a="http://schemas.openxmlformats.org/drawingml/2006/main" prst="roundRect">
            <a:avLst>
              <a:gd name="adj" fmla="val 1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0D3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6F7069">
                <a:alpha val="2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663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af33e105b4fcf"/>
          <a:stretch xmlns:a="http://schemas.openxmlformats.org/drawingml/2006/main"/>
        </p:blipFill>
        <p:spPr>
          <a:xfrm xmlns:a="http://schemas.openxmlformats.org/drawingml/2006/main">
            <a:off x="6400800" y="1920240"/>
            <a:ext cx="5256000" cy="35643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50" name="Text 113">
            <a:extLst xmlns:a="http://schemas.openxmlformats.org/drawingml/2006/main">
              <a:ext uri="{FF2B5EF4-FFF2-40B4-BE49-F238E27FC236}">
                <a16:creationId xmlns:a16="http://schemas.microsoft.com/office/drawing/2014/main" id="{71064E75-997C-474A-BE36-D365252A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32120"/>
            <a:ext cx="5256000" cy="31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多月嫂排班｜服務人員動態檔期月曆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2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1359DFB2-9FC8-4545-A249-31738C6E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5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F306D9A4-61AD-456C-BEBC-13C2E0AF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21710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3" name="Shape 90">
            <a:extLst xmlns:a="http://schemas.openxmlformats.org/drawingml/2006/main">
              <a:ext uri="{FF2B5EF4-FFF2-40B4-BE49-F238E27FC236}">
                <a16:creationId xmlns:a16="http://schemas.microsoft.com/office/drawing/2014/main" id="{F09A52C4-C5C3-4D8C-99AD-1505F5DE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-1463040"/>
            <a:ext cx="5941800" cy="5941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>
              <a:alpha val="12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54" name="Shape 92">
            <a:extLst xmlns:a="http://schemas.openxmlformats.org/drawingml/2006/main">
              <a:ext uri="{FF2B5EF4-FFF2-40B4-BE49-F238E27FC236}">
                <a16:creationId xmlns:a16="http://schemas.microsoft.com/office/drawing/2014/main" id="{6D8AE477-DC9E-4C16-98EB-600D45B8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4114800"/>
            <a:ext cx="4570200" cy="457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>
              <a:alpha val="8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55" name="Shape 93">
            <a:extLst xmlns:a="http://schemas.openxmlformats.org/drawingml/2006/main">
              <a:ext uri="{FF2B5EF4-FFF2-40B4-BE49-F238E27FC236}">
                <a16:creationId xmlns:a16="http://schemas.microsoft.com/office/drawing/2014/main" id="{B492C89D-4316-4AE4-9CDA-FC82E707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2649960" cy="382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56" name="Text 115">
            <a:extLst xmlns:a="http://schemas.openxmlformats.org/drawingml/2006/main">
              <a:ext uri="{FF2B5EF4-FFF2-40B4-BE49-F238E27FC236}">
                <a16:creationId xmlns:a16="http://schemas.microsoft.com/office/drawing/2014/main" id="{7365E99E-529E-4B7A-BCD2-C3E8A31F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line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管理後台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7" name="Text 116">
            <a:extLst xmlns:a="http://schemas.openxmlformats.org/drawingml/2006/main">
              <a:ext uri="{FF2B5EF4-FFF2-40B4-BE49-F238E27FC236}">
                <a16:creationId xmlns:a16="http://schemas.microsoft.com/office/drawing/2014/main" id="{0D19DB86-1F21-4166-91D2-E818485A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10239480" cy="173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8" name="Text 117">
            <a:extLst xmlns:a="http://schemas.openxmlformats.org/drawingml/2006/main">
              <a:ext uri="{FF2B5EF4-FFF2-40B4-BE49-F238E27FC236}">
                <a16:creationId xmlns:a16="http://schemas.microsoft.com/office/drawing/2014/main" id="{D7A10F67-B983-461B-9E1B-9967CF8F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959940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從人工作業到自動化治理系統的建置歷程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9" name="Shape 94">
            <a:extLst xmlns:a="http://schemas.openxmlformats.org/drawingml/2006/main">
              <a:ext uri="{FF2B5EF4-FFF2-40B4-BE49-F238E27FC236}">
                <a16:creationId xmlns:a16="http://schemas.microsoft.com/office/drawing/2014/main" id="{45C3201A-9E74-4CBA-A16D-3D001077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34840"/>
            <a:ext cx="29260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A66C4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60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2C97A5B7-E238-4958-84B2-407D8850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1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DADD77B0-88E8-45FD-BC89-BE1FAF9A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563493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29DE2C60-40CD-4B2F-BA36-14B42415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LINE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客服由人工追問轉為可追蹤流程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1D798E38-168F-4DF5-9250-EF10322D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1819440"/>
            <a:ext cx="131400" cy="131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5880" tIns="45000" rIns="6588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7E836FD3-795D-49EF-BF70-8A2E880D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1752480"/>
            <a:ext cx="5484600" cy="98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Before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｜訊息分散，身分與案件需人工核對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6179B11D-BF82-45A8-8F11-20BD54F1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2994120"/>
            <a:ext cx="131400" cy="131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5880" tIns="45000" rIns="6588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50BBEAFD-21CD-457C-9161-2DFD3BC6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2927520"/>
            <a:ext cx="5484600" cy="98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After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｜身分綁定、待審與通知集中處理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EAEB1A58-B27F-4411-B157-5ACBDB5A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4168800"/>
            <a:ext cx="131400" cy="131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5880" tIns="45000" rIns="6588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5CDF488E-8CF8-404A-886D-E83EB980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4102200"/>
            <a:ext cx="5484600" cy="98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邊界｜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LINE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不直接改寫訂單、排班或帳務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3F996665-8839-4F35-A2A4-360DF7E4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680" y="1762200"/>
            <a:ext cx="3713040" cy="3379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C892F3D2-2BA0-4A62-BBD9-7B5EA22B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480" y="2523960"/>
            <a:ext cx="2665080" cy="180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5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入口保持熟悉，交接開始留下證據。</a:t>
            </a:r>
            <a:endParaRPr sz="2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1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06435877-BC27-48D1-8594-24EB03C9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2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7460D074-9287-4E49-9373-93DBE29E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982103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6AA55B6C-2C21-4260-9F43-56CF925E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LINE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入口把使用者先分流再收資料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86F2E687-23AA-44D1-83B7-B9226672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1819440"/>
            <a:ext cx="132120" cy="13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240" tIns="45000" rIns="6624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1AEFFA43-D2CA-4BD4-A4DD-AE884342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1752480"/>
            <a:ext cx="5485320" cy="9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入口分成已登記服務與新客戶，避免既有資料被重複建立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D4D1B73B-7BE4-4AF7-95AD-9EBB93AC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2994120"/>
            <a:ext cx="132120" cy="13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240" tIns="45000" rIns="6624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07EDF3B2-4F50-440C-83A7-0F60B6D2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2927520"/>
            <a:ext cx="5485320" cy="9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LIFF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表單負責收集姓名、手機、地址、日期與服務天數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8" name="">
            <a:extLst xmlns:a="http://schemas.openxmlformats.org/drawingml/2006/main">
              <a:ext uri="{FF2B5EF4-FFF2-40B4-BE49-F238E27FC236}">
                <a16:creationId xmlns:a16="http://schemas.microsoft.com/office/drawing/2014/main" id="{4CF34102-8C1A-4240-98D6-FD58CACF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4168800"/>
            <a:ext cx="132120" cy="13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240" tIns="45000" rIns="6624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37F31B7F-5573-4247-876B-3BE091AC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4102200"/>
            <a:ext cx="5485320" cy="9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API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先檢查格式與資格，通過後才寫入正式資料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A61945DD-2BE2-4A55-9D0B-B7D75856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680" y="1762200"/>
            <a:ext cx="3713760" cy="338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1" name="">
            <a:extLst xmlns:a="http://schemas.openxmlformats.org/drawingml/2006/main">
              <a:ext uri="{FF2B5EF4-FFF2-40B4-BE49-F238E27FC236}">
                <a16:creationId xmlns:a16="http://schemas.microsoft.com/office/drawing/2014/main" id="{683D8C29-96B5-488B-B1AD-23704A95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480" y="2523960"/>
            <a:ext cx="2665800" cy="180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5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LINE </a:t>
            </a:r>
            <a:r>
              <a:rPr sz="285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負責方便，資料正確性由 </a:t>
            </a:r>
            <a:r>
              <a:rPr sz="285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LIFF </a:t>
            </a:r>
            <a:r>
              <a:rPr sz="285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與 </a:t>
            </a:r>
            <a:r>
              <a:rPr sz="285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API </a:t>
            </a:r>
            <a:r>
              <a:rPr sz="285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接手。</a:t>
            </a:r>
            <a:endParaRPr sz="2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2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3DDB0D48-17B1-4FD6-A97F-0E3686E0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3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036730B7-C785-4DCC-9D91-72BA3B4A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387372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47190287-BC08-4EB8-AE3C-5F1FDDF7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已登記服務以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LINE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綁定既有紀錄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2269378E-3D2E-46AC-90FB-4F6E9E35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1819440"/>
            <a:ext cx="132120" cy="13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240" tIns="45000" rIns="6624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EDDBCD0D-90A7-43CC-9351-A25267C6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1752480"/>
            <a:ext cx="5485320" cy="9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客戶輸入姓名與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09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開頭手機，系統比對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clients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既有資料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7" name="">
            <a:extLst xmlns:a="http://schemas.openxmlformats.org/drawingml/2006/main">
              <a:ext uri="{FF2B5EF4-FFF2-40B4-BE49-F238E27FC236}">
                <a16:creationId xmlns:a16="http://schemas.microsoft.com/office/drawing/2014/main" id="{923D0865-5CCF-4F56-A092-AB152EE3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2994120"/>
            <a:ext cx="132120" cy="13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240" tIns="45000" rIns="6624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71F9FB7F-8AA9-4D1A-BD92-5AA15E67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2927520"/>
            <a:ext cx="5485320" cy="9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找到既有服務登記後，才把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LINE userId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綁到該客戶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AE700D9E-50D2-48EB-B11B-D342BD70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4168800"/>
            <a:ext cx="132120" cy="13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240" tIns="45000" rIns="6624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0" name="">
            <a:extLst xmlns:a="http://schemas.openxmlformats.org/drawingml/2006/main">
              <a:ext uri="{FF2B5EF4-FFF2-40B4-BE49-F238E27FC236}">
                <a16:creationId xmlns:a16="http://schemas.microsoft.com/office/drawing/2014/main" id="{1AAB114A-9AC0-4FCD-B718-5AB253C4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4102200"/>
            <a:ext cx="5485320" cy="9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查不到就阻擋綁定，提示改走新客戶登記表單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0141FE0C-5D34-4977-9E66-8F3FD736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680" y="1762200"/>
            <a:ext cx="3713760" cy="338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D1F69FCF-FE50-47AC-BCCE-E4C4800C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480" y="2523960"/>
            <a:ext cx="2665800" cy="180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5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綁定不是重填表，而是把熟悉入口接到既有資料。</a:t>
            </a:r>
            <a:endParaRPr sz="2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3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F8FD0BE6-67E5-433D-9695-AE7E07B0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4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E0396A6A-E15B-4CD7-9D9C-75F3A078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1066314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1B599740-FADF-4216-A62B-C424DBEC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新客戶登記先擋錯，再建立案件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6" name="">
            <a:extLst xmlns:a="http://schemas.openxmlformats.org/drawingml/2006/main">
              <a:ext uri="{FF2B5EF4-FFF2-40B4-BE49-F238E27FC236}">
                <a16:creationId xmlns:a16="http://schemas.microsoft.com/office/drawing/2014/main" id="{5D141BC8-CBFA-4E28-95D0-C777D432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1819440"/>
            <a:ext cx="132120" cy="13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240" tIns="45000" rIns="6624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5B6F9A85-4F57-445E-B6F9-EDF54D78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1752480"/>
            <a:ext cx="5485320" cy="9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前端即時檢查手機、服務天數、退費原則與必填欄位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8" name="">
            <a:extLst xmlns:a="http://schemas.openxmlformats.org/drawingml/2006/main">
              <a:ext uri="{FF2B5EF4-FFF2-40B4-BE49-F238E27FC236}">
                <a16:creationId xmlns:a16="http://schemas.microsoft.com/office/drawing/2014/main" id="{05687181-C773-42E7-B6D4-2CB61CEC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2994120"/>
            <a:ext cx="132120" cy="13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240" tIns="45000" rIns="6624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9" name="">
            <a:extLst xmlns:a="http://schemas.openxmlformats.org/drawingml/2006/main">
              <a:ext uri="{FF2B5EF4-FFF2-40B4-BE49-F238E27FC236}">
                <a16:creationId xmlns:a16="http://schemas.microsoft.com/office/drawing/2014/main" id="{0BB9E02C-5D66-428C-B86C-2A3F1B61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2927520"/>
            <a:ext cx="5485320" cy="9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後端再檢查一次，避免繞過網頁送入不合理資料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0" name="">
            <a:extLst xmlns:a="http://schemas.openxmlformats.org/drawingml/2006/main">
              <a:ext uri="{FF2B5EF4-FFF2-40B4-BE49-F238E27FC236}">
                <a16:creationId xmlns:a16="http://schemas.microsoft.com/office/drawing/2014/main" id="{59696B96-A265-40A8-A5B6-1C0D89BA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4168800"/>
            <a:ext cx="132120" cy="13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240" tIns="45000" rIns="6624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7538FDA5-8AB8-429E-99EE-AA9E48CE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4102200"/>
            <a:ext cx="5485320" cy="9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通過後才建立客戶、訂單與表單紀錄，成為可追蹤案件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2" name="">
            <a:extLst xmlns:a="http://schemas.openxmlformats.org/drawingml/2006/main">
              <a:ext uri="{FF2B5EF4-FFF2-40B4-BE49-F238E27FC236}">
                <a16:creationId xmlns:a16="http://schemas.microsoft.com/office/drawing/2014/main" id="{2B6D9B19-7D9D-4867-8383-F850801D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680" y="1762200"/>
            <a:ext cx="3713760" cy="338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4F89EBEA-6717-4DAC-BF96-E82C6751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480" y="2523960"/>
            <a:ext cx="2665800" cy="180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5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表單不是資料終點，而是正式案件的安全入口。</a:t>
            </a:r>
            <a:endParaRPr sz="2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4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39C3215C-EDAE-409D-A97D-81315C13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5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36B7C165-12F7-4433-9886-FF99700D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08368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5" name="">
            <a:extLst xmlns:a="http://schemas.openxmlformats.org/drawingml/2006/main">
              <a:ext uri="{FF2B5EF4-FFF2-40B4-BE49-F238E27FC236}">
                <a16:creationId xmlns:a16="http://schemas.microsoft.com/office/drawing/2014/main" id="{9FBCD4B2-4449-41B0-A4E9-9FD810D4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資料異動先暫存，審核後才套用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F9B9F95D-903B-4767-AEB9-93D3B527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1819440"/>
            <a:ext cx="132120" cy="13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240" tIns="45000" rIns="6624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8" name="">
            <a:extLst xmlns:a="http://schemas.openxmlformats.org/drawingml/2006/main">
              <a:ext uri="{FF2B5EF4-FFF2-40B4-BE49-F238E27FC236}">
                <a16:creationId xmlns:a16="http://schemas.microsoft.com/office/drawing/2014/main" id="{8976393B-A941-4BCC-897A-1C1C2D2B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1752480"/>
            <a:ext cx="5485320" cy="9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客戶可申請修改電話、地址、預產期或服務天數等資料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BEB4478D-A72A-4301-85CF-1EDAECB1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2994120"/>
            <a:ext cx="132120" cy="13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240" tIns="45000" rIns="6624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5EC494F6-6A16-4A3B-923F-97BDC410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2927520"/>
            <a:ext cx="5485320" cy="9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新內容先建立異動申請，不直接覆蓋原始紀錄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1" name="">
            <a:extLst xmlns:a="http://schemas.openxmlformats.org/drawingml/2006/main">
              <a:ext uri="{FF2B5EF4-FFF2-40B4-BE49-F238E27FC236}">
                <a16:creationId xmlns:a16="http://schemas.microsoft.com/office/drawing/2014/main" id="{1CA4159C-9FB2-4949-9762-50DCA5E1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4168800"/>
            <a:ext cx="132120" cy="13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240" tIns="45000" rIns="6624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186F5D8F-6F3C-41F9-AF2A-E408BBD5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4102200"/>
            <a:ext cx="5485320" cy="9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工會後台可同意部分項目、拒絕並填寫原因，再通知客戶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34EBA3A8-D164-4B95-BC68-7BEC0888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680" y="1762200"/>
            <a:ext cx="3713760" cy="338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4" name="">
            <a:extLst xmlns:a="http://schemas.openxmlformats.org/drawingml/2006/main">
              <a:ext uri="{FF2B5EF4-FFF2-40B4-BE49-F238E27FC236}">
                <a16:creationId xmlns:a16="http://schemas.microsoft.com/office/drawing/2014/main" id="{705FFFEF-027B-460D-AA76-0C3127AB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480" y="2523960"/>
            <a:ext cx="2665800" cy="180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5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避免誤填直接影響媒合、補助、契約與後續帳務。</a:t>
            </a:r>
            <a:endParaRPr sz="2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5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1880556D-B323-4E19-955B-93180654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6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28144199-41E3-4585-886C-BED300F3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1887141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95FC8BC5-9020-412C-9FE3-3E593053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月嫂功能先確認身分再開放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06AA0745-374E-4788-88C1-A5B95DCE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1819440"/>
            <a:ext cx="132120" cy="13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240" tIns="45000" rIns="6624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B72A5095-F55F-434B-88B0-E3CA4B49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1752480"/>
            <a:ext cx="5485320" cy="9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使用者傳送「我是月嫂」後，系統建立身分申請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0" name="">
            <a:extLst xmlns:a="http://schemas.openxmlformats.org/drawingml/2006/main">
              <a:ext uri="{FF2B5EF4-FFF2-40B4-BE49-F238E27FC236}">
                <a16:creationId xmlns:a16="http://schemas.microsoft.com/office/drawing/2014/main" id="{124BC63D-C822-4112-979D-76598213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2994120"/>
            <a:ext cx="132120" cy="13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240" tIns="45000" rIns="6624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1" name="">
            <a:extLst xmlns:a="http://schemas.openxmlformats.org/drawingml/2006/main">
              <a:ext uri="{FF2B5EF4-FFF2-40B4-BE49-F238E27FC236}">
                <a16:creationId xmlns:a16="http://schemas.microsoft.com/office/drawing/2014/main" id="{A91A4337-3271-4BDD-8BF3-0A769EB8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2927520"/>
            <a:ext cx="5485320" cy="9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工會後台確認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LINE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帳號對應哪一位月嫂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732029A6-E95D-44EC-A209-F158F66B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4168800"/>
            <a:ext cx="132120" cy="13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240" tIns="45000" rIns="6624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AA99B7B6-5261-4951-8D2A-EA58AB1A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4102200"/>
            <a:ext cx="5485320" cy="9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通過後才切換月嫂選單，開放訂單查詢與排班資訊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1B5F6B8D-8C2F-4AC0-9F42-1E0A7B10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680" y="1762200"/>
            <a:ext cx="3713760" cy="338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C03DEAFF-C0CA-41C2-9B06-279BB8EA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480" y="2523960"/>
            <a:ext cx="2665800" cy="180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5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月嫂入口牽涉案件與個資，不能只靠一句文字判定。</a:t>
            </a:r>
            <a:endParaRPr sz="2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6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124EA247-D9F0-4B8F-8493-E9564AF8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7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D0B4808A-F565-4063-8BC9-9EF4432D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344819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BB7DF4E0-7DBC-4B3A-8CD3-670E9900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後台保留人工判斷，系統負責留痕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9" name="">
            <a:extLst xmlns:a="http://schemas.openxmlformats.org/drawingml/2006/main">
              <a:ext uri="{FF2B5EF4-FFF2-40B4-BE49-F238E27FC236}">
                <a16:creationId xmlns:a16="http://schemas.microsoft.com/office/drawing/2014/main" id="{078A69BB-3F69-4211-96BD-1DFE58BB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1819440"/>
            <a:ext cx="132120" cy="13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240" tIns="45000" rIns="6624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76C520B3-FF51-46CD-809A-39C96939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1752480"/>
            <a:ext cx="5485320" cy="9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月嫂身分、客戶重新綁定、資料異動與請假代班都進入待審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19C620D0-138C-4138-BC62-2CF6FE15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2994120"/>
            <a:ext cx="132120" cy="13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240" tIns="45000" rIns="6624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2" name="">
            <a:extLst xmlns:a="http://schemas.openxmlformats.org/drawingml/2006/main">
              <a:ext uri="{FF2B5EF4-FFF2-40B4-BE49-F238E27FC236}">
                <a16:creationId xmlns:a16="http://schemas.microsoft.com/office/drawing/2014/main" id="{9F40814E-CECB-457B-AC19-C584BD93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2927520"/>
            <a:ext cx="5485320" cy="9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後台決定通過、部分通過或退回，系統同步保存理由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CBDFD64E-310C-4D9E-B8FF-630A7709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4168800"/>
            <a:ext cx="132120" cy="132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240" tIns="45000" rIns="6624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4D415146-40C1-4274-9B84-F6984118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4102200"/>
            <a:ext cx="5485320" cy="9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審核結果再由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LINE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通知，形成可查詢、可追蹤的閉環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5" name="">
            <a:extLst xmlns:a="http://schemas.openxmlformats.org/drawingml/2006/main">
              <a:ext uri="{FF2B5EF4-FFF2-40B4-BE49-F238E27FC236}">
                <a16:creationId xmlns:a16="http://schemas.microsoft.com/office/drawing/2014/main" id="{40F5D04E-6763-4793-8A44-29C0463B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680" y="1762200"/>
            <a:ext cx="3713760" cy="338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7EA94E58-F764-44A4-A665-6EC9377A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480" y="2523960"/>
            <a:ext cx="2665800" cy="180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5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自動化負責整理與通知，正式判斷仍留給工會。</a:t>
            </a:r>
            <a:endParaRPr sz="2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7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F44DC79C-D048-4815-B45D-7BB8F17F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8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1158E7A8-2DDC-47A3-B1FA-480001CA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7417617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8" name="Text 425">
            <a:extLst xmlns:a="http://schemas.openxmlformats.org/drawingml/2006/main">
              <a:ext uri="{FF2B5EF4-FFF2-40B4-BE49-F238E27FC236}">
                <a16:creationId xmlns:a16="http://schemas.microsoft.com/office/drawing/2014/main" id="{B0C72FDE-6D03-45E0-91D2-1A10B54D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Agent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客服應用：讓回答建立在資料與行為邊界上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9" name="Text 426">
            <a:extLst xmlns:a="http://schemas.openxmlformats.org/drawingml/2006/main">
              <a:ext uri="{FF2B5EF4-FFF2-40B4-BE49-F238E27FC236}">
                <a16:creationId xmlns:a16="http://schemas.microsoft.com/office/drawing/2014/main" id="{3FCE2832-7E24-4366-BD79-BBCC80DA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2245320"/>
            <a:ext cx="4069800" cy="194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294480" indent="-294480" defTabSz="914400">
              <a:lnSpc>
                <a:spcPct val="133000"/>
              </a:lnSpc>
              <a:buClr>
                <a:srgbClr val="746558"/>
              </a:buClr>
              <a:buFont typeface="Symbol"/>
              <a:buChar char=""/>
            </a:pPr>
            <a:r>
              <a:rPr sz="1450" b="0" u="none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根據整理後的資料庫與知識內容</a:t>
            </a:r>
            <a:r>
              <a:rPr sz="1450" b="1" u="none">
                <a:solidFill>
                  <a:srgbClr val="746558"/>
                </a:solidFill>
                <a:latin typeface="Gelasio Bold"/>
                <a:ea typeface="Gelasio Bold"/>
                <a:cs typeface="Gelasio Bold"/>
              </a:rPr>
              <a:t>設定 </a:t>
            </a:r>
            <a:r>
              <a:rPr sz="1450" b="1" u="none">
                <a:solidFill>
                  <a:srgbClr val="746558"/>
                </a:solidFill>
                <a:latin typeface="Gelasio Bold"/>
                <a:ea typeface="Gelasio Bold"/>
                <a:cs typeface="Gelasio Bold"/>
              </a:rPr>
              <a:t>Agent </a:t>
            </a:r>
            <a:r>
              <a:rPr sz="1450" b="1" u="none">
                <a:solidFill>
                  <a:srgbClr val="746558"/>
                </a:solidFill>
                <a:latin typeface="Gelasio Bold"/>
                <a:ea typeface="Gelasio Bold"/>
                <a:cs typeface="Gelasio Bold"/>
              </a:rPr>
              <a:t>行為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94480" indent="-294480" defTabSz="914400">
              <a:lnSpc>
                <a:spcPct val="133000"/>
              </a:lnSpc>
              <a:buClr>
                <a:srgbClr val="746558"/>
              </a:buClr>
              <a:buFont typeface="Symbol"/>
              <a:buChar char=""/>
            </a:pPr>
            <a:r>
              <a:rPr sz="1450" b="0" u="none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Harness </a:t>
            </a:r>
            <a:r>
              <a:rPr sz="1450" b="0" u="none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用於限制可回答範圍、格式與例外處理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94480" indent="-294480" defTabSz="914400">
              <a:lnSpc>
                <a:spcPct val="133000"/>
              </a:lnSpc>
              <a:buClr>
                <a:srgbClr val="746558"/>
              </a:buClr>
              <a:buFont typeface="Symbol"/>
              <a:buChar char=""/>
            </a:pPr>
            <a:r>
              <a:rPr sz="1450" b="0" u="none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Agent </a:t>
            </a:r>
            <a:r>
              <a:rPr sz="1450" b="0" u="none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協助回覆與導引；訂單、付款與帳務異動仍保留</a:t>
            </a:r>
            <a:r>
              <a:rPr sz="1450" b="1" u="none">
                <a:solidFill>
                  <a:srgbClr val="746558"/>
                </a:solidFill>
                <a:latin typeface="Gelasio Bold"/>
                <a:ea typeface="Gelasio Bold"/>
                <a:cs typeface="Gelasio Bold"/>
              </a:rPr>
              <a:t>人工確認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0" name="Shape 223">
            <a:extLst xmlns:a="http://schemas.openxmlformats.org/drawingml/2006/main">
              <a:ext uri="{FF2B5EF4-FFF2-40B4-BE49-F238E27FC236}">
                <a16:creationId xmlns:a16="http://schemas.microsoft.com/office/drawing/2014/main" id="{2E61F068-8D7D-4668-97A4-24097474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4404600"/>
            <a:ext cx="4069800" cy="1038240"/>
          </a:xfrm>
          <a:prstGeom xmlns:a="http://schemas.openxmlformats.org/drawingml/2006/main" prst="roundRect">
            <a:avLst>
              <a:gd name="adj" fmla="val 2728"/>
            </a:avLst>
          </a:prstGeom>
          <a:solidFill xmlns:a="http://schemas.openxmlformats.org/drawingml/2006/main">
            <a:srgbClr val="ECE6D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55" name="Image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2e3bf5af14982"/>
          <a:stretch xmlns:a="http://schemas.openxmlformats.org/drawingml/2006/main"/>
        </p:blipFill>
        <p:spPr>
          <a:xfrm xmlns:a="http://schemas.openxmlformats.org/drawingml/2006/main">
            <a:off x="850320" y="4678920"/>
            <a:ext cx="235080" cy="1879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42" name="Text 427">
            <a:extLst xmlns:a="http://schemas.openxmlformats.org/drawingml/2006/main">
              <a:ext uri="{FF2B5EF4-FFF2-40B4-BE49-F238E27FC236}">
                <a16:creationId xmlns:a16="http://schemas.microsoft.com/office/drawing/2014/main" id="{341DB4B7-21EE-4167-A443-68BBDCCE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840" y="4622040"/>
            <a:ext cx="3266280" cy="603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50" b="0" u="none">
                <a:solidFill>
                  <a:srgbClr val="000000"/>
                </a:solidFill>
                <a:latin typeface="Gelasio"/>
                <a:ea typeface="Gelasio"/>
                <a:cs typeface="Gelasio"/>
              </a:rPr>
              <a:t>核心原則：</a:t>
            </a:r>
            <a:r>
              <a:rPr sz="1450" b="0" u="none">
                <a:solidFill>
                  <a:srgbClr val="000000"/>
                </a:solidFill>
                <a:latin typeface="Gelasio"/>
                <a:ea typeface="Gelasio"/>
                <a:cs typeface="Gelasio"/>
              </a:rPr>
              <a:t>Agent </a:t>
            </a:r>
            <a:r>
              <a:rPr sz="1450" b="0" u="none">
                <a:solidFill>
                  <a:srgbClr val="000000"/>
                </a:solidFill>
                <a:latin typeface="Gelasio"/>
                <a:ea typeface="Gelasio"/>
                <a:cs typeface="Gelasio"/>
              </a:rPr>
              <a:t>輔助，人工把關關鍵決策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57" name="Image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1152391bc401e"/>
          <a:stretch xmlns:a="http://schemas.openxmlformats.org/drawingml/2006/main"/>
        </p:blipFill>
        <p:spPr>
          <a:xfrm xmlns:a="http://schemas.openxmlformats.org/drawingml/2006/main">
            <a:off x="5199840" y="2476080"/>
            <a:ext cx="6336000" cy="27784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44" name="Text 428">
            <a:extLst xmlns:a="http://schemas.openxmlformats.org/drawingml/2006/main">
              <a:ext uri="{FF2B5EF4-FFF2-40B4-BE49-F238E27FC236}">
                <a16:creationId xmlns:a16="http://schemas.microsoft.com/office/drawing/2014/main" id="{D244ACC2-2645-46BC-A48F-8891153D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080" y="4663440"/>
            <a:ext cx="95652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85000" lnSpcReduction="9999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</a:rPr>
              <a:t>Agent </a:t>
            </a:r>
            <a:r>
              <a:rPr sz="1430" b="0" u="non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</a:rPr>
              <a:t>行為邏輯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5" name="Text 429">
            <a:extLst xmlns:a="http://schemas.openxmlformats.org/drawingml/2006/main">
              <a:ext uri="{FF2B5EF4-FFF2-40B4-BE49-F238E27FC236}">
                <a16:creationId xmlns:a16="http://schemas.microsoft.com/office/drawing/2014/main" id="{E36CE4B1-8D4B-45DD-BF5A-2551A543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440" y="4663440"/>
            <a:ext cx="95652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85000" lnSpcReduction="9999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</a:rPr>
              <a:t>客服回覆與人工轉介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6" name="Text 430">
            <a:extLst xmlns:a="http://schemas.openxmlformats.org/drawingml/2006/main">
              <a:ext uri="{FF2B5EF4-FFF2-40B4-BE49-F238E27FC236}">
                <a16:creationId xmlns:a16="http://schemas.microsoft.com/office/drawing/2014/main" id="{687CDC08-5DC1-44A7-A74C-A952286B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560" y="2725920"/>
            <a:ext cx="956520" cy="17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</a:rPr>
              <a:t>資料庫整理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7" name="Text 431">
            <a:extLst xmlns:a="http://schemas.openxmlformats.org/drawingml/2006/main">
              <a:ext uri="{FF2B5EF4-FFF2-40B4-BE49-F238E27FC236}">
                <a16:creationId xmlns:a16="http://schemas.microsoft.com/office/drawing/2014/main" id="{F39530AE-4CCE-4841-BF07-1611E04A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680" y="2725920"/>
            <a:ext cx="956520" cy="17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</a:rPr>
              <a:t>Harness </a:t>
            </a:r>
            <a:r>
              <a:rPr sz="1430" b="0" u="non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</a:rPr>
              <a:t>限制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8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7B3FA586-F527-4149-A26F-BE4C2ACC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1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1CA71776-B642-4248-B8D8-C152A8AB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4808602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9" name="">
            <a:extLst xmlns:a="http://schemas.openxmlformats.org/drawingml/2006/main">
              <a:ext uri="{FF2B5EF4-FFF2-40B4-BE49-F238E27FC236}">
                <a16:creationId xmlns:a16="http://schemas.microsoft.com/office/drawing/2014/main" id="{0B73BAC3-C597-4932-90F4-0C9956EA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880" y="-571680"/>
            <a:ext cx="5618160" cy="7428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0" name="">
            <a:extLst xmlns:a="http://schemas.openxmlformats.org/drawingml/2006/main">
              <a:ext uri="{FF2B5EF4-FFF2-40B4-BE49-F238E27FC236}">
                <a16:creationId xmlns:a16="http://schemas.microsoft.com/office/drawing/2014/main" id="{10448749-290F-47A8-8AA6-69D3AC33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400" y="1523880"/>
            <a:ext cx="2856240" cy="2856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1" name="">
            <a:extLst xmlns:a="http://schemas.openxmlformats.org/drawingml/2006/main">
              <a:ext uri="{FF2B5EF4-FFF2-40B4-BE49-F238E27FC236}">
                <a16:creationId xmlns:a16="http://schemas.microsoft.com/office/drawing/2014/main" id="{4CEBABDF-B92E-4914-94AE-5BB7D0EA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QA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工程簡報 ｜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CI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入門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2" name="">
            <a:extLst xmlns:a="http://schemas.openxmlformats.org/drawingml/2006/main">
              <a:ext uri="{FF2B5EF4-FFF2-40B4-BE49-F238E27FC236}">
                <a16:creationId xmlns:a16="http://schemas.microsoft.com/office/drawing/2014/main" id="{2C4B8927-D2DF-427E-B842-8D47101C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1504800"/>
            <a:ext cx="6189840" cy="171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540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CI </a:t>
            </a:r>
            <a:r>
              <a:rPr sz="5400" b="1" u="none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是什麼？</a:t>
            </a:r>
            <a:endParaRPr sz="5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3" name="">
            <a:extLst xmlns:a="http://schemas.openxmlformats.org/drawingml/2006/main">
              <a:ext uri="{FF2B5EF4-FFF2-40B4-BE49-F238E27FC236}">
                <a16:creationId xmlns:a16="http://schemas.microsoft.com/office/drawing/2014/main" id="{3387CF9E-8A94-4441-B881-BF0D33AF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3619440"/>
            <a:ext cx="6067800" cy="855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32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以及它如何透過 </a:t>
            </a:r>
            <a:r>
              <a:rPr sz="232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GitHub Actions </a:t>
            </a:r>
            <a:r>
              <a:rPr sz="232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自動執行</a:t>
            </a:r>
            <a:r>
              <a:rPr sz="232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.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4" name="">
            <a:extLst xmlns:a="http://schemas.openxmlformats.org/drawingml/2006/main">
              <a:ext uri="{FF2B5EF4-FFF2-40B4-BE49-F238E27FC236}">
                <a16:creationId xmlns:a16="http://schemas.microsoft.com/office/drawing/2014/main" id="{F9FE69EE-BB4F-4339-AF3A-5A3520A7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20" y="5180400"/>
            <a:ext cx="705780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重點</a:t>
            </a:r>
            <a:r>
              <a:rPr sz="180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: </a:t>
            </a:r>
            <a:r>
              <a:rPr sz="180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定義 → 關係 → </a:t>
            </a:r>
            <a:r>
              <a:rPr sz="180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Workflow </a:t>
            </a:r>
            <a:r>
              <a:rPr sz="180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結構 → </a:t>
            </a:r>
            <a:r>
              <a:rPr sz="180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QA </a:t>
            </a:r>
            <a:r>
              <a:rPr sz="180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關卡 → 專案套用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5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E58A356D-5847-4A46-A5ED-30632AA0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6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61FF5C78-7A98-4F1F-B34B-8097BD67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49719353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6" name="">
            <a:extLst xmlns:a="http://schemas.openxmlformats.org/drawingml/2006/main">
              <a:ext uri="{FF2B5EF4-FFF2-40B4-BE49-F238E27FC236}">
                <a16:creationId xmlns:a16="http://schemas.microsoft.com/office/drawing/2014/main" id="{133111D9-794C-422F-94CB-182AEF27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CI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的核心：每次變更都快速整合、驗證、回饋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8" name="">
            <a:extLst xmlns:a="http://schemas.openxmlformats.org/drawingml/2006/main">
              <a:ext uri="{FF2B5EF4-FFF2-40B4-BE49-F238E27FC236}">
                <a16:creationId xmlns:a16="http://schemas.microsoft.com/office/drawing/2014/main" id="{F71F82E6-A38B-4D3E-AD0E-D56E8E2B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1733400"/>
            <a:ext cx="9904680" cy="91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9" name="">
            <a:extLst xmlns:a="http://schemas.openxmlformats.org/drawingml/2006/main">
              <a:ext uri="{FF2B5EF4-FFF2-40B4-BE49-F238E27FC236}">
                <a16:creationId xmlns:a16="http://schemas.microsoft.com/office/drawing/2014/main" id="{829ACC56-52CF-47EF-A78E-AC56DA47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40" y="1914480"/>
            <a:ext cx="551160" cy="55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550" b="1" u="none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1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0" name="">
            <a:extLst xmlns:a="http://schemas.openxmlformats.org/drawingml/2006/main">
              <a:ext uri="{FF2B5EF4-FFF2-40B4-BE49-F238E27FC236}">
                <a16:creationId xmlns:a16="http://schemas.microsoft.com/office/drawing/2014/main" id="{EEDACBE5-10DF-4C52-A568-835A3D6E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600" y="1905120"/>
            <a:ext cx="8285400" cy="57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10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頻繁整合：小幅變更持續提交到共享分支，降低長時間分歧</a:t>
            </a:r>
            <a:endParaRPr sz="2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1" name="">
            <a:extLst xmlns:a="http://schemas.openxmlformats.org/drawingml/2006/main">
              <a:ext uri="{FF2B5EF4-FFF2-40B4-BE49-F238E27FC236}">
                <a16:creationId xmlns:a16="http://schemas.microsoft.com/office/drawing/2014/main" id="{EE39FA60-A398-414F-BD81-13E63701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2990880"/>
            <a:ext cx="9904680" cy="91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2" name="">
            <a:extLst xmlns:a="http://schemas.openxmlformats.org/drawingml/2006/main">
              <a:ext uri="{FF2B5EF4-FFF2-40B4-BE49-F238E27FC236}">
                <a16:creationId xmlns:a16="http://schemas.microsoft.com/office/drawing/2014/main" id="{F2A4ECE5-EE6D-4982-B9C7-CDEE52A7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40" y="3171960"/>
            <a:ext cx="551160" cy="55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550" b="1" u="none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3" name="">
            <a:extLst xmlns:a="http://schemas.openxmlformats.org/drawingml/2006/main">
              <a:ext uri="{FF2B5EF4-FFF2-40B4-BE49-F238E27FC236}">
                <a16:creationId xmlns:a16="http://schemas.microsoft.com/office/drawing/2014/main" id="{2DEDE658-974E-4447-8551-5855DD3D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600" y="3162240"/>
            <a:ext cx="8285400" cy="57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10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自動驗證：每次變更自動建置、靜態檢查與測試，不靠人工記憶</a:t>
            </a:r>
            <a:endParaRPr sz="2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4" name="">
            <a:extLst xmlns:a="http://schemas.openxmlformats.org/drawingml/2006/main">
              <a:ext uri="{FF2B5EF4-FFF2-40B4-BE49-F238E27FC236}">
                <a16:creationId xmlns:a16="http://schemas.microsoft.com/office/drawing/2014/main" id="{09C242A5-E57B-4BB4-9E83-57A54BB9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4248000"/>
            <a:ext cx="9904680" cy="91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5" name="">
            <a:extLst xmlns:a="http://schemas.openxmlformats.org/drawingml/2006/main">
              <a:ext uri="{FF2B5EF4-FFF2-40B4-BE49-F238E27FC236}">
                <a16:creationId xmlns:a16="http://schemas.microsoft.com/office/drawing/2014/main" id="{08B06CAA-F914-4FA8-BCAD-DE3048CC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40" y="4429080"/>
            <a:ext cx="551160" cy="55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550" b="1" u="none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6" name="">
            <a:extLst xmlns:a="http://schemas.openxmlformats.org/drawingml/2006/main">
              <a:ext uri="{FF2B5EF4-FFF2-40B4-BE49-F238E27FC236}">
                <a16:creationId xmlns:a16="http://schemas.microsoft.com/office/drawing/2014/main" id="{192D898F-A9C9-45A1-8FD8-525E6748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600" y="4419720"/>
            <a:ext cx="8285400" cy="57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10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快速回饋：失敗時保留 </a:t>
            </a:r>
            <a:r>
              <a:rPr sz="210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log </a:t>
            </a:r>
            <a:r>
              <a:rPr sz="210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與測試報告，讓修復更早發生</a:t>
            </a:r>
            <a:endParaRPr sz="2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7" name="">
            <a:extLst xmlns:a="http://schemas.openxmlformats.org/drawingml/2006/main">
              <a:ext uri="{FF2B5EF4-FFF2-40B4-BE49-F238E27FC236}">
                <a16:creationId xmlns:a16="http://schemas.microsoft.com/office/drawing/2014/main" id="{9A723BF4-1F8D-401F-8C95-CDBB5665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840" y="5619600"/>
            <a:ext cx="9142560" cy="39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8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CI </a:t>
            </a:r>
            <a:r>
              <a:rPr sz="1580" b="0" u="none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是一種工程實務與工作流程，不是單一工具。</a:t>
            </a:r>
            <a:endParaRPr sz="15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8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7745D9FC-0439-4A13-B2E1-E24223BE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9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5BE4E1B6-4E15-41C3-85AE-169CC04D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2246007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9" name="">
            <a:extLst xmlns:a="http://schemas.openxmlformats.org/drawingml/2006/main">
              <a:ext uri="{FF2B5EF4-FFF2-40B4-BE49-F238E27FC236}">
                <a16:creationId xmlns:a16="http://schemas.microsoft.com/office/drawing/2014/main" id="{8171FC85-2515-4AB6-BCD7-83DBF716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Git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是版本來源，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GitHub Actions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是執行引擎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1" name="">
            <a:extLst xmlns:a="http://schemas.openxmlformats.org/drawingml/2006/main">
              <a:ext uri="{FF2B5EF4-FFF2-40B4-BE49-F238E27FC236}">
                <a16:creationId xmlns:a16="http://schemas.microsoft.com/office/drawing/2014/main" id="{6987402D-07B2-47AD-A0B9-30FF0163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00" y="2095560"/>
            <a:ext cx="1570320" cy="109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2" name="">
            <a:extLst xmlns:a="http://schemas.openxmlformats.org/drawingml/2006/main">
              <a:ext uri="{FF2B5EF4-FFF2-40B4-BE49-F238E27FC236}">
                <a16:creationId xmlns:a16="http://schemas.microsoft.com/office/drawing/2014/main" id="{2B11FF78-A74B-4762-926B-0E571D61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0" y="2324160"/>
            <a:ext cx="1303560" cy="62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29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Git commit</a:t>
            </a:r>
            <a:endParaRPr sz="1729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3" name="">
            <a:extLst xmlns:a="http://schemas.openxmlformats.org/drawingml/2006/main">
              <a:ext uri="{FF2B5EF4-FFF2-40B4-BE49-F238E27FC236}">
                <a16:creationId xmlns:a16="http://schemas.microsoft.com/office/drawing/2014/main" id="{9D6D0FCB-EED3-4E40-A898-13C2956A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080" y="2762280"/>
            <a:ext cx="1570320" cy="109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4" name="">
            <a:extLst xmlns:a="http://schemas.openxmlformats.org/drawingml/2006/main">
              <a:ext uri="{FF2B5EF4-FFF2-40B4-BE49-F238E27FC236}">
                <a16:creationId xmlns:a16="http://schemas.microsoft.com/office/drawing/2014/main" id="{DB84876D-064E-4346-8F25-B61AC27C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80" y="2990880"/>
            <a:ext cx="1303560" cy="62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29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GitHub event</a:t>
            </a:r>
            <a:endParaRPr sz="1729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4F27FE1E-5FF6-4106-9B2D-F498F96B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800" y="2095560"/>
            <a:ext cx="1570320" cy="109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34CBA17A-5860-4382-BC59-2C071B9B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60"/>
            <a:ext cx="1303560" cy="62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29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ci.yml</a:t>
            </a:r>
            <a:endParaRPr sz="1729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7" name="">
            <a:extLst xmlns:a="http://schemas.openxmlformats.org/drawingml/2006/main">
              <a:ext uri="{FF2B5EF4-FFF2-40B4-BE49-F238E27FC236}">
                <a16:creationId xmlns:a16="http://schemas.microsoft.com/office/drawing/2014/main" id="{174A3492-CAC1-44F2-87B4-9B26A37C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520" y="2762280"/>
            <a:ext cx="1570320" cy="109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3B21F6A1-0A31-473F-8175-8DC037A4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2990880"/>
            <a:ext cx="1436760" cy="788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29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Runner </a:t>
            </a:r>
            <a:r>
              <a:rPr sz="1729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執行</a:t>
            </a:r>
            <a:endParaRPr sz="1729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F302A782-5364-416A-9500-1D1DFFA8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240" y="2095560"/>
            <a:ext cx="1570320" cy="109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0" name="">
            <a:extLst xmlns:a="http://schemas.openxmlformats.org/drawingml/2006/main">
              <a:ext uri="{FF2B5EF4-FFF2-40B4-BE49-F238E27FC236}">
                <a16:creationId xmlns:a16="http://schemas.microsoft.com/office/drawing/2014/main" id="{BD930876-F8FC-43D1-9EA1-8701AD6E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440" y="2324160"/>
            <a:ext cx="1303560" cy="62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29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Checks </a:t>
            </a:r>
            <a:r>
              <a:rPr sz="1729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產出</a:t>
            </a:r>
            <a:endParaRPr sz="1729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1" name="">
            <a:extLst xmlns:a="http://schemas.openxmlformats.org/drawingml/2006/main">
              <a:ext uri="{FF2B5EF4-FFF2-40B4-BE49-F238E27FC236}">
                <a16:creationId xmlns:a16="http://schemas.microsoft.com/office/drawing/2014/main" id="{9CD1A178-CE78-4CAC-BAE0-85DA7CD9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60" y="2762280"/>
            <a:ext cx="1570320" cy="109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2" name="">
            <a:extLst xmlns:a="http://schemas.openxmlformats.org/drawingml/2006/main">
              <a:ext uri="{FF2B5EF4-FFF2-40B4-BE49-F238E27FC236}">
                <a16:creationId xmlns:a16="http://schemas.microsoft.com/office/drawing/2014/main" id="{B14CCBF7-5609-419B-9E9D-49217517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160" y="2990880"/>
            <a:ext cx="1303560" cy="62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29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結果回到 </a:t>
            </a:r>
            <a:r>
              <a:rPr sz="1729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PR</a:t>
            </a:r>
            <a:endParaRPr sz="1729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3" name="">
            <a:extLst xmlns:a="http://schemas.openxmlformats.org/drawingml/2006/main">
              <a:ext uri="{FF2B5EF4-FFF2-40B4-BE49-F238E27FC236}">
                <a16:creationId xmlns:a16="http://schemas.microsoft.com/office/drawing/2014/main" id="{E99FD302-E5B3-46C6-BE3F-56272EC1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4667400"/>
            <a:ext cx="10099800" cy="68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020" b="1" u="none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CI </a:t>
            </a:r>
            <a:r>
              <a:rPr sz="2020" b="1" u="none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是流程與品質目標；</a:t>
            </a:r>
            <a:r>
              <a:rPr sz="2020" b="1" u="none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Git </a:t>
            </a:r>
            <a:r>
              <a:rPr sz="2020" b="1" u="none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保存版本與變更；</a:t>
            </a:r>
            <a:br/>
            <a:r>
              <a:rPr sz="2020" b="1" u="none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GitHub Actions </a:t>
            </a:r>
            <a:r>
              <a:rPr sz="2020" b="1" u="none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依事件執行 </a:t>
            </a:r>
            <a:r>
              <a:rPr sz="2020" b="1" u="none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workflow</a:t>
            </a:r>
            <a:r>
              <a:rPr sz="2020" b="1" u="none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4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9A6E5410-75E5-4429-9168-EE3D2C15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5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BD847C80-4303-4A77-8DAB-61C4D819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29887054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5" name="">
            <a:extLst xmlns:a="http://schemas.openxmlformats.org/drawingml/2006/main">
              <a:ext uri="{FF2B5EF4-FFF2-40B4-BE49-F238E27FC236}">
                <a16:creationId xmlns:a16="http://schemas.microsoft.com/office/drawing/2014/main" id="{4357E509-E19A-4E4B-9650-41CE2AA6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個案背景：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Finance Import UI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找不到入口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7" name="">
            <a:extLst xmlns:a="http://schemas.openxmlformats.org/drawingml/2006/main">
              <a:ext uri="{FF2B5EF4-FFF2-40B4-BE49-F238E27FC236}">
                <a16:creationId xmlns:a16="http://schemas.microsoft.com/office/drawing/2014/main" id="{AD6738F3-211C-4A91-B311-88D2FD68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1676520"/>
            <a:ext cx="4761000" cy="36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8" name="">
            <a:extLst xmlns:a="http://schemas.openxmlformats.org/drawingml/2006/main">
              <a:ext uri="{FF2B5EF4-FFF2-40B4-BE49-F238E27FC236}">
                <a16:creationId xmlns:a16="http://schemas.microsoft.com/office/drawing/2014/main" id="{19980672-11A7-4A75-B291-4E0F762F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520"/>
            <a:ext cx="3999240" cy="180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38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Test Case 1</a:t>
            </a:r>
            <a:endParaRPr sz="33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33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33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38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Test Case 2</a:t>
            </a:r>
            <a:endParaRPr sz="33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9" name="">
            <a:extLst xmlns:a="http://schemas.openxmlformats.org/drawingml/2006/main">
              <a:ext uri="{FF2B5EF4-FFF2-40B4-BE49-F238E27FC236}">
                <a16:creationId xmlns:a16="http://schemas.microsoft.com/office/drawing/2014/main" id="{837CD4AC-61C1-4FF6-A4CB-240009E6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0" y="1895400"/>
            <a:ext cx="131760" cy="131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5880" tIns="45000" rIns="6588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0" name="">
            <a:extLst xmlns:a="http://schemas.openxmlformats.org/drawingml/2006/main">
              <a:ext uri="{FF2B5EF4-FFF2-40B4-BE49-F238E27FC236}">
                <a16:creationId xmlns:a16="http://schemas.microsoft.com/office/drawing/2014/main" id="{D6144550-BB7A-4950-83AB-66122CD4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800" y="1828800"/>
            <a:ext cx="4437360" cy="919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觀察現象：啟動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FastAPI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與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Streamlit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後，瀏覽器找不到「銀行流水匯入與帳務修正」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1" name="">
            <a:extLst xmlns:a="http://schemas.openxmlformats.org/drawingml/2006/main">
              <a:ext uri="{FF2B5EF4-FFF2-40B4-BE49-F238E27FC236}">
                <a16:creationId xmlns:a16="http://schemas.microsoft.com/office/drawing/2014/main" id="{11A1A7B1-46B0-48E3-B2EB-2D750A70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0" y="3006720"/>
            <a:ext cx="131760" cy="131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5880" tIns="45000" rIns="6588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2" name="">
            <a:extLst xmlns:a="http://schemas.openxmlformats.org/drawingml/2006/main">
              <a:ext uri="{FF2B5EF4-FFF2-40B4-BE49-F238E27FC236}">
                <a16:creationId xmlns:a16="http://schemas.microsoft.com/office/drawing/2014/main" id="{A843EC98-107A-4590-B486-87FA537E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800" y="2940120"/>
            <a:ext cx="4437360" cy="919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程式證據：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Finance Import router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已註冊、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panel.py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存在，但沒有被掛入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Streamlit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導覽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3" name="">
            <a:extLst xmlns:a="http://schemas.openxmlformats.org/drawingml/2006/main">
              <a:ext uri="{FF2B5EF4-FFF2-40B4-BE49-F238E27FC236}">
                <a16:creationId xmlns:a16="http://schemas.microsoft.com/office/drawing/2014/main" id="{66A04B85-525F-434C-9337-722D822B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0" y="4118040"/>
            <a:ext cx="131760" cy="131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5880" tIns="45000" rIns="6588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4" name="">
            <a:extLst xmlns:a="http://schemas.openxmlformats.org/drawingml/2006/main">
              <a:ext uri="{FF2B5EF4-FFF2-40B4-BE49-F238E27FC236}">
                <a16:creationId xmlns:a16="http://schemas.microsoft.com/office/drawing/2014/main" id="{C0D4C962-6B50-418D-ABE7-780C42CE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800" y="4051440"/>
            <a:ext cx="4437360" cy="919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業務影響：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API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可被驗證，但使用者無法從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UI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完成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ingest → preview → apply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5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D793C4E8-2DA9-4FB7-BC26-29960143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6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E036930B-2AE8-44F9-BA3A-BE732785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3255166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6" name="">
            <a:extLst xmlns:a="http://schemas.openxmlformats.org/drawingml/2006/main">
              <a:ext uri="{FF2B5EF4-FFF2-40B4-BE49-F238E27FC236}">
                <a16:creationId xmlns:a16="http://schemas.microsoft.com/office/drawing/2014/main" id="{7D7A528F-DA3B-4A51-92C3-E4FD7B07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同一個案，拆成兩個獨立結論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8" name="">
            <a:extLst xmlns:a="http://schemas.openxmlformats.org/drawingml/2006/main">
              <a:ext uri="{FF2B5EF4-FFF2-40B4-BE49-F238E27FC236}">
                <a16:creationId xmlns:a16="http://schemas.microsoft.com/office/drawing/2014/main" id="{542CB23B-77D2-49A3-A892-F0B8E68D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1676520"/>
            <a:ext cx="5176800" cy="46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08A81AAF-751F-455F-A9BC-07F72E76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520"/>
            <a:ext cx="3999240" cy="180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測試案例＝該怎麼測；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測試結果＝這次發生什麼；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80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缺陷＝需要誰修復。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EF43E1B6-9C31-47F9-B380-3C2BB93B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0" y="1895400"/>
            <a:ext cx="131760" cy="131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5880" tIns="45000" rIns="6588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1" name="">
            <a:extLst xmlns:a="http://schemas.openxmlformats.org/drawingml/2006/main">
              <a:ext uri="{FF2B5EF4-FFF2-40B4-BE49-F238E27FC236}">
                <a16:creationId xmlns:a16="http://schemas.microsoft.com/office/drawing/2014/main" id="{D3DCE2C5-5BE2-4133-87A0-3E89FA51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800" y="1828800"/>
            <a:ext cx="4437360" cy="919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FI-API-001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Finance Import API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已註冊，未認證請求會被拒絕。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2" name="">
            <a:extLst xmlns:a="http://schemas.openxmlformats.org/drawingml/2006/main">
              <a:ext uri="{FF2B5EF4-FFF2-40B4-BE49-F238E27FC236}">
                <a16:creationId xmlns:a16="http://schemas.microsoft.com/office/drawing/2014/main" id="{BC339551-4AF8-4B4D-8A10-449FE9DD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0" y="3006720"/>
            <a:ext cx="131760" cy="131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5880" tIns="45000" rIns="6588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3" name="">
            <a:extLst xmlns:a="http://schemas.openxmlformats.org/drawingml/2006/main">
              <a:ext uri="{FF2B5EF4-FFF2-40B4-BE49-F238E27FC236}">
                <a16:creationId xmlns:a16="http://schemas.microsoft.com/office/drawing/2014/main" id="{856450C2-18D6-4D3F-809D-968AE10F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800" y="2940120"/>
            <a:ext cx="4437360" cy="919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FI-UI-001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Finance Import UI panel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存在，但目前未掛入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Streamlit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導覽，使用者無法操作完整流程。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4" name="">
            <a:extLst xmlns:a="http://schemas.openxmlformats.org/drawingml/2006/main">
              <a:ext uri="{FF2B5EF4-FFF2-40B4-BE49-F238E27FC236}">
                <a16:creationId xmlns:a16="http://schemas.microsoft.com/office/drawing/2014/main" id="{71E23D81-07CB-445A-ADB0-88CE256D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0" y="4118040"/>
            <a:ext cx="131760" cy="131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5880" tIns="45000" rIns="6588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5" name="">
            <a:extLst xmlns:a="http://schemas.openxmlformats.org/drawingml/2006/main">
              <a:ext uri="{FF2B5EF4-FFF2-40B4-BE49-F238E27FC236}">
                <a16:creationId xmlns:a16="http://schemas.microsoft.com/office/drawing/2014/main" id="{BFE3B03F-ADBD-4934-9A5C-C0E48685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800" y="4051440"/>
            <a:ext cx="4437360" cy="919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API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與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UI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責任不同，不能用其中一個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Pass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取代另一個結果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6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5A69375E-9C2E-403A-A9CF-6BE21CAC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7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3B05F154-46FF-4A7E-9E4E-B969D2A8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2948996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7" name="">
            <a:extLst xmlns:a="http://schemas.openxmlformats.org/drawingml/2006/main">
              <a:ext uri="{FF2B5EF4-FFF2-40B4-BE49-F238E27FC236}">
                <a16:creationId xmlns:a16="http://schemas.microsoft.com/office/drawing/2014/main" id="{2730E968-EF1A-4C7A-B4BE-03B2C91D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驗證不等於正式上線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9" name="">
            <a:extLst xmlns:a="http://schemas.openxmlformats.org/drawingml/2006/main">
              <a:ext uri="{FF2B5EF4-FFF2-40B4-BE49-F238E27FC236}">
                <a16:creationId xmlns:a16="http://schemas.microsoft.com/office/drawing/2014/main" id="{A608412E-4B9E-4124-A529-94576107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1819440"/>
            <a:ext cx="131400" cy="131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5880" tIns="45000" rIns="6588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0" name="">
            <a:extLst xmlns:a="http://schemas.openxmlformats.org/drawingml/2006/main">
              <a:ext uri="{FF2B5EF4-FFF2-40B4-BE49-F238E27FC236}">
                <a16:creationId xmlns:a16="http://schemas.microsoft.com/office/drawing/2014/main" id="{029F2808-F91F-4436-A69E-299D3831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1752480"/>
            <a:ext cx="5484600" cy="98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Module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／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Subsystem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｜規則與失敗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1" name="">
            <a:extLst xmlns:a="http://schemas.openxmlformats.org/drawingml/2006/main">
              <a:ext uri="{FF2B5EF4-FFF2-40B4-BE49-F238E27FC236}">
                <a16:creationId xmlns:a16="http://schemas.microsoft.com/office/drawing/2014/main" id="{D5A8E4EB-BC34-4572-89C6-FFF5BDB5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2994120"/>
            <a:ext cx="131400" cy="131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5880" tIns="45000" rIns="6588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2" name="">
            <a:extLst xmlns:a="http://schemas.openxmlformats.org/drawingml/2006/main">
              <a:ext uri="{FF2B5EF4-FFF2-40B4-BE49-F238E27FC236}">
                <a16:creationId xmlns:a16="http://schemas.microsoft.com/office/drawing/2014/main" id="{6BB1A422-7819-4462-9B2C-B044111C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2927520"/>
            <a:ext cx="5484600" cy="98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Domain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／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Global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｜交易與重播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3" name="">
            <a:extLst xmlns:a="http://schemas.openxmlformats.org/drawingml/2006/main">
              <a:ext uri="{FF2B5EF4-FFF2-40B4-BE49-F238E27FC236}">
                <a16:creationId xmlns:a16="http://schemas.microsoft.com/office/drawing/2014/main" id="{6C9EB291-84B6-42D2-920E-C1DD6178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4168800"/>
            <a:ext cx="131400" cy="131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5880" tIns="45000" rIns="6588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4" name="">
            <a:extLst xmlns:a="http://schemas.openxmlformats.org/drawingml/2006/main">
              <a:ext uri="{FF2B5EF4-FFF2-40B4-BE49-F238E27FC236}">
                <a16:creationId xmlns:a16="http://schemas.microsoft.com/office/drawing/2014/main" id="{90CF9321-5319-4001-A556-CB595DBF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80" y="4102200"/>
            <a:ext cx="5484600" cy="98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目前為隔離 </a:t>
            </a:r>
            <a:r>
              <a:rPr sz="1870" b="0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release candidate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5" name="">
            <a:extLst xmlns:a="http://schemas.openxmlformats.org/drawingml/2006/main">
              <a:ext uri="{FF2B5EF4-FFF2-40B4-BE49-F238E27FC236}">
                <a16:creationId xmlns:a16="http://schemas.microsoft.com/office/drawing/2014/main" id="{836F151C-6F08-449B-AED5-EE00185D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680" y="1762200"/>
            <a:ext cx="3713040" cy="3379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6" name="">
            <a:extLst xmlns:a="http://schemas.openxmlformats.org/drawingml/2006/main">
              <a:ext uri="{FF2B5EF4-FFF2-40B4-BE49-F238E27FC236}">
                <a16:creationId xmlns:a16="http://schemas.microsoft.com/office/drawing/2014/main" id="{6170EA73-6D79-45D5-84E8-C26A90D4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480" y="2523960"/>
            <a:ext cx="2665080" cy="180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50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正式環境仍需驗收與復原演練。</a:t>
            </a:r>
            <a:endParaRPr sz="2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7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DB131FCA-F8D6-40A9-885A-378128DD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8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D068581F-8CA4-4627-BAAB-1FCA4928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96254020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8" name="Text 417">
            <a:extLst xmlns:a="http://schemas.openxmlformats.org/drawingml/2006/main">
              <a:ext uri="{FF2B5EF4-FFF2-40B4-BE49-F238E27FC236}">
                <a16:creationId xmlns:a16="http://schemas.microsoft.com/office/drawing/2014/main" id="{7CBBA58C-6A64-48DD-A48D-0D54921F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地端整合測試：讓系統在真實工作情境中被驗證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9" name="Shape 213">
            <a:extLst xmlns:a="http://schemas.openxmlformats.org/drawingml/2006/main">
              <a:ext uri="{FF2B5EF4-FFF2-40B4-BE49-F238E27FC236}">
                <a16:creationId xmlns:a16="http://schemas.microsoft.com/office/drawing/2014/main" id="{3EDF94C3-9925-4ED3-B5C0-BD0E0B69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2644920"/>
            <a:ext cx="4069800" cy="2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5B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9440" rIns="90000" bIns="-19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0" name="Text 418">
            <a:extLst xmlns:a="http://schemas.openxmlformats.org/drawingml/2006/main">
              <a:ext uri="{FF2B5EF4-FFF2-40B4-BE49-F238E27FC236}">
                <a16:creationId xmlns:a16="http://schemas.microsoft.com/office/drawing/2014/main" id="{5370817F-8797-4789-BC8B-88A3FA67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2790360"/>
            <a:ext cx="406980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50" b="0" u="none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將開發中的程式部署至</a:t>
            </a:r>
            <a:r>
              <a:rPr sz="1450" b="1" u="none">
                <a:solidFill>
                  <a:srgbClr val="746558"/>
                </a:solidFill>
                <a:latin typeface="Gelasio Bold"/>
                <a:ea typeface="Gelasio Bold"/>
                <a:cs typeface="Gelasio Bold"/>
              </a:rPr>
              <a:t>地端測試環境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1" name="Shape 214">
            <a:extLst xmlns:a="http://schemas.openxmlformats.org/drawingml/2006/main">
              <a:ext uri="{FF2B5EF4-FFF2-40B4-BE49-F238E27FC236}">
                <a16:creationId xmlns:a16="http://schemas.microsoft.com/office/drawing/2014/main" id="{360D54B6-719D-4EA4-9F29-E1D85805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3719160"/>
            <a:ext cx="4069800" cy="2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5B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9440" rIns="90000" bIns="-19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2" name="Text 419">
            <a:extLst xmlns:a="http://schemas.openxmlformats.org/drawingml/2006/main">
              <a:ext uri="{FF2B5EF4-FFF2-40B4-BE49-F238E27FC236}">
                <a16:creationId xmlns:a16="http://schemas.microsoft.com/office/drawing/2014/main" id="{76E0DA81-960F-4772-B209-8467EAFE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3864600"/>
            <a:ext cx="406980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50" b="0" u="none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使用經授權且受保護的測試資料驗證流程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3" name="Shape 215">
            <a:extLst xmlns:a="http://schemas.openxmlformats.org/drawingml/2006/main">
              <a:ext uri="{FF2B5EF4-FFF2-40B4-BE49-F238E27FC236}">
                <a16:creationId xmlns:a16="http://schemas.microsoft.com/office/drawing/2014/main" id="{8136A117-3C8E-40F8-A2B0-5843F029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4793400"/>
            <a:ext cx="4069800" cy="2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5B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9440" rIns="90000" bIns="-19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4" name="Text 420">
            <a:extLst xmlns:a="http://schemas.openxmlformats.org/drawingml/2006/main">
              <a:ext uri="{FF2B5EF4-FFF2-40B4-BE49-F238E27FC236}">
                <a16:creationId xmlns:a16="http://schemas.microsoft.com/office/drawing/2014/main" id="{78BEFD91-6275-43BA-B262-410833FE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4938840"/>
            <a:ext cx="406980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50" b="0" u="none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將現場回饋轉為後續開發的修正依據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5" name="Shape 216">
            <a:extLst xmlns:a="http://schemas.openxmlformats.org/drawingml/2006/main">
              <a:ext uri="{FF2B5EF4-FFF2-40B4-BE49-F238E27FC236}">
                <a16:creationId xmlns:a16="http://schemas.microsoft.com/office/drawing/2014/main" id="{5F3D8141-F597-4A6B-8D7E-74669616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840" y="2377800"/>
            <a:ext cx="790920" cy="67212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E8D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54" name="Image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a13c530584009"/>
          <a:stretch xmlns:a="http://schemas.openxmlformats.org/drawingml/2006/main"/>
        </p:blipFill>
        <p:spPr>
          <a:xfrm xmlns:a="http://schemas.openxmlformats.org/drawingml/2006/main">
            <a:off x="5463000" y="2581560"/>
            <a:ext cx="264600" cy="264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827" name="Text 421">
            <a:extLst xmlns:a="http://schemas.openxmlformats.org/drawingml/2006/main">
              <a:ext uri="{FF2B5EF4-FFF2-40B4-BE49-F238E27FC236}">
                <a16:creationId xmlns:a16="http://schemas.microsoft.com/office/drawing/2014/main" id="{7E0025A2-7CB7-499C-B224-148EA93C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0840" y="2566800"/>
            <a:ext cx="5165640" cy="29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850" b="0" u="non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</a:rPr>
              <a:t>地端部署測試</a:t>
            </a:r>
            <a:endParaRPr sz="1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8" name="Shape 217">
            <a:extLst xmlns:a="http://schemas.openxmlformats.org/drawingml/2006/main">
              <a:ext uri="{FF2B5EF4-FFF2-40B4-BE49-F238E27FC236}">
                <a16:creationId xmlns:a16="http://schemas.microsoft.com/office/drawing/2014/main" id="{58D8326B-4A01-4CB6-8E65-4AD766EC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160" y="3038400"/>
            <a:ext cx="5354640" cy="11520"/>
          </a:xfrm>
          <a:prstGeom xmlns:a="http://schemas.openxmlformats.org/drawingml/2006/main" prst="roundRect">
            <a:avLst>
              <a:gd name="adj" fmla="val 49999"/>
            </a:avLst>
          </a:prstGeom>
          <a:solidFill xmlns:a="http://schemas.openxmlformats.org/drawingml/2006/main">
            <a:srgbClr val="D4CEC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6360" rIns="90000" bIns="-363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9" name="Shape 218">
            <a:extLst xmlns:a="http://schemas.openxmlformats.org/drawingml/2006/main">
              <a:ext uri="{FF2B5EF4-FFF2-40B4-BE49-F238E27FC236}">
                <a16:creationId xmlns:a16="http://schemas.microsoft.com/office/drawing/2014/main" id="{9DC3356F-222C-4590-9D34-4CD4AA53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840" y="3145680"/>
            <a:ext cx="1583280" cy="67212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E8D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58" name="Image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3d3c7bba94650"/>
          <a:stretch xmlns:a="http://schemas.openxmlformats.org/drawingml/2006/main"/>
        </p:blipFill>
        <p:spPr>
          <a:xfrm xmlns:a="http://schemas.openxmlformats.org/drawingml/2006/main">
            <a:off x="5859000" y="3349080"/>
            <a:ext cx="264600" cy="264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831" name="Text 422">
            <a:extLst xmlns:a="http://schemas.openxmlformats.org/drawingml/2006/main">
              <a:ext uri="{FF2B5EF4-FFF2-40B4-BE49-F238E27FC236}">
                <a16:creationId xmlns:a16="http://schemas.microsoft.com/office/drawing/2014/main" id="{D04A09AD-B4FC-41D8-8CD7-98CCCF2C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40" y="3334680"/>
            <a:ext cx="4373640" cy="29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850" b="0" u="non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</a:rPr>
              <a:t>實際流程操作</a:t>
            </a:r>
            <a:endParaRPr sz="1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2" name="Shape 219">
            <a:extLst xmlns:a="http://schemas.openxmlformats.org/drawingml/2006/main">
              <a:ext uri="{FF2B5EF4-FFF2-40B4-BE49-F238E27FC236}">
                <a16:creationId xmlns:a16="http://schemas.microsoft.com/office/drawing/2014/main" id="{DB7624C3-BCCE-4D8C-B3C7-6FECAC07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520" y="3806280"/>
            <a:ext cx="4562640" cy="11520"/>
          </a:xfrm>
          <a:prstGeom xmlns:a="http://schemas.openxmlformats.org/drawingml/2006/main" prst="roundRect">
            <a:avLst>
              <a:gd name="adj" fmla="val 49999"/>
            </a:avLst>
          </a:prstGeom>
          <a:solidFill xmlns:a="http://schemas.openxmlformats.org/drawingml/2006/main">
            <a:srgbClr val="D4CEC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6360" rIns="90000" bIns="-363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3" name="Shape 220">
            <a:extLst xmlns:a="http://schemas.openxmlformats.org/drawingml/2006/main">
              <a:ext uri="{FF2B5EF4-FFF2-40B4-BE49-F238E27FC236}">
                <a16:creationId xmlns:a16="http://schemas.microsoft.com/office/drawing/2014/main" id="{7F90C163-EEF4-4575-AD3C-6C7A330D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840" y="3913200"/>
            <a:ext cx="2375280" cy="67212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E8D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62" name="Image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68d3845d24070"/>
          <a:stretch xmlns:a="http://schemas.openxmlformats.org/drawingml/2006/main"/>
        </p:blipFill>
        <p:spPr>
          <a:xfrm xmlns:a="http://schemas.openxmlformats.org/drawingml/2006/main">
            <a:off x="6255000" y="4116960"/>
            <a:ext cx="264600" cy="264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835" name="Text 423">
            <a:extLst xmlns:a="http://schemas.openxmlformats.org/drawingml/2006/main">
              <a:ext uri="{FF2B5EF4-FFF2-40B4-BE49-F238E27FC236}">
                <a16:creationId xmlns:a16="http://schemas.microsoft.com/office/drawing/2014/main" id="{43834923-E241-4AA1-802C-72B5756B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840" y="4102200"/>
            <a:ext cx="3581280" cy="29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850" b="0" u="non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</a:rPr>
              <a:t>問題與回饋</a:t>
            </a:r>
            <a:endParaRPr sz="1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6" name="Shape 221">
            <a:extLst xmlns:a="http://schemas.openxmlformats.org/drawingml/2006/main">
              <a:ext uri="{FF2B5EF4-FFF2-40B4-BE49-F238E27FC236}">
                <a16:creationId xmlns:a16="http://schemas.microsoft.com/office/drawing/2014/main" id="{72319777-5081-4471-97A7-E918AC6C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520" y="4573800"/>
            <a:ext cx="3770640" cy="11520"/>
          </a:xfrm>
          <a:prstGeom xmlns:a="http://schemas.openxmlformats.org/drawingml/2006/main" prst="roundRect">
            <a:avLst>
              <a:gd name="adj" fmla="val 49999"/>
            </a:avLst>
          </a:prstGeom>
          <a:solidFill xmlns:a="http://schemas.openxmlformats.org/drawingml/2006/main">
            <a:srgbClr val="D4CEC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6360" rIns="90000" bIns="-363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7" name="Shape 222">
            <a:extLst xmlns:a="http://schemas.openxmlformats.org/drawingml/2006/main">
              <a:ext uri="{FF2B5EF4-FFF2-40B4-BE49-F238E27FC236}">
                <a16:creationId xmlns:a16="http://schemas.microsoft.com/office/drawing/2014/main" id="{D445B84F-074B-4B96-B0A7-6A8BE0EE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840" y="4681080"/>
            <a:ext cx="3167280" cy="67212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E8D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66" name="Image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a85709ff14938"/>
          <a:stretch xmlns:a="http://schemas.openxmlformats.org/drawingml/2006/main"/>
        </p:blipFill>
        <p:spPr>
          <a:xfrm xmlns:a="http://schemas.openxmlformats.org/drawingml/2006/main">
            <a:off x="6651000" y="4884840"/>
            <a:ext cx="264600" cy="264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839" name="Text 424">
            <a:extLst xmlns:a="http://schemas.openxmlformats.org/drawingml/2006/main">
              <a:ext uri="{FF2B5EF4-FFF2-40B4-BE49-F238E27FC236}">
                <a16:creationId xmlns:a16="http://schemas.microsoft.com/office/drawing/2014/main" id="{A52ABA41-A6B6-4677-A244-AE7A244D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7200" y="4870080"/>
            <a:ext cx="2789280" cy="29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850" b="0" u="non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</a:rPr>
              <a:t>系統修正驗證</a:t>
            </a:r>
            <a:endParaRPr sz="1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0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8A9C0BA3-A938-4D51-A28F-1A411A1D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5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412D1095-BB96-4A56-A8AB-AA69F515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12380594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1" name="Text 118">
            <a:extLst xmlns:a="http://schemas.openxmlformats.org/drawingml/2006/main">
              <a:ext uri="{FF2B5EF4-FFF2-40B4-BE49-F238E27FC236}">
                <a16:creationId xmlns:a16="http://schemas.microsoft.com/office/drawing/2014/main" id="{ED100867-0C2F-41DC-B173-B044884F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工會系統部署架構決策報告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2" name="Text 119">
            <a:extLst xmlns:a="http://schemas.openxmlformats.org/drawingml/2006/main">
              <a:ext uri="{FF2B5EF4-FFF2-40B4-BE49-F238E27FC236}">
                <a16:creationId xmlns:a16="http://schemas.microsoft.com/office/drawing/2014/main" id="{9758F7D6-00BC-472A-BDA7-8B773F92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00" y="1483920"/>
            <a:ext cx="1147716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兼顧資安隱私與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24/7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高可用性的「地端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+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雲端」混合架構實踐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3" name="Shape 95">
            <a:extLst xmlns:a="http://schemas.openxmlformats.org/drawingml/2006/main">
              <a:ext uri="{FF2B5EF4-FFF2-40B4-BE49-F238E27FC236}">
                <a16:creationId xmlns:a16="http://schemas.microsoft.com/office/drawing/2014/main" id="{908C0C0A-DB58-48CF-8EA0-3BD93303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1975680"/>
            <a:ext cx="10867680" cy="17640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76564B">
              <a:alpha val="50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4560" rIns="90000" bIns="-345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4" name="Shape 96">
            <a:extLst xmlns:a="http://schemas.openxmlformats.org/drawingml/2006/main">
              <a:ext uri="{FF2B5EF4-FFF2-40B4-BE49-F238E27FC236}">
                <a16:creationId xmlns:a16="http://schemas.microsoft.com/office/drawing/2014/main" id="{045B2CC1-39EE-49F8-A52C-935BB36F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80" y="2222280"/>
            <a:ext cx="5469480" cy="1854360"/>
          </a:xfrm>
          <a:prstGeom xmlns:a="http://schemas.openxmlformats.org/drawingml/2006/main" prst="roundRect">
            <a:avLst>
              <a:gd name="adj" fmla="val 6416"/>
            </a:avLst>
          </a:prstGeom>
          <a:solidFill xmlns:a="http://schemas.openxmlformats.org/drawingml/2006/main">
            <a:srgbClr val="D9825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5" name="Text 137">
            <a:extLst xmlns:a="http://schemas.openxmlformats.org/drawingml/2006/main">
              <a:ext uri="{FF2B5EF4-FFF2-40B4-BE49-F238E27FC236}">
                <a16:creationId xmlns:a16="http://schemas.microsoft.com/office/drawing/2014/main" id="{1E916BE7-F480-415B-99E8-1D7ADDFE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60" y="2387160"/>
            <a:ext cx="5138640" cy="256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000000"/>
                </a:solidFill>
                <a:latin typeface="Noto Sans TC Bold"/>
                <a:ea typeface="Noto Sans TC Bold"/>
                <a:cs typeface="Noto Sans TC Bold"/>
              </a:rPr>
              <a:t>核心結論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6" name="Text 138">
            <a:extLst xmlns:a="http://schemas.openxmlformats.org/drawingml/2006/main">
              <a:ext uri="{FF2B5EF4-FFF2-40B4-BE49-F238E27FC236}">
                <a16:creationId xmlns:a16="http://schemas.microsoft.com/office/drawing/2014/main" id="{564A96E4-0F26-40D0-BED7-5ACF1386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60" y="2810880"/>
            <a:ext cx="5138640" cy="527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採納「雲端應用 </a:t>
            </a: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+ </a:t>
            </a: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地端資料庫」混合架構，確保 </a:t>
            </a: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LINE </a:t>
            </a: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服務不中斷，同時資料主權 </a:t>
            </a: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100% </a:t>
            </a: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保留在工會。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7" name="Text 139">
            <a:extLst xmlns:a="http://schemas.openxmlformats.org/drawingml/2006/main">
              <a:ext uri="{FF2B5EF4-FFF2-40B4-BE49-F238E27FC236}">
                <a16:creationId xmlns:a16="http://schemas.microsoft.com/office/drawing/2014/main" id="{FE1CFF35-97AD-4A3D-9D62-0722163D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0" y="2387160"/>
            <a:ext cx="5231160" cy="256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3B302C"/>
                </a:solidFill>
                <a:latin typeface="Noto Sans TC Bold"/>
                <a:ea typeface="Noto Sans TC Bold"/>
                <a:cs typeface="Noto Sans TC Bold"/>
              </a:rPr>
              <a:t>報告人 </a:t>
            </a:r>
            <a:r>
              <a:rPr sz="1430" b="1" u="none">
                <a:solidFill>
                  <a:srgbClr val="3B302C"/>
                </a:solidFill>
                <a:latin typeface="Noto Sans TC Bold"/>
                <a:ea typeface="Noto Sans TC Bold"/>
                <a:cs typeface="Noto Sans TC Bold"/>
              </a:rPr>
              <a:t>/ </a:t>
            </a:r>
            <a:r>
              <a:rPr sz="1430" b="1" u="none">
                <a:solidFill>
                  <a:srgbClr val="3B302C"/>
                </a:solidFill>
                <a:latin typeface="Noto Sans TC Bold"/>
                <a:ea typeface="Noto Sans TC Bold"/>
                <a:cs typeface="Noto Sans TC Bold"/>
              </a:rPr>
              <a:t>團隊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8" name="Text 140">
            <a:extLst xmlns:a="http://schemas.openxmlformats.org/drawingml/2006/main">
              <a:ext uri="{FF2B5EF4-FFF2-40B4-BE49-F238E27FC236}">
                <a16:creationId xmlns:a16="http://schemas.microsoft.com/office/drawing/2014/main" id="{1DE8A1DE-D06A-448E-B49C-0CD2B90D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0" y="2810880"/>
            <a:ext cx="584100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技術架構小組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9" name="Text 141">
            <a:extLst xmlns:a="http://schemas.openxmlformats.org/drawingml/2006/main">
              <a:ext uri="{FF2B5EF4-FFF2-40B4-BE49-F238E27FC236}">
                <a16:creationId xmlns:a16="http://schemas.microsoft.com/office/drawing/2014/main" id="{8F1F204C-2DD6-4405-BE79-8223D8AF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0" y="3241080"/>
            <a:ext cx="5231160" cy="256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3B302C"/>
                </a:solidFill>
                <a:latin typeface="Noto Sans TC Bold"/>
                <a:ea typeface="Noto Sans TC Bold"/>
                <a:cs typeface="Noto Sans TC Bold"/>
              </a:rPr>
              <a:t>報告性質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0" name="Text 142">
            <a:extLst xmlns:a="http://schemas.openxmlformats.org/drawingml/2006/main">
              <a:ext uri="{FF2B5EF4-FFF2-40B4-BE49-F238E27FC236}">
                <a16:creationId xmlns:a16="http://schemas.microsoft.com/office/drawing/2014/main" id="{C532160C-C409-4228-827E-B7514DA4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0" y="3664800"/>
            <a:ext cx="584100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架構決策報告（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Architecture Decision Record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）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1" name="Shape 97">
            <a:extLst xmlns:a="http://schemas.openxmlformats.org/drawingml/2006/main">
              <a:ext uri="{FF2B5EF4-FFF2-40B4-BE49-F238E27FC236}">
                <a16:creationId xmlns:a16="http://schemas.microsoft.com/office/drawing/2014/main" id="{9EA910AA-9D29-4C2C-80E3-86DD74D6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4264560"/>
            <a:ext cx="10867320" cy="195444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5DFD6"/>
          </a:solidFill>
          <a:ln xmlns:a="http://schemas.openxmlformats.org/drawingml/2006/main" w="4763">
            <a:solidFill>
              <a:srgbClr val="DBC5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2" name="Shape 98">
            <a:extLst xmlns:a="http://schemas.openxmlformats.org/drawingml/2006/main">
              <a:ext uri="{FF2B5EF4-FFF2-40B4-BE49-F238E27FC236}">
                <a16:creationId xmlns:a16="http://schemas.microsoft.com/office/drawing/2014/main" id="{37BC2EDA-2041-430A-850D-BEAC8D11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00" y="4270680"/>
            <a:ext cx="5426640" cy="970200"/>
          </a:xfrm>
          <a:custGeom xmlns:a="http://schemas.openxmlformats.org/drawingml/2006/main">
            <a:gdLst>
              <a:gd name="textAreaLeft" fmla="*/ 0 w 5426640"/>
              <a:gd name="textAreaRight" fmla="*/ 5428080 w 5426640"/>
              <a:gd name="textAreaTop" fmla="*/ 0 h 970200"/>
              <a:gd name="textAreaBottom" fmla="*/ 971640 h 970200"/>
            </a:gdLst>
            <a:rect l="textAreaLeft" t="textAreaTop" r="textAreaRight" b="textAreaBottom"/>
            <a:pathLst>
              <a:path w="4071119" h="728960">
                <a:moveTo>
                  <a:pt x="43416" y="0"/>
                </a:moveTo>
                <a:lnTo>
                  <a:pt x="4071119" y="0"/>
                </a:lnTo>
                <a:lnTo>
                  <a:pt x="4071119" y="728960"/>
                </a:lnTo>
                <a:lnTo>
                  <a:pt x="0" y="728960"/>
                </a:lnTo>
                <a:lnTo>
                  <a:pt x="0" y="43416"/>
                </a:lnTo>
                <a:arcTo wR="43416" hR="43416" stAng="10800000" swAng="5400000"/>
                <a:close/>
              </a:path>
            </a:pathLst>
          </a:custGeom>
          <a:solidFill xmlns:a="http://schemas.openxmlformats.org/drawingml/2006/main">
            <a:srgbClr val="F5DFD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3" name="Text 143">
            <a:extLst xmlns:a="http://schemas.openxmlformats.org/drawingml/2006/main">
              <a:ext uri="{FF2B5EF4-FFF2-40B4-BE49-F238E27FC236}">
                <a16:creationId xmlns:a16="http://schemas.microsoft.com/office/drawing/2014/main" id="{114B057D-9C4E-415C-9058-29AD2F06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40" y="4435920"/>
            <a:ext cx="5095800" cy="2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🚀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 24/7 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高可用性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4" name="Text 144">
            <a:extLst xmlns:a="http://schemas.openxmlformats.org/drawingml/2006/main">
              <a:ext uri="{FF2B5EF4-FFF2-40B4-BE49-F238E27FC236}">
                <a16:creationId xmlns:a16="http://schemas.microsoft.com/office/drawing/2014/main" id="{7B989533-598A-4B67-9AA9-2134252C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40" y="4812480"/>
            <a:ext cx="509580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LINE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官方帳號服務不中斷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5" name="Shape 99">
            <a:extLst xmlns:a="http://schemas.openxmlformats.org/drawingml/2006/main">
              <a:ext uri="{FF2B5EF4-FFF2-40B4-BE49-F238E27FC236}">
                <a16:creationId xmlns:a16="http://schemas.microsoft.com/office/drawing/2014/main" id="{45C2C98C-5208-49EC-A752-85760316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80" y="4270680"/>
            <a:ext cx="5426640" cy="970200"/>
          </a:xfrm>
          <a:custGeom xmlns:a="http://schemas.openxmlformats.org/drawingml/2006/main">
            <a:gdLst>
              <a:gd name="textAreaLeft" fmla="*/ 0 w 5426640"/>
              <a:gd name="textAreaRight" fmla="*/ 5428080 w 5426640"/>
              <a:gd name="textAreaTop" fmla="*/ 0 h 970200"/>
              <a:gd name="textAreaBottom" fmla="*/ 971640 h 970200"/>
            </a:gdLst>
            <a:rect l="textAreaLeft" t="textAreaTop" r="textAreaRight" b="textAreaBottom"/>
            <a:pathLst>
              <a:path w="4071119" h="728960">
                <a:moveTo>
                  <a:pt x="0" y="0"/>
                </a:moveTo>
                <a:lnTo>
                  <a:pt x="4027703" y="0"/>
                </a:lnTo>
                <a:arcTo wR="43416" hR="43416" stAng="16200000" swAng="5400000"/>
                <a:lnTo>
                  <a:pt x="4071119" y="728960"/>
                </a:lnTo>
                <a:lnTo>
                  <a:pt x="0" y="7289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DFD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6" name="Shape 100">
            <a:extLst xmlns:a="http://schemas.openxmlformats.org/drawingml/2006/main">
              <a:ext uri="{FF2B5EF4-FFF2-40B4-BE49-F238E27FC236}">
                <a16:creationId xmlns:a16="http://schemas.microsoft.com/office/drawing/2014/main" id="{B59B9F3A-90EB-4834-865A-A6B496B1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80" y="4270680"/>
            <a:ext cx="17640" cy="970200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DBC5B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840" tIns="45000" rIns="684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7" name="Text 145">
            <a:extLst xmlns:a="http://schemas.openxmlformats.org/drawingml/2006/main">
              <a:ext uri="{FF2B5EF4-FFF2-40B4-BE49-F238E27FC236}">
                <a16:creationId xmlns:a16="http://schemas.microsoft.com/office/drawing/2014/main" id="{F07F6A2C-A253-46C4-A1F4-F361DF68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20" y="4435920"/>
            <a:ext cx="5095800" cy="2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🔒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 資料主權在地化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8" name="Text 146">
            <a:extLst xmlns:a="http://schemas.openxmlformats.org/drawingml/2006/main">
              <a:ext uri="{FF2B5EF4-FFF2-40B4-BE49-F238E27FC236}">
                <a16:creationId xmlns:a16="http://schemas.microsoft.com/office/drawing/2014/main" id="{F22928FB-EA3B-4D1D-BFB6-BB466179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20" y="4812480"/>
            <a:ext cx="509580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敏感帳務與會員資料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100%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留存地端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9" name="Shape 101">
            <a:extLst xmlns:a="http://schemas.openxmlformats.org/drawingml/2006/main">
              <a:ext uri="{FF2B5EF4-FFF2-40B4-BE49-F238E27FC236}">
                <a16:creationId xmlns:a16="http://schemas.microsoft.com/office/drawing/2014/main" id="{6680DA07-E3BC-4F5E-9FF8-DFE1274A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00" y="5242680"/>
            <a:ext cx="5426640" cy="970560"/>
          </a:xfrm>
          <a:custGeom xmlns:a="http://schemas.openxmlformats.org/drawingml/2006/main">
            <a:gdLst>
              <a:gd name="textAreaLeft" fmla="*/ 0 w 5426640"/>
              <a:gd name="textAreaRight" fmla="*/ 5428080 w 5426640"/>
              <a:gd name="textAreaTop" fmla="*/ 0 h 970560"/>
              <a:gd name="textAreaBottom" fmla="*/ 972000 h 970560"/>
            </a:gdLst>
            <a:rect l="textAreaLeft" t="textAreaTop" r="textAreaRight" b="textAreaBottom"/>
            <a:pathLst>
              <a:path w="4071119" h="728960">
                <a:moveTo>
                  <a:pt x="0" y="0"/>
                </a:moveTo>
                <a:lnTo>
                  <a:pt x="4071119" y="0"/>
                </a:lnTo>
                <a:lnTo>
                  <a:pt x="4071119" y="728960"/>
                </a:lnTo>
                <a:lnTo>
                  <a:pt x="43416" y="728960"/>
                </a:lnTo>
                <a:arcTo wR="43416" hR="43416" stAng="5400000" swAng="5400000"/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DFD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0" name="Shape 102">
            <a:extLst xmlns:a="http://schemas.openxmlformats.org/drawingml/2006/main">
              <a:ext uri="{FF2B5EF4-FFF2-40B4-BE49-F238E27FC236}">
                <a16:creationId xmlns:a16="http://schemas.microsoft.com/office/drawing/2014/main" id="{5D237CB2-887D-4C80-B702-F560E8BE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00" y="5242680"/>
            <a:ext cx="5426640" cy="17640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DBC5B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4560" rIns="90000" bIns="-345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1" name="Text 147">
            <a:extLst xmlns:a="http://schemas.openxmlformats.org/drawingml/2006/main">
              <a:ext uri="{FF2B5EF4-FFF2-40B4-BE49-F238E27FC236}">
                <a16:creationId xmlns:a16="http://schemas.microsoft.com/office/drawing/2014/main" id="{2DE30D23-73BC-442B-AFF2-C32BE904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40" y="5407920"/>
            <a:ext cx="5095800" cy="2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💰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 成本效益最佳化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2" name="Text 148">
            <a:extLst xmlns:a="http://schemas.openxmlformats.org/drawingml/2006/main">
              <a:ext uri="{FF2B5EF4-FFF2-40B4-BE49-F238E27FC236}">
                <a16:creationId xmlns:a16="http://schemas.microsoft.com/office/drawing/2014/main" id="{29BBC5A7-C55A-4323-958C-70BEF3E4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40" y="5784480"/>
            <a:ext cx="509580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免額外高規硬體採購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3" name="Shape 103">
            <a:extLst xmlns:a="http://schemas.openxmlformats.org/drawingml/2006/main">
              <a:ext uri="{FF2B5EF4-FFF2-40B4-BE49-F238E27FC236}">
                <a16:creationId xmlns:a16="http://schemas.microsoft.com/office/drawing/2014/main" id="{7187C895-4FB4-47A2-86F3-6B2C94AF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80" y="5242680"/>
            <a:ext cx="5426640" cy="970560"/>
          </a:xfrm>
          <a:custGeom xmlns:a="http://schemas.openxmlformats.org/drawingml/2006/main">
            <a:gdLst>
              <a:gd name="textAreaLeft" fmla="*/ 0 w 5426640"/>
              <a:gd name="textAreaRight" fmla="*/ 5428080 w 5426640"/>
              <a:gd name="textAreaTop" fmla="*/ 0 h 970560"/>
              <a:gd name="textAreaBottom" fmla="*/ 972000 h 970560"/>
            </a:gdLst>
            <a:rect l="textAreaLeft" t="textAreaTop" r="textAreaRight" b="textAreaBottom"/>
            <a:pathLst>
              <a:path w="4071119" h="728960">
                <a:moveTo>
                  <a:pt x="0" y="0"/>
                </a:moveTo>
                <a:lnTo>
                  <a:pt x="4071119" y="0"/>
                </a:lnTo>
                <a:lnTo>
                  <a:pt x="4071119" y="685544"/>
                </a:lnTo>
                <a:arcTo wR="43416" hR="43416" stAng="0" swAng="5400000"/>
                <a:lnTo>
                  <a:pt x="0" y="7289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DFD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4" name="Shape 104">
            <a:extLst xmlns:a="http://schemas.openxmlformats.org/drawingml/2006/main">
              <a:ext uri="{FF2B5EF4-FFF2-40B4-BE49-F238E27FC236}">
                <a16:creationId xmlns:a16="http://schemas.microsoft.com/office/drawing/2014/main" id="{D1C96E1B-11DA-45A1-B96B-F097CC6D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80" y="5242680"/>
            <a:ext cx="17640" cy="970200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DBC5B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840" tIns="45000" rIns="684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5" name="Shape 105">
            <a:extLst xmlns:a="http://schemas.openxmlformats.org/drawingml/2006/main">
              <a:ext uri="{FF2B5EF4-FFF2-40B4-BE49-F238E27FC236}">
                <a16:creationId xmlns:a16="http://schemas.microsoft.com/office/drawing/2014/main" id="{6E0BAA8B-B9CC-4DF6-9A99-05B71F8A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80" y="5242680"/>
            <a:ext cx="5426640" cy="17640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DBC5B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4560" rIns="90000" bIns="-345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6" name="Text 149">
            <a:extLst xmlns:a="http://schemas.openxmlformats.org/drawingml/2006/main">
              <a:ext uri="{FF2B5EF4-FFF2-40B4-BE49-F238E27FC236}">
                <a16:creationId xmlns:a16="http://schemas.microsoft.com/office/drawing/2014/main" id="{C6482207-4816-434E-A3AC-C7188952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20" y="5407920"/>
            <a:ext cx="5095800" cy="2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🛠️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 維運彈性極高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7" name="Text 150">
            <a:extLst xmlns:a="http://schemas.openxmlformats.org/drawingml/2006/main">
              <a:ext uri="{FF2B5EF4-FFF2-40B4-BE49-F238E27FC236}">
                <a16:creationId xmlns:a16="http://schemas.microsoft.com/office/drawing/2014/main" id="{C6BC419D-071E-4D10-8837-0CB0FBC2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20" y="5784480"/>
            <a:ext cx="509580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工程團隊可隨時遠端維護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8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73F42B6F-8D3A-4EFB-9E32-BD591079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9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E3A71F2E-033D-4B82-AA19-2B5D6A8D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5246296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9" name="">
            <a:extLst xmlns:a="http://schemas.openxmlformats.org/drawingml/2006/main">
              <a:ext uri="{FF2B5EF4-FFF2-40B4-BE49-F238E27FC236}">
                <a16:creationId xmlns:a16="http://schemas.microsoft.com/office/drawing/2014/main" id="{1C2B58BC-11B3-4E1D-A121-506E324C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地端部署候選方案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1" name="">
            <a:extLst xmlns:a="http://schemas.openxmlformats.org/drawingml/2006/main">
              <a:ext uri="{FF2B5EF4-FFF2-40B4-BE49-F238E27FC236}">
                <a16:creationId xmlns:a16="http://schemas.microsoft.com/office/drawing/2014/main" id="{E5B1C2F7-4CCD-4277-A17F-11872323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00" y="1619280"/>
            <a:ext cx="1903320" cy="342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2" name="">
            <a:extLst xmlns:a="http://schemas.openxmlformats.org/drawingml/2006/main">
              <a:ext uri="{FF2B5EF4-FFF2-40B4-BE49-F238E27FC236}">
                <a16:creationId xmlns:a16="http://schemas.microsoft.com/office/drawing/2014/main" id="{B7FE25AD-6548-452E-9A1C-C20CCDD7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00" y="1695600"/>
            <a:ext cx="1636560" cy="26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外部與操作端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3" name="">
            <a:extLst xmlns:a="http://schemas.openxmlformats.org/drawingml/2006/main">
              <a:ext uri="{FF2B5EF4-FFF2-40B4-BE49-F238E27FC236}">
                <a16:creationId xmlns:a16="http://schemas.microsoft.com/office/drawing/2014/main" id="{23CD0343-D9A5-4B68-93F8-A6F82709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2238480"/>
            <a:ext cx="1331640" cy="684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LINE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Platform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4" name="">
            <a:extLst xmlns:a="http://schemas.openxmlformats.org/drawingml/2006/main">
              <a:ext uri="{FF2B5EF4-FFF2-40B4-BE49-F238E27FC236}">
                <a16:creationId xmlns:a16="http://schemas.microsoft.com/office/drawing/2014/main" id="{4E67931A-2569-40AB-9C55-14AE0891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3191040"/>
            <a:ext cx="1331640" cy="684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行政端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LAN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／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VPN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5" name="">
            <a:extLst xmlns:a="http://schemas.openxmlformats.org/drawingml/2006/main">
              <a:ext uri="{FF2B5EF4-FFF2-40B4-BE49-F238E27FC236}">
                <a16:creationId xmlns:a16="http://schemas.microsoft.com/office/drawing/2014/main" id="{A236B516-9210-46F3-8362-912E5A0E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4143240"/>
            <a:ext cx="1331640" cy="55080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Excel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／檔案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6" name="">
            <a:extLst xmlns:a="http://schemas.openxmlformats.org/drawingml/2006/main">
              <a:ext uri="{FF2B5EF4-FFF2-40B4-BE49-F238E27FC236}">
                <a16:creationId xmlns:a16="http://schemas.microsoft.com/office/drawing/2014/main" id="{3D5C493B-C7BD-4E40-898F-B05036AD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200" y="2714760"/>
            <a:ext cx="1665000" cy="1141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DED0"/>
          </a:solidFill>
          <a:ln xmlns:a="http://schemas.openxmlformats.org/drawingml/2006/main" w="11430">
            <a:solidFill>
              <a:srgbClr val="D8B49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HTTPS Edge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TLS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／來源驗證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7" name="">
            <a:extLst xmlns:a="http://schemas.openxmlformats.org/drawingml/2006/main">
              <a:ext uri="{FF2B5EF4-FFF2-40B4-BE49-F238E27FC236}">
                <a16:creationId xmlns:a16="http://schemas.microsoft.com/office/drawing/2014/main" id="{CC844F86-3BF2-4DC3-B76D-81FC6698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880" y="1476360"/>
            <a:ext cx="3713040" cy="371304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8" name="">
            <a:extLst xmlns:a="http://schemas.openxmlformats.org/drawingml/2006/main">
              <a:ext uri="{FF2B5EF4-FFF2-40B4-BE49-F238E27FC236}">
                <a16:creationId xmlns:a16="http://schemas.microsoft.com/office/drawing/2014/main" id="{923FFFA0-F5FA-4A52-B3CC-EEE583D2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440" y="1552680"/>
            <a:ext cx="3446280" cy="26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地端 </a:t>
            </a:r>
            <a:r>
              <a:rPr sz="1430" b="1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Application Zone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9" name="">
            <a:extLst xmlns:a="http://schemas.openxmlformats.org/drawingml/2006/main">
              <a:ext uri="{FF2B5EF4-FFF2-40B4-BE49-F238E27FC236}">
                <a16:creationId xmlns:a16="http://schemas.microsoft.com/office/drawing/2014/main" id="{A6601B00-C0F2-4DA3-95FD-05E2626A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20" y="2143080"/>
            <a:ext cx="1379160" cy="64584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Streamlit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0" name="">
            <a:extLst xmlns:a="http://schemas.openxmlformats.org/drawingml/2006/main">
              <a:ext uri="{FF2B5EF4-FFF2-40B4-BE49-F238E27FC236}">
                <a16:creationId xmlns:a16="http://schemas.microsoft.com/office/drawing/2014/main" id="{982ACB45-2834-4293-A734-66CAF71A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920" y="2143080"/>
            <a:ext cx="1379160" cy="64584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FastAPI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1" name="">
            <a:extLst xmlns:a="http://schemas.openxmlformats.org/drawingml/2006/main">
              <a:ext uri="{FF2B5EF4-FFF2-40B4-BE49-F238E27FC236}">
                <a16:creationId xmlns:a16="http://schemas.microsoft.com/office/drawing/2014/main" id="{A4ADBBB5-ADA9-4FA7-BD7E-26B17713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20" y="3238560"/>
            <a:ext cx="1379160" cy="74124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File Watcher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2" name="">
            <a:extLst xmlns:a="http://schemas.openxmlformats.org/drawingml/2006/main">
              <a:ext uri="{FF2B5EF4-FFF2-40B4-BE49-F238E27FC236}">
                <a16:creationId xmlns:a16="http://schemas.microsoft.com/office/drawing/2014/main" id="{B330CA41-AE45-447E-A106-7D977E44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920" y="3238560"/>
            <a:ext cx="1379160" cy="74124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Durable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Workers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3" name="">
            <a:extLst xmlns:a="http://schemas.openxmlformats.org/drawingml/2006/main">
              <a:ext uri="{FF2B5EF4-FFF2-40B4-BE49-F238E27FC236}">
                <a16:creationId xmlns:a16="http://schemas.microsoft.com/office/drawing/2014/main" id="{2EA250AB-31CF-4E96-BF2F-C60DEA4D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480" y="1619280"/>
            <a:ext cx="2427120" cy="3427200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E4E9DF"/>
          </a:solidFill>
          <a:ln xmlns:a="http://schemas.openxmlformats.org/drawingml/2006/main" w="11430">
            <a:solidFill>
              <a:srgbClr val="AAB6A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4" name="">
            <a:extLst xmlns:a="http://schemas.openxmlformats.org/drawingml/2006/main">
              <a:ext uri="{FF2B5EF4-FFF2-40B4-BE49-F238E27FC236}">
                <a16:creationId xmlns:a16="http://schemas.microsoft.com/office/drawing/2014/main" id="{373E8B58-0527-4E06-BCAB-EDB19202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680" y="1695600"/>
            <a:ext cx="2160360" cy="26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>
                <a:solidFill>
                  <a:srgbClr val="65735B"/>
                </a:solidFill>
                <a:latin typeface="Microsoft JhengHei"/>
                <a:ea typeface="Microsoft JhengHei"/>
                <a:cs typeface="Microsoft JhengHei"/>
              </a:rPr>
              <a:t>私有 </a:t>
            </a:r>
            <a:r>
              <a:rPr sz="1430" b="1" u="none">
                <a:solidFill>
                  <a:srgbClr val="65735B"/>
                </a:solidFill>
                <a:latin typeface="Microsoft JhengHei"/>
                <a:ea typeface="Microsoft JhengHei"/>
                <a:cs typeface="Microsoft JhengHei"/>
              </a:rPr>
              <a:t>Data Zone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5" name="">
            <a:extLst xmlns:a="http://schemas.openxmlformats.org/drawingml/2006/main">
              <a:ext uri="{FF2B5EF4-FFF2-40B4-BE49-F238E27FC236}">
                <a16:creationId xmlns:a16="http://schemas.microsoft.com/office/drawing/2014/main" id="{C5C88DF1-2173-4C22-B618-8157CD33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60" y="2238480"/>
            <a:ext cx="1665000" cy="684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AAB6A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MySQL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6" name="">
            <a:extLst xmlns:a="http://schemas.openxmlformats.org/drawingml/2006/main">
              <a:ext uri="{FF2B5EF4-FFF2-40B4-BE49-F238E27FC236}">
                <a16:creationId xmlns:a16="http://schemas.microsoft.com/office/drawing/2014/main" id="{5A530461-DC01-461C-BABB-054003F4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60" y="3238560"/>
            <a:ext cx="1665000" cy="58860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AAB6A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Archive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7" name="">
            <a:extLst xmlns:a="http://schemas.openxmlformats.org/drawingml/2006/main">
              <a:ext uri="{FF2B5EF4-FFF2-40B4-BE49-F238E27FC236}">
                <a16:creationId xmlns:a16="http://schemas.microsoft.com/office/drawing/2014/main" id="{F00D22AE-EE40-41C4-B455-9E1A96B5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60" y="4143240"/>
            <a:ext cx="1665000" cy="58860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AAB6A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Backup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／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Restore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19" name=""/>
          <p:cNvCxnSpPr>
            <a:stCxn xmlns:a="http://schemas.openxmlformats.org/drawingml/2006/main" id="873" idx="3"/>
            <a:endCxn xmlns:a="http://schemas.openxmlformats.org/drawingml/2006/main" id="876" idx="1"/>
          </p:cNvCxnSpPr>
          <p:nvPr/>
        </p:nvCxnSpPr>
        <p:spPr>
          <a:xfrm xmlns:a="http://schemas.openxmlformats.org/drawingml/2006/main">
            <a:off x="2236680" y="2580480"/>
            <a:ext cx="668880" cy="705240"/>
          </a:xfrm>
          <a:prstGeom xmlns:a="http://schemas.openxmlformats.org/drawingml/2006/main" prst="bentConnector3">
            <a:avLst>
              <a:gd name="adj1" fmla="val 50134"/>
            </a:avLst>
          </a:prstGeom>
          <a:ln xmlns:a="http://schemas.openxmlformats.org/drawingml/2006/main" w="19050">
            <a:solidFill>
              <a:srgbClr val="B56F49"/>
            </a:solidFill>
            <a:round/>
            <a:tailEnd type="triangle" w="sm" len="sm"/>
          </a:ln>
        </p:spPr>
      </p:cxnSp>
      <p:cxnSp>
        <p:nvCxnSpPr>
          <p:cNvPr id="920" name=""/>
          <p:cNvCxnSpPr>
            <a:stCxn xmlns:a="http://schemas.openxmlformats.org/drawingml/2006/main" id="874" idx="3"/>
            <a:endCxn xmlns:a="http://schemas.openxmlformats.org/drawingml/2006/main" id="876" idx="1"/>
          </p:cNvCxnSpPr>
          <p:nvPr/>
        </p:nvCxnSpPr>
        <p:spPr>
          <a:xfrm xmlns:a="http://schemas.openxmlformats.org/drawingml/2006/main" flipV="1">
            <a:off x="2236680" y="3285360"/>
            <a:ext cx="668880" cy="248040"/>
          </a:xfrm>
          <a:prstGeom xmlns:a="http://schemas.openxmlformats.org/drawingml/2006/main" prst="bentConnector3">
            <a:avLst>
              <a:gd name="adj1" fmla="val 50134"/>
            </a:avLst>
          </a:prstGeom>
          <a:ln xmlns:a="http://schemas.openxmlformats.org/drawingml/2006/main" w="19050">
            <a:solidFill>
              <a:srgbClr val="B56F49"/>
            </a:solidFill>
            <a:round/>
            <a:tailEnd type="triangle" w="sm" len="sm"/>
          </a:ln>
        </p:spPr>
      </p:cxnSp>
      <p:cxnSp>
        <p:nvCxnSpPr>
          <p:cNvPr id="921" name=""/>
          <p:cNvCxnSpPr>
            <a:stCxn xmlns:a="http://schemas.openxmlformats.org/drawingml/2006/main" id="876" idx="3"/>
            <a:endCxn xmlns:a="http://schemas.openxmlformats.org/drawingml/2006/main" id="880" idx="1"/>
          </p:cNvCxnSpPr>
          <p:nvPr/>
        </p:nvCxnSpPr>
        <p:spPr>
          <a:xfrm xmlns:a="http://schemas.openxmlformats.org/drawingml/2006/main" flipV="1">
            <a:off x="4570200" y="2466000"/>
            <a:ext cx="2431080" cy="8197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round/>
            <a:tailEnd type="triangle" w="sm" len="sm"/>
          </a:ln>
        </p:spPr>
      </p:cxnSp>
      <p:cxnSp>
        <p:nvCxnSpPr>
          <p:cNvPr id="922" name=""/>
          <p:cNvCxnSpPr>
            <a:stCxn xmlns:a="http://schemas.openxmlformats.org/drawingml/2006/main" id="879" idx="3"/>
            <a:endCxn xmlns:a="http://schemas.openxmlformats.org/drawingml/2006/main" id="880" idx="1"/>
          </p:cNvCxnSpPr>
          <p:nvPr/>
        </p:nvCxnSpPr>
        <p:spPr>
          <a:xfrm xmlns:a="http://schemas.openxmlformats.org/drawingml/2006/main">
            <a:off x="6617880" y="2466000"/>
            <a:ext cx="383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6259"/>
            </a:solidFill>
            <a:round/>
            <a:tailEnd type="triangle" w="sm" len="sm"/>
          </a:ln>
        </p:spPr>
      </p:cxnSp>
      <p:cxnSp>
        <p:nvCxnSpPr>
          <p:cNvPr id="923" name=""/>
          <p:cNvCxnSpPr>
            <a:stCxn xmlns:a="http://schemas.openxmlformats.org/drawingml/2006/main" id="875" idx="3"/>
            <a:endCxn xmlns:a="http://schemas.openxmlformats.org/drawingml/2006/main" id="881" idx="1"/>
          </p:cNvCxnSpPr>
          <p:nvPr/>
        </p:nvCxnSpPr>
        <p:spPr>
          <a:xfrm xmlns:a="http://schemas.openxmlformats.org/drawingml/2006/main" flipV="1">
            <a:off x="2236680" y="3609360"/>
            <a:ext cx="3002400" cy="809640"/>
          </a:xfrm>
          <a:prstGeom xmlns:a="http://schemas.openxmlformats.org/drawingml/2006/main" prst="bentConnector3">
            <a:avLst>
              <a:gd name="adj1" fmla="val 50029"/>
            </a:avLst>
          </a:prstGeom>
          <a:ln xmlns:a="http://schemas.openxmlformats.org/drawingml/2006/main" w="19050">
            <a:solidFill>
              <a:srgbClr val="6D6259"/>
            </a:solidFill>
            <a:round/>
            <a:tailEnd type="triangle" w="sm" len="sm"/>
          </a:ln>
        </p:spPr>
      </p:cxnSp>
      <p:cxnSp>
        <p:nvCxnSpPr>
          <p:cNvPr id="924" name=""/>
          <p:cNvCxnSpPr>
            <a:stCxn xmlns:a="http://schemas.openxmlformats.org/drawingml/2006/main" id="881" idx="3"/>
            <a:endCxn xmlns:a="http://schemas.openxmlformats.org/drawingml/2006/main" id="882" idx="1"/>
          </p:cNvCxnSpPr>
          <p:nvPr/>
        </p:nvCxnSpPr>
        <p:spPr>
          <a:xfrm xmlns:a="http://schemas.openxmlformats.org/drawingml/2006/main">
            <a:off x="6617880" y="3609360"/>
            <a:ext cx="383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6259"/>
            </a:solidFill>
            <a:round/>
            <a:tailEnd type="triangle" w="sm" len="sm"/>
          </a:ln>
        </p:spPr>
      </p:cxnSp>
      <p:cxnSp>
        <p:nvCxnSpPr>
          <p:cNvPr id="925" name=""/>
          <p:cNvCxnSpPr>
            <a:stCxn xmlns:a="http://schemas.openxmlformats.org/drawingml/2006/main" id="880" idx="3"/>
            <a:endCxn xmlns:a="http://schemas.openxmlformats.org/drawingml/2006/main" id="885" idx="1"/>
          </p:cNvCxnSpPr>
          <p:nvPr/>
        </p:nvCxnSpPr>
        <p:spPr>
          <a:xfrm xmlns:a="http://schemas.openxmlformats.org/drawingml/2006/main">
            <a:off x="8380080" y="2466000"/>
            <a:ext cx="1097640" cy="114840"/>
          </a:xfrm>
          <a:prstGeom xmlns:a="http://schemas.openxmlformats.org/drawingml/2006/main" prst="bentConnector3">
            <a:avLst>
              <a:gd name="adj1" fmla="val 50065"/>
            </a:avLst>
          </a:prstGeom>
          <a:ln xmlns:a="http://schemas.openxmlformats.org/drawingml/2006/main" w="19050">
            <a:solidFill>
              <a:srgbClr val="AAB6A0"/>
            </a:solidFill>
            <a:round/>
            <a:tailEnd type="triangle" w="sm" len="sm"/>
          </a:ln>
        </p:spPr>
      </p:cxnSp>
      <p:cxnSp>
        <p:nvCxnSpPr>
          <p:cNvPr id="926" name=""/>
          <p:cNvCxnSpPr>
            <a:stCxn xmlns:a="http://schemas.openxmlformats.org/drawingml/2006/main" id="882" idx="3"/>
            <a:endCxn xmlns:a="http://schemas.openxmlformats.org/drawingml/2006/main" id="885" idx="1"/>
          </p:cNvCxnSpPr>
          <p:nvPr/>
        </p:nvCxnSpPr>
        <p:spPr>
          <a:xfrm xmlns:a="http://schemas.openxmlformats.org/drawingml/2006/main" flipV="1">
            <a:off x="8380080" y="2580480"/>
            <a:ext cx="1097640" cy="1029240"/>
          </a:xfrm>
          <a:prstGeom xmlns:a="http://schemas.openxmlformats.org/drawingml/2006/main" prst="bentConnector3">
            <a:avLst>
              <a:gd name="adj1" fmla="val 50065"/>
            </a:avLst>
          </a:prstGeom>
          <a:ln xmlns:a="http://schemas.openxmlformats.org/drawingml/2006/main" w="19050">
            <a:solidFill>
              <a:srgbClr val="AAB6A0"/>
            </a:solidFill>
            <a:round/>
            <a:tailEnd type="triangle" w="sm" len="sm"/>
          </a:ln>
        </p:spPr>
      </p:cxnSp>
      <p:cxnSp>
        <p:nvCxnSpPr>
          <p:cNvPr id="927" name=""/>
          <p:cNvCxnSpPr>
            <a:stCxn xmlns:a="http://schemas.openxmlformats.org/drawingml/2006/main" id="885" idx="2"/>
            <a:endCxn xmlns:a="http://schemas.openxmlformats.org/drawingml/2006/main" id="886" idx="0"/>
          </p:cNvCxnSpPr>
          <p:nvPr/>
        </p:nvCxnSpPr>
        <p:spPr>
          <a:xfrm xmlns:a="http://schemas.openxmlformats.org/drawingml/2006/main">
            <a:off x="10310040" y="2922480"/>
            <a:ext cx="360" cy="31644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6A0"/>
            </a:solidFill>
            <a:round/>
            <a:tailEnd type="triangle" w="sm" len="sm"/>
          </a:ln>
        </p:spPr>
      </p:cxnSp>
      <p:cxnSp>
        <p:nvCxnSpPr>
          <p:cNvPr id="928" name=""/>
          <p:cNvCxnSpPr>
            <a:stCxn xmlns:a="http://schemas.openxmlformats.org/drawingml/2006/main" id="886" idx="2"/>
            <a:endCxn xmlns:a="http://schemas.openxmlformats.org/drawingml/2006/main" id="887" idx="0"/>
          </p:cNvCxnSpPr>
          <p:nvPr/>
        </p:nvCxnSpPr>
        <p:spPr>
          <a:xfrm xmlns:a="http://schemas.openxmlformats.org/drawingml/2006/main">
            <a:off x="10310040" y="3827160"/>
            <a:ext cx="360" cy="31644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6A0"/>
            </a:solidFill>
            <a:round/>
            <a:tailEnd type="triangle" w="sm" len="sm"/>
          </a:ln>
        </p:spPr>
      </p:cxnSp>
      <p:sp>
        <p:nvSpPr>
          <p:cNvPr id="898" name="">
            <a:extLst xmlns:a="http://schemas.openxmlformats.org/drawingml/2006/main">
              <a:ext uri="{FF2B5EF4-FFF2-40B4-BE49-F238E27FC236}">
                <a16:creationId xmlns:a16="http://schemas.microsoft.com/office/drawing/2014/main" id="{50362A83-9D09-467F-8FD7-0A059F6F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920" y="5572080"/>
            <a:ext cx="7332480" cy="32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0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候選方案｜資料與應用皆在地端，需管理電力、網路與現場維運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9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F55A0BDC-99E0-44AC-B142-EE9E60B5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0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E7BBA1CD-76ED-4EB4-98E1-E06E486F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65510754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0" name="">
            <a:extLst xmlns:a="http://schemas.openxmlformats.org/drawingml/2006/main">
              <a:ext uri="{FF2B5EF4-FFF2-40B4-BE49-F238E27FC236}">
                <a16:creationId xmlns:a16="http://schemas.microsoft.com/office/drawing/2014/main" id="{67391D7A-A3A9-4046-8B8A-CB8D3FB9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雲端主體混合部署候選方案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2" name="">
            <a:extLst xmlns:a="http://schemas.openxmlformats.org/drawingml/2006/main">
              <a:ext uri="{FF2B5EF4-FFF2-40B4-BE49-F238E27FC236}">
                <a16:creationId xmlns:a16="http://schemas.microsoft.com/office/drawing/2014/main" id="{A60A8670-A031-4AF2-A006-7D1FC8F7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00" y="1714680"/>
            <a:ext cx="1950840" cy="314136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3" name="">
            <a:extLst xmlns:a="http://schemas.openxmlformats.org/drawingml/2006/main">
              <a:ext uri="{FF2B5EF4-FFF2-40B4-BE49-F238E27FC236}">
                <a16:creationId xmlns:a16="http://schemas.microsoft.com/office/drawing/2014/main" id="{84D6EDCD-4AE5-4CC9-82F0-5D78488D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00" y="1790640"/>
            <a:ext cx="1684080" cy="26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外部與操作端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4" name="">
            <a:extLst xmlns:a="http://schemas.openxmlformats.org/drawingml/2006/main">
              <a:ext uri="{FF2B5EF4-FFF2-40B4-BE49-F238E27FC236}">
                <a16:creationId xmlns:a16="http://schemas.microsoft.com/office/drawing/2014/main" id="{908D0D9E-434D-4486-9EFE-5740B050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0" y="2333520"/>
            <a:ext cx="1284120" cy="684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LINE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Platform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5" name="">
            <a:extLst xmlns:a="http://schemas.openxmlformats.org/drawingml/2006/main">
              <a:ext uri="{FF2B5EF4-FFF2-40B4-BE49-F238E27FC236}">
                <a16:creationId xmlns:a16="http://schemas.microsoft.com/office/drawing/2014/main" id="{E1AB61C6-F2F5-4424-8BB0-E959B300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0" y="3524400"/>
            <a:ext cx="1284120" cy="684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行政端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受控存取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6" name="">
            <a:extLst xmlns:a="http://schemas.openxmlformats.org/drawingml/2006/main">
              <a:ext uri="{FF2B5EF4-FFF2-40B4-BE49-F238E27FC236}">
                <a16:creationId xmlns:a16="http://schemas.microsoft.com/office/drawing/2014/main" id="{2D068F56-3731-4243-9A87-EB9AEA3A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120" y="1476360"/>
            <a:ext cx="4474800" cy="371304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7" name="">
            <a:extLst xmlns:a="http://schemas.openxmlformats.org/drawingml/2006/main">
              <a:ext uri="{FF2B5EF4-FFF2-40B4-BE49-F238E27FC236}">
                <a16:creationId xmlns:a16="http://schemas.microsoft.com/office/drawing/2014/main" id="{596804F2-E5A8-4932-ADF0-E0F40BC2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20" y="1552680"/>
            <a:ext cx="4208400" cy="26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Cloud Application Zone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8" name="">
            <a:extLst xmlns:a="http://schemas.openxmlformats.org/drawingml/2006/main">
              <a:ext uri="{FF2B5EF4-FFF2-40B4-BE49-F238E27FC236}">
                <a16:creationId xmlns:a16="http://schemas.microsoft.com/office/drawing/2014/main" id="{8CBE499A-025C-4021-98EF-5ECCF894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600" y="2190600"/>
            <a:ext cx="1427040" cy="72216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8DED0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Cloud Edge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TLS 443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9" name="">
            <a:extLst xmlns:a="http://schemas.openxmlformats.org/drawingml/2006/main">
              <a:ext uri="{FF2B5EF4-FFF2-40B4-BE49-F238E27FC236}">
                <a16:creationId xmlns:a16="http://schemas.microsoft.com/office/drawing/2014/main" id="{893CDF1D-C0F6-4DE0-B6CE-E4FF6F62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160" y="2190600"/>
            <a:ext cx="1665000" cy="72216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FastAPI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／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UI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0" name="">
            <a:extLst xmlns:a="http://schemas.openxmlformats.org/drawingml/2006/main">
              <a:ext uri="{FF2B5EF4-FFF2-40B4-BE49-F238E27FC236}">
                <a16:creationId xmlns:a16="http://schemas.microsoft.com/office/drawing/2014/main" id="{638D8343-1776-4B08-8ED0-342939F4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600" y="3619440"/>
            <a:ext cx="1427040" cy="72216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Inbox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／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Outbox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1" name="">
            <a:extLst xmlns:a="http://schemas.openxmlformats.org/drawingml/2006/main">
              <a:ext uri="{FF2B5EF4-FFF2-40B4-BE49-F238E27FC236}">
                <a16:creationId xmlns:a16="http://schemas.microsoft.com/office/drawing/2014/main" id="{9C8B1B20-BFF0-43C0-8B0A-A67702E7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160" y="3619440"/>
            <a:ext cx="1665000" cy="72216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Workers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／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Jobs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2" name="">
            <a:extLst xmlns:a="http://schemas.openxmlformats.org/drawingml/2006/main">
              <a:ext uri="{FF2B5EF4-FFF2-40B4-BE49-F238E27FC236}">
                <a16:creationId xmlns:a16="http://schemas.microsoft.com/office/drawing/2014/main" id="{CA52F713-15B9-4FAD-B8DB-598DC601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480" y="2762280"/>
            <a:ext cx="1427040" cy="112212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8DED0"/>
          </a:solidFill>
          <a:ln xmlns:a="http://schemas.openxmlformats.org/drawingml/2006/main" w="11430">
            <a:solidFill>
              <a:srgbClr val="D8B49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加密 </a:t>
            </a: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VPN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Private Link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3" name="">
            <a:extLst xmlns:a="http://schemas.openxmlformats.org/drawingml/2006/main">
              <a:ext uri="{FF2B5EF4-FFF2-40B4-BE49-F238E27FC236}">
                <a16:creationId xmlns:a16="http://schemas.microsoft.com/office/drawing/2014/main" id="{BAED1993-A579-48BE-8DF5-565CDBAB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680" y="1714680"/>
            <a:ext cx="1950840" cy="314136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E4E9DF"/>
          </a:solidFill>
          <a:ln xmlns:a="http://schemas.openxmlformats.org/drawingml/2006/main" w="11430">
            <a:solidFill>
              <a:srgbClr val="AAB6A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4" name="">
            <a:extLst xmlns:a="http://schemas.openxmlformats.org/drawingml/2006/main">
              <a:ext uri="{FF2B5EF4-FFF2-40B4-BE49-F238E27FC236}">
                <a16:creationId xmlns:a16="http://schemas.microsoft.com/office/drawing/2014/main" id="{730191A8-92D8-4460-BEA3-F4898543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80" y="1790640"/>
            <a:ext cx="1684080" cy="26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>
                <a:solidFill>
                  <a:srgbClr val="65735B"/>
                </a:solidFill>
                <a:latin typeface="Microsoft JhengHei"/>
                <a:ea typeface="Microsoft JhengHei"/>
                <a:cs typeface="Microsoft JhengHei"/>
              </a:rPr>
              <a:t>地端 </a:t>
            </a:r>
            <a:r>
              <a:rPr sz="1430" b="1" u="none">
                <a:solidFill>
                  <a:srgbClr val="65735B"/>
                </a:solidFill>
                <a:latin typeface="Microsoft JhengHei"/>
                <a:ea typeface="Microsoft JhengHei"/>
                <a:cs typeface="Microsoft JhengHei"/>
              </a:rPr>
              <a:t>Data Zone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5" name="">
            <a:extLst xmlns:a="http://schemas.openxmlformats.org/drawingml/2006/main">
              <a:ext uri="{FF2B5EF4-FFF2-40B4-BE49-F238E27FC236}">
                <a16:creationId xmlns:a16="http://schemas.microsoft.com/office/drawing/2014/main" id="{F4F81F07-B1F2-4E55-BBC6-9717EB89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160" y="2333520"/>
            <a:ext cx="1379160" cy="66492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AAB6A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MySQL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6" name="">
            <a:extLst xmlns:a="http://schemas.openxmlformats.org/drawingml/2006/main">
              <a:ext uri="{FF2B5EF4-FFF2-40B4-BE49-F238E27FC236}">
                <a16:creationId xmlns:a16="http://schemas.microsoft.com/office/drawing/2014/main" id="{9272A873-F295-4F22-814D-9FAF4B59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160" y="3333600"/>
            <a:ext cx="1379160" cy="55080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AAB6A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Archive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7" name="">
            <a:extLst xmlns:a="http://schemas.openxmlformats.org/drawingml/2006/main">
              <a:ext uri="{FF2B5EF4-FFF2-40B4-BE49-F238E27FC236}">
                <a16:creationId xmlns:a16="http://schemas.microsoft.com/office/drawing/2014/main" id="{C5B2AEE4-1289-4193-94B7-F7B5F398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160" y="4143240"/>
            <a:ext cx="1379160" cy="55080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AAB6A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00" tIns="66600" rIns="66600" bIns="666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Backup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48" name=""/>
          <p:cNvCxnSpPr>
            <a:stCxn xmlns:a="http://schemas.openxmlformats.org/drawingml/2006/main" id="904" idx="3"/>
            <a:endCxn xmlns:a="http://schemas.openxmlformats.org/drawingml/2006/main" id="908" idx="1"/>
          </p:cNvCxnSpPr>
          <p:nvPr/>
        </p:nvCxnSpPr>
        <p:spPr>
          <a:xfrm xmlns:a="http://schemas.openxmlformats.org/drawingml/2006/main" flipV="1">
            <a:off x="2236680" y="2551680"/>
            <a:ext cx="1097280" cy="124200"/>
          </a:xfrm>
          <a:prstGeom xmlns:a="http://schemas.openxmlformats.org/drawingml/2006/main" prst="bentConnector3">
            <a:avLst>
              <a:gd name="adj1" fmla="val 50082"/>
            </a:avLst>
          </a:prstGeom>
          <a:ln xmlns:a="http://schemas.openxmlformats.org/drawingml/2006/main" w="19050">
            <a:solidFill>
              <a:srgbClr val="B56F49"/>
            </a:solidFill>
            <a:round/>
            <a:tailEnd type="triangle" w="sm" len="sm"/>
          </a:ln>
        </p:spPr>
      </p:cxnSp>
      <p:cxnSp>
        <p:nvCxnSpPr>
          <p:cNvPr id="949" name=""/>
          <p:cNvCxnSpPr>
            <a:stCxn xmlns:a="http://schemas.openxmlformats.org/drawingml/2006/main" id="905" idx="3"/>
            <a:endCxn xmlns:a="http://schemas.openxmlformats.org/drawingml/2006/main" id="908" idx="1"/>
          </p:cNvCxnSpPr>
          <p:nvPr/>
        </p:nvCxnSpPr>
        <p:spPr>
          <a:xfrm xmlns:a="http://schemas.openxmlformats.org/drawingml/2006/main" flipV="1">
            <a:off x="2236680" y="2551680"/>
            <a:ext cx="1097280" cy="1315080"/>
          </a:xfrm>
          <a:prstGeom xmlns:a="http://schemas.openxmlformats.org/drawingml/2006/main" prst="bentConnector3">
            <a:avLst>
              <a:gd name="adj1" fmla="val 50082"/>
            </a:avLst>
          </a:prstGeom>
          <a:ln xmlns:a="http://schemas.openxmlformats.org/drawingml/2006/main" w="19050">
            <a:solidFill>
              <a:srgbClr val="B56F49"/>
            </a:solidFill>
            <a:round/>
            <a:tailEnd type="triangle" w="sm" len="sm"/>
          </a:ln>
        </p:spPr>
      </p:cxnSp>
      <p:cxnSp>
        <p:nvCxnSpPr>
          <p:cNvPr id="950" name=""/>
          <p:cNvCxnSpPr>
            <a:stCxn xmlns:a="http://schemas.openxmlformats.org/drawingml/2006/main" id="908" idx="3"/>
            <a:endCxn xmlns:a="http://schemas.openxmlformats.org/drawingml/2006/main" id="909" idx="1"/>
          </p:cNvCxnSpPr>
          <p:nvPr/>
        </p:nvCxnSpPr>
        <p:spPr>
          <a:xfrm xmlns:a="http://schemas.openxmlformats.org/drawingml/2006/main">
            <a:off x="4760640" y="2551680"/>
            <a:ext cx="6688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round/>
            <a:tailEnd type="triangle" w="sm" len="sm"/>
          </a:ln>
        </p:spPr>
      </p:cxnSp>
      <p:cxnSp>
        <p:nvCxnSpPr>
          <p:cNvPr id="951" name=""/>
          <p:cNvCxnSpPr>
            <a:stCxn xmlns:a="http://schemas.openxmlformats.org/drawingml/2006/main" id="909" idx="2"/>
            <a:endCxn xmlns:a="http://schemas.openxmlformats.org/drawingml/2006/main" id="910" idx="0"/>
          </p:cNvCxnSpPr>
          <p:nvPr/>
        </p:nvCxnSpPr>
        <p:spPr>
          <a:xfrm xmlns:a="http://schemas.openxmlformats.org/drawingml/2006/main" rot="5400000">
            <a:off x="4800960" y="2158560"/>
            <a:ext cx="707040" cy="2215080"/>
          </a:xfrm>
          <a:prstGeom xmlns:a="http://schemas.openxmlformats.org/drawingml/2006/main" prst="bentConnector3">
            <a:avLst>
              <a:gd name="adj1" fmla="val 50178"/>
            </a:avLst>
          </a:prstGeom>
          <a:ln xmlns:a="http://schemas.openxmlformats.org/drawingml/2006/main" w="19050">
            <a:solidFill>
              <a:srgbClr val="B56F49"/>
            </a:solidFill>
            <a:round/>
            <a:tailEnd type="triangle" w="sm" len="sm"/>
          </a:ln>
        </p:spPr>
      </p:cxnSp>
      <p:cxnSp>
        <p:nvCxnSpPr>
          <p:cNvPr id="952" name=""/>
          <p:cNvCxnSpPr>
            <a:stCxn xmlns:a="http://schemas.openxmlformats.org/drawingml/2006/main" id="910" idx="3"/>
            <a:endCxn xmlns:a="http://schemas.openxmlformats.org/drawingml/2006/main" id="911" idx="1"/>
          </p:cNvCxnSpPr>
          <p:nvPr/>
        </p:nvCxnSpPr>
        <p:spPr>
          <a:xfrm xmlns:a="http://schemas.openxmlformats.org/drawingml/2006/main">
            <a:off x="4760640" y="3980520"/>
            <a:ext cx="6688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round/>
            <a:tailEnd type="triangle" w="sm" len="sm"/>
          </a:ln>
        </p:spPr>
      </p:cxnSp>
      <p:cxnSp>
        <p:nvCxnSpPr>
          <p:cNvPr id="953" name=""/>
          <p:cNvCxnSpPr>
            <a:stCxn xmlns:a="http://schemas.openxmlformats.org/drawingml/2006/main" id="909" idx="3"/>
            <a:endCxn xmlns:a="http://schemas.openxmlformats.org/drawingml/2006/main" id="912" idx="1"/>
          </p:cNvCxnSpPr>
          <p:nvPr/>
        </p:nvCxnSpPr>
        <p:spPr>
          <a:xfrm xmlns:a="http://schemas.openxmlformats.org/drawingml/2006/main">
            <a:off x="7094160" y="2551680"/>
            <a:ext cx="859680" cy="772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round/>
            <a:tailEnd type="triangle" w="sm" len="sm"/>
          </a:ln>
        </p:spPr>
      </p:cxnSp>
      <p:cxnSp>
        <p:nvCxnSpPr>
          <p:cNvPr id="954" name=""/>
          <p:cNvCxnSpPr>
            <a:stCxn xmlns:a="http://schemas.openxmlformats.org/drawingml/2006/main" id="911" idx="3"/>
            <a:endCxn xmlns:a="http://schemas.openxmlformats.org/drawingml/2006/main" id="912" idx="2"/>
          </p:cNvCxnSpPr>
          <p:nvPr/>
        </p:nvCxnSpPr>
        <p:spPr>
          <a:xfrm xmlns:a="http://schemas.openxmlformats.org/drawingml/2006/main" flipV="1">
            <a:off x="7094160" y="3884400"/>
            <a:ext cx="1573200" cy="9648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B56F49"/>
            </a:solidFill>
            <a:round/>
            <a:tailEnd type="triangle" w="sm" len="sm"/>
          </a:ln>
        </p:spPr>
      </p:cxnSp>
      <p:cxnSp>
        <p:nvCxnSpPr>
          <p:cNvPr id="955" name=""/>
          <p:cNvCxnSpPr>
            <a:stCxn xmlns:a="http://schemas.openxmlformats.org/drawingml/2006/main" id="912" idx="3"/>
            <a:endCxn xmlns:a="http://schemas.openxmlformats.org/drawingml/2006/main" id="915" idx="1"/>
          </p:cNvCxnSpPr>
          <p:nvPr/>
        </p:nvCxnSpPr>
        <p:spPr>
          <a:xfrm xmlns:a="http://schemas.openxmlformats.org/drawingml/2006/main" flipV="1">
            <a:off x="9380520" y="2666160"/>
            <a:ext cx="621000" cy="6577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6A0"/>
            </a:solidFill>
            <a:round/>
            <a:tailEnd type="triangle" w="sm" len="sm"/>
          </a:ln>
        </p:spPr>
      </p:cxnSp>
      <p:cxnSp>
        <p:nvCxnSpPr>
          <p:cNvPr id="956" name=""/>
          <p:cNvCxnSpPr>
            <a:stCxn xmlns:a="http://schemas.openxmlformats.org/drawingml/2006/main" id="915" idx="2"/>
            <a:endCxn xmlns:a="http://schemas.openxmlformats.org/drawingml/2006/main" id="916" idx="0"/>
          </p:cNvCxnSpPr>
          <p:nvPr/>
        </p:nvCxnSpPr>
        <p:spPr>
          <a:xfrm xmlns:a="http://schemas.openxmlformats.org/drawingml/2006/main">
            <a:off x="10690920" y="2998440"/>
            <a:ext cx="360" cy="3355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6A0"/>
            </a:solidFill>
            <a:round/>
            <a:tailEnd type="triangle" w="sm" len="sm"/>
          </a:ln>
        </p:spPr>
      </p:cxnSp>
      <p:cxnSp>
        <p:nvCxnSpPr>
          <p:cNvPr id="957" name=""/>
          <p:cNvCxnSpPr>
            <a:stCxn xmlns:a="http://schemas.openxmlformats.org/drawingml/2006/main" id="916" idx="2"/>
            <a:endCxn xmlns:a="http://schemas.openxmlformats.org/drawingml/2006/main" id="917" idx="0"/>
          </p:cNvCxnSpPr>
          <p:nvPr/>
        </p:nvCxnSpPr>
        <p:spPr>
          <a:xfrm xmlns:a="http://schemas.openxmlformats.org/drawingml/2006/main">
            <a:off x="10690920" y="3884400"/>
            <a:ext cx="360" cy="25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6A0"/>
            </a:solidFill>
            <a:round/>
            <a:tailEnd type="triangle" w="sm" len="sm"/>
          </a:ln>
        </p:spPr>
      </p:cxnSp>
      <p:sp>
        <p:nvSpPr>
          <p:cNvPr id="928" name="">
            <a:extLst xmlns:a="http://schemas.openxmlformats.org/drawingml/2006/main">
              <a:ext uri="{FF2B5EF4-FFF2-40B4-BE49-F238E27FC236}">
                <a16:creationId xmlns:a16="http://schemas.microsoft.com/office/drawing/2014/main" id="{8145C4A2-D07A-48D1-9301-1A6DC51F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920" y="5572080"/>
            <a:ext cx="7522920" cy="32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7240" tIns="38160" rIns="57240" bIns="3816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0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候選方案｜應用在雲端、資料留地端；需治理 </a:t>
            </a:r>
            <a:r>
              <a:rPr sz="1430" b="0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VPN</a:t>
            </a:r>
            <a:r>
              <a:rPr sz="1430" b="0" u="none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、延遲與網路中斷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9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2D33F27A-69B8-45C6-B5C1-FB947B41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0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7A6FB4BB-2ED9-4616-98C9-EE3AF114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64758505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0" name="Text 151">
            <a:extLst xmlns:a="http://schemas.openxmlformats.org/drawingml/2006/main">
              <a:ext uri="{FF2B5EF4-FFF2-40B4-BE49-F238E27FC236}">
                <a16:creationId xmlns:a16="http://schemas.microsoft.com/office/drawing/2014/main" id="{167CE426-C55F-4857-80DC-2F0D645A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部署決策的兩難：數據隱私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vs.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服務可用性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1" name="Text 152">
            <a:extLst xmlns:a="http://schemas.openxmlformats.org/drawingml/2006/main">
              <a:ext uri="{FF2B5EF4-FFF2-40B4-BE49-F238E27FC236}">
                <a16:creationId xmlns:a16="http://schemas.microsoft.com/office/drawing/2014/main" id="{662C66C3-D779-4967-B254-BD7C889F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2049120"/>
            <a:ext cx="1147716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在規劃工會系統部署架構時，技術架構小組識別出三項核心矛盾，這些矛盾構成了本次架構決策的根本驅動力。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52" name="Imag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e68989e164b9d"/>
          <a:stretch xmlns:a="http://schemas.openxmlformats.org/drawingml/2006/main"/>
        </p:blipFill>
        <p:spPr>
          <a:xfrm xmlns:a="http://schemas.openxmlformats.org/drawingml/2006/main">
            <a:off x="661320" y="2500200"/>
            <a:ext cx="3511080" cy="20415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933" name="Text 153">
            <a:extLst xmlns:a="http://schemas.openxmlformats.org/drawingml/2006/main">
              <a:ext uri="{FF2B5EF4-FFF2-40B4-BE49-F238E27FC236}">
                <a16:creationId xmlns:a16="http://schemas.microsoft.com/office/drawing/2014/main" id="{B6A38DE8-F9FC-4E0C-AEA9-6B58AFF5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60" y="2684160"/>
            <a:ext cx="3066120" cy="515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挑戰一：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LINE Bot 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需要 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24/7 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高可用性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4" name="Text 154">
            <a:extLst xmlns:a="http://schemas.openxmlformats.org/drawingml/2006/main">
              <a:ext uri="{FF2B5EF4-FFF2-40B4-BE49-F238E27FC236}">
                <a16:creationId xmlns:a16="http://schemas.microsoft.com/office/drawing/2014/main" id="{F8CF37FF-0409-4456-973E-E7EC4FBE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60" y="3300480"/>
            <a:ext cx="3066120" cy="1056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辦公室停電、斷網或電腦誤關機，會導致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LINE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官方帳號漏接訊息。工會服務對象為廣大會員，任何服務中斷均直接影響會員權益與信任度，不可接受。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55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e68989e164b9d"/>
          <a:stretch xmlns:a="http://schemas.openxmlformats.org/drawingml/2006/main"/>
        </p:blipFill>
        <p:spPr>
          <a:xfrm xmlns:a="http://schemas.openxmlformats.org/drawingml/2006/main">
            <a:off x="4339440" y="2500200"/>
            <a:ext cx="3511080" cy="20415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936" name="Text 155">
            <a:extLst xmlns:a="http://schemas.openxmlformats.org/drawingml/2006/main">
              <a:ext uri="{FF2B5EF4-FFF2-40B4-BE49-F238E27FC236}">
                <a16:creationId xmlns:a16="http://schemas.microsoft.com/office/drawing/2014/main" id="{FD9D9615-9D1A-41DB-A532-90F871EE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720" y="2684160"/>
            <a:ext cx="3066480" cy="515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挑戰二：敏感帳務與會員資料的資安防護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7" name="Text 156">
            <a:extLst xmlns:a="http://schemas.openxmlformats.org/drawingml/2006/main">
              <a:ext uri="{FF2B5EF4-FFF2-40B4-BE49-F238E27FC236}">
                <a16:creationId xmlns:a16="http://schemas.microsoft.com/office/drawing/2014/main" id="{0BC65C46-9385-4159-B363-056D6A66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720" y="3300480"/>
            <a:ext cx="3066480" cy="1056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嚴格的資料主權要求，財務與個資不宜直接裸露於公網雲端資料庫。工會依法對會員個人資料負有保管責任，資料外洩風險不可承擔。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58" name="Imag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e68989e164b9d"/>
          <a:stretch xmlns:a="http://schemas.openxmlformats.org/drawingml/2006/main"/>
        </p:blipFill>
        <p:spPr>
          <a:xfrm xmlns:a="http://schemas.openxmlformats.org/drawingml/2006/main">
            <a:off x="8017200" y="2500200"/>
            <a:ext cx="3511080" cy="20415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939" name="Text 157">
            <a:extLst xmlns:a="http://schemas.openxmlformats.org/drawingml/2006/main">
              <a:ext uri="{FF2B5EF4-FFF2-40B4-BE49-F238E27FC236}">
                <a16:creationId xmlns:a16="http://schemas.microsoft.com/office/drawing/2014/main" id="{1F5D8F62-A6AA-43B5-A446-1A059F1B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840" y="2684520"/>
            <a:ext cx="3066120" cy="256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挑戰三：硬體與維運成本控制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0" name="Text 158">
            <a:extLst xmlns:a="http://schemas.openxmlformats.org/drawingml/2006/main">
              <a:ext uri="{FF2B5EF4-FFF2-40B4-BE49-F238E27FC236}">
                <a16:creationId xmlns:a16="http://schemas.microsoft.com/office/drawing/2014/main" id="{53763671-27D8-45C4-A1AE-E4A6580B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840" y="3042000"/>
            <a:ext cx="3066120" cy="1056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在地端運行高規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AI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模型硬體成本極高；若雲端資料庫突發流量費用不可控。需在服務品質與總擁有成本（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TCO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）之間取得最佳平衡。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1" name="Shape 106">
            <a:extLst xmlns:a="http://schemas.openxmlformats.org/drawingml/2006/main">
              <a:ext uri="{FF2B5EF4-FFF2-40B4-BE49-F238E27FC236}">
                <a16:creationId xmlns:a16="http://schemas.microsoft.com/office/drawing/2014/main" id="{B8CD8EED-532C-4C20-BD52-29A93502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4729680"/>
            <a:ext cx="10867680" cy="924120"/>
          </a:xfrm>
          <a:prstGeom xmlns:a="http://schemas.openxmlformats.org/drawingml/2006/main" prst="roundRect">
            <a:avLst>
              <a:gd name="adj" fmla="val 7502"/>
            </a:avLst>
          </a:prstGeom>
          <a:solidFill xmlns:a="http://schemas.openxmlformats.org/drawingml/2006/main">
            <a:srgbClr val="F5DFD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62" name="Imag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1e1b3ee8f4eaa"/>
          <a:stretch xmlns:a="http://schemas.openxmlformats.org/drawingml/2006/main"/>
        </p:blipFill>
        <p:spPr>
          <a:xfrm xmlns:a="http://schemas.openxmlformats.org/drawingml/2006/main">
            <a:off x="826560" y="4969080"/>
            <a:ext cx="205200" cy="1634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943" name="Text 159">
            <a:extLst xmlns:a="http://schemas.openxmlformats.org/drawingml/2006/main">
              <a:ext uri="{FF2B5EF4-FFF2-40B4-BE49-F238E27FC236}">
                <a16:creationId xmlns:a16="http://schemas.microsoft.com/office/drawing/2014/main" id="{EA47F6CC-C253-49A8-BAF5-59D05578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440" y="4935960"/>
            <a:ext cx="10164960" cy="527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三項挑戰相互制約：提升可用性往往需要雲端化，但雲端化又引發資安疑慮；強化地端資安則增加硬體成本與維運複雜度。混合架構正是破解此三角困境的關鍵。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4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000210B8-E235-42F9-9448-0891ECF5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9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7355C36B-90B4-4853-B603-21F452F7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58774022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5" name="Text 160">
            <a:extLst xmlns:a="http://schemas.openxmlformats.org/drawingml/2006/main">
              <a:ext uri="{FF2B5EF4-FFF2-40B4-BE49-F238E27FC236}">
                <a16:creationId xmlns:a16="http://schemas.microsoft.com/office/drawing/2014/main" id="{7936EF39-A666-4B3C-A6F1-ACA651DB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方案評估：全地端雙機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vs.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雲端主體混合架構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6" name="Text 161">
            <a:extLst xmlns:a="http://schemas.openxmlformats.org/drawingml/2006/main">
              <a:ext uri="{FF2B5EF4-FFF2-40B4-BE49-F238E27FC236}">
                <a16:creationId xmlns:a16="http://schemas.microsoft.com/office/drawing/2014/main" id="{C9E265A6-2C80-4B28-B06B-83989DF1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1323360"/>
            <a:ext cx="1147716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技術架構小組針對兩種主要部署方案進行多維度系統性評估，以下比較表呈現各評估維度的詳細對照結果。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7" name="Shape 107">
            <a:extLst xmlns:a="http://schemas.openxmlformats.org/drawingml/2006/main">
              <a:ext uri="{FF2B5EF4-FFF2-40B4-BE49-F238E27FC236}">
                <a16:creationId xmlns:a16="http://schemas.microsoft.com/office/drawing/2014/main" id="{A6B3700C-1C5F-4AC0-BD8E-0B285926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1774440"/>
            <a:ext cx="10867320" cy="3493440"/>
          </a:xfrm>
          <a:prstGeom xmlns:a="http://schemas.openxmlformats.org/drawingml/2006/main" prst="roundRect">
            <a:avLst>
              <a:gd name="adj" fmla="val 1987"/>
            </a:avLst>
          </a:prstGeom>
          <a:noFill xmlns:a="http://schemas.openxmlformats.org/drawingml/2006/main"/>
          <a:ln xmlns:a="http://schemas.openxmlformats.org/drawingml/2006/main" w="4763">
            <a:solidFill>
              <a:srgbClr val="000000">
                <a:alpha val="8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8" name="Shape 108">
            <a:extLst xmlns:a="http://schemas.openxmlformats.org/drawingml/2006/main">
              <a:ext uri="{FF2B5EF4-FFF2-40B4-BE49-F238E27FC236}">
                <a16:creationId xmlns:a16="http://schemas.microsoft.com/office/drawing/2014/main" id="{1D681071-C007-44B3-9088-DF6DF1B9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2259720"/>
            <a:ext cx="1086768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8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7080" rIns="90000" bIns="-3708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9" name="Shape 109">
            <a:extLst xmlns:a="http://schemas.openxmlformats.org/drawingml/2006/main">
              <a:ext uri="{FF2B5EF4-FFF2-40B4-BE49-F238E27FC236}">
                <a16:creationId xmlns:a16="http://schemas.microsoft.com/office/drawing/2014/main" id="{74D31D23-C351-444A-A417-C71AE798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2760840"/>
            <a:ext cx="1086768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8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7080" rIns="90000" bIns="-3708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0" name="Shape 110">
            <a:extLst xmlns:a="http://schemas.openxmlformats.org/drawingml/2006/main">
              <a:ext uri="{FF2B5EF4-FFF2-40B4-BE49-F238E27FC236}">
                <a16:creationId xmlns:a16="http://schemas.microsoft.com/office/drawing/2014/main" id="{5EFC147B-A480-40CE-9098-315D9DFB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3261960"/>
            <a:ext cx="1086768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8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7080" rIns="90000" bIns="-3708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1" name="Shape 111">
            <a:extLst xmlns:a="http://schemas.openxmlformats.org/drawingml/2006/main">
              <a:ext uri="{FF2B5EF4-FFF2-40B4-BE49-F238E27FC236}">
                <a16:creationId xmlns:a16="http://schemas.microsoft.com/office/drawing/2014/main" id="{F8E397CB-F22D-4CCB-9D59-0276434A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3762720"/>
            <a:ext cx="1086768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8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7080" rIns="90000" bIns="-3708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2" name="Shape 112">
            <a:extLst xmlns:a="http://schemas.openxmlformats.org/drawingml/2006/main">
              <a:ext uri="{FF2B5EF4-FFF2-40B4-BE49-F238E27FC236}">
                <a16:creationId xmlns:a16="http://schemas.microsoft.com/office/drawing/2014/main" id="{F72DD751-47BA-41FE-B8F7-2B87D7D4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4263840"/>
            <a:ext cx="1086768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8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7080" rIns="90000" bIns="-3708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3" name="Shape 113">
            <a:extLst xmlns:a="http://schemas.openxmlformats.org/drawingml/2006/main">
              <a:ext uri="{FF2B5EF4-FFF2-40B4-BE49-F238E27FC236}">
                <a16:creationId xmlns:a16="http://schemas.microsoft.com/office/drawing/2014/main" id="{12F363B0-78FB-4C7C-BF40-AE9FF51F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4764960"/>
            <a:ext cx="1086768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8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7080" rIns="90000" bIns="-3708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4" name="Shape 114">
            <a:extLst xmlns:a="http://schemas.openxmlformats.org/drawingml/2006/main">
              <a:ext uri="{FF2B5EF4-FFF2-40B4-BE49-F238E27FC236}">
                <a16:creationId xmlns:a16="http://schemas.microsoft.com/office/drawing/2014/main" id="{723D0769-85E0-4789-B965-AD767488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280" y="1774440"/>
            <a:ext cx="9000" cy="349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8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3600" tIns="45000" rIns="36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5" name="Shape 115">
            <a:extLst xmlns:a="http://schemas.openxmlformats.org/drawingml/2006/main">
              <a:ext uri="{FF2B5EF4-FFF2-40B4-BE49-F238E27FC236}">
                <a16:creationId xmlns:a16="http://schemas.microsoft.com/office/drawing/2014/main" id="{D479363B-85AB-4655-9C57-BBEF8EE5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160" y="1774440"/>
            <a:ext cx="9000" cy="349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8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3600" tIns="45000" rIns="36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6" name="Shape 116">
            <a:extLst xmlns:a="http://schemas.openxmlformats.org/drawingml/2006/main">
              <a:ext uri="{FF2B5EF4-FFF2-40B4-BE49-F238E27FC236}">
                <a16:creationId xmlns:a16="http://schemas.microsoft.com/office/drawing/2014/main" id="{6B42CA38-5712-4957-A0D2-43BA55EB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00" y="1780560"/>
            <a:ext cx="3038400" cy="477360"/>
          </a:xfrm>
          <a:custGeom xmlns:a="http://schemas.openxmlformats.org/drawingml/2006/main">
            <a:gdLst>
              <a:gd name="textAreaLeft" fmla="*/ 0 w 3038400"/>
              <a:gd name="textAreaRight" fmla="*/ 3039840 w 3038400"/>
              <a:gd name="textAreaTop" fmla="*/ 0 h 477360"/>
              <a:gd name="textAreaBottom" fmla="*/ 478800 h 477360"/>
            </a:gdLst>
            <a:rect l="textAreaLeft" t="textAreaTop" r="textAreaRight" b="textAreaBottom"/>
            <a:pathLst>
              <a:path w="2279824" h="359197">
                <a:moveTo>
                  <a:pt x="43416" y="0"/>
                </a:moveTo>
                <a:lnTo>
                  <a:pt x="2279824" y="0"/>
                </a:lnTo>
                <a:lnTo>
                  <a:pt x="2279824" y="359197"/>
                </a:lnTo>
                <a:lnTo>
                  <a:pt x="0" y="359197"/>
                </a:lnTo>
                <a:lnTo>
                  <a:pt x="0" y="43416"/>
                </a:lnTo>
                <a:arcTo wR="43416" hR="43416" stAng="10800000" swAng="5400000"/>
                <a:close/>
              </a:path>
            </a:pathLst>
          </a:custGeom>
          <a:solidFill xmlns:a="http://schemas.openxmlformats.org/drawingml/2006/main">
            <a:srgbClr val="3C312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7" name="Text 162">
            <a:extLst xmlns:a="http://schemas.openxmlformats.org/drawingml/2006/main">
              <a:ext uri="{FF2B5EF4-FFF2-40B4-BE49-F238E27FC236}">
                <a16:creationId xmlns:a16="http://schemas.microsoft.com/office/drawing/2014/main" id="{C5B6121C-45E6-4D5B-A30E-ED9D03A2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40" y="1886040"/>
            <a:ext cx="331380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評估維度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8" name="Shape 117">
            <a:extLst xmlns:a="http://schemas.openxmlformats.org/drawingml/2006/main">
              <a:ext uri="{FF2B5EF4-FFF2-40B4-BE49-F238E27FC236}">
                <a16:creationId xmlns:a16="http://schemas.microsoft.com/office/drawing/2014/main" id="{33EC76D3-42EF-4E67-AB17-B9C7B42B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280" y="1780560"/>
            <a:ext cx="3906360" cy="47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666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9" name="Text 163">
            <a:extLst xmlns:a="http://schemas.openxmlformats.org/drawingml/2006/main">
              <a:ext uri="{FF2B5EF4-FFF2-40B4-BE49-F238E27FC236}">
                <a16:creationId xmlns:a16="http://schemas.microsoft.com/office/drawing/2014/main" id="{F3F3125E-2E0E-4AD2-8314-3733481C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760" y="1886040"/>
            <a:ext cx="417924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方案 </a:t>
            </a:r>
            <a:r>
              <a:rPr sz="1430" b="1" u="none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A</a:t>
            </a:r>
            <a:r>
              <a:rPr sz="1430" b="1" u="none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：全地端雙機架構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0" name="Shape 118">
            <a:extLst xmlns:a="http://schemas.openxmlformats.org/drawingml/2006/main">
              <a:ext uri="{FF2B5EF4-FFF2-40B4-BE49-F238E27FC236}">
                <a16:creationId xmlns:a16="http://schemas.microsoft.com/office/drawing/2014/main" id="{BAC97D48-67C8-4DB8-B9FA-11637265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160" y="1780560"/>
            <a:ext cx="3906360" cy="477360"/>
          </a:xfrm>
          <a:custGeom xmlns:a="http://schemas.openxmlformats.org/drawingml/2006/main">
            <a:gdLst>
              <a:gd name="textAreaLeft" fmla="*/ 0 w 3906360"/>
              <a:gd name="textAreaRight" fmla="*/ 3907800 w 3906360"/>
              <a:gd name="textAreaTop" fmla="*/ 0 h 477360"/>
              <a:gd name="textAreaBottom" fmla="*/ 478800 h 477360"/>
            </a:gdLst>
            <a:rect l="textAreaLeft" t="textAreaTop" r="textAreaRight" b="textAreaBottom"/>
            <a:pathLst>
              <a:path w="2931170" h="359197">
                <a:moveTo>
                  <a:pt x="0" y="0"/>
                </a:moveTo>
                <a:lnTo>
                  <a:pt x="2887754" y="0"/>
                </a:lnTo>
                <a:arcTo wR="43416" hR="43416" stAng="16200000" swAng="5400000"/>
                <a:lnTo>
                  <a:pt x="2931170" y="359197"/>
                </a:lnTo>
                <a:lnTo>
                  <a:pt x="0" y="3591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825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1" name="Text 164">
            <a:extLst xmlns:a="http://schemas.openxmlformats.org/drawingml/2006/main">
              <a:ext uri="{FF2B5EF4-FFF2-40B4-BE49-F238E27FC236}">
                <a16:creationId xmlns:a16="http://schemas.microsoft.com/office/drawing/2014/main" id="{B029E888-3820-4D32-8307-B3C90F24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0" y="1886040"/>
            <a:ext cx="418248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272525"/>
                </a:solidFill>
                <a:latin typeface="Noto Sans TC Bold"/>
                <a:ea typeface="Noto Sans TC Bold"/>
                <a:cs typeface="Noto Sans TC Bold"/>
              </a:rPr>
              <a:t>方案 </a:t>
            </a:r>
            <a:r>
              <a:rPr sz="1430" b="1" u="none">
                <a:solidFill>
                  <a:srgbClr val="272525"/>
                </a:solidFill>
                <a:latin typeface="Noto Sans TC Bold"/>
                <a:ea typeface="Noto Sans TC Bold"/>
                <a:cs typeface="Noto Sans TC Bold"/>
              </a:rPr>
              <a:t>B</a:t>
            </a:r>
            <a:r>
              <a:rPr sz="1430" b="1" u="none">
                <a:solidFill>
                  <a:srgbClr val="272525"/>
                </a:solidFill>
                <a:latin typeface="Noto Sans TC Bold"/>
                <a:ea typeface="Noto Sans TC Bold"/>
                <a:cs typeface="Noto Sans TC Bold"/>
              </a:rPr>
              <a:t>：雲端主體混合架構（最終選型）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2" name="Text 165">
            <a:extLst xmlns:a="http://schemas.openxmlformats.org/drawingml/2006/main">
              <a:ext uri="{FF2B5EF4-FFF2-40B4-BE49-F238E27FC236}">
                <a16:creationId xmlns:a16="http://schemas.microsoft.com/office/drawing/2014/main" id="{A330D1C7-2AEC-4ED1-8F6D-247CFDEB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40" y="2368080"/>
            <a:ext cx="331380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初期硬體成本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3" name="Text 166">
            <a:extLst xmlns:a="http://schemas.openxmlformats.org/drawingml/2006/main">
              <a:ext uri="{FF2B5EF4-FFF2-40B4-BE49-F238E27FC236}">
                <a16:creationId xmlns:a16="http://schemas.microsoft.com/office/drawing/2014/main" id="{75E13818-2E45-4253-8C03-39DC1F7F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760" y="2368080"/>
            <a:ext cx="4179240" cy="28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💵💵💵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 需採購高規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Laptop /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工作站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4" name="Text 167">
            <a:extLst xmlns:a="http://schemas.openxmlformats.org/drawingml/2006/main">
              <a:ext uri="{FF2B5EF4-FFF2-40B4-BE49-F238E27FC236}">
                <a16:creationId xmlns:a16="http://schemas.microsoft.com/office/drawing/2014/main" id="{DA0945F3-DF37-448A-83F6-9466DEB6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0" y="2368080"/>
            <a:ext cx="4182480" cy="28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💵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 現有電腦即可，雲端訂閱制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5" name="Text 168">
            <a:extLst xmlns:a="http://schemas.openxmlformats.org/drawingml/2006/main">
              <a:ext uri="{FF2B5EF4-FFF2-40B4-BE49-F238E27FC236}">
                <a16:creationId xmlns:a16="http://schemas.microsoft.com/office/drawing/2014/main" id="{D7514DF7-686F-4E30-A5D6-44DD440D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40" y="2869200"/>
            <a:ext cx="331380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服務可用性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6" name="Text 169">
            <a:extLst xmlns:a="http://schemas.openxmlformats.org/drawingml/2006/main">
              <a:ext uri="{FF2B5EF4-FFF2-40B4-BE49-F238E27FC236}">
                <a16:creationId xmlns:a16="http://schemas.microsoft.com/office/drawing/2014/main" id="{CC4B596E-AE54-4A16-9199-7770BE7D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760" y="2869200"/>
            <a:ext cx="4179240" cy="28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🟡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 受限於辦公室電力與網路穩定度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7" name="Text 170">
            <a:extLst xmlns:a="http://schemas.openxmlformats.org/drawingml/2006/main">
              <a:ext uri="{FF2B5EF4-FFF2-40B4-BE49-F238E27FC236}">
                <a16:creationId xmlns:a16="http://schemas.microsoft.com/office/drawing/2014/main" id="{CDC6513B-2BFF-46C9-A966-2F75CB8C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0" y="2869200"/>
            <a:ext cx="4182480" cy="28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🟢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 99.9%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雲端高可用性（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24/7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穩定）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8" name="Text 171">
            <a:extLst xmlns:a="http://schemas.openxmlformats.org/drawingml/2006/main">
              <a:ext uri="{FF2B5EF4-FFF2-40B4-BE49-F238E27FC236}">
                <a16:creationId xmlns:a16="http://schemas.microsoft.com/office/drawing/2014/main" id="{22043736-6160-468A-994D-D61B619F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40" y="3370320"/>
            <a:ext cx="331380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遠端維運性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9" name="Text 172">
            <a:extLst xmlns:a="http://schemas.openxmlformats.org/drawingml/2006/main">
              <a:ext uri="{FF2B5EF4-FFF2-40B4-BE49-F238E27FC236}">
                <a16:creationId xmlns:a16="http://schemas.microsoft.com/office/drawing/2014/main" id="{5553A436-2F39-4346-95BD-3A5015EB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760" y="3370320"/>
            <a:ext cx="4179240" cy="28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🟡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 斷網時需現場實體排查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0" name="Text 173">
            <a:extLst xmlns:a="http://schemas.openxmlformats.org/drawingml/2006/main">
              <a:ext uri="{FF2B5EF4-FFF2-40B4-BE49-F238E27FC236}">
                <a16:creationId xmlns:a16="http://schemas.microsoft.com/office/drawing/2014/main" id="{62717AAE-BB04-4174-A019-C2BD4C06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0" y="3370320"/>
            <a:ext cx="4182480" cy="28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🟢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 工程團隊可隨時遠端修補升級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1" name="Text 174">
            <a:extLst xmlns:a="http://schemas.openxmlformats.org/drawingml/2006/main">
              <a:ext uri="{FF2B5EF4-FFF2-40B4-BE49-F238E27FC236}">
                <a16:creationId xmlns:a16="http://schemas.microsoft.com/office/drawing/2014/main" id="{2CC33CE5-1B10-4E7E-87F3-68F0DB9B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40" y="3871080"/>
            <a:ext cx="331380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資料庫資安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2" name="Text 175">
            <a:extLst xmlns:a="http://schemas.openxmlformats.org/drawingml/2006/main">
              <a:ext uri="{FF2B5EF4-FFF2-40B4-BE49-F238E27FC236}">
                <a16:creationId xmlns:a16="http://schemas.microsoft.com/office/drawing/2014/main" id="{2F4354AE-12AB-4E52-B729-B03BE134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760" y="3871080"/>
            <a:ext cx="4179240" cy="28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🟢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 資料完全留在內部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NAS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3" name="Text 176">
            <a:extLst xmlns:a="http://schemas.openxmlformats.org/drawingml/2006/main">
              <a:ext uri="{FF2B5EF4-FFF2-40B4-BE49-F238E27FC236}">
                <a16:creationId xmlns:a16="http://schemas.microsoft.com/office/drawing/2014/main" id="{8A1399B7-993B-4D20-8142-42E43755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0" y="3871080"/>
            <a:ext cx="4182480" cy="28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🟢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 資料完全留在地端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NAS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（經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VPN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隔離）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4" name="Text 177">
            <a:extLst xmlns:a="http://schemas.openxmlformats.org/drawingml/2006/main">
              <a:ext uri="{FF2B5EF4-FFF2-40B4-BE49-F238E27FC236}">
                <a16:creationId xmlns:a16="http://schemas.microsoft.com/office/drawing/2014/main" id="{805F54BD-7F7B-41D4-B049-B07002F2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40" y="4372200"/>
            <a:ext cx="331380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AI 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模型運算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5" name="Text 178">
            <a:extLst xmlns:a="http://schemas.openxmlformats.org/drawingml/2006/main">
              <a:ext uri="{FF2B5EF4-FFF2-40B4-BE49-F238E27FC236}">
                <a16:creationId xmlns:a16="http://schemas.microsoft.com/office/drawing/2014/main" id="{D825F5F3-E7BC-4ED9-83FC-83C1C446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760" y="4372200"/>
            <a:ext cx="4179240" cy="28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🟡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 地端高規硬體成本極高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6" name="Text 179">
            <a:extLst xmlns:a="http://schemas.openxmlformats.org/drawingml/2006/main">
              <a:ext uri="{FF2B5EF4-FFF2-40B4-BE49-F238E27FC236}">
                <a16:creationId xmlns:a16="http://schemas.microsoft.com/office/drawing/2014/main" id="{C61DAA90-F676-4255-8D4F-AA498EFE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0" y="4372200"/>
            <a:ext cx="4182480" cy="28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🟢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 雲端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LLM API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彈性串接，按需付費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7" name="Text 180">
            <a:extLst xmlns:a="http://schemas.openxmlformats.org/drawingml/2006/main">
              <a:ext uri="{FF2B5EF4-FFF2-40B4-BE49-F238E27FC236}">
                <a16:creationId xmlns:a16="http://schemas.microsoft.com/office/drawing/2014/main" id="{5FEEAE6A-1386-4F21-B8B5-0EA44066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40" y="4873320"/>
            <a:ext cx="331380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擴充彈性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8" name="Text 181">
            <a:extLst xmlns:a="http://schemas.openxmlformats.org/drawingml/2006/main">
              <a:ext uri="{FF2B5EF4-FFF2-40B4-BE49-F238E27FC236}">
                <a16:creationId xmlns:a16="http://schemas.microsoft.com/office/drawing/2014/main" id="{25A9AFAD-C00D-43BF-9A0E-0CEA946C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760" y="4873320"/>
            <a:ext cx="4179240" cy="28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🟡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 受限於實體硬體規格上限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9" name="Text 182">
            <a:extLst xmlns:a="http://schemas.openxmlformats.org/drawingml/2006/main">
              <a:ext uri="{FF2B5EF4-FFF2-40B4-BE49-F238E27FC236}">
                <a16:creationId xmlns:a16="http://schemas.microsoft.com/office/drawing/2014/main" id="{0BD3E2E0-D954-45C5-A982-D7E36FF1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0" y="4873320"/>
            <a:ext cx="4182480" cy="28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🟢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 雲端運算資源可彈性擴充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0" name="Shape 119">
            <a:extLst xmlns:a="http://schemas.openxmlformats.org/drawingml/2006/main">
              <a:ext uri="{FF2B5EF4-FFF2-40B4-BE49-F238E27FC236}">
                <a16:creationId xmlns:a16="http://schemas.microsoft.com/office/drawing/2014/main" id="{3535BBC4-2A3E-450D-AF3E-EA138CCD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5455440"/>
            <a:ext cx="10867680" cy="924120"/>
          </a:xfrm>
          <a:prstGeom xmlns:a="http://schemas.openxmlformats.org/drawingml/2006/main" prst="roundRect">
            <a:avLst>
              <a:gd name="adj" fmla="val 7502"/>
            </a:avLst>
          </a:prstGeom>
          <a:solidFill xmlns:a="http://schemas.openxmlformats.org/drawingml/2006/main">
            <a:srgbClr val="B6FC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22" name="Imag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277e633874d0f"/>
          <a:stretch xmlns:a="http://schemas.openxmlformats.org/drawingml/2006/main"/>
        </p:blipFill>
        <p:spPr>
          <a:xfrm xmlns:a="http://schemas.openxmlformats.org/drawingml/2006/main">
            <a:off x="826560" y="5695200"/>
            <a:ext cx="205200" cy="1634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982" name="Text 183">
            <a:extLst xmlns:a="http://schemas.openxmlformats.org/drawingml/2006/main">
              <a:ext uri="{FF2B5EF4-FFF2-40B4-BE49-F238E27FC236}">
                <a16:creationId xmlns:a16="http://schemas.microsoft.com/office/drawing/2014/main" id="{A32D8527-CA7B-4975-81FA-2E006963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440" y="5661720"/>
            <a:ext cx="10164960" cy="527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方案 </a:t>
            </a: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B </a:t>
            </a: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在服務可用性、遠端維運性、成本效益與擴充彈性四個維度全面優於方案 </a:t>
            </a: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A</a:t>
            </a: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，且在資料庫資安維度達到同等保護水準，因此確定為最終選型。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3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EB68C13B-1D77-40C4-922D-61BBC848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5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903EED81-3DB5-4BB1-ABAE-8D1A23ED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09705700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4" name="Text 184">
            <a:extLst xmlns:a="http://schemas.openxmlformats.org/drawingml/2006/main">
              <a:ext uri="{FF2B5EF4-FFF2-40B4-BE49-F238E27FC236}">
                <a16:creationId xmlns:a16="http://schemas.microsoft.com/office/drawing/2014/main" id="{B1B76EF7-BDDA-4340-9381-FD148A2C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為什麼最終選擇「地端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+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雲端」混合架構？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5" name="Text 185">
            <a:extLst xmlns:a="http://schemas.openxmlformats.org/drawingml/2006/main">
              <a:ext uri="{FF2B5EF4-FFF2-40B4-BE49-F238E27FC236}">
                <a16:creationId xmlns:a16="http://schemas.microsoft.com/office/drawing/2014/main" id="{8439D895-1491-47DF-9556-91F2911B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1369080"/>
            <a:ext cx="1147716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混合架構的選型並非妥協，而是在充分評估後，針對工會系統特性所做出的最優解。以下四大支柱構成本次決策的核心理由。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6" name="Shape 120">
            <a:extLst xmlns:a="http://schemas.openxmlformats.org/drawingml/2006/main">
              <a:ext uri="{FF2B5EF4-FFF2-40B4-BE49-F238E27FC236}">
                <a16:creationId xmlns:a16="http://schemas.microsoft.com/office/drawing/2014/main" id="{370601B7-4FE4-400E-B583-27D2D18F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1820160"/>
            <a:ext cx="5350320" cy="2173320"/>
          </a:xfrm>
          <a:prstGeom xmlns:a="http://schemas.openxmlformats.org/drawingml/2006/main" prst="roundRect">
            <a:avLst>
              <a:gd name="adj" fmla="val 3193"/>
            </a:avLst>
          </a:prstGeom>
          <a:solidFill xmlns:a="http://schemas.openxmlformats.org/drawingml/2006/main">
            <a:srgbClr val="F5DFD6"/>
          </a:solidFill>
          <a:ln xmlns:a="http://schemas.openxmlformats.org/drawingml/2006/main" w="4763">
            <a:solidFill>
              <a:srgbClr val="DBC5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7" name="Shape 121">
            <a:extLst xmlns:a="http://schemas.openxmlformats.org/drawingml/2006/main">
              <a:ext uri="{FF2B5EF4-FFF2-40B4-BE49-F238E27FC236}">
                <a16:creationId xmlns:a16="http://schemas.microsoft.com/office/drawing/2014/main" id="{D4CCD521-C8ED-44E7-B3BA-6C30652E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40" y="1991160"/>
            <a:ext cx="494640" cy="494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25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16" name="Imag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e38277aec4f37"/>
          <a:stretch xmlns:a="http://schemas.openxmlformats.org/drawingml/2006/main"/>
        </p:blipFill>
        <p:spPr>
          <a:xfrm xmlns:a="http://schemas.openxmlformats.org/drawingml/2006/main">
            <a:off x="969480" y="2127600"/>
            <a:ext cx="221400" cy="221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989" name="Text 186">
            <a:extLst xmlns:a="http://schemas.openxmlformats.org/drawingml/2006/main">
              <a:ext uri="{FF2B5EF4-FFF2-40B4-BE49-F238E27FC236}">
                <a16:creationId xmlns:a16="http://schemas.microsoft.com/office/drawing/2014/main" id="{CBC86EC5-188F-4602-A6D3-E6F18C11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40" y="2652840"/>
            <a:ext cx="5007240" cy="2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🚀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 24/7 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服務零中斷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0" name="Text 187">
            <a:extLst xmlns:a="http://schemas.openxmlformats.org/drawingml/2006/main">
              <a:ext uri="{FF2B5EF4-FFF2-40B4-BE49-F238E27FC236}">
                <a16:creationId xmlns:a16="http://schemas.microsoft.com/office/drawing/2014/main" id="{BEA93AC7-485E-4F9E-A5BC-58FB0EE0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40" y="3029400"/>
            <a:ext cx="5007240" cy="79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LINE Webhook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與管理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API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放在雲端，不受辦公室停電影響。會員隨時可透過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LINE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官方帳號取得服務，工會形象與服務品質獲得根本性保障。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1" name="Shape 122">
            <a:extLst xmlns:a="http://schemas.openxmlformats.org/drawingml/2006/main">
              <a:ext uri="{FF2B5EF4-FFF2-40B4-BE49-F238E27FC236}">
                <a16:creationId xmlns:a16="http://schemas.microsoft.com/office/drawing/2014/main" id="{78482357-6037-4E51-A2FF-78D31113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680" y="1820160"/>
            <a:ext cx="5350320" cy="2173320"/>
          </a:xfrm>
          <a:prstGeom xmlns:a="http://schemas.openxmlformats.org/drawingml/2006/main" prst="roundRect">
            <a:avLst>
              <a:gd name="adj" fmla="val 3193"/>
            </a:avLst>
          </a:prstGeom>
          <a:solidFill xmlns:a="http://schemas.openxmlformats.org/drawingml/2006/main">
            <a:srgbClr val="F5DFD6"/>
          </a:solidFill>
          <a:ln xmlns:a="http://schemas.openxmlformats.org/drawingml/2006/main" w="4763">
            <a:solidFill>
              <a:srgbClr val="DBC5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2" name="Shape 123">
            <a:extLst xmlns:a="http://schemas.openxmlformats.org/drawingml/2006/main">
              <a:ext uri="{FF2B5EF4-FFF2-40B4-BE49-F238E27FC236}">
                <a16:creationId xmlns:a16="http://schemas.microsoft.com/office/drawing/2014/main" id="{5CCFC269-F4C7-468D-9F04-8478F8BE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400" y="1991160"/>
            <a:ext cx="494640" cy="494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25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21" name="Imag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affd29fc44190"/>
          <a:stretch xmlns:a="http://schemas.openxmlformats.org/drawingml/2006/main"/>
        </p:blipFill>
        <p:spPr>
          <a:xfrm xmlns:a="http://schemas.openxmlformats.org/drawingml/2006/main">
            <a:off x="6486480" y="2127600"/>
            <a:ext cx="221400" cy="221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994" name="Text 188">
            <a:extLst xmlns:a="http://schemas.openxmlformats.org/drawingml/2006/main">
              <a:ext uri="{FF2B5EF4-FFF2-40B4-BE49-F238E27FC236}">
                <a16:creationId xmlns:a16="http://schemas.microsoft.com/office/drawing/2014/main" id="{B2152A31-1AF2-4454-974C-0CC2464E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40" y="2652840"/>
            <a:ext cx="5007240" cy="2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🔒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 100% 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資料主權在地化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5" name="Text 189">
            <a:extLst xmlns:a="http://schemas.openxmlformats.org/drawingml/2006/main">
              <a:ext uri="{FF2B5EF4-FFF2-40B4-BE49-F238E27FC236}">
                <a16:creationId xmlns:a16="http://schemas.microsoft.com/office/drawing/2014/main" id="{245CA7D9-73FE-4279-85A3-D4AEAC9D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40" y="3029400"/>
            <a:ext cx="5007240" cy="79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MySQL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資料庫實體保留在地端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NAS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，絕不出境。所有會員根事實、訂單、帳務與派班資料均受地端防火牆與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VPN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雙重保護，符合個資法規要求。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6" name="Shape 124">
            <a:extLst xmlns:a="http://schemas.openxmlformats.org/drawingml/2006/main">
              <a:ext uri="{FF2B5EF4-FFF2-40B4-BE49-F238E27FC236}">
                <a16:creationId xmlns:a16="http://schemas.microsoft.com/office/drawing/2014/main" id="{603DEA98-13B6-4263-806A-1620F5D8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4160520"/>
            <a:ext cx="5350320" cy="2173320"/>
          </a:xfrm>
          <a:prstGeom xmlns:a="http://schemas.openxmlformats.org/drawingml/2006/main" prst="roundRect">
            <a:avLst>
              <a:gd name="adj" fmla="val 3193"/>
            </a:avLst>
          </a:prstGeom>
          <a:solidFill xmlns:a="http://schemas.openxmlformats.org/drawingml/2006/main">
            <a:srgbClr val="F5DFD6"/>
          </a:solidFill>
          <a:ln xmlns:a="http://schemas.openxmlformats.org/drawingml/2006/main" w="4763">
            <a:solidFill>
              <a:srgbClr val="DBC5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7" name="Shape 125">
            <a:extLst xmlns:a="http://schemas.openxmlformats.org/drawingml/2006/main">
              <a:ext uri="{FF2B5EF4-FFF2-40B4-BE49-F238E27FC236}">
                <a16:creationId xmlns:a16="http://schemas.microsoft.com/office/drawing/2014/main" id="{7D7CFF67-D5E3-4987-9A95-C1FC65D5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40" y="4331880"/>
            <a:ext cx="494640" cy="494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25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26" name="Imag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b39b82ab84967"/>
          <a:stretch xmlns:a="http://schemas.openxmlformats.org/drawingml/2006/main"/>
        </p:blipFill>
        <p:spPr>
          <a:xfrm xmlns:a="http://schemas.openxmlformats.org/drawingml/2006/main">
            <a:off x="969480" y="4468320"/>
            <a:ext cx="221400" cy="221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999" name="Text 190">
            <a:extLst xmlns:a="http://schemas.openxmlformats.org/drawingml/2006/main">
              <a:ext uri="{FF2B5EF4-FFF2-40B4-BE49-F238E27FC236}">
                <a16:creationId xmlns:a16="http://schemas.microsoft.com/office/drawing/2014/main" id="{4A291187-B7CE-4842-B69C-B0C57F45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40" y="4993560"/>
            <a:ext cx="5007240" cy="2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💰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 免額外高規硬體採購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0" name="Text 191">
            <a:extLst xmlns:a="http://schemas.openxmlformats.org/drawingml/2006/main">
              <a:ext uri="{FF2B5EF4-FFF2-40B4-BE49-F238E27FC236}">
                <a16:creationId xmlns:a16="http://schemas.microsoft.com/office/drawing/2014/main" id="{0A32BE26-6277-4239-BB05-F590131D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40" y="5369760"/>
            <a:ext cx="5007240" cy="79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無須購買昂貴的地端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AI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伺服器，雲端運算彈性擴充。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AI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模型透過雲端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LLM API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（如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OpenAI / Gemini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）串接，大幅降低初期資本支出（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CapEx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）。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1" name="Shape 126">
            <a:extLst xmlns:a="http://schemas.openxmlformats.org/drawingml/2006/main">
              <a:ext uri="{FF2B5EF4-FFF2-40B4-BE49-F238E27FC236}">
                <a16:creationId xmlns:a16="http://schemas.microsoft.com/office/drawing/2014/main" id="{D09AA4D0-74F2-45D3-96B3-4E82BCBA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680" y="4160520"/>
            <a:ext cx="5350320" cy="2173320"/>
          </a:xfrm>
          <a:prstGeom xmlns:a="http://schemas.openxmlformats.org/drawingml/2006/main" prst="roundRect">
            <a:avLst>
              <a:gd name="adj" fmla="val 3193"/>
            </a:avLst>
          </a:prstGeom>
          <a:solidFill xmlns:a="http://schemas.openxmlformats.org/drawingml/2006/main">
            <a:srgbClr val="F5DFD6"/>
          </a:solidFill>
          <a:ln xmlns:a="http://schemas.openxmlformats.org/drawingml/2006/main" w="4763">
            <a:solidFill>
              <a:srgbClr val="DBC5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2" name="Shape 127">
            <a:extLst xmlns:a="http://schemas.openxmlformats.org/drawingml/2006/main">
              <a:ext uri="{FF2B5EF4-FFF2-40B4-BE49-F238E27FC236}">
                <a16:creationId xmlns:a16="http://schemas.microsoft.com/office/drawing/2014/main" id="{D3D6046C-E58C-41F7-BD36-780D4961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400" y="4331880"/>
            <a:ext cx="494640" cy="494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25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31" name="Imag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1d3c49bba40f8"/>
          <a:stretch xmlns:a="http://schemas.openxmlformats.org/drawingml/2006/main"/>
        </p:blipFill>
        <p:spPr>
          <a:xfrm xmlns:a="http://schemas.openxmlformats.org/drawingml/2006/main">
            <a:off x="6486480" y="4468320"/>
            <a:ext cx="221400" cy="221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004" name="Text 192">
            <a:extLst xmlns:a="http://schemas.openxmlformats.org/drawingml/2006/main">
              <a:ext uri="{FF2B5EF4-FFF2-40B4-BE49-F238E27FC236}">
                <a16:creationId xmlns:a16="http://schemas.microsoft.com/office/drawing/2014/main" id="{9435104E-EC58-4998-878F-FBB2E9BA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40" y="4993560"/>
            <a:ext cx="5007240" cy="2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🛠️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 維運彈性極高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5" name="Text 193">
            <a:extLst xmlns:a="http://schemas.openxmlformats.org/drawingml/2006/main">
              <a:ext uri="{FF2B5EF4-FFF2-40B4-BE49-F238E27FC236}">
                <a16:creationId xmlns:a16="http://schemas.microsoft.com/office/drawing/2014/main" id="{E2E41388-8B2D-424E-9EF6-75ED069C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40" y="5369760"/>
            <a:ext cx="5007240" cy="79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工程團隊可隨時遠端維護，無須跑現場，大幅降低隱性維修成本。系統升級、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Bug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修補、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Schema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遷移均可在遠端安全執行，提升整體維運效率。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6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2C171852-40E3-4800-962C-E8EB8491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1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D5018EAF-87E1-4DD2-9EA1-641397DD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49493172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7" name="Text 194">
            <a:extLst xmlns:a="http://schemas.openxmlformats.org/drawingml/2006/main">
              <a:ext uri="{FF2B5EF4-FFF2-40B4-BE49-F238E27FC236}">
                <a16:creationId xmlns:a16="http://schemas.microsoft.com/office/drawing/2014/main" id="{7A401153-AAFE-4889-AC4A-19C24EFD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85000" lnSpcReduction="1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雲端平台選型：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Serverless Container (Cloud Run) vs.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傳統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VM (Compute Engine)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8" name="Text 195">
            <a:extLst xmlns:a="http://schemas.openxmlformats.org/drawingml/2006/main">
              <a:ext uri="{FF2B5EF4-FFF2-40B4-BE49-F238E27FC236}">
                <a16:creationId xmlns:a16="http://schemas.microsoft.com/office/drawing/2014/main" id="{28180C67-F1D3-4DF2-B905-A0D1819A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1757880"/>
            <a:ext cx="11477160" cy="23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9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為確保系統在雲端的運作效率與成本效益，技術架構小組深入評估了兩種主流雲端運算服務模型，並做出以下選型比較。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9" name="Shape 128">
            <a:extLst xmlns:a="http://schemas.openxmlformats.org/drawingml/2006/main">
              <a:ext uri="{FF2B5EF4-FFF2-40B4-BE49-F238E27FC236}">
                <a16:creationId xmlns:a16="http://schemas.microsoft.com/office/drawing/2014/main" id="{89F4BC9D-8752-4219-83AA-5DF40E5B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2161800"/>
            <a:ext cx="10867320" cy="3198240"/>
          </a:xfrm>
          <a:prstGeom xmlns:a="http://schemas.openxmlformats.org/drawingml/2006/main" prst="roundRect">
            <a:avLst>
              <a:gd name="adj" fmla="val 2035"/>
            </a:avLst>
          </a:prstGeom>
          <a:noFill xmlns:a="http://schemas.openxmlformats.org/drawingml/2006/main"/>
          <a:ln xmlns:a="http://schemas.openxmlformats.org/drawingml/2006/main" w="4763">
            <a:solidFill>
              <a:srgbClr val="000000">
                <a:alpha val="8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0" name="Shape 129">
            <a:extLst xmlns:a="http://schemas.openxmlformats.org/drawingml/2006/main">
              <a:ext uri="{FF2B5EF4-FFF2-40B4-BE49-F238E27FC236}">
                <a16:creationId xmlns:a16="http://schemas.microsoft.com/office/drawing/2014/main" id="{F67DB951-FF88-4B14-834D-7ACD84C3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2611440"/>
            <a:ext cx="10867680" cy="7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8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7800" rIns="90000" bIns="-378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1" name="Shape 130">
            <a:extLst xmlns:a="http://schemas.openxmlformats.org/drawingml/2006/main">
              <a:ext uri="{FF2B5EF4-FFF2-40B4-BE49-F238E27FC236}">
                <a16:creationId xmlns:a16="http://schemas.microsoft.com/office/drawing/2014/main" id="{94CD67CF-69D8-4126-BE40-7F715881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3298320"/>
            <a:ext cx="10867680" cy="7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8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7800" rIns="90000" bIns="-378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2" name="Shape 131">
            <a:extLst xmlns:a="http://schemas.openxmlformats.org/drawingml/2006/main">
              <a:ext uri="{FF2B5EF4-FFF2-40B4-BE49-F238E27FC236}">
                <a16:creationId xmlns:a16="http://schemas.microsoft.com/office/drawing/2014/main" id="{3A280DCA-525C-4CCA-BB7F-578DCD4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3984480"/>
            <a:ext cx="10867680" cy="7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8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7800" rIns="90000" bIns="-378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3" name="Shape 132">
            <a:extLst xmlns:a="http://schemas.openxmlformats.org/drawingml/2006/main">
              <a:ext uri="{FF2B5EF4-FFF2-40B4-BE49-F238E27FC236}">
                <a16:creationId xmlns:a16="http://schemas.microsoft.com/office/drawing/2014/main" id="{02C34866-88A7-45D1-A91D-896B5E0D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4671360"/>
            <a:ext cx="10867680" cy="7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8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7800" rIns="90000" bIns="-378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4" name="Shape 133">
            <a:extLst xmlns:a="http://schemas.openxmlformats.org/drawingml/2006/main">
              <a:ext uri="{FF2B5EF4-FFF2-40B4-BE49-F238E27FC236}">
                <a16:creationId xmlns:a16="http://schemas.microsoft.com/office/drawing/2014/main" id="{89389B44-D186-40BB-A6F8-DB63E21A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720" y="2161440"/>
            <a:ext cx="7920" cy="319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8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3240" tIns="45000" rIns="324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5" name="Shape 134">
            <a:extLst xmlns:a="http://schemas.openxmlformats.org/drawingml/2006/main">
              <a:ext uri="{FF2B5EF4-FFF2-40B4-BE49-F238E27FC236}">
                <a16:creationId xmlns:a16="http://schemas.microsoft.com/office/drawing/2014/main" id="{23F660B6-ECC7-4B62-809C-670FBBF2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520" y="2161440"/>
            <a:ext cx="7920" cy="319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8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3240" tIns="45000" rIns="324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6" name="Shape 135">
            <a:extLst xmlns:a="http://schemas.openxmlformats.org/drawingml/2006/main">
              <a:ext uri="{FF2B5EF4-FFF2-40B4-BE49-F238E27FC236}">
                <a16:creationId xmlns:a16="http://schemas.microsoft.com/office/drawing/2014/main" id="{CB36B685-932F-423C-80ED-3E8B26D7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60" y="2167920"/>
            <a:ext cx="3255120" cy="442080"/>
          </a:xfrm>
          <a:custGeom xmlns:a="http://schemas.openxmlformats.org/drawingml/2006/main">
            <a:gdLst>
              <a:gd name="textAreaLeft" fmla="*/ 0 w 3255120"/>
              <a:gd name="textAreaRight" fmla="*/ 3256560 w 3255120"/>
              <a:gd name="textAreaTop" fmla="*/ 0 h 442080"/>
              <a:gd name="textAreaBottom" fmla="*/ 443520 h 442080"/>
            </a:gdLst>
            <a:rect l="textAreaLeft" t="textAreaTop" r="textAreaRight" b="textAreaBottom"/>
            <a:pathLst>
              <a:path w="2442642" h="332482">
                <a:moveTo>
                  <a:pt x="40703" y="0"/>
                </a:moveTo>
                <a:lnTo>
                  <a:pt x="2442642" y="0"/>
                </a:lnTo>
                <a:lnTo>
                  <a:pt x="2442642" y="332482"/>
                </a:lnTo>
                <a:lnTo>
                  <a:pt x="0" y="332482"/>
                </a:lnTo>
                <a:lnTo>
                  <a:pt x="0" y="40703"/>
                </a:lnTo>
                <a:arcTo wR="40703" hR="40703" stAng="10800000" swAng="5400000"/>
                <a:close/>
              </a:path>
            </a:pathLst>
          </a:custGeom>
          <a:solidFill xmlns:a="http://schemas.openxmlformats.org/drawingml/2006/main">
            <a:srgbClr val="3C312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7" name="Text 196">
            <a:extLst xmlns:a="http://schemas.openxmlformats.org/drawingml/2006/main">
              <a:ext uri="{FF2B5EF4-FFF2-40B4-BE49-F238E27FC236}">
                <a16:creationId xmlns:a16="http://schemas.microsoft.com/office/drawing/2014/main" id="{62F049C0-FF04-4134-9D99-9BAEE5D2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00" y="2261520"/>
            <a:ext cx="3551760" cy="23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9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評估維度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8" name="Shape 136">
            <a:extLst xmlns:a="http://schemas.openxmlformats.org/drawingml/2006/main">
              <a:ext uri="{FF2B5EF4-FFF2-40B4-BE49-F238E27FC236}">
                <a16:creationId xmlns:a16="http://schemas.microsoft.com/office/drawing/2014/main" id="{FE5DD059-9FFE-4FD5-AB9D-E468C2DF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720" y="2167920"/>
            <a:ext cx="3798000" cy="44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666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9" name="Text 197">
            <a:extLst xmlns:a="http://schemas.openxmlformats.org/drawingml/2006/main">
              <a:ext uri="{FF2B5EF4-FFF2-40B4-BE49-F238E27FC236}">
                <a16:creationId xmlns:a16="http://schemas.microsoft.com/office/drawing/2014/main" id="{EADFBEC5-A535-488C-8AFD-E5AB861A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760" y="2261520"/>
            <a:ext cx="4091400" cy="23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9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傳統虛擬主機 </a:t>
            </a:r>
            <a:r>
              <a:rPr sz="1430" b="1" u="none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(Compute Engine VM)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0" name="Shape 137">
            <a:extLst xmlns:a="http://schemas.openxmlformats.org/drawingml/2006/main">
              <a:ext uri="{FF2B5EF4-FFF2-40B4-BE49-F238E27FC236}">
                <a16:creationId xmlns:a16="http://schemas.microsoft.com/office/drawing/2014/main" id="{FC400D48-7EE0-4851-B587-2B2F81B7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520" y="2167920"/>
            <a:ext cx="3798000" cy="442080"/>
          </a:xfrm>
          <a:custGeom xmlns:a="http://schemas.openxmlformats.org/drawingml/2006/main">
            <a:gdLst>
              <a:gd name="textAreaLeft" fmla="*/ 0 w 3798000"/>
              <a:gd name="textAreaRight" fmla="*/ 3799440 w 3798000"/>
              <a:gd name="textAreaTop" fmla="*/ 0 h 442080"/>
              <a:gd name="textAreaBottom" fmla="*/ 443520 h 442080"/>
            </a:gdLst>
            <a:rect l="textAreaLeft" t="textAreaTop" r="textAreaRight" b="textAreaBottom"/>
            <a:pathLst>
              <a:path w="2849761" h="332482">
                <a:moveTo>
                  <a:pt x="0" y="0"/>
                </a:moveTo>
                <a:lnTo>
                  <a:pt x="2809058" y="0"/>
                </a:lnTo>
                <a:arcTo wR="40703" hR="40703" stAng="16200000" swAng="5400000"/>
                <a:lnTo>
                  <a:pt x="2849761" y="332482"/>
                </a:lnTo>
                <a:lnTo>
                  <a:pt x="0" y="3324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825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1" name="Text 198">
            <a:extLst xmlns:a="http://schemas.openxmlformats.org/drawingml/2006/main">
              <a:ext uri="{FF2B5EF4-FFF2-40B4-BE49-F238E27FC236}">
                <a16:creationId xmlns:a16="http://schemas.microsoft.com/office/drawing/2014/main" id="{353114F9-796A-45FB-9E72-7264C385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560" y="2261520"/>
            <a:ext cx="4094640" cy="25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9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272525"/>
                </a:solidFill>
                <a:latin typeface="Noto Sans TC Bold"/>
                <a:ea typeface="Noto Sans TC Bold"/>
                <a:cs typeface="Noto Sans TC Bold"/>
              </a:rPr>
              <a:t>託管容器平台 </a:t>
            </a:r>
            <a:r>
              <a:rPr sz="1430" b="1" u="none">
                <a:solidFill>
                  <a:srgbClr val="272525"/>
                </a:solidFill>
                <a:latin typeface="Noto Sans TC Bold"/>
                <a:ea typeface="Noto Sans TC Bold"/>
                <a:cs typeface="Noto Sans TC Bold"/>
              </a:rPr>
              <a:t>(Google Cloud Run) </a:t>
            </a: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🌟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2" name="Text 199">
            <a:extLst xmlns:a="http://schemas.openxmlformats.org/drawingml/2006/main">
              <a:ext uri="{FF2B5EF4-FFF2-40B4-BE49-F238E27FC236}">
                <a16:creationId xmlns:a16="http://schemas.microsoft.com/office/drawing/2014/main" id="{065285CF-6EFD-4D25-A57C-E2EC2B94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00" y="2707920"/>
            <a:ext cx="3551760" cy="23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9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維運負擔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3" name="Text 200">
            <a:extLst xmlns:a="http://schemas.openxmlformats.org/drawingml/2006/main">
              <a:ext uri="{FF2B5EF4-FFF2-40B4-BE49-F238E27FC236}">
                <a16:creationId xmlns:a16="http://schemas.microsoft.com/office/drawing/2014/main" id="{867C1D4F-DEB1-4F38-B8EC-D10465A4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760" y="2707920"/>
            <a:ext cx="3481920" cy="49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9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🔴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 高。需自行更新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OS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、安裝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Nginx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、維護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SSL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憑證與資安修補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4" name="Text 201">
            <a:extLst xmlns:a="http://schemas.openxmlformats.org/drawingml/2006/main">
              <a:ext uri="{FF2B5EF4-FFF2-40B4-BE49-F238E27FC236}">
                <a16:creationId xmlns:a16="http://schemas.microsoft.com/office/drawing/2014/main" id="{8E78363F-555A-4CB1-B26C-113D9711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560" y="2707920"/>
            <a:ext cx="3485160" cy="49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9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🟢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 零維運。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Google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全託管，僅需提供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Docker Image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，自動生成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HTTPS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5" name="Text 202">
            <a:extLst xmlns:a="http://schemas.openxmlformats.org/drawingml/2006/main">
              <a:ext uri="{FF2B5EF4-FFF2-40B4-BE49-F238E27FC236}">
                <a16:creationId xmlns:a16="http://schemas.microsoft.com/office/drawing/2014/main" id="{F2E68CF6-4344-4883-AF73-6D1E4A1E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00" y="3394800"/>
            <a:ext cx="3551760" cy="23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9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計費模式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6" name="Text 203">
            <a:extLst xmlns:a="http://schemas.openxmlformats.org/drawingml/2006/main">
              <a:ext uri="{FF2B5EF4-FFF2-40B4-BE49-F238E27FC236}">
                <a16:creationId xmlns:a16="http://schemas.microsoft.com/office/drawing/2014/main" id="{E82EAB1F-3629-41DB-A5D8-A02C307F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760" y="3394800"/>
            <a:ext cx="4091400" cy="25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9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🔴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 24/7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持續扣款。閒置時（如深夜）仍需付費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7" name="Text 204">
            <a:extLst xmlns:a="http://schemas.openxmlformats.org/drawingml/2006/main">
              <a:ext uri="{FF2B5EF4-FFF2-40B4-BE49-F238E27FC236}">
                <a16:creationId xmlns:a16="http://schemas.microsoft.com/office/drawing/2014/main" id="{D3B15B6C-F5AB-4484-A10F-8D57B477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560" y="3394800"/>
            <a:ext cx="3485160" cy="49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9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🟢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 按量計費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(Scale to Zero)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。離峰無流量時費用自動降至趨近於零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8" name="Text 205">
            <a:extLst xmlns:a="http://schemas.openxmlformats.org/drawingml/2006/main">
              <a:ext uri="{FF2B5EF4-FFF2-40B4-BE49-F238E27FC236}">
                <a16:creationId xmlns:a16="http://schemas.microsoft.com/office/drawing/2014/main" id="{FDFB151B-6BCC-47C7-952B-C7249EED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00" y="4081320"/>
            <a:ext cx="3551760" cy="23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9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彈性擴展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9" name="Text 206">
            <a:extLst xmlns:a="http://schemas.openxmlformats.org/drawingml/2006/main">
              <a:ext uri="{FF2B5EF4-FFF2-40B4-BE49-F238E27FC236}">
                <a16:creationId xmlns:a16="http://schemas.microsoft.com/office/drawing/2014/main" id="{8AAD657F-CC99-439D-9C07-6B18481D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760" y="4081680"/>
            <a:ext cx="3481920" cy="49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9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🟡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 較慢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(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分級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)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。需複雜設定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Load Balancer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與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Instance Group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0" name="Text 207">
            <a:extLst xmlns:a="http://schemas.openxmlformats.org/drawingml/2006/main">
              <a:ext uri="{FF2B5EF4-FFF2-40B4-BE49-F238E27FC236}">
                <a16:creationId xmlns:a16="http://schemas.microsoft.com/office/drawing/2014/main" id="{57D5895F-805D-4E9A-BCE7-42426BFE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560" y="4081680"/>
            <a:ext cx="3485160" cy="49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9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🟢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 秒級自動擴展。輕鬆因應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LINE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訊息推播時的突發峰值流量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1" name="Text 208">
            <a:extLst xmlns:a="http://schemas.openxmlformats.org/drawingml/2006/main">
              <a:ext uri="{FF2B5EF4-FFF2-40B4-BE49-F238E27FC236}">
                <a16:creationId xmlns:a16="http://schemas.microsoft.com/office/drawing/2014/main" id="{CEC81E49-970D-4356-BEE5-E38B0B67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00" y="4768200"/>
            <a:ext cx="3551760" cy="23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9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部署體驗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2" name="Text 209">
            <a:extLst xmlns:a="http://schemas.openxmlformats.org/drawingml/2006/main">
              <a:ext uri="{FF2B5EF4-FFF2-40B4-BE49-F238E27FC236}">
                <a16:creationId xmlns:a16="http://schemas.microsoft.com/office/drawing/2014/main" id="{CD3A32CF-62F7-4588-BDA6-BAA4043C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760" y="4768200"/>
            <a:ext cx="4091400" cy="25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9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🟡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 較繁瑣。需手動或撰寫腳本配置主機環境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3" name="Text 210">
            <a:extLst xmlns:a="http://schemas.openxmlformats.org/drawingml/2006/main">
              <a:ext uri="{FF2B5EF4-FFF2-40B4-BE49-F238E27FC236}">
                <a16:creationId xmlns:a16="http://schemas.microsoft.com/office/drawing/2014/main" id="{39BF767E-875F-4A53-A9A7-7A91A92A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560" y="4768560"/>
            <a:ext cx="3485160" cy="49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9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🟢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 原生容器化。與專案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Docker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架構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100%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完美契合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4" name="Shape 138">
            <a:extLst xmlns:a="http://schemas.openxmlformats.org/drawingml/2006/main">
              <a:ext uri="{FF2B5EF4-FFF2-40B4-BE49-F238E27FC236}">
                <a16:creationId xmlns:a16="http://schemas.microsoft.com/office/drawing/2014/main" id="{5E883013-0C6B-43C4-A1C3-FF5D01DC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5524920"/>
            <a:ext cx="10867680" cy="832680"/>
          </a:xfrm>
          <a:prstGeom xmlns:a="http://schemas.openxmlformats.org/drawingml/2006/main" prst="roundRect">
            <a:avLst>
              <a:gd name="adj" fmla="val 7807"/>
            </a:avLst>
          </a:prstGeom>
          <a:solidFill xmlns:a="http://schemas.openxmlformats.org/drawingml/2006/main">
            <a:srgbClr val="B6FC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68" name="Imag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24dee5887404c"/>
          <a:stretch xmlns:a="http://schemas.openxmlformats.org/drawingml/2006/main"/>
        </p:blipFill>
        <p:spPr>
          <a:xfrm xmlns:a="http://schemas.openxmlformats.org/drawingml/2006/main">
            <a:off x="816480" y="5732280"/>
            <a:ext cx="192240" cy="1533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036" name="Text 211">
            <a:extLst xmlns:a="http://schemas.openxmlformats.org/drawingml/2006/main">
              <a:ext uri="{FF2B5EF4-FFF2-40B4-BE49-F238E27FC236}">
                <a16:creationId xmlns:a16="http://schemas.microsoft.com/office/drawing/2014/main" id="{274358A8-3881-4C82-8DA4-4F3639CA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320" y="5709240"/>
            <a:ext cx="10208520" cy="47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9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綜合評估維運、成本、擴展與部署體驗，</a:t>
            </a: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Google Cloud Run </a:t>
            </a: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以其高度託管、彈性計費及原生容器支援的優勢，成為雲端運算層的最佳選擇，大幅簡化管理並最佳化成本。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7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EA1C5260-190A-4591-8889-26E72070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9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60541BFF-189A-452D-AF19-F5D8ABE1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32024418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8" name="Text 212">
            <a:extLst xmlns:a="http://schemas.openxmlformats.org/drawingml/2006/main">
              <a:ext uri="{FF2B5EF4-FFF2-40B4-BE49-F238E27FC236}">
                <a16:creationId xmlns:a16="http://schemas.microsoft.com/office/drawing/2014/main" id="{779F8D3A-CA89-4B2E-833C-162F39CD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為什麼最終選擇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Google Cloud Run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？四大決策關鍵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9" name="Shape 139">
            <a:extLst xmlns:a="http://schemas.openxmlformats.org/drawingml/2006/main">
              <a:ext uri="{FF2B5EF4-FFF2-40B4-BE49-F238E27FC236}">
                <a16:creationId xmlns:a16="http://schemas.microsoft.com/office/drawing/2014/main" id="{3B8C85D7-7BC8-44AC-8B71-67A929DB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1087200"/>
            <a:ext cx="10867680" cy="1245600"/>
          </a:xfrm>
          <a:prstGeom xmlns:a="http://schemas.openxmlformats.org/drawingml/2006/main" prst="roundRect">
            <a:avLst>
              <a:gd name="adj" fmla="val 4437"/>
            </a:avLst>
          </a:prstGeom>
          <a:solidFill xmlns:a="http://schemas.openxmlformats.org/drawingml/2006/main">
            <a:srgbClr val="F5DFD6"/>
          </a:solidFill>
          <a:ln xmlns:a="http://schemas.openxmlformats.org/drawingml/2006/main" w="4763">
            <a:solidFill>
              <a:srgbClr val="DBC5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0" name="Shape 140">
            <a:extLst xmlns:a="http://schemas.openxmlformats.org/drawingml/2006/main">
              <a:ext uri="{FF2B5EF4-FFF2-40B4-BE49-F238E27FC236}">
                <a16:creationId xmlns:a16="http://schemas.microsoft.com/office/drawing/2014/main" id="{8F632430-069B-42E5-90D8-DA3D1B56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60" y="1225080"/>
            <a:ext cx="393840" cy="393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25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68" name="Imag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688e52fd14b0b"/>
          <a:stretch xmlns:a="http://schemas.openxmlformats.org/drawingml/2006/main"/>
        </p:blipFill>
        <p:spPr>
          <a:xfrm xmlns:a="http://schemas.openxmlformats.org/drawingml/2006/main">
            <a:off x="907920" y="1334160"/>
            <a:ext cx="176400" cy="176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042" name="Text 213">
            <a:extLst xmlns:a="http://schemas.openxmlformats.org/drawingml/2006/main">
              <a:ext uri="{FF2B5EF4-FFF2-40B4-BE49-F238E27FC236}">
                <a16:creationId xmlns:a16="http://schemas.microsoft.com/office/drawing/2014/main" id="{245AF9BB-D0E2-4605-8A39-0BDB67F0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60" y="1725120"/>
            <a:ext cx="10591200" cy="21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🛠️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 「零 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OS 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維運」降低人力門檻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3" name="Text 214">
            <a:extLst xmlns:a="http://schemas.openxmlformats.org/drawingml/2006/main">
              <a:ext uri="{FF2B5EF4-FFF2-40B4-BE49-F238E27FC236}">
                <a16:creationId xmlns:a16="http://schemas.microsoft.com/office/drawing/2014/main" id="{CBD139D0-A6EA-4AF5-898F-232A8635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60" y="2007000"/>
            <a:ext cx="10591200" cy="18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工會無需配置專職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24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小時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GCP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系統管理員，避免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OS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漏洞、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Nginx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設定失敗與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SSL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憑證過期風險，大幅簡化管理。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4" name="Shape 141">
            <a:extLst xmlns:a="http://schemas.openxmlformats.org/drawingml/2006/main">
              <a:ext uri="{FF2B5EF4-FFF2-40B4-BE49-F238E27FC236}">
                <a16:creationId xmlns:a16="http://schemas.microsoft.com/office/drawing/2014/main" id="{FAE8EB42-00F1-4182-A2F6-6B59E7BE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2439720"/>
            <a:ext cx="10867680" cy="1245600"/>
          </a:xfrm>
          <a:prstGeom xmlns:a="http://schemas.openxmlformats.org/drawingml/2006/main" prst="roundRect">
            <a:avLst>
              <a:gd name="adj" fmla="val 4437"/>
            </a:avLst>
          </a:prstGeom>
          <a:solidFill xmlns:a="http://schemas.openxmlformats.org/drawingml/2006/main">
            <a:srgbClr val="F5DFD6"/>
          </a:solidFill>
          <a:ln xmlns:a="http://schemas.openxmlformats.org/drawingml/2006/main" w="4763">
            <a:solidFill>
              <a:srgbClr val="DBC5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5" name="Shape 142">
            <a:extLst xmlns:a="http://schemas.openxmlformats.org/drawingml/2006/main">
              <a:ext uri="{FF2B5EF4-FFF2-40B4-BE49-F238E27FC236}">
                <a16:creationId xmlns:a16="http://schemas.microsoft.com/office/drawing/2014/main" id="{1BBE8BD6-6838-4E5B-B06C-CCB50342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60" y="2577600"/>
            <a:ext cx="393840" cy="393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25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73" name="Imag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80df48f034e7b"/>
          <a:stretch xmlns:a="http://schemas.openxmlformats.org/drawingml/2006/main"/>
        </p:blipFill>
        <p:spPr>
          <a:xfrm xmlns:a="http://schemas.openxmlformats.org/drawingml/2006/main">
            <a:off x="907920" y="2686320"/>
            <a:ext cx="176400" cy="176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047" name="Text 215">
            <a:extLst xmlns:a="http://schemas.openxmlformats.org/drawingml/2006/main">
              <a:ext uri="{FF2B5EF4-FFF2-40B4-BE49-F238E27FC236}">
                <a16:creationId xmlns:a16="http://schemas.microsoft.com/office/drawing/2014/main" id="{F7A68A00-D9E1-4C3F-8030-B4E6B49F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60" y="3078000"/>
            <a:ext cx="10591200" cy="21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💰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 「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Scale to Zero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」離峰極致省錢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8" name="Text 216">
            <a:extLst xmlns:a="http://schemas.openxmlformats.org/drawingml/2006/main">
              <a:ext uri="{FF2B5EF4-FFF2-40B4-BE49-F238E27FC236}">
                <a16:creationId xmlns:a16="http://schemas.microsoft.com/office/drawing/2014/main" id="{8647A4DE-69DF-486D-A441-1E0CF102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60" y="3359520"/>
            <a:ext cx="10591200" cy="18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傳統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VM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深夜無人使用仍持續扣錢；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Cloud Run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在無請求時自動縮容至零，預算使用率達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100%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，有效控制成本。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9" name="Shape 143">
            <a:extLst xmlns:a="http://schemas.openxmlformats.org/drawingml/2006/main">
              <a:ext uri="{FF2B5EF4-FFF2-40B4-BE49-F238E27FC236}">
                <a16:creationId xmlns:a16="http://schemas.microsoft.com/office/drawing/2014/main" id="{8E70EAB5-1CB5-4E28-8034-44DF2FB5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3792240"/>
            <a:ext cx="10867680" cy="1245600"/>
          </a:xfrm>
          <a:prstGeom xmlns:a="http://schemas.openxmlformats.org/drawingml/2006/main" prst="roundRect">
            <a:avLst>
              <a:gd name="adj" fmla="val 4437"/>
            </a:avLst>
          </a:prstGeom>
          <a:solidFill xmlns:a="http://schemas.openxmlformats.org/drawingml/2006/main">
            <a:srgbClr val="F5DFD6"/>
          </a:solidFill>
          <a:ln xmlns:a="http://schemas.openxmlformats.org/drawingml/2006/main" w="4763">
            <a:solidFill>
              <a:srgbClr val="DBC5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0" name="Shape 144">
            <a:extLst xmlns:a="http://schemas.openxmlformats.org/drawingml/2006/main">
              <a:ext uri="{FF2B5EF4-FFF2-40B4-BE49-F238E27FC236}">
                <a16:creationId xmlns:a16="http://schemas.microsoft.com/office/drawing/2014/main" id="{C50C67D6-6B65-477B-B7BF-AC6D77FF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60" y="3930120"/>
            <a:ext cx="393840" cy="393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25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78" name="Imag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a8b0f3da640b0"/>
          <a:stretch xmlns:a="http://schemas.openxmlformats.org/drawingml/2006/main"/>
        </p:blipFill>
        <p:spPr>
          <a:xfrm xmlns:a="http://schemas.openxmlformats.org/drawingml/2006/main">
            <a:off x="907920" y="4038840"/>
            <a:ext cx="176400" cy="176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052" name="Text 217">
            <a:extLst xmlns:a="http://schemas.openxmlformats.org/drawingml/2006/main">
              <a:ext uri="{FF2B5EF4-FFF2-40B4-BE49-F238E27FC236}">
                <a16:creationId xmlns:a16="http://schemas.microsoft.com/office/drawing/2014/main" id="{18A77CB5-2217-41E5-9F4B-ABBC431B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60" y="4430520"/>
            <a:ext cx="10591200" cy="21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⚡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 「秒級擴展」應對 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LINE 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突發流量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3" name="Text 218">
            <a:extLst xmlns:a="http://schemas.openxmlformats.org/drawingml/2006/main">
              <a:ext uri="{FF2B5EF4-FFF2-40B4-BE49-F238E27FC236}">
                <a16:creationId xmlns:a16="http://schemas.microsoft.com/office/drawing/2014/main" id="{D9D1D0BD-31A6-4B68-9880-0E2D9051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60" y="4712040"/>
            <a:ext cx="10591200" cy="18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當工會發送全體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LINE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訊息推播時，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Cloud Run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能秒級自動拉起實例，彈性應對瞬間流量峰值，防止服務潰散。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4" name="Shape 145">
            <a:extLst xmlns:a="http://schemas.openxmlformats.org/drawingml/2006/main">
              <a:ext uri="{FF2B5EF4-FFF2-40B4-BE49-F238E27FC236}">
                <a16:creationId xmlns:a16="http://schemas.microsoft.com/office/drawing/2014/main" id="{93D617B7-363F-4F73-B7A7-E781C01D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5144760"/>
            <a:ext cx="10867680" cy="1245600"/>
          </a:xfrm>
          <a:prstGeom xmlns:a="http://schemas.openxmlformats.org/drawingml/2006/main" prst="roundRect">
            <a:avLst>
              <a:gd name="adj" fmla="val 4437"/>
            </a:avLst>
          </a:prstGeom>
          <a:solidFill xmlns:a="http://schemas.openxmlformats.org/drawingml/2006/main">
            <a:srgbClr val="F5DFD6"/>
          </a:solidFill>
          <a:ln xmlns:a="http://schemas.openxmlformats.org/drawingml/2006/main" w="4763">
            <a:solidFill>
              <a:srgbClr val="DBC5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5" name="Shape 146">
            <a:extLst xmlns:a="http://schemas.openxmlformats.org/drawingml/2006/main">
              <a:ext uri="{FF2B5EF4-FFF2-40B4-BE49-F238E27FC236}">
                <a16:creationId xmlns:a16="http://schemas.microsoft.com/office/drawing/2014/main" id="{398058FA-A7A8-456D-89B3-864F715F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60" y="5282280"/>
            <a:ext cx="393840" cy="393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25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83" name="Imag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9818244f74ec2"/>
          <a:stretch xmlns:a="http://schemas.openxmlformats.org/drawingml/2006/main"/>
        </p:blipFill>
        <p:spPr>
          <a:xfrm xmlns:a="http://schemas.openxmlformats.org/drawingml/2006/main">
            <a:off x="907920" y="5391360"/>
            <a:ext cx="176400" cy="176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057" name="Text 219">
            <a:extLst xmlns:a="http://schemas.openxmlformats.org/drawingml/2006/main">
              <a:ext uri="{FF2B5EF4-FFF2-40B4-BE49-F238E27FC236}">
                <a16:creationId xmlns:a16="http://schemas.microsoft.com/office/drawing/2014/main" id="{DBD72880-2A24-4B22-BA27-DB088A86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60" y="5783040"/>
            <a:ext cx="10591200" cy="21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🔒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 原生 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VPC 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連線（安全回連地端）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8" name="Text 220">
            <a:extLst xmlns:a="http://schemas.openxmlformats.org/drawingml/2006/main">
              <a:ext uri="{FF2B5EF4-FFF2-40B4-BE49-F238E27FC236}">
                <a16:creationId xmlns:a16="http://schemas.microsoft.com/office/drawing/2014/main" id="{231963B1-A83A-4511-9993-3CE5948D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60" y="6064920"/>
            <a:ext cx="10591200" cy="18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支援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Serverless VPC Access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，讓雲端容器經由加密通道安全存取地端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NAS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的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MySQL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，確保資料不暴露於公網。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9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6C1627D9-8225-4FAE-B659-6D95DD5F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4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87FF155C-1ACB-4BD5-A70B-D210A6FB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31302776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0" name="Text 221">
            <a:extLst xmlns:a="http://schemas.openxmlformats.org/drawingml/2006/main">
              <a:ext uri="{FF2B5EF4-FFF2-40B4-BE49-F238E27FC236}">
                <a16:creationId xmlns:a16="http://schemas.microsoft.com/office/drawing/2014/main" id="{3F334168-FB51-4979-8772-B8BB5F50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雲端部署規劃：無狀態應用與運算層（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Application Zone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）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1" name="Text 222">
            <a:extLst xmlns:a="http://schemas.openxmlformats.org/drawingml/2006/main">
              <a:ext uri="{FF2B5EF4-FFF2-40B4-BE49-F238E27FC236}">
                <a16:creationId xmlns:a16="http://schemas.microsoft.com/office/drawing/2014/main" id="{0B64E3BC-1F05-4F2C-8C48-8D562C42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1176120"/>
            <a:ext cx="10867680" cy="43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85000"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雲端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Application Zone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承載所有無狀態（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Stateless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）應用邏輯與對外服務介面，確保高可用性與橫向擴充能力。所有雲端元件均不持久化敏感資料，僅透過加密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VPN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隧道與地端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Data Zone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進行資料交換。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86" name="Imag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6f31c2b674d00"/>
          <a:stretch xmlns:a="http://schemas.openxmlformats.org/drawingml/2006/main"/>
        </p:blipFill>
        <p:spPr>
          <a:xfrm xmlns:a="http://schemas.openxmlformats.org/drawingml/2006/main">
            <a:off x="661320" y="1752840"/>
            <a:ext cx="10867680" cy="1062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063" name="Text 223">
            <a:extLst xmlns:a="http://schemas.openxmlformats.org/drawingml/2006/main">
              <a:ext uri="{FF2B5EF4-FFF2-40B4-BE49-F238E27FC236}">
                <a16:creationId xmlns:a16="http://schemas.microsoft.com/office/drawing/2014/main" id="{B1110A6B-D59B-40E6-B2C9-FDA3E772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40" y="2148480"/>
            <a:ext cx="215280" cy="26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1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4" name="Text 224">
            <a:extLst xmlns:a="http://schemas.openxmlformats.org/drawingml/2006/main">
              <a:ext uri="{FF2B5EF4-FFF2-40B4-BE49-F238E27FC236}">
                <a16:creationId xmlns:a16="http://schemas.microsoft.com/office/drawing/2014/main" id="{A8981850-8F9B-4F1D-B0F4-267EDD0C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640" y="1916280"/>
            <a:ext cx="997884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FastAPI 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核心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5" name="Text 225">
            <a:extLst xmlns:a="http://schemas.openxmlformats.org/drawingml/2006/main">
              <a:ext uri="{FF2B5EF4-FFF2-40B4-BE49-F238E27FC236}">
                <a16:creationId xmlns:a16="http://schemas.microsoft.com/office/drawing/2014/main" id="{41FD6C6E-53BF-46D6-8294-543990B3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640" y="2218320"/>
            <a:ext cx="9979200" cy="43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85000"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處理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LINE Webhook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、外部系統整合與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Typed API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。作為系統主要業務邏輯層，負責請求路由、身份驗證與資料驗證，所有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API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端點均採用強型別（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Typed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）定義確保介面穩定性。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90" name="Imag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6f31c2b674d00"/>
          <a:stretch xmlns:a="http://schemas.openxmlformats.org/drawingml/2006/main"/>
        </p:blipFill>
        <p:spPr>
          <a:xfrm xmlns:a="http://schemas.openxmlformats.org/drawingml/2006/main">
            <a:off x="661320" y="2943000"/>
            <a:ext cx="10867680" cy="1062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067" name="Text 226">
            <a:extLst xmlns:a="http://schemas.openxmlformats.org/drawingml/2006/main">
              <a:ext uri="{FF2B5EF4-FFF2-40B4-BE49-F238E27FC236}">
                <a16:creationId xmlns:a16="http://schemas.microsoft.com/office/drawing/2014/main" id="{88123CD2-F111-4575-BBA3-B2D85F3E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40" y="3339000"/>
            <a:ext cx="215280" cy="26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2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8" name="Text 227">
            <a:extLst xmlns:a="http://schemas.openxmlformats.org/drawingml/2006/main">
              <a:ext uri="{FF2B5EF4-FFF2-40B4-BE49-F238E27FC236}">
                <a16:creationId xmlns:a16="http://schemas.microsoft.com/office/drawing/2014/main" id="{5CE94216-253E-4CAC-977C-A68C395B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640" y="3106800"/>
            <a:ext cx="997884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Streamlit 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薄顯示層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9" name="Text 228">
            <a:extLst xmlns:a="http://schemas.openxmlformats.org/drawingml/2006/main">
              <a:ext uri="{FF2B5EF4-FFF2-40B4-BE49-F238E27FC236}">
                <a16:creationId xmlns:a16="http://schemas.microsoft.com/office/drawing/2014/main" id="{079CAE82-A19D-44E6-AF11-5B99D0F7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640" y="3408480"/>
            <a:ext cx="9979200" cy="43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85000"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工會行政人員使用的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Web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管理後台。採用薄顯示層（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Thin Presentation Layer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）設計原則，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UI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層不含業務邏輯，所有操作均透過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FastAPI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核心執行，確保前後端職責分離。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94" name="Imag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6f31c2b674d00"/>
          <a:stretch xmlns:a="http://schemas.openxmlformats.org/drawingml/2006/main"/>
        </p:blipFill>
        <p:spPr>
          <a:xfrm xmlns:a="http://schemas.openxmlformats.org/drawingml/2006/main">
            <a:off x="661320" y="4132800"/>
            <a:ext cx="10867680" cy="1062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071" name="Text 229">
            <a:extLst xmlns:a="http://schemas.openxmlformats.org/drawingml/2006/main">
              <a:ext uri="{FF2B5EF4-FFF2-40B4-BE49-F238E27FC236}">
                <a16:creationId xmlns:a16="http://schemas.microsoft.com/office/drawing/2014/main" id="{97791744-4787-465B-8D97-6BF0AEE5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40" y="4528800"/>
            <a:ext cx="215280" cy="26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3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2" name="Text 230">
            <a:extLst xmlns:a="http://schemas.openxmlformats.org/drawingml/2006/main">
              <a:ext uri="{FF2B5EF4-FFF2-40B4-BE49-F238E27FC236}">
                <a16:creationId xmlns:a16="http://schemas.microsoft.com/office/drawing/2014/main" id="{E3840A56-C064-4399-8D10-F3B4C85A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640" y="4296600"/>
            <a:ext cx="997920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Public Edge 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閘道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3" name="Text 231">
            <a:extLst xmlns:a="http://schemas.openxmlformats.org/drawingml/2006/main">
              <a:ext uri="{FF2B5EF4-FFF2-40B4-BE49-F238E27FC236}">
                <a16:creationId xmlns:a16="http://schemas.microsoft.com/office/drawing/2014/main" id="{3475D199-554C-4F88-A2EF-01FB8AD8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640" y="4598280"/>
            <a:ext cx="9978840" cy="43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85000"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Nginx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反向代理，提供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HTTPS/TLS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加密與公網防護。作為所有外部流量的唯一入口，負責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SSL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終止、請求限流（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Rate Limiting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）與惡意流量過濾，保護後端服務不直接暴露於公網。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98" name="Imag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6f31c2b674d00"/>
          <a:stretch xmlns:a="http://schemas.openxmlformats.org/drawingml/2006/main"/>
        </p:blipFill>
        <p:spPr>
          <a:xfrm xmlns:a="http://schemas.openxmlformats.org/drawingml/2006/main">
            <a:off x="661320" y="5322960"/>
            <a:ext cx="10867680" cy="1062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075" name="Text 232">
            <a:extLst xmlns:a="http://schemas.openxmlformats.org/drawingml/2006/main">
              <a:ext uri="{FF2B5EF4-FFF2-40B4-BE49-F238E27FC236}">
                <a16:creationId xmlns:a16="http://schemas.microsoft.com/office/drawing/2014/main" id="{D9237674-6BED-4CCB-B696-5E4B683D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40" y="5719320"/>
            <a:ext cx="215280" cy="26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4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6" name="Text 233">
            <a:extLst xmlns:a="http://schemas.openxmlformats.org/drawingml/2006/main">
              <a:ext uri="{FF2B5EF4-FFF2-40B4-BE49-F238E27FC236}">
                <a16:creationId xmlns:a16="http://schemas.microsoft.com/office/drawing/2014/main" id="{70EC1D49-36F7-4C6E-A7A2-98E2F69F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640" y="5486400"/>
            <a:ext cx="997920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AI 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模型串接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7" name="Text 234">
            <a:extLst xmlns:a="http://schemas.openxmlformats.org/drawingml/2006/main">
              <a:ext uri="{FF2B5EF4-FFF2-40B4-BE49-F238E27FC236}">
                <a16:creationId xmlns:a16="http://schemas.microsoft.com/office/drawing/2014/main" id="{CAB46B94-D59E-4CAE-8412-012FB65B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640" y="5788440"/>
            <a:ext cx="9979200" cy="43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85000"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5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雲端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LLM API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（如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OpenAI / Gemini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）或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VPS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私有模型。依據資料敏感度與成本考量，彈性選擇公有雲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LLM API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或自建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VPS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私有模型，確保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AI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功能可用性同時控制資料外流風險。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8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44CDE1F1-6A61-4D39-91F2-0D9E10F7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3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518B378D-B33B-4B1C-936D-7FFB40A2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64603834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9" name="Text 235">
            <a:extLst xmlns:a="http://schemas.openxmlformats.org/drawingml/2006/main">
              <a:ext uri="{FF2B5EF4-FFF2-40B4-BE49-F238E27FC236}">
                <a16:creationId xmlns:a16="http://schemas.microsoft.com/office/drawing/2014/main" id="{B872DA37-A8A8-4DC5-B2C0-FA9D6DC8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地端部署規劃：核心資料庫與資料主權區（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Data Zone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）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0" name="Text 236">
            <a:extLst xmlns:a="http://schemas.openxmlformats.org/drawingml/2006/main">
              <a:ext uri="{FF2B5EF4-FFF2-40B4-BE49-F238E27FC236}">
                <a16:creationId xmlns:a16="http://schemas.microsoft.com/office/drawing/2014/main" id="{640EFBD3-34E9-4CEA-95D2-B50C8909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1270440"/>
            <a:ext cx="10867680" cy="49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地端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Data Zone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是整個混合架構的資料核心，所有敏感資料的最終存儲地。此區域採用嚴格的網路隔離策略，任何外部存取均須通過身份驗證的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VPN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隧道，確保資料主權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100%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在地化。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06" name="Imag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94cdcfd3c49d1"/>
          <a:stretch xmlns:a="http://schemas.openxmlformats.org/drawingml/2006/main"/>
        </p:blipFill>
        <p:spPr>
          <a:xfrm xmlns:a="http://schemas.openxmlformats.org/drawingml/2006/main">
            <a:off x="661320" y="1932120"/>
            <a:ext cx="3521160" cy="2904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082" name="Text 237">
            <a:extLst xmlns:a="http://schemas.openxmlformats.org/drawingml/2006/main">
              <a:ext uri="{FF2B5EF4-FFF2-40B4-BE49-F238E27FC236}">
                <a16:creationId xmlns:a16="http://schemas.microsoft.com/office/drawing/2014/main" id="{5B8EC663-0B01-4E66-B99A-2415CA02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40" y="2108880"/>
            <a:ext cx="3092040" cy="2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MySQL 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資料庫（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Synology NAS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）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3" name="Text 238">
            <a:extLst xmlns:a="http://schemas.openxmlformats.org/drawingml/2006/main">
              <a:ext uri="{FF2B5EF4-FFF2-40B4-BE49-F238E27FC236}">
                <a16:creationId xmlns:a16="http://schemas.microsoft.com/office/drawing/2014/main" id="{52AD0483-E34E-492E-BECA-901C5ED5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40" y="2444760"/>
            <a:ext cx="3092040" cy="196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儲存所有會員根事實、訂單、帳務與派班資料。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3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關鍵安全規則：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Port 3306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絕對不對公網開放，僅限私有安全網路連線。所有資料庫連線均須通過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VPN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憑證驗證，未經授權的連線嘗試將被地端防火牆直接封鎖，不留任何公網暴露面。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09" name="Image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94cdcfd3c49d1"/>
          <a:stretch xmlns:a="http://schemas.openxmlformats.org/drawingml/2006/main"/>
        </p:blipFill>
        <p:spPr>
          <a:xfrm xmlns:a="http://schemas.openxmlformats.org/drawingml/2006/main">
            <a:off x="4334400" y="1932120"/>
            <a:ext cx="3521160" cy="2904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085" name="Text 239">
            <a:extLst xmlns:a="http://schemas.openxmlformats.org/drawingml/2006/main">
              <a:ext uri="{FF2B5EF4-FFF2-40B4-BE49-F238E27FC236}">
                <a16:creationId xmlns:a16="http://schemas.microsoft.com/office/drawing/2014/main" id="{0F636112-DA2E-42C3-B810-883E12C9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120" y="2108880"/>
            <a:ext cx="3092040" cy="49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實體檔案與備份存儲（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Archive &amp; Backup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）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6" name="Text 240">
            <a:extLst xmlns:a="http://schemas.openxmlformats.org/drawingml/2006/main">
              <a:ext uri="{FF2B5EF4-FFF2-40B4-BE49-F238E27FC236}">
                <a16:creationId xmlns:a16="http://schemas.microsoft.com/office/drawing/2014/main" id="{845D77D0-2DA7-481B-83B3-AB5CF642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120" y="2691000"/>
            <a:ext cx="3092040" cy="196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保存原始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Excel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匯入檔、證據鏈（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Evidence Digest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）與資料庫快照。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3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所有原始資料來源文件均完整保存，形成可稽核的證據鏈。資料庫快照定期自動建立，並執行可還原性驗證（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Restore Verification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），確保備份的實際可用性，而非僅確認檔案存在。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12" name="Imag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94cdcfd3c49d1"/>
          <a:stretch xmlns:a="http://schemas.openxmlformats.org/drawingml/2006/main"/>
        </p:blipFill>
        <p:spPr>
          <a:xfrm xmlns:a="http://schemas.openxmlformats.org/drawingml/2006/main">
            <a:off x="8007840" y="1932120"/>
            <a:ext cx="3521160" cy="2904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088" name="Text 241">
            <a:extLst xmlns:a="http://schemas.openxmlformats.org/drawingml/2006/main">
              <a:ext uri="{FF2B5EF4-FFF2-40B4-BE49-F238E27FC236}">
                <a16:creationId xmlns:a16="http://schemas.microsoft.com/office/drawing/2014/main" id="{B3821B1D-4EE4-4668-BB30-26D40862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200" y="2108880"/>
            <a:ext cx="3092040" cy="2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地端安全閘道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9" name="Text 242">
            <a:extLst xmlns:a="http://schemas.openxmlformats.org/drawingml/2006/main">
              <a:ext uri="{FF2B5EF4-FFF2-40B4-BE49-F238E27FC236}">
                <a16:creationId xmlns:a16="http://schemas.microsoft.com/office/drawing/2014/main" id="{9AF59568-F6E1-4A70-8A3D-1A3A9CCA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200" y="2444760"/>
            <a:ext cx="3092040" cy="172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僅接受通過身份驗證的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VPN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存取。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3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地端安全閘道作為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Data Zone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的唯一合法入口，執行嚴格的存取控制策略。所有進入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Data Zone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的流量均須攜帶有效的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VPN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憑證，並通過身份驗證後方可建立連線，確保資料區域的完整隔離性。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0" name="Text 243">
            <a:extLst xmlns:a="http://schemas.openxmlformats.org/drawingml/2006/main">
              <a:ext uri="{FF2B5EF4-FFF2-40B4-BE49-F238E27FC236}">
                <a16:creationId xmlns:a16="http://schemas.microsoft.com/office/drawing/2014/main" id="{9F05C0EF-8F69-4645-B0F2-E4714324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5085720"/>
            <a:ext cx="3496320" cy="51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83000"/>
              </a:lnSpc>
              <a:buNone/>
              <a:tabLst>
                <a:tab pos="0" algn="l"/>
              </a:tabLst>
            </a:pPr>
            <a:r>
              <a:rPr sz="305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3306</a:t>
            </a:r>
            <a:endParaRPr sz="3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1" name="Text 244">
            <a:extLst xmlns:a="http://schemas.openxmlformats.org/drawingml/2006/main">
              <a:ext uri="{FF2B5EF4-FFF2-40B4-BE49-F238E27FC236}">
                <a16:creationId xmlns:a16="http://schemas.microsoft.com/office/drawing/2014/main" id="{D75A3857-74CC-4CC5-9AF5-434DC85F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5797080"/>
            <a:ext cx="3496320" cy="2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Port 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封鎖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2" name="Text 245">
            <a:extLst xmlns:a="http://schemas.openxmlformats.org/drawingml/2006/main">
              <a:ext uri="{FF2B5EF4-FFF2-40B4-BE49-F238E27FC236}">
                <a16:creationId xmlns:a16="http://schemas.microsoft.com/office/drawing/2014/main" id="{D96F23B9-F6A5-4FFB-9CC8-4AB1CB83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6133320"/>
            <a:ext cx="3496320" cy="2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3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MySQL Port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對公網完全封鎖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3" name="Text 246">
            <a:extLst xmlns:a="http://schemas.openxmlformats.org/drawingml/2006/main">
              <a:ext uri="{FF2B5EF4-FFF2-40B4-BE49-F238E27FC236}">
                <a16:creationId xmlns:a16="http://schemas.microsoft.com/office/drawing/2014/main" id="{9C424780-1B4A-47AC-9631-EBEBB1D9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640" y="5085720"/>
            <a:ext cx="3496320" cy="51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83000"/>
              </a:lnSpc>
              <a:buNone/>
              <a:tabLst>
                <a:tab pos="0" algn="l"/>
              </a:tabLst>
            </a:pPr>
            <a:r>
              <a:rPr sz="305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100%</a:t>
            </a:r>
            <a:endParaRPr sz="3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4" name="Text 247">
            <a:extLst xmlns:a="http://schemas.openxmlformats.org/drawingml/2006/main">
              <a:ext uri="{FF2B5EF4-FFF2-40B4-BE49-F238E27FC236}">
                <a16:creationId xmlns:a16="http://schemas.microsoft.com/office/drawing/2014/main" id="{BAEBD25E-2EFB-4B8F-9C10-2E73339C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640" y="5797080"/>
            <a:ext cx="3496320" cy="2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資料在地化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5" name="Text 248">
            <a:extLst xmlns:a="http://schemas.openxmlformats.org/drawingml/2006/main">
              <a:ext uri="{FF2B5EF4-FFF2-40B4-BE49-F238E27FC236}">
                <a16:creationId xmlns:a16="http://schemas.microsoft.com/office/drawing/2014/main" id="{03DEBE9D-615E-400B-9DFC-8DCA23AA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640" y="6133320"/>
            <a:ext cx="3496320" cy="2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3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所有敏感資料留存地端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NAS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6" name="Text 249">
            <a:extLst xmlns:a="http://schemas.openxmlformats.org/drawingml/2006/main">
              <a:ext uri="{FF2B5EF4-FFF2-40B4-BE49-F238E27FC236}">
                <a16:creationId xmlns:a16="http://schemas.microsoft.com/office/drawing/2014/main" id="{278980E8-A14C-4CCA-9D22-7FC70CEF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680" y="5085720"/>
            <a:ext cx="3496320" cy="51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83000"/>
              </a:lnSpc>
              <a:buNone/>
              <a:tabLst>
                <a:tab pos="0" algn="l"/>
              </a:tabLst>
            </a:pPr>
            <a:r>
              <a:rPr sz="305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0</a:t>
            </a:r>
            <a:endParaRPr sz="3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7" name="Text 250">
            <a:extLst xmlns:a="http://schemas.openxmlformats.org/drawingml/2006/main">
              <a:ext uri="{FF2B5EF4-FFF2-40B4-BE49-F238E27FC236}">
                <a16:creationId xmlns:a16="http://schemas.microsoft.com/office/drawing/2014/main" id="{63EC7B22-E10E-4D49-86C2-C9F10101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680" y="5797080"/>
            <a:ext cx="3496320" cy="2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公網暴露面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8" name="Text 251">
            <a:extLst xmlns:a="http://schemas.openxmlformats.org/drawingml/2006/main">
              <a:ext uri="{FF2B5EF4-FFF2-40B4-BE49-F238E27FC236}">
                <a16:creationId xmlns:a16="http://schemas.microsoft.com/office/drawing/2014/main" id="{40D211D3-FF56-48F7-9F41-B694B87D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680" y="6133320"/>
            <a:ext cx="3496320" cy="2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3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Data Zone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對外公網暴露點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9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522C36C5-4EB6-4536-A794-D3578DE7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3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6E6FBD83-594C-4EDF-AEC5-CEBEFD8F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53453156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0" name="Text 252">
            <a:extLst xmlns:a="http://schemas.openxmlformats.org/drawingml/2006/main">
              <a:ext uri="{FF2B5EF4-FFF2-40B4-BE49-F238E27FC236}">
                <a16:creationId xmlns:a16="http://schemas.microsoft.com/office/drawing/2014/main" id="{5EE6CCE8-835B-4DD5-A83F-F9EF12F0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關鍵安全機制：加密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VPN 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隧道與網路隔離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1" name="Text 253">
            <a:extLst xmlns:a="http://schemas.openxmlformats.org/drawingml/2006/main">
              <a:ext uri="{FF2B5EF4-FFF2-40B4-BE49-F238E27FC236}">
                <a16:creationId xmlns:a16="http://schemas.microsoft.com/office/drawing/2014/main" id="{BD9C167F-468D-49C5-BB13-D3BFA81D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1035720"/>
            <a:ext cx="11476800" cy="9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混合架構的安全性建立在三層防護機制之上：點對點加密隧道確保傳輸安全、資料庫防護確保存取控制、敏感資訊治理確保機密不外洩。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三層機制相互補強，形成縱深防禦（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Defense in Depth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）體系。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2" name="Shape 147">
            <a:extLst xmlns:a="http://schemas.openxmlformats.org/drawingml/2006/main">
              <a:ext uri="{FF2B5EF4-FFF2-40B4-BE49-F238E27FC236}">
                <a16:creationId xmlns:a16="http://schemas.microsoft.com/office/drawing/2014/main" id="{82819CF6-1D03-406F-B65B-B8CF46CB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1517040"/>
            <a:ext cx="183960" cy="183960"/>
          </a:xfrm>
          <a:prstGeom xmlns:a="http://schemas.openxmlformats.org/drawingml/2006/main" prst="roundRect">
            <a:avLst>
              <a:gd name="adj" fmla="val 18670"/>
            </a:avLst>
          </a:prstGeom>
          <a:solidFill xmlns:a="http://schemas.openxmlformats.org/drawingml/2006/main">
            <a:srgbClr val="F5DFD6"/>
          </a:solidFill>
          <a:ln xmlns:a="http://schemas.openxmlformats.org/drawingml/2006/main" w="4763">
            <a:solidFill>
              <a:srgbClr val="DBC5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9480" tIns="45000" rIns="6948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3" name="Text 254">
            <a:extLst xmlns:a="http://schemas.openxmlformats.org/drawingml/2006/main">
              <a:ext uri="{FF2B5EF4-FFF2-40B4-BE49-F238E27FC236}">
                <a16:creationId xmlns:a16="http://schemas.microsoft.com/office/drawing/2014/main" id="{D71BA4FB-3668-484C-9513-836CD5A7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80" y="1532880"/>
            <a:ext cx="121680" cy="15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1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4" name="Text 255">
            <a:extLst xmlns:a="http://schemas.openxmlformats.org/drawingml/2006/main">
              <a:ext uri="{FF2B5EF4-FFF2-40B4-BE49-F238E27FC236}">
                <a16:creationId xmlns:a16="http://schemas.microsoft.com/office/drawing/2014/main" id="{1CFA9153-1A44-4725-B6A0-3B5F74ED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840" y="1545840"/>
            <a:ext cx="3359160" cy="12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點對點加密隧道（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Tailscale / WireGuard VPN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）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5" name="Text 256">
            <a:extLst xmlns:a="http://schemas.openxmlformats.org/drawingml/2006/main">
              <a:ext uri="{FF2B5EF4-FFF2-40B4-BE49-F238E27FC236}">
                <a16:creationId xmlns:a16="http://schemas.microsoft.com/office/drawing/2014/main" id="{146CA2CC-B32E-4339-AEF8-6B1B6428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840" y="1891440"/>
            <a:ext cx="3359160" cy="194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雲端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VPS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與地端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NAS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之間建立專屬點對點雙向加密通道（</a:t>
            </a:r>
            <a:r>
              <a:rPr sz="1430" b="0" u="none">
                <a:solidFill>
                  <a:srgbClr val="76564B"/>
                </a:solidFill>
                <a:highlight>
                  <a:srgbClr val="F2EFEB"/>
                </a:highlight>
                <a:latin typeface="Consolas"/>
                <a:ea typeface="Consolas"/>
                <a:cs typeface="Consolas"/>
              </a:rPr>
              <a:t>100.X.X.X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私網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IP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）。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Tailscale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基於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Wire Guard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協議，提供現代化的加密標準（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ChaCha20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、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Poly1305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），所有雲端應用對地端資料庫的存取均透過此加密隧道進行，外部無法攔截或偽造連線。私網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IP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段（</a:t>
            </a:r>
            <a:r>
              <a:rPr sz="1430" b="0" u="none">
                <a:solidFill>
                  <a:srgbClr val="76564B"/>
                </a:solidFill>
                <a:highlight>
                  <a:srgbClr val="F2EFEB"/>
                </a:highlight>
                <a:latin typeface="Consolas"/>
                <a:ea typeface="Consolas"/>
                <a:cs typeface="Consolas"/>
              </a:rPr>
              <a:t>100.X.X.X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）確保雲端與地端節點在邏輯上形成同一私有網路，同時物理上保持隔離。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6" name="Shape 148">
            <a:extLst xmlns:a="http://schemas.openxmlformats.org/drawingml/2006/main">
              <a:ext uri="{FF2B5EF4-FFF2-40B4-BE49-F238E27FC236}">
                <a16:creationId xmlns:a16="http://schemas.microsoft.com/office/drawing/2014/main" id="{F4BC0DC7-F498-433E-AF88-B94B7E06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1640" y="1565280"/>
            <a:ext cx="183960" cy="183960"/>
          </a:xfrm>
          <a:prstGeom xmlns:a="http://schemas.openxmlformats.org/drawingml/2006/main" prst="roundRect">
            <a:avLst>
              <a:gd name="adj" fmla="val 18670"/>
            </a:avLst>
          </a:prstGeom>
          <a:solidFill xmlns:a="http://schemas.openxmlformats.org/drawingml/2006/main">
            <a:srgbClr val="F5DFD6"/>
          </a:solidFill>
          <a:ln xmlns:a="http://schemas.openxmlformats.org/drawingml/2006/main" w="4763">
            <a:solidFill>
              <a:srgbClr val="DBC5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9480" tIns="45000" rIns="6948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7" name="Text 257">
            <a:extLst xmlns:a="http://schemas.openxmlformats.org/drawingml/2006/main">
              <a:ext uri="{FF2B5EF4-FFF2-40B4-BE49-F238E27FC236}">
                <a16:creationId xmlns:a16="http://schemas.microsoft.com/office/drawing/2014/main" id="{046C1A39-AD74-45E6-AB1B-04815791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240" y="1580760"/>
            <a:ext cx="121680" cy="15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2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8" name="Text 258">
            <a:extLst xmlns:a="http://schemas.openxmlformats.org/drawingml/2006/main">
              <a:ext uri="{FF2B5EF4-FFF2-40B4-BE49-F238E27FC236}">
                <a16:creationId xmlns:a16="http://schemas.microsoft.com/office/drawing/2014/main" id="{A4A51F9C-9BF8-4AFC-8CBE-D079FBBD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800" y="1545840"/>
            <a:ext cx="3359160" cy="12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資料庫防護（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Port 3306 Private Data Zone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）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9" name="Text 259">
            <a:extLst xmlns:a="http://schemas.openxmlformats.org/drawingml/2006/main">
              <a:ext uri="{FF2B5EF4-FFF2-40B4-BE49-F238E27FC236}">
                <a16:creationId xmlns:a16="http://schemas.microsoft.com/office/drawing/2014/main" id="{9021ABEE-9F41-4877-AA7B-4605F956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440" y="1919880"/>
            <a:ext cx="3359520" cy="14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地端防火牆完全封鎖外部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3306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連線，雲端應用必須通過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VPN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憑證驗證才能讀寫。防火牆規則採用白名單策略（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Default Deny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），僅允許來自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VPN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私網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IP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段的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3306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連線請求通過，所有其他來源的連線嘗試均被靜默丟棄（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Silent Drop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），不回應任何探測封包，最大程度降低攻擊面。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0" name="Shape 149">
            <a:extLst xmlns:a="http://schemas.openxmlformats.org/drawingml/2006/main">
              <a:ext uri="{FF2B5EF4-FFF2-40B4-BE49-F238E27FC236}">
                <a16:creationId xmlns:a16="http://schemas.microsoft.com/office/drawing/2014/main" id="{91CADAC6-3854-4823-B2AA-3073A9E8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1960" y="1565280"/>
            <a:ext cx="183960" cy="183960"/>
          </a:xfrm>
          <a:prstGeom xmlns:a="http://schemas.openxmlformats.org/drawingml/2006/main" prst="roundRect">
            <a:avLst>
              <a:gd name="adj" fmla="val 18670"/>
            </a:avLst>
          </a:prstGeom>
          <a:solidFill xmlns:a="http://schemas.openxmlformats.org/drawingml/2006/main">
            <a:srgbClr val="F5DFD6"/>
          </a:solidFill>
          <a:ln xmlns:a="http://schemas.openxmlformats.org/drawingml/2006/main" w="4763">
            <a:solidFill>
              <a:srgbClr val="DBC5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9480" tIns="45000" rIns="6948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1" name="Text 260">
            <a:extLst xmlns:a="http://schemas.openxmlformats.org/drawingml/2006/main">
              <a:ext uri="{FF2B5EF4-FFF2-40B4-BE49-F238E27FC236}">
                <a16:creationId xmlns:a16="http://schemas.microsoft.com/office/drawing/2014/main" id="{17219D85-060A-43BF-A9CC-F06C88F4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560" y="1580760"/>
            <a:ext cx="121680" cy="15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3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2" name="Text 261">
            <a:extLst xmlns:a="http://schemas.openxmlformats.org/drawingml/2006/main">
              <a:ext uri="{FF2B5EF4-FFF2-40B4-BE49-F238E27FC236}">
                <a16:creationId xmlns:a16="http://schemas.microsoft.com/office/drawing/2014/main" id="{85073E39-E5A4-46E9-9690-6D16583C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120" y="1545840"/>
            <a:ext cx="3359160" cy="12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敏感資訊不落地（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Secret Governance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）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3" name="Text 262">
            <a:extLst xmlns:a="http://schemas.openxmlformats.org/drawingml/2006/main">
              <a:ext uri="{FF2B5EF4-FFF2-40B4-BE49-F238E27FC236}">
                <a16:creationId xmlns:a16="http://schemas.microsoft.com/office/drawing/2014/main" id="{4236BFCA-CE7B-49FE-ADB8-5E12816E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760" y="1939320"/>
            <a:ext cx="3359520" cy="165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正式環境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Secret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不進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Git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、不寫入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Log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、不流經前端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UI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。所有資料庫連線字串、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API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金鑰、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VPN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憑證等敏感資訊均透過環境變數或專用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Secret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管理服務注入，嚴禁硬編碼（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Hardcode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）於程式碼或設定檔中。此規則適用於所有環境，違反者須立即執行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Secret Rotation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38" name="Image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62e3976fa4b30"/>
          <a:stretch xmlns:a="http://schemas.openxmlformats.org/drawingml/2006/main"/>
        </p:blipFill>
        <p:spPr>
          <a:xfrm xmlns:a="http://schemas.openxmlformats.org/drawingml/2006/main" rot="21582600">
            <a:off x="2120040" y="3276720"/>
            <a:ext cx="7478640" cy="34210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115" name="Text 263">
            <a:extLst xmlns:a="http://schemas.openxmlformats.org/drawingml/2006/main">
              <a:ext uri="{FF2B5EF4-FFF2-40B4-BE49-F238E27FC236}">
                <a16:creationId xmlns:a16="http://schemas.microsoft.com/office/drawing/2014/main" id="{99505991-80A2-4657-8EAC-B722E82F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960" y="3655800"/>
            <a:ext cx="2402280" cy="298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私有資料區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6" name="Text 264">
            <a:extLst xmlns:a="http://schemas.openxmlformats.org/drawingml/2006/main">
              <a:ext uri="{FF2B5EF4-FFF2-40B4-BE49-F238E27FC236}">
                <a16:creationId xmlns:a16="http://schemas.microsoft.com/office/drawing/2014/main" id="{C92BFDAC-9555-4053-BF93-F0A56A18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960" y="4041720"/>
            <a:ext cx="2647800" cy="17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78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MySQL 3306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，防火牆保護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7" name="Text 265">
            <a:extLst xmlns:a="http://schemas.openxmlformats.org/drawingml/2006/main">
              <a:ext uri="{FF2B5EF4-FFF2-40B4-BE49-F238E27FC236}">
                <a16:creationId xmlns:a16="http://schemas.microsoft.com/office/drawing/2014/main" id="{41C966DA-4879-4DE3-BABB-25748C93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280" y="4576320"/>
            <a:ext cx="2402280" cy="298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加密通道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8" name="Text 266">
            <a:extLst xmlns:a="http://schemas.openxmlformats.org/drawingml/2006/main">
              <a:ext uri="{FF2B5EF4-FFF2-40B4-BE49-F238E27FC236}">
                <a16:creationId xmlns:a16="http://schemas.microsoft.com/office/drawing/2014/main" id="{0B191F51-C0A5-4561-8DD1-C91EDD0C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600" y="4962960"/>
            <a:ext cx="2434320" cy="35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78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Tailscale / WireGuard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（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100.X.X.X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）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9" name="Text 267">
            <a:extLst xmlns:a="http://schemas.openxmlformats.org/drawingml/2006/main">
              <a:ext uri="{FF2B5EF4-FFF2-40B4-BE49-F238E27FC236}">
                <a16:creationId xmlns:a16="http://schemas.microsoft.com/office/drawing/2014/main" id="{7002936D-B7BE-43A7-BE9B-D08B864E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1200" y="5324760"/>
            <a:ext cx="2402280" cy="298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公開網路邊緣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0" name="Text 268">
            <a:extLst xmlns:a="http://schemas.openxmlformats.org/drawingml/2006/main">
              <a:ext uri="{FF2B5EF4-FFF2-40B4-BE49-F238E27FC236}">
                <a16:creationId xmlns:a16="http://schemas.microsoft.com/office/drawing/2014/main" id="{F5CA1BED-CB3B-442E-BD4C-86E029A8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0840" y="5710680"/>
            <a:ext cx="2648160" cy="35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78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Nginx Edge Gateway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（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HTTPS/TLS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）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1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6BC72069-02B0-45F9-BF71-91326155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3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ACF18F93-CE33-402E-87EF-DF88559C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6283762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2" name="Text 285">
            <a:extLst xmlns:a="http://schemas.openxmlformats.org/drawingml/2006/main">
              <a:ext uri="{FF2B5EF4-FFF2-40B4-BE49-F238E27FC236}">
                <a16:creationId xmlns:a16="http://schemas.microsoft.com/office/drawing/2014/main" id="{7087C3AB-6E46-44F0-8C01-46969C2E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總結：兼顧資安、穩定與效益的最佳架構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3" name="Text 286">
            <a:extLst xmlns:a="http://schemas.openxmlformats.org/drawingml/2006/main">
              <a:ext uri="{FF2B5EF4-FFF2-40B4-BE49-F238E27FC236}">
                <a16:creationId xmlns:a16="http://schemas.microsoft.com/office/drawing/2014/main" id="{B625B694-5ED8-49E4-8C5E-9F136BDA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1358640"/>
            <a:ext cx="1147716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本次架構決策報告完整呈現了工會系統從問題識別、方案評估到最終選型的完整決策過程。「地端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+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雲端」混合架構在四個核心維度上達成最優平衡。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4" name="Shape 150">
            <a:extLst xmlns:a="http://schemas.openxmlformats.org/drawingml/2006/main">
              <a:ext uri="{FF2B5EF4-FFF2-40B4-BE49-F238E27FC236}">
                <a16:creationId xmlns:a16="http://schemas.microsoft.com/office/drawing/2014/main" id="{3CFA7F7D-7590-414C-9D15-2620F299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1809360"/>
            <a:ext cx="3510720" cy="1537560"/>
          </a:xfrm>
          <a:prstGeom xmlns:a="http://schemas.openxmlformats.org/drawingml/2006/main" prst="roundRect">
            <a:avLst>
              <a:gd name="adj" fmla="val 4513"/>
            </a:avLst>
          </a:prstGeom>
          <a:solidFill xmlns:a="http://schemas.openxmlformats.org/drawingml/2006/main">
            <a:srgbClr val="F5DFD6"/>
          </a:solidFill>
          <a:ln xmlns:a="http://schemas.openxmlformats.org/drawingml/2006/main" w="4763">
            <a:solidFill>
              <a:srgbClr val="DBC5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5" name="Text 287">
            <a:extLst xmlns:a="http://schemas.openxmlformats.org/drawingml/2006/main">
              <a:ext uri="{FF2B5EF4-FFF2-40B4-BE49-F238E27FC236}">
                <a16:creationId xmlns:a16="http://schemas.microsoft.com/office/drawing/2014/main" id="{C1F38459-3AE2-4D4D-B41C-D5D5BF2D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40" y="1981080"/>
            <a:ext cx="3168000" cy="2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🚀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 架構優勢重申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6" name="Text 288">
            <a:extLst xmlns:a="http://schemas.openxmlformats.org/drawingml/2006/main">
              <a:ext uri="{FF2B5EF4-FFF2-40B4-BE49-F238E27FC236}">
                <a16:creationId xmlns:a16="http://schemas.microsoft.com/office/drawing/2014/main" id="{B4356D6D-1536-4BAC-B63E-B7569535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40" y="2358000"/>
            <a:ext cx="3168000" cy="79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雲端賦能高可用性，地端守護數據隱私。兩者分工明確，相輔相成，形成工會系統最適部署形態。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7" name="Shape 151">
            <a:extLst xmlns:a="http://schemas.openxmlformats.org/drawingml/2006/main">
              <a:ext uri="{FF2B5EF4-FFF2-40B4-BE49-F238E27FC236}">
                <a16:creationId xmlns:a16="http://schemas.microsoft.com/office/drawing/2014/main" id="{8C7BFEC3-4762-44D8-A8F9-33EFEF8D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800" y="1809360"/>
            <a:ext cx="3510720" cy="1537560"/>
          </a:xfrm>
          <a:prstGeom xmlns:a="http://schemas.openxmlformats.org/drawingml/2006/main" prst="roundRect">
            <a:avLst>
              <a:gd name="adj" fmla="val 4513"/>
            </a:avLst>
          </a:prstGeom>
          <a:solidFill xmlns:a="http://schemas.openxmlformats.org/drawingml/2006/main">
            <a:srgbClr val="F5DFD6"/>
          </a:solidFill>
          <a:ln xmlns:a="http://schemas.openxmlformats.org/drawingml/2006/main" w="4763">
            <a:solidFill>
              <a:srgbClr val="DBC5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8" name="Text 289">
            <a:extLst xmlns:a="http://schemas.openxmlformats.org/drawingml/2006/main">
              <a:ext uri="{FF2B5EF4-FFF2-40B4-BE49-F238E27FC236}">
                <a16:creationId xmlns:a16="http://schemas.microsoft.com/office/drawing/2014/main" id="{7B4954E4-C032-4DCF-853B-243362D8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800" y="1981080"/>
            <a:ext cx="3168000" cy="2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✅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 當前狀態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9" name="Text 290">
            <a:extLst xmlns:a="http://schemas.openxmlformats.org/drawingml/2006/main">
              <a:ext uri="{FF2B5EF4-FFF2-40B4-BE49-F238E27FC236}">
                <a16:creationId xmlns:a16="http://schemas.microsoft.com/office/drawing/2014/main" id="{5FE9C0AD-0767-470F-9995-CA43F1CA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800" y="2358000"/>
            <a:ext cx="3168000" cy="81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架構基線已核准（</a:t>
            </a:r>
            <a:r>
              <a:rPr sz="1430" b="0" u="none">
                <a:solidFill>
                  <a:srgbClr val="76564B"/>
                </a:solidFill>
                <a:highlight>
                  <a:srgbClr val="F2EFEB"/>
                </a:highlight>
                <a:latin typeface="Consolas"/>
                <a:ea typeface="Consolas"/>
                <a:cs typeface="Consolas"/>
              </a:rPr>
              <a:t>approved-architecture-baseline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），邏輯拓撲已收斂，可進入實施階段。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0" name="Shape 152">
            <a:extLst xmlns:a="http://schemas.openxmlformats.org/drawingml/2006/main">
              <a:ext uri="{FF2B5EF4-FFF2-40B4-BE49-F238E27FC236}">
                <a16:creationId xmlns:a16="http://schemas.microsoft.com/office/drawing/2014/main" id="{72BD6F87-3890-4781-BA7D-C71505D0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7560" y="1809360"/>
            <a:ext cx="3510720" cy="1537560"/>
          </a:xfrm>
          <a:prstGeom xmlns:a="http://schemas.openxmlformats.org/drawingml/2006/main" prst="roundRect">
            <a:avLst>
              <a:gd name="adj" fmla="val 4513"/>
            </a:avLst>
          </a:prstGeom>
          <a:solidFill xmlns:a="http://schemas.openxmlformats.org/drawingml/2006/main">
            <a:srgbClr val="F5DFD6"/>
          </a:solidFill>
          <a:ln xmlns:a="http://schemas.openxmlformats.org/drawingml/2006/main" w="4763">
            <a:solidFill>
              <a:srgbClr val="DBC5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1" name="Text 291">
            <a:extLst xmlns:a="http://schemas.openxmlformats.org/drawingml/2006/main">
              <a:ext uri="{FF2B5EF4-FFF2-40B4-BE49-F238E27FC236}">
                <a16:creationId xmlns:a16="http://schemas.microsoft.com/office/drawing/2014/main" id="{BC49900E-87AD-4524-9638-54BCAF63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920" y="1981080"/>
            <a:ext cx="3168000" cy="2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📋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 後續推進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2" name="Text 292">
            <a:extLst xmlns:a="http://schemas.openxmlformats.org/drawingml/2006/main">
              <a:ext uri="{FF2B5EF4-FFF2-40B4-BE49-F238E27FC236}">
                <a16:creationId xmlns:a16="http://schemas.microsoft.com/office/drawing/2014/main" id="{E0C7F10C-12B3-4907-9BCA-7FCE8AEB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920" y="2358000"/>
            <a:ext cx="3168000" cy="79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lnSpcReduction="9999"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33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依照發布狀態機進行單元與跨域整合測試驗收，確保各元件在混合架構環境下協同運作符合預期。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3" name="Shape 153">
            <a:extLst xmlns:a="http://schemas.openxmlformats.org/drawingml/2006/main">
              <a:ext uri="{FF2B5EF4-FFF2-40B4-BE49-F238E27FC236}">
                <a16:creationId xmlns:a16="http://schemas.microsoft.com/office/drawing/2014/main" id="{F6D56A37-925B-45A6-9043-8F669BF9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20" y="3575880"/>
            <a:ext cx="10867680" cy="17640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76564B">
              <a:alpha val="50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4560" rIns="90000" bIns="-345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4" name="Shape 154">
            <a:extLst xmlns:a="http://schemas.openxmlformats.org/drawingml/2006/main">
              <a:ext uri="{FF2B5EF4-FFF2-40B4-BE49-F238E27FC236}">
                <a16:creationId xmlns:a16="http://schemas.microsoft.com/office/drawing/2014/main" id="{D030F199-0F5A-4C42-A397-DE36D67E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60" y="3822120"/>
            <a:ext cx="5469480" cy="2522160"/>
          </a:xfrm>
          <a:prstGeom xmlns:a="http://schemas.openxmlformats.org/drawingml/2006/main" prst="roundRect">
            <a:avLst>
              <a:gd name="adj" fmla="val 4718"/>
            </a:avLst>
          </a:prstGeom>
          <a:solidFill xmlns:a="http://schemas.openxmlformats.org/drawingml/2006/main">
            <a:srgbClr val="D9825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5" name="Text 293">
            <a:extLst xmlns:a="http://schemas.openxmlformats.org/drawingml/2006/main">
              <a:ext uri="{FF2B5EF4-FFF2-40B4-BE49-F238E27FC236}">
                <a16:creationId xmlns:a16="http://schemas.microsoft.com/office/drawing/2014/main" id="{1187656E-9FAC-49D1-A980-EDAA738C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00" y="3987360"/>
            <a:ext cx="5138640" cy="256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000000"/>
                </a:solidFill>
                <a:latin typeface="Noto Sans TC Bold"/>
                <a:ea typeface="Noto Sans TC Bold"/>
                <a:cs typeface="Noto Sans TC Bold"/>
              </a:rPr>
              <a:t>架構決策核心原則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6" name="Text 294">
            <a:extLst xmlns:a="http://schemas.openxmlformats.org/drawingml/2006/main">
              <a:ext uri="{FF2B5EF4-FFF2-40B4-BE49-F238E27FC236}">
                <a16:creationId xmlns:a16="http://schemas.microsoft.com/office/drawing/2014/main" id="{F39587E4-6295-43D6-ABA3-34BB07B4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00" y="4411440"/>
            <a:ext cx="5138640" cy="1495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 marL="192960" indent="-192960" defTabSz="914400">
              <a:lnSpc>
                <a:spcPct val="133000"/>
              </a:lnSpc>
              <a:buClr>
                <a:srgbClr val="000000"/>
              </a:buClr>
              <a:buFont typeface="Symbol"/>
              <a:buChar char=""/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雲端應用層（</a:t>
            </a: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Application Zone</a:t>
            </a: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）：無狀態、高可用、可彈性擴充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92960" indent="-192960" defTabSz="914400">
              <a:lnSpc>
                <a:spcPct val="133000"/>
              </a:lnSpc>
              <a:buClr>
                <a:srgbClr val="000000"/>
              </a:buClr>
              <a:buFont typeface="Symbol"/>
              <a:buChar char=""/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地端資料層（</a:t>
            </a: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Data Zone</a:t>
            </a: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）：資料主權在地、</a:t>
            </a: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Port 3306 </a:t>
            </a: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不對公網開放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92960" indent="-192960" defTabSz="914400">
              <a:lnSpc>
                <a:spcPct val="133000"/>
              </a:lnSpc>
              <a:buClr>
                <a:srgbClr val="000000"/>
              </a:buClr>
              <a:buFont typeface="Symbol"/>
              <a:buChar char=""/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安全傳輸層：</a:t>
            </a: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Tailscale / WireGuard VPN </a:t>
            </a: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點對點加密隧道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92960" indent="-192960" defTabSz="914400">
              <a:lnSpc>
                <a:spcPct val="133000"/>
              </a:lnSpc>
              <a:buClr>
                <a:srgbClr val="000000"/>
              </a:buClr>
              <a:buFont typeface="Symbol"/>
              <a:buChar char=""/>
            </a:pP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發布治理：</a:t>
            </a:r>
            <a:r>
              <a:rPr sz="1430" b="0" u="none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Release State Machine + Preserve-data Migration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7" name="Text 295">
            <a:extLst xmlns:a="http://schemas.openxmlformats.org/drawingml/2006/main">
              <a:ext uri="{FF2B5EF4-FFF2-40B4-BE49-F238E27FC236}">
                <a16:creationId xmlns:a16="http://schemas.microsoft.com/office/drawing/2014/main" id="{E778A9D3-A87E-4A24-ACA4-EBD89A13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0" y="3987360"/>
            <a:ext cx="5231160" cy="256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4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3B302C"/>
                </a:solidFill>
                <a:latin typeface="Noto Sans TC Bold"/>
                <a:ea typeface="Noto Sans TC Bold"/>
                <a:cs typeface="Noto Sans TC Bold"/>
              </a:rPr>
              <a:t>技術棧摘要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8" name="Text 296">
            <a:extLst xmlns:a="http://schemas.openxmlformats.org/drawingml/2006/main">
              <a:ext uri="{FF2B5EF4-FFF2-40B4-BE49-F238E27FC236}">
                <a16:creationId xmlns:a16="http://schemas.microsoft.com/office/drawing/2014/main" id="{08D49A34-7225-40F7-B54F-55144D5F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0" y="4411440"/>
            <a:ext cx="5231160" cy="187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192960" indent="-192960" defTabSz="914400">
              <a:lnSpc>
                <a:spcPct val="133000"/>
              </a:lnSpc>
              <a:buClr>
                <a:srgbClr val="76564B"/>
              </a:buClr>
              <a:buFont typeface="Symbol"/>
              <a:buChar char=""/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應用框架：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FastAPI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、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Streamlit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92960" indent="-192960" defTabSz="914400">
              <a:lnSpc>
                <a:spcPct val="133000"/>
              </a:lnSpc>
              <a:buClr>
                <a:srgbClr val="76564B"/>
              </a:buClr>
              <a:buFont typeface="Symbol"/>
              <a:buChar char=""/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資料庫：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MySQL on Synology NAS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92960" indent="-192960" defTabSz="914400">
              <a:lnSpc>
                <a:spcPct val="133000"/>
              </a:lnSpc>
              <a:buClr>
                <a:srgbClr val="76564B"/>
              </a:buClr>
              <a:buFont typeface="Symbol"/>
              <a:buChar char=""/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VPN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：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Tailscale / WireGuard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（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100.X.X.X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私網）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92960" indent="-192960" defTabSz="914400">
              <a:lnSpc>
                <a:spcPct val="133000"/>
              </a:lnSpc>
              <a:buClr>
                <a:srgbClr val="76564B"/>
              </a:buClr>
              <a:buFont typeface="Symbol"/>
              <a:buChar char=""/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邊緣閘道：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Nginx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（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HTTPS/TLS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）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92960" indent="-192960" defTabSz="914400">
              <a:lnSpc>
                <a:spcPct val="133000"/>
              </a:lnSpc>
              <a:buClr>
                <a:srgbClr val="76564B"/>
              </a:buClr>
              <a:buFont typeface="Symbol"/>
              <a:buChar char=""/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AI </a:t>
            </a: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串接：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OpenAI / Gemini API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或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VPS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私有模型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92960" indent="-192960" defTabSz="914400">
              <a:lnSpc>
                <a:spcPct val="133000"/>
              </a:lnSpc>
              <a:buClr>
                <a:srgbClr val="76564B"/>
              </a:buClr>
              <a:buFont typeface="Symbol"/>
              <a:buChar char=""/>
            </a:pPr>
            <a:r>
              <a:rPr sz="1430" b="1" u="none">
                <a:solidFill>
                  <a:srgbClr val="76564B"/>
                </a:solidFill>
                <a:latin typeface="Noto Sans TC Bold"/>
                <a:ea typeface="Noto Sans TC Bold"/>
                <a:cs typeface="Noto Sans TC Bold"/>
              </a:rPr>
              <a:t>備份策略：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Restore Verification </a:t>
            </a:r>
            <a:r>
              <a:rPr sz="1430" b="0" u="none">
                <a:solidFill>
                  <a:srgbClr val="76564B"/>
                </a:solidFill>
                <a:latin typeface="Noto Sans TC"/>
                <a:ea typeface="Noto Sans TC"/>
                <a:cs typeface="Noto Sans TC"/>
              </a:rPr>
              <a:t>自動驗證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9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EE5C5C73-9AC7-4336-85FD-3E1DCDC2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0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3385B20D-4BEB-4EA7-A1AB-14BD26A6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91298542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0" name="">
            <a:extLst xmlns:a="http://schemas.openxmlformats.org/drawingml/2006/main">
              <a:ext uri="{FF2B5EF4-FFF2-40B4-BE49-F238E27FC236}">
                <a16:creationId xmlns:a16="http://schemas.microsoft.com/office/drawing/2014/main" id="{B5F4A3AF-7253-4B87-8CB9-EB3C8E22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90400"/>
            <a:ext cx="102866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總結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:</a:t>
            </a:r>
            <a:r>
              <a:rPr sz="2550" b="1" u="none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可追蹤、可重播、可稽核，支撐跨地行政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2" name="">
            <a:extLst xmlns:a="http://schemas.openxmlformats.org/drawingml/2006/main">
              <a:ext uri="{FF2B5EF4-FFF2-40B4-BE49-F238E27FC236}">
                <a16:creationId xmlns:a16="http://schemas.microsoft.com/office/drawing/2014/main" id="{2AFD7C3B-E73F-4E19-AD0E-B53514CF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40" y="3524400"/>
            <a:ext cx="1807920" cy="102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3" name="">
            <a:extLst xmlns:a="http://schemas.openxmlformats.org/drawingml/2006/main">
              <a:ext uri="{FF2B5EF4-FFF2-40B4-BE49-F238E27FC236}">
                <a16:creationId xmlns:a16="http://schemas.microsoft.com/office/drawing/2014/main" id="{61A8EFF5-98C8-4440-87AF-509CC7C6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0" y="3790800"/>
            <a:ext cx="1522080" cy="47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29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流程整合</a:t>
            </a:r>
            <a:endParaRPr sz="1729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4" name="">
            <a:extLst xmlns:a="http://schemas.openxmlformats.org/drawingml/2006/main">
              <a:ext uri="{FF2B5EF4-FFF2-40B4-BE49-F238E27FC236}">
                <a16:creationId xmlns:a16="http://schemas.microsoft.com/office/drawing/2014/main" id="{A80FFF92-588F-4DD7-BE50-95CEC9FC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160" y="3114720"/>
            <a:ext cx="1807920" cy="102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5" name="">
            <a:extLst xmlns:a="http://schemas.openxmlformats.org/drawingml/2006/main">
              <a:ext uri="{FF2B5EF4-FFF2-40B4-BE49-F238E27FC236}">
                <a16:creationId xmlns:a16="http://schemas.microsoft.com/office/drawing/2014/main" id="{EA1A7D04-C74D-4D0C-82F8-0479BFC6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080" y="3381480"/>
            <a:ext cx="1522080" cy="47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29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權責清楚</a:t>
            </a:r>
            <a:endParaRPr sz="1729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6" name="">
            <a:extLst xmlns:a="http://schemas.openxmlformats.org/drawingml/2006/main">
              <a:ext uri="{FF2B5EF4-FFF2-40B4-BE49-F238E27FC236}">
                <a16:creationId xmlns:a16="http://schemas.microsoft.com/office/drawing/2014/main" id="{F3590EB4-E8D8-49B3-8676-F10C0F32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40" y="2705040"/>
            <a:ext cx="1807920" cy="102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7" name="">
            <a:extLst xmlns:a="http://schemas.openxmlformats.org/drawingml/2006/main">
              <a:ext uri="{FF2B5EF4-FFF2-40B4-BE49-F238E27FC236}">
                <a16:creationId xmlns:a16="http://schemas.microsoft.com/office/drawing/2014/main" id="{4844FA71-45A0-4B99-B253-D6731DB2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60" y="2971800"/>
            <a:ext cx="1522080" cy="47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29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交易可靠</a:t>
            </a:r>
            <a:endParaRPr sz="1729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8" name="">
            <a:extLst xmlns:a="http://schemas.openxmlformats.org/drawingml/2006/main">
              <a:ext uri="{FF2B5EF4-FFF2-40B4-BE49-F238E27FC236}">
                <a16:creationId xmlns:a16="http://schemas.microsoft.com/office/drawing/2014/main" id="{C84FE550-A069-4E99-BB86-0C3F6E73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560" y="2295360"/>
            <a:ext cx="1807920" cy="102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9" name="">
            <a:extLst xmlns:a="http://schemas.openxmlformats.org/drawingml/2006/main">
              <a:ext uri="{FF2B5EF4-FFF2-40B4-BE49-F238E27FC236}">
                <a16:creationId xmlns:a16="http://schemas.microsoft.com/office/drawing/2014/main" id="{ACA8D0E6-27BB-4363-8286-9AD7C6E8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480" y="2562120"/>
            <a:ext cx="1522080" cy="47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29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例外可管</a:t>
            </a:r>
            <a:endParaRPr sz="1729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0" name="">
            <a:extLst xmlns:a="http://schemas.openxmlformats.org/drawingml/2006/main">
              <a:ext uri="{FF2B5EF4-FFF2-40B4-BE49-F238E27FC236}">
                <a16:creationId xmlns:a16="http://schemas.microsoft.com/office/drawing/2014/main" id="{47E13531-77C5-45C9-8DD8-8F0F86D3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40" y="1886040"/>
            <a:ext cx="1807920" cy="102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1" name="">
            <a:extLst xmlns:a="http://schemas.openxmlformats.org/drawingml/2006/main">
              <a:ext uri="{FF2B5EF4-FFF2-40B4-BE49-F238E27FC236}">
                <a16:creationId xmlns:a16="http://schemas.microsoft.com/office/drawing/2014/main" id="{55A6319E-C621-44D1-8D83-F900C5CD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60" y="2152800"/>
            <a:ext cx="1522080" cy="47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29" b="1" u="none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逐步部署</a:t>
            </a:r>
            <a:endParaRPr sz="1729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2" name="">
            <a:extLst xmlns:a="http://schemas.openxmlformats.org/drawingml/2006/main">
              <a:ext uri="{FF2B5EF4-FFF2-40B4-BE49-F238E27FC236}">
                <a16:creationId xmlns:a16="http://schemas.microsoft.com/office/drawing/2014/main" id="{EBB53CEA-645E-4A73-B71F-E15E8B1A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80" y="5095800"/>
            <a:ext cx="9999360" cy="61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320" b="1" u="none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可追蹤、可重播、可稽核，打下執行遠端工作的基礎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3" name="統一章節標記">
            <a:extLst xmlns:a="http://schemas.openxmlformats.org/drawingml/2006/main">
              <a:ext uri="{FF2B5EF4-FFF2-40B4-BE49-F238E27FC236}">
                <a16:creationId xmlns:a16="http://schemas.microsoft.com/office/drawing/2014/main" id="{DEC5894B-B160-4795-BA3C-A708517E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80" y="523800"/>
            <a:ext cx="132840" cy="7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7657"/>
          </a:solidFill>
          <a:ln xmlns:a="http://schemas.openxmlformats.org/drawingml/2006/main" w="0">
            <a:solidFill>
              <a:srgbClr val="AE765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4" name="統一頁碼">
            <a:extLst xmlns:a="http://schemas.openxmlformats.org/drawingml/2006/main">
              <a:ext uri="{FF2B5EF4-FFF2-40B4-BE49-F238E27FC236}">
                <a16:creationId xmlns:a16="http://schemas.microsoft.com/office/drawing/2014/main" id="{FC7E0A1B-8D8D-4504-A7FD-0A2DE5E8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defRPr>
            </a:pPr>
            <a:r>
              <a:rPr sz="1425">
                <a:solidFill>
                  <a:srgbClr val="806857"/>
                </a:solidFill>
                <a:latin typeface="Noto Sans TC"/>
                <a:ea typeface="Noto Sans TC"/>
                <a:cs typeface="Noto Sans TC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3748352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2026-08-11T06:18:24.8700000Z</dcterms:created>
  <dcterms:modified xsi:type="dcterms:W3CDTF">2026-08-11T06:18:24.8700000Z</dcterms:modified>
</coreProperties>
</file>