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presentation.xml" ContentType="application/vnd.openxmlformats-officedocument.presentationml.presentation.main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media/image49.svg" ContentType="image/svg"/>
  <Override PartName="/ppt/media/image22.svg" ContentType="image/svg"/>
  <Override PartName="/ppt/media/image34.svg" ContentType="image/svg"/>
  <Override PartName="/ppt/media/image51.svg" ContentType="image/svg"/>
  <Override PartName="/ppt/media/image20.svg" ContentType="image/svg"/>
  <Override PartName="/ppt/media/image24.svg" ContentType="image/svg"/>
  <Override PartName="/ppt/media/image26.svg" ContentType="image/svg"/>
  <Override PartName="/ppt/media/image28.svg" ContentType="image/svg"/>
  <Override PartName="/ppt/media/image45.svg" ContentType="image/svg"/>
  <Override PartName="/ppt/media/image32.svg" ContentType="image/svg"/>
  <Override PartName="/ppt/media/image41.svg" ContentType="image/svg"/>
  <Override PartName="/ppt/media/image36.svg" ContentType="image/svg"/>
  <Override PartName="/ppt/media/image38.svg" ContentType="image/svg"/>
  <Override PartName="/ppt/media/image43.svg" ContentType="image/svg"/>
  <Override PartName="/ppt/media/image47.svg" ContentType="image/svg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  <p:sldMasterId id="2147483654" r:id="rId4"/>
    <p:sldMasterId id="2147483656" r:id="rId5"/>
    <p:sldMasterId id="2147483658" r:id="rId6"/>
    <p:sldMasterId id="214748366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請按這裡移動投影片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請按這裡編輯備註格式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&lt;頁首&gt;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44602D0-DFE9-42E7-9500-EBA08326F25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README.md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document/LINE (1).pptx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README.md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架構重整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/01_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規格基線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/00_Global_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共同契約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1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架構重整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/01_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規格基線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/00_Global_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共同契約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架構重整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/01_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規格基線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/01_Orders_Domain.md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架構重整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/01_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規格基線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/02_Assignments_Scheduling_Domain.md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架構重整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/01_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規格基線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/04_Client_Finance_Domain.md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README.md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架構重整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/01_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規格基線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/00_Global_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共同契約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架構重整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/01_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規格基線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/17_External_Integration_LINE_Access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正式規格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整合自使用者提供的《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LINE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流程說明簡報》，配合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CKI101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原簡報風格與報告脈絡重寫。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整合自使用者提供的《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LINE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流程說明簡報》，配合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CKI101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原簡報風格與報告脈絡重寫。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整合自使用者提供的《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LINE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流程說明簡報》，配合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CKI101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原簡報風格與報告脈絡重寫。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整合自使用者提供的《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LINE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流程說明簡報》，配合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CKI101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原簡報風格與報告脈絡重寫。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整合自使用者提供的《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LINE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流程說明簡報》，配合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CKI101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原簡報風格與報告脈絡重寫。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整合自使用者提供的《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LINE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流程說明簡報》，配合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CKI101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原簡報風格與報告脈絡重寫。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0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3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README.md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架構重整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/01_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規格基線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/07_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Domain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交易與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pytest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驗收架構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架構重整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/01_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規格基線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/18_Global_Deployment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與治理正式規格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6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9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架構重整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/01_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規格基線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/18_Global_Deployment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與治理正式規格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文件整併工作區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/04_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部署架構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無損合併稿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5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架構重整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/01_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規格基線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/18_Global_Deployment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與治理正式規格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文件整併工作區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/04_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部署架構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無損合併稿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7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3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6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9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5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README.md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架構重整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/01_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規格基線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/00_Global_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共同契約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document/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架構重整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/01_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規格基線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/18_Global_Deployment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與治理正式規格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eg"/><Relationship Id="rId3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543960"/>
            <a:ext cx="1097100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請按這裡編輯題名文字格式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請按這裡編輯大綱文字格式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第二個大綱層次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第三個大綱層次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第四個大綱層次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第五個大綱層次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第六個大綱層次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第七個大綱層次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543960"/>
            <a:ext cx="1097100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請按這裡編輯題名文字格式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請按這裡編輯大綱文字格式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第二個大綱層次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第三個大綱層次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第四個大綱層次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第五個大綱層次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第六個大綱層次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第七個大綱層次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預設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543960"/>
            <a:ext cx="1097100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DDCFB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F9F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Image 1"/>
          <p:cNvPicPr/>
          <p:nvPr/>
        </p:nvPicPr>
        <p:blipFill>
          <a:blip r:embed="rId3"/>
          <a:stretch/>
        </p:blipFill>
        <p:spPr>
          <a:xfrm>
            <a:off x="11076840" y="6558840"/>
            <a:ext cx="1070640" cy="25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請按這裡編輯題名文字格式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zh-TW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請按這裡編輯大綱文字格式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第二個大綱層次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第三個大綱層次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第四個大綱層次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第五個大綱層次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第六個大綱層次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第七個大綱層次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DDCFB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F9F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0"/>
          <p:cNvPicPr/>
          <p:nvPr/>
        </p:nvPicPr>
        <p:blipFill>
          <a:blip r:embed="rId2"/>
          <a:stretch/>
        </p:blipFill>
        <p:spPr>
          <a:xfrm>
            <a:off x="11076840" y="6558840"/>
            <a:ext cx="1070640" cy="25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請按這裡編輯題名文字格式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zh-TW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請按這裡編輯大綱文字格式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第二個大綱層次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第三個大綱層次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第四個大綱層次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第五個大綱層次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第六個大綱層次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第七個大綱層次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zh-TW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zh-TW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請按這裡編輯題名文字格式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zh-TW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zh-TW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請按這裡編輯大綱文字格式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第二個大綱層次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第三個大綱層次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543960"/>
            <a:ext cx="1097100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請按這裡編輯題名文字格式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請按這裡編輯大綱文字格式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第三個大綱層次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第四個大綱層次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FFE6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FFF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/>
          <p:cNvPicPr/>
          <p:nvPr/>
        </p:nvPicPr>
        <p:blipFill>
          <a:blip r:embed="rId2"/>
          <a:stretch/>
        </p:blipFill>
        <p:spPr>
          <a:xfrm>
            <a:off x="10705320" y="6459120"/>
            <a:ext cx="1427400" cy="33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zh-TW" sz="586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zh-TW" sz="586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請按這裡編輯題名文字格式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zh-TW" sz="42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zh-TW" sz="37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zh-TW" sz="42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請按這裡編輯大綱文字格式</a:t>
            </a:r>
            <a:endParaRPr lang="en-US" sz="4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37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第二個大綱層次</a:t>
            </a:r>
            <a:endParaRPr lang="en-US" sz="3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第三個大綱層次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第四個大綱層次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第五個大綱層次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第六個大綱層次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第七個大綱層次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12189960" cy="6855840"/>
          </a:xfrm>
          <a:prstGeom prst="rect">
            <a:avLst/>
          </a:prstGeom>
          <a:solidFill>
            <a:srgbClr val="FFE6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0" y="0"/>
            <a:ext cx="12189960" cy="6855840"/>
          </a:xfrm>
          <a:prstGeom prst="rect">
            <a:avLst/>
          </a:prstGeom>
          <a:solidFill>
            <a:srgbClr val="FFF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/>
          <p:cNvPicPr/>
          <p:nvPr/>
        </p:nvPicPr>
        <p:blipFill>
          <a:blip r:embed="rId2"/>
          <a:stretch/>
        </p:blipFill>
        <p:spPr>
          <a:xfrm>
            <a:off x="10705320" y="6459120"/>
            <a:ext cx="142668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zh-TW" sz="586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zh-TW" sz="586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請按這裡編輯題名文字格式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zh-TW" sz="42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zh-TW" sz="37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zh-TW" sz="42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請按這裡編輯大綱文字格式</a:t>
            </a:r>
            <a:endParaRPr lang="en-US" sz="4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37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第二個大綱層次</a:t>
            </a:r>
            <a:endParaRPr lang="en-US" sz="3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第三個大綱層次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第四個大綱層次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第五個大綱層次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第六個大綱層次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第七個大綱層次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svg"/><Relationship Id="rId3" Type="http://schemas.openxmlformats.org/officeDocument/2006/relationships/image" Target="../media/image21.png"/><Relationship Id="rId4" Type="http://schemas.openxmlformats.org/officeDocument/2006/relationships/image" Target="../media/image22.svg"/><Relationship Id="rId5" Type="http://schemas.openxmlformats.org/officeDocument/2006/relationships/image" Target="../media/image23.png"/><Relationship Id="rId6" Type="http://schemas.openxmlformats.org/officeDocument/2006/relationships/image" Target="../media/image24.svg"/><Relationship Id="rId7" Type="http://schemas.openxmlformats.org/officeDocument/2006/relationships/image" Target="../media/image25.png"/><Relationship Id="rId8" Type="http://schemas.openxmlformats.org/officeDocument/2006/relationships/image" Target="../media/image26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svg"/><Relationship Id="rId3" Type="http://schemas.openxmlformats.org/officeDocument/2006/relationships/image" Target="../media/image27.png"/><Relationship Id="rId4" Type="http://schemas.openxmlformats.org/officeDocument/2006/relationships/image" Target="../media/image28.svg"/><Relationship Id="rId5" Type="http://schemas.openxmlformats.org/officeDocument/2006/relationships/image" Target="../media/image27.png"/><Relationship Id="rId6" Type="http://schemas.openxmlformats.org/officeDocument/2006/relationships/image" Target="../media/image28.svg"/><Relationship Id="rId7" Type="http://schemas.openxmlformats.org/officeDocument/2006/relationships/image" Target="../media/image29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svg"/><Relationship Id="rId3" Type="http://schemas.openxmlformats.org/officeDocument/2006/relationships/image" Target="../media/image33.png"/><Relationship Id="rId4" Type="http://schemas.openxmlformats.org/officeDocument/2006/relationships/image" Target="../media/image34.svg"/><Relationship Id="rId5" Type="http://schemas.openxmlformats.org/officeDocument/2006/relationships/image" Target="../media/image35.png"/><Relationship Id="rId6" Type="http://schemas.openxmlformats.org/officeDocument/2006/relationships/image" Target="../media/image36.svg"/><Relationship Id="rId7" Type="http://schemas.openxmlformats.org/officeDocument/2006/relationships/image" Target="../media/image37.png"/><Relationship Id="rId8" Type="http://schemas.openxmlformats.org/officeDocument/2006/relationships/image" Target="../media/image3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svg"/><Relationship Id="rId3" Type="http://schemas.openxmlformats.org/officeDocument/2006/relationships/image" Target="../media/image42.png"/><Relationship Id="rId4" Type="http://schemas.openxmlformats.org/officeDocument/2006/relationships/image" Target="../media/image43.svg"/><Relationship Id="rId5" Type="http://schemas.openxmlformats.org/officeDocument/2006/relationships/image" Target="../media/image44.png"/><Relationship Id="rId6" Type="http://schemas.openxmlformats.org/officeDocument/2006/relationships/image" Target="../media/image45.svg"/><Relationship Id="rId7" Type="http://schemas.openxmlformats.org/officeDocument/2006/relationships/image" Target="../media/image46.png"/><Relationship Id="rId8" Type="http://schemas.openxmlformats.org/officeDocument/2006/relationships/image" Target="../media/image47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svg"/><Relationship Id="rId3" Type="http://schemas.openxmlformats.org/officeDocument/2006/relationships/image" Target="../media/image48.png"/><Relationship Id="rId4" Type="http://schemas.openxmlformats.org/officeDocument/2006/relationships/image" Target="../media/image49.svg"/><Relationship Id="rId5" Type="http://schemas.openxmlformats.org/officeDocument/2006/relationships/image" Target="../media/image48.png"/><Relationship Id="rId6" Type="http://schemas.openxmlformats.org/officeDocument/2006/relationships/image" Target="../media/image49.svg"/><Relationship Id="rId7" Type="http://schemas.openxmlformats.org/officeDocument/2006/relationships/image" Target="../media/image48.png"/><Relationship Id="rId8" Type="http://schemas.openxmlformats.org/officeDocument/2006/relationships/image" Target="../media/image49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svg"/><Relationship Id="rId3" Type="http://schemas.openxmlformats.org/officeDocument/2006/relationships/image" Target="../media/image50.png"/><Relationship Id="rId4" Type="http://schemas.openxmlformats.org/officeDocument/2006/relationships/image" Target="../media/image51.svg"/><Relationship Id="rId5" Type="http://schemas.openxmlformats.org/officeDocument/2006/relationships/image" Target="../media/image50.png"/><Relationship Id="rId6" Type="http://schemas.openxmlformats.org/officeDocument/2006/relationships/image" Target="../media/image51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7238880" y="-571680"/>
            <a:ext cx="5617800" cy="7427880"/>
          </a:xfrm>
          <a:prstGeom prst="ellipse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8096400" y="1523880"/>
            <a:ext cx="2855880" cy="2855880"/>
          </a:xfrm>
          <a:prstGeom prst="ellipse">
            <a:avLst/>
          </a:prstGeom>
          <a:solidFill>
            <a:srgbClr val="D8C2A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762120" y="781200"/>
            <a:ext cx="4474800" cy="360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TW" sz="165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工會行政流程 </a:t>
            </a:r>
            <a:r>
              <a:rPr lang="en-US" sz="165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E </a:t>
            </a:r>
            <a:r>
              <a:rPr lang="zh-TW" sz="165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化與自動化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762120" y="1504800"/>
            <a:ext cx="6189480" cy="1712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54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CKI101 </a:t>
            </a:r>
            <a:r>
              <a:rPr lang="zh-TW" sz="54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第三組專案成果發表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809640" y="3619440"/>
            <a:ext cx="5617800" cy="8553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TW" sz="232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月子照顧服務工會數位轉型成果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809640" y="5191200"/>
            <a:ext cx="5903640" cy="398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TW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流程 </a:t>
            </a:r>
            <a:r>
              <a:rPr lang="en-US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E </a:t>
            </a:r>
            <a:r>
              <a:rPr lang="zh-TW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化 </a:t>
            </a:r>
            <a:r>
              <a:rPr lang="en-US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× </a:t>
            </a:r>
            <a:r>
              <a:rPr lang="zh-TW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安全自動化 </a:t>
            </a:r>
            <a:r>
              <a:rPr lang="en-US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× </a:t>
            </a:r>
            <a:r>
              <a:rPr lang="zh-TW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跨地協作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514440" y="419040"/>
            <a:ext cx="132840" cy="742680"/>
          </a:xfrm>
          <a:prstGeom prst="rect">
            <a:avLst/>
          </a:prstGeom>
          <a:solidFill>
            <a:srgbClr val="B96F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報告大綱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1144160" y="6305400"/>
            <a:ext cx="52200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02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大綱序號 01"/>
          <p:cNvSpPr/>
          <p:nvPr/>
        </p:nvSpPr>
        <p:spPr>
          <a:xfrm>
            <a:off x="952560" y="1981080"/>
            <a:ext cx="323640" cy="323640"/>
          </a:xfrm>
          <a:prstGeom prst="ellipse">
            <a:avLst/>
          </a:prstGeom>
          <a:solidFill>
            <a:srgbClr val="B96F4D"/>
          </a:solidFill>
          <a:ln w="9525">
            <a:solidFill>
              <a:srgbClr val="B96F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Noto Sans TC"/>
                <a:ea typeface="Noto Sans TC"/>
              </a:rPr>
              <a:t>01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大綱標題 01"/>
          <p:cNvSpPr/>
          <p:nvPr/>
        </p:nvSpPr>
        <p:spPr>
          <a:xfrm>
            <a:off x="1428840" y="1952640"/>
            <a:ext cx="3857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500" b="1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專案管理與團隊分工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大綱說明 01"/>
          <p:cNvSpPr/>
          <p:nvPr/>
        </p:nvSpPr>
        <p:spPr>
          <a:xfrm>
            <a:off x="1428840" y="2286000"/>
            <a:ext cx="38574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TW" sz="1430" b="0" u="none" strike="noStrike">
                <a:solidFill>
                  <a:srgbClr val="806857"/>
                </a:solidFill>
                <a:effectLst/>
                <a:uFillTx/>
                <a:latin typeface="Noto Sans TC"/>
                <a:ea typeface="Noto Sans TC"/>
              </a:rPr>
              <a:t>成員角色、工作範圍與開發時程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大綱分隔 01"/>
          <p:cNvSpPr/>
          <p:nvPr/>
        </p:nvSpPr>
        <p:spPr>
          <a:xfrm>
            <a:off x="1428840" y="2752560"/>
            <a:ext cx="3857400" cy="9000"/>
          </a:xfrm>
          <a:prstGeom prst="rect">
            <a:avLst/>
          </a:prstGeom>
          <a:solidFill>
            <a:srgbClr val="E2D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大綱序號 02"/>
          <p:cNvSpPr/>
          <p:nvPr/>
        </p:nvSpPr>
        <p:spPr>
          <a:xfrm>
            <a:off x="6238800" y="1981080"/>
            <a:ext cx="323640" cy="323640"/>
          </a:xfrm>
          <a:prstGeom prst="ellipse">
            <a:avLst/>
          </a:prstGeom>
          <a:solidFill>
            <a:srgbClr val="B96F4D"/>
          </a:solidFill>
          <a:ln w="9525">
            <a:solidFill>
              <a:srgbClr val="B96F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Noto Sans TC"/>
                <a:ea typeface="Noto Sans TC"/>
              </a:rPr>
              <a:t>02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大綱標題 02"/>
          <p:cNvSpPr/>
          <p:nvPr/>
        </p:nvSpPr>
        <p:spPr>
          <a:xfrm>
            <a:off x="6715080" y="1952640"/>
            <a:ext cx="3857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500" b="1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需求釐清與資料基礎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大綱說明 02"/>
          <p:cNvSpPr/>
          <p:nvPr/>
        </p:nvSpPr>
        <p:spPr>
          <a:xfrm>
            <a:off x="6715080" y="2286000"/>
            <a:ext cx="38574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TW" sz="1430" b="0" u="none" strike="noStrike">
                <a:solidFill>
                  <a:srgbClr val="806857"/>
                </a:solidFill>
                <a:effectLst/>
                <a:uFillTx/>
                <a:latin typeface="Noto Sans TC"/>
                <a:ea typeface="Noto Sans TC"/>
              </a:rPr>
              <a:t>公會流程、資料結構與實測回饋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大綱分隔 02"/>
          <p:cNvSpPr/>
          <p:nvPr/>
        </p:nvSpPr>
        <p:spPr>
          <a:xfrm>
            <a:off x="6715080" y="2752560"/>
            <a:ext cx="3857400" cy="9000"/>
          </a:xfrm>
          <a:prstGeom prst="rect">
            <a:avLst/>
          </a:prstGeom>
          <a:solidFill>
            <a:srgbClr val="E2D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大綱序號 03"/>
          <p:cNvSpPr/>
          <p:nvPr/>
        </p:nvSpPr>
        <p:spPr>
          <a:xfrm>
            <a:off x="952560" y="3505320"/>
            <a:ext cx="323640" cy="323640"/>
          </a:xfrm>
          <a:prstGeom prst="ellipse">
            <a:avLst/>
          </a:prstGeom>
          <a:solidFill>
            <a:srgbClr val="B96F4D"/>
          </a:solidFill>
          <a:ln w="9525">
            <a:solidFill>
              <a:srgbClr val="B96F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Noto Sans TC"/>
                <a:ea typeface="Noto Sans TC"/>
              </a:rPr>
              <a:t>03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大綱標題 03"/>
          <p:cNvSpPr/>
          <p:nvPr/>
        </p:nvSpPr>
        <p:spPr>
          <a:xfrm>
            <a:off x="1428840" y="3476520"/>
            <a:ext cx="3857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500" b="1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系統架構與後台實作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大綱說明 03"/>
          <p:cNvSpPr/>
          <p:nvPr/>
        </p:nvSpPr>
        <p:spPr>
          <a:xfrm>
            <a:off x="1428840" y="3809880"/>
            <a:ext cx="38574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TW" sz="1430" b="0" u="none" strike="noStrike">
                <a:solidFill>
                  <a:srgbClr val="806857"/>
                </a:solidFill>
                <a:effectLst/>
                <a:uFillTx/>
                <a:latin typeface="Noto Sans TC"/>
                <a:ea typeface="Noto Sans TC"/>
              </a:rPr>
              <a:t>系統分層、管理後台與核心模組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大綱分隔 03"/>
          <p:cNvSpPr/>
          <p:nvPr/>
        </p:nvSpPr>
        <p:spPr>
          <a:xfrm>
            <a:off x="1428840" y="4276800"/>
            <a:ext cx="3857400" cy="9000"/>
          </a:xfrm>
          <a:prstGeom prst="rect">
            <a:avLst/>
          </a:prstGeom>
          <a:solidFill>
            <a:srgbClr val="E2D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大綱序號 04"/>
          <p:cNvSpPr/>
          <p:nvPr/>
        </p:nvSpPr>
        <p:spPr>
          <a:xfrm>
            <a:off x="6238800" y="3505320"/>
            <a:ext cx="323640" cy="323640"/>
          </a:xfrm>
          <a:prstGeom prst="ellipse">
            <a:avLst/>
          </a:prstGeom>
          <a:solidFill>
            <a:srgbClr val="B96F4D"/>
          </a:solidFill>
          <a:ln w="9525">
            <a:solidFill>
              <a:srgbClr val="B96F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Noto Sans TC"/>
                <a:ea typeface="Noto Sans TC"/>
              </a:rPr>
              <a:t>04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大綱標題 04"/>
          <p:cNvSpPr/>
          <p:nvPr/>
        </p:nvSpPr>
        <p:spPr>
          <a:xfrm>
            <a:off x="6715080" y="3476520"/>
            <a:ext cx="3857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LINE </a:t>
            </a:r>
            <a:r>
              <a:rPr lang="zh-TW" sz="1500" b="1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服務流程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大綱說明 04"/>
          <p:cNvSpPr/>
          <p:nvPr/>
        </p:nvSpPr>
        <p:spPr>
          <a:xfrm>
            <a:off x="6715080" y="3809880"/>
            <a:ext cx="38574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TW" sz="1430" b="0" u="none" strike="noStrike">
                <a:solidFill>
                  <a:srgbClr val="806857"/>
                </a:solidFill>
                <a:effectLst/>
                <a:uFillTx/>
                <a:latin typeface="Noto Sans TC"/>
                <a:ea typeface="Noto Sans TC"/>
              </a:rPr>
              <a:t>客戶、月嫂與後台的互動設計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大綱分隔 04"/>
          <p:cNvSpPr/>
          <p:nvPr/>
        </p:nvSpPr>
        <p:spPr>
          <a:xfrm>
            <a:off x="6715080" y="4276800"/>
            <a:ext cx="3857400" cy="9000"/>
          </a:xfrm>
          <a:prstGeom prst="rect">
            <a:avLst/>
          </a:prstGeom>
          <a:solidFill>
            <a:srgbClr val="E2D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大綱序號 05"/>
          <p:cNvSpPr/>
          <p:nvPr/>
        </p:nvSpPr>
        <p:spPr>
          <a:xfrm>
            <a:off x="952560" y="5029200"/>
            <a:ext cx="323640" cy="323640"/>
          </a:xfrm>
          <a:prstGeom prst="ellipse">
            <a:avLst/>
          </a:prstGeom>
          <a:solidFill>
            <a:srgbClr val="B96F4D"/>
          </a:solidFill>
          <a:ln w="9525">
            <a:solidFill>
              <a:srgbClr val="B96F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Noto Sans TC"/>
                <a:ea typeface="Noto Sans TC"/>
              </a:rPr>
              <a:t>05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大綱標題 05"/>
          <p:cNvSpPr/>
          <p:nvPr/>
        </p:nvSpPr>
        <p:spPr>
          <a:xfrm>
            <a:off x="1428840" y="5000760"/>
            <a:ext cx="3857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500" b="1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品質驗證與 </a:t>
            </a:r>
            <a:r>
              <a:rPr lang="en-US" sz="1500" b="1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CI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大綱說明 05"/>
          <p:cNvSpPr/>
          <p:nvPr/>
        </p:nvSpPr>
        <p:spPr>
          <a:xfrm>
            <a:off x="1428840" y="5334120"/>
            <a:ext cx="38574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TW" sz="1430" b="0" u="none" strike="noStrike">
                <a:solidFill>
                  <a:srgbClr val="806857"/>
                </a:solidFill>
                <a:effectLst/>
                <a:uFillTx/>
                <a:latin typeface="Noto Sans TC"/>
                <a:ea typeface="Noto Sans TC"/>
              </a:rPr>
              <a:t>程式測試、持續整合與問題追蹤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大綱分隔 05"/>
          <p:cNvSpPr/>
          <p:nvPr/>
        </p:nvSpPr>
        <p:spPr>
          <a:xfrm>
            <a:off x="1428840" y="5800680"/>
            <a:ext cx="3857400" cy="9000"/>
          </a:xfrm>
          <a:prstGeom prst="rect">
            <a:avLst/>
          </a:prstGeom>
          <a:solidFill>
            <a:srgbClr val="E2D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大綱序號 06"/>
          <p:cNvSpPr/>
          <p:nvPr/>
        </p:nvSpPr>
        <p:spPr>
          <a:xfrm>
            <a:off x="6238800" y="5029200"/>
            <a:ext cx="323640" cy="323640"/>
          </a:xfrm>
          <a:prstGeom prst="ellipse">
            <a:avLst/>
          </a:prstGeom>
          <a:solidFill>
            <a:srgbClr val="B96F4D"/>
          </a:solidFill>
          <a:ln w="9525">
            <a:solidFill>
              <a:srgbClr val="B96F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Noto Sans TC"/>
                <a:ea typeface="Noto Sans TC"/>
              </a:rPr>
              <a:t>06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大綱標題 06"/>
          <p:cNvSpPr/>
          <p:nvPr/>
        </p:nvSpPr>
        <p:spPr>
          <a:xfrm>
            <a:off x="6715080" y="5000760"/>
            <a:ext cx="3857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500" b="1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部署方案與決策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大綱說明 06"/>
          <p:cNvSpPr/>
          <p:nvPr/>
        </p:nvSpPr>
        <p:spPr>
          <a:xfrm>
            <a:off x="6715080" y="5334120"/>
            <a:ext cx="38574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TW" sz="1430" b="0" u="none" strike="noStrike">
                <a:solidFill>
                  <a:srgbClr val="806857"/>
                </a:solidFill>
                <a:effectLst/>
                <a:uFillTx/>
                <a:latin typeface="Noto Sans TC"/>
                <a:ea typeface="Noto Sans TC"/>
              </a:rPr>
              <a:t>地端與雲端方案的安全與可用性取捨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大綱分隔 06"/>
          <p:cNvSpPr/>
          <p:nvPr/>
        </p:nvSpPr>
        <p:spPr>
          <a:xfrm>
            <a:off x="6715080" y="5800680"/>
            <a:ext cx="3857400" cy="9000"/>
          </a:xfrm>
          <a:prstGeom prst="rect">
            <a:avLst/>
          </a:prstGeom>
          <a:solidFill>
            <a:srgbClr val="E2D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成員與工作分配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(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補大頭貼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)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0784160" y="6305400"/>
            <a:ext cx="52200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02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2647800" y="2543040"/>
            <a:ext cx="379080" cy="74520"/>
          </a:xfrm>
          <a:prstGeom prst="ellipse">
            <a:avLst/>
          </a:prstGeom>
          <a:solidFill>
            <a:srgbClr val="D8C2A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857160" y="1952640"/>
            <a:ext cx="1807920" cy="12556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009800" y="2333520"/>
            <a:ext cx="1503000" cy="474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217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侯子曦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791240" y="2543040"/>
            <a:ext cx="379080" cy="74520"/>
          </a:xfrm>
          <a:prstGeom prst="ellipse">
            <a:avLst/>
          </a:prstGeom>
          <a:solidFill>
            <a:srgbClr val="D8C2A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3000240" y="1952640"/>
            <a:ext cx="1807920" cy="125568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3152880" y="2333520"/>
            <a:ext cx="1503000" cy="474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217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蔡欣怡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6934320" y="2543040"/>
            <a:ext cx="379080" cy="74520"/>
          </a:xfrm>
          <a:prstGeom prst="ellipse">
            <a:avLst/>
          </a:prstGeom>
          <a:solidFill>
            <a:srgbClr val="D8C2A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143680" y="1952640"/>
            <a:ext cx="1807920" cy="12556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5295960" y="2333520"/>
            <a:ext cx="1503000" cy="474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217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張琬偲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9077400" y="2543040"/>
            <a:ext cx="379080" cy="74520"/>
          </a:xfrm>
          <a:prstGeom prst="ellipse">
            <a:avLst/>
          </a:prstGeom>
          <a:solidFill>
            <a:srgbClr val="D8C2A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7286760" y="1952640"/>
            <a:ext cx="1807920" cy="125568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7439040" y="2333520"/>
            <a:ext cx="1503000" cy="474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217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溫瑞祥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9429840" y="1952640"/>
            <a:ext cx="1807920" cy="12556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9582120" y="2333520"/>
            <a:ext cx="1503000" cy="474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217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陳翊庭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419040" y="3780000"/>
            <a:ext cx="1256040" cy="457560"/>
          </a:xfrm>
          <a:prstGeom prst="rect">
            <a:avLst/>
          </a:prstGeom>
          <a:solidFill>
            <a:srgbClr val="E8DED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76320" rIns="76320" bIns="76320" anchor="ctr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成員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／工作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676520" y="3780000"/>
            <a:ext cx="1027440" cy="457560"/>
          </a:xfrm>
          <a:prstGeom prst="rect">
            <a:avLst/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76320" rIns="76320" bIns="76320" anchor="ctr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需求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溝通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2705040" y="3780000"/>
            <a:ext cx="1103400" cy="457560"/>
          </a:xfrm>
          <a:prstGeom prst="rect">
            <a:avLst/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76320" rIns="76320" bIns="76320" anchor="ctr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資料庫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建立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3809880" y="3780000"/>
            <a:ext cx="1027440" cy="457560"/>
          </a:xfrm>
          <a:prstGeom prst="rect">
            <a:avLst/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76320" rIns="76320" bIns="76320" anchor="ctr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地端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測試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4838760" y="3780000"/>
            <a:ext cx="1751040" cy="457560"/>
          </a:xfrm>
          <a:prstGeom prst="rect">
            <a:avLst/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76320" rIns="76320" bIns="76320" anchor="ctr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後台 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UI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與系統演算法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591240" y="3780000"/>
            <a:ext cx="1065240" cy="457560"/>
          </a:xfrm>
          <a:prstGeom prst="rect">
            <a:avLst/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76320" rIns="76320" bIns="76320" anchor="ctr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LINE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應用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7658280" y="3780000"/>
            <a:ext cx="1217880" cy="457560"/>
          </a:xfrm>
          <a:prstGeom prst="rect">
            <a:avLst/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76320" rIns="76320" bIns="76320" anchor="ctr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Agent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客服應用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8877240" y="3780000"/>
            <a:ext cx="1046160" cy="457560"/>
          </a:xfrm>
          <a:prstGeom prst="rect">
            <a:avLst/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76320" rIns="76320" bIns="76320" anchor="ctr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CI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測試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419040" y="4239360"/>
            <a:ext cx="1256040" cy="38880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侯子曦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676520" y="4239360"/>
            <a:ext cx="1027440" cy="38880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705040" y="4239360"/>
            <a:ext cx="1103400" cy="38880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3809880" y="4239360"/>
            <a:ext cx="1027440" cy="38880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4838760" y="4239360"/>
            <a:ext cx="1751040" cy="38880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591240" y="4239360"/>
            <a:ext cx="1065240" cy="38880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7658280" y="4239360"/>
            <a:ext cx="1217880" cy="38880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8877240" y="4239360"/>
            <a:ext cx="1046160" cy="38880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419040" y="4629960"/>
            <a:ext cx="1256040" cy="38880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蔡欣怡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676520" y="4629960"/>
            <a:ext cx="1027440" cy="38880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2705040" y="4629960"/>
            <a:ext cx="1103400" cy="38880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3809880" y="4629960"/>
            <a:ext cx="1027440" cy="38880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4838760" y="4629960"/>
            <a:ext cx="1751040" cy="38880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6591240" y="4629960"/>
            <a:ext cx="1065240" cy="38880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7658280" y="4629960"/>
            <a:ext cx="1217880" cy="38880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877240" y="4629960"/>
            <a:ext cx="1046160" cy="38880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419040" y="5019840"/>
            <a:ext cx="125604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張琬偲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1676520" y="5019840"/>
            <a:ext cx="102744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705040" y="5019840"/>
            <a:ext cx="110340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3809880" y="5019840"/>
            <a:ext cx="102744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4838760" y="5019840"/>
            <a:ext cx="175104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591240" y="5019840"/>
            <a:ext cx="106524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7658280" y="5019840"/>
            <a:ext cx="121788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8877240" y="5019840"/>
            <a:ext cx="104616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419040" y="5410440"/>
            <a:ext cx="1256040" cy="38916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溫瑞祥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1676520" y="5410440"/>
            <a:ext cx="1027440" cy="38916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2705040" y="5410440"/>
            <a:ext cx="1103400" cy="38916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3809880" y="5410440"/>
            <a:ext cx="1027440" cy="38916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4838760" y="5410440"/>
            <a:ext cx="1751040" cy="38916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591240" y="5410440"/>
            <a:ext cx="1065240" cy="38916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7658280" y="5410440"/>
            <a:ext cx="1217880" cy="38916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8877240" y="5410440"/>
            <a:ext cx="1046160" cy="38916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419040" y="5800680"/>
            <a:ext cx="125604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陳翊庭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1676520" y="5800680"/>
            <a:ext cx="102744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2705040" y="5800680"/>
            <a:ext cx="110340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3809880" y="5800680"/>
            <a:ext cx="102744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838760" y="5800680"/>
            <a:ext cx="175104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6591240" y="5800680"/>
            <a:ext cx="106524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7658280" y="5800680"/>
            <a:ext cx="121788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8877240" y="5800680"/>
            <a:ext cx="104616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6591240" y="5410440"/>
            <a:ext cx="1065240" cy="38916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6591240" y="5800680"/>
            <a:ext cx="106524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12201840" y="6305400"/>
            <a:ext cx="52200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02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9925200" y="3780000"/>
            <a:ext cx="1808280" cy="457560"/>
          </a:xfrm>
          <a:prstGeom prst="rect">
            <a:avLst/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76320" rIns="76320" bIns="76320" anchor="ctr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程式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部署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9925200" y="4239360"/>
            <a:ext cx="1808280" cy="38880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9925200" y="4629960"/>
            <a:ext cx="1808280" cy="38880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9925200" y="5019840"/>
            <a:ext cx="180828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9925200" y="5410440"/>
            <a:ext cx="1808280" cy="389160"/>
          </a:xfrm>
          <a:prstGeom prst="rect">
            <a:avLst/>
          </a:prstGeom>
          <a:solidFill>
            <a:srgbClr val="FAF6F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9925200" y="5800680"/>
            <a:ext cx="1808280" cy="389160"/>
          </a:xfrm>
          <a:prstGeom prst="rect">
            <a:avLst/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tIns="66600" rIns="76320" bIns="66600" anchor="ctr">
            <a:normAutofit fontScale="62500" lnSpcReduction="1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297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專案管理時程表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98"/>
          <p:cNvSpPr/>
          <p:nvPr/>
        </p:nvSpPr>
        <p:spPr>
          <a:xfrm>
            <a:off x="356760" y="1585800"/>
            <a:ext cx="11477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46558"/>
                </a:solidFill>
                <a:effectLst/>
                <a:uFillTx/>
                <a:latin typeface="Gelasio"/>
                <a:ea typeface="Gelasio"/>
              </a:rPr>
              <a:t>以分工並行推進，完成整合測試與成果發表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99"/>
          <p:cNvSpPr/>
          <p:nvPr/>
        </p:nvSpPr>
        <p:spPr>
          <a:xfrm>
            <a:off x="831600" y="2114640"/>
            <a:ext cx="1789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 300"/>
          <p:cNvSpPr/>
          <p:nvPr/>
        </p:nvSpPr>
        <p:spPr>
          <a:xfrm>
            <a:off x="2048400" y="21146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46558"/>
                </a:solidFill>
                <a:effectLst/>
                <a:uFillTx/>
                <a:latin typeface="Gelasio Bold"/>
                <a:ea typeface="Gelasio Bold"/>
              </a:rPr>
              <a:t>6/29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01"/>
          <p:cNvSpPr/>
          <p:nvPr/>
        </p:nvSpPr>
        <p:spPr>
          <a:xfrm>
            <a:off x="3026520" y="21146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46558"/>
                </a:solidFill>
                <a:effectLst/>
                <a:uFillTx/>
                <a:latin typeface="Gelasio Bold"/>
                <a:ea typeface="Gelasio Bold"/>
              </a:rPr>
              <a:t>7/6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02"/>
          <p:cNvSpPr/>
          <p:nvPr/>
        </p:nvSpPr>
        <p:spPr>
          <a:xfrm>
            <a:off x="4004640" y="21146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46558"/>
                </a:solidFill>
                <a:effectLst/>
                <a:uFillTx/>
                <a:latin typeface="Gelasio Bold"/>
                <a:ea typeface="Gelasio Bold"/>
              </a:rPr>
              <a:t>7/13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03"/>
          <p:cNvSpPr/>
          <p:nvPr/>
        </p:nvSpPr>
        <p:spPr>
          <a:xfrm>
            <a:off x="4982760" y="21146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46558"/>
                </a:solidFill>
                <a:effectLst/>
                <a:uFillTx/>
                <a:latin typeface="Gelasio Bold"/>
                <a:ea typeface="Gelasio Bold"/>
              </a:rPr>
              <a:t>7/20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04"/>
          <p:cNvSpPr/>
          <p:nvPr/>
        </p:nvSpPr>
        <p:spPr>
          <a:xfrm>
            <a:off x="5961240" y="21146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46558"/>
                </a:solidFill>
                <a:effectLst/>
                <a:uFillTx/>
                <a:latin typeface="Gelasio Bold"/>
                <a:ea typeface="Gelasio Bold"/>
              </a:rPr>
              <a:t>7/27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05"/>
          <p:cNvSpPr/>
          <p:nvPr/>
        </p:nvSpPr>
        <p:spPr>
          <a:xfrm>
            <a:off x="6939360" y="21146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46558"/>
                </a:solidFill>
                <a:effectLst/>
                <a:uFillTx/>
                <a:latin typeface="Gelasio Bold"/>
                <a:ea typeface="Gelasio Bold"/>
              </a:rPr>
              <a:t>8/3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06"/>
          <p:cNvSpPr/>
          <p:nvPr/>
        </p:nvSpPr>
        <p:spPr>
          <a:xfrm>
            <a:off x="7917480" y="21146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46558"/>
                </a:solidFill>
                <a:effectLst/>
                <a:uFillTx/>
                <a:latin typeface="Gelasio Bold"/>
                <a:ea typeface="Gelasio Bold"/>
              </a:rPr>
              <a:t>8/10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07"/>
          <p:cNvSpPr/>
          <p:nvPr/>
        </p:nvSpPr>
        <p:spPr>
          <a:xfrm>
            <a:off x="8895600" y="21146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46558"/>
                </a:solidFill>
                <a:effectLst/>
                <a:uFillTx/>
                <a:latin typeface="Gelasio Bold"/>
                <a:ea typeface="Gelasio Bold"/>
              </a:rPr>
              <a:t>8/17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08"/>
          <p:cNvSpPr/>
          <p:nvPr/>
        </p:nvSpPr>
        <p:spPr>
          <a:xfrm>
            <a:off x="9873720" y="21146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46558"/>
                </a:solidFill>
                <a:effectLst/>
                <a:uFillTx/>
                <a:latin typeface="Gelasio Bold"/>
                <a:ea typeface="Gelasio Bold"/>
              </a:rPr>
              <a:t>8/24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09"/>
          <p:cNvSpPr/>
          <p:nvPr/>
        </p:nvSpPr>
        <p:spPr>
          <a:xfrm>
            <a:off x="10851840" y="21146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46558"/>
                </a:solidFill>
                <a:effectLst/>
                <a:uFillTx/>
                <a:latin typeface="Gelasio Bold"/>
                <a:ea typeface="Gelasio Bold"/>
              </a:rPr>
              <a:t>8/31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55"/>
          <p:cNvSpPr/>
          <p:nvPr/>
        </p:nvSpPr>
        <p:spPr>
          <a:xfrm>
            <a:off x="661680" y="2471400"/>
            <a:ext cx="1520640" cy="453600"/>
          </a:xfrm>
          <a:prstGeom prst="rect">
            <a:avLst/>
          </a:prstGeom>
          <a:solidFill>
            <a:srgbClr val="F0EB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10"/>
          <p:cNvSpPr/>
          <p:nvPr/>
        </p:nvSpPr>
        <p:spPr>
          <a:xfrm>
            <a:off x="831600" y="2569680"/>
            <a:ext cx="1789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7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A0826D"/>
                </a:solidFill>
                <a:effectLst/>
                <a:uFillTx/>
                <a:latin typeface="Gelasio Bold"/>
                <a:ea typeface="Gelasio Bold"/>
              </a:rPr>
              <a:t>需求溝通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56"/>
          <p:cNvSpPr/>
          <p:nvPr/>
        </p:nvSpPr>
        <p:spPr>
          <a:xfrm>
            <a:off x="2183040" y="2471400"/>
            <a:ext cx="977040" cy="453600"/>
          </a:xfrm>
          <a:prstGeom prst="rect">
            <a:avLst/>
          </a:prstGeom>
          <a:solidFill>
            <a:srgbClr val="D4A5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11"/>
          <p:cNvSpPr/>
          <p:nvPr/>
        </p:nvSpPr>
        <p:spPr>
          <a:xfrm>
            <a:off x="2048400" y="25696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4A574"/>
                </a:solidFill>
                <a:effectLst/>
                <a:uFillTx/>
                <a:latin typeface="Gelasio"/>
                <a:ea typeface="Gelasio"/>
              </a:rPr>
              <a:t>▬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57"/>
          <p:cNvSpPr/>
          <p:nvPr/>
        </p:nvSpPr>
        <p:spPr>
          <a:xfrm>
            <a:off x="3161160" y="2471400"/>
            <a:ext cx="977040" cy="453600"/>
          </a:xfrm>
          <a:prstGeom prst="rect">
            <a:avLst/>
          </a:prstGeom>
          <a:solidFill>
            <a:srgbClr val="D4A5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12"/>
          <p:cNvSpPr/>
          <p:nvPr/>
        </p:nvSpPr>
        <p:spPr>
          <a:xfrm>
            <a:off x="3026520" y="25696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4A574"/>
                </a:solidFill>
                <a:effectLst/>
                <a:uFillTx/>
                <a:latin typeface="Gelasio"/>
                <a:ea typeface="Gelasio"/>
              </a:rPr>
              <a:t>▬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58"/>
          <p:cNvSpPr/>
          <p:nvPr/>
        </p:nvSpPr>
        <p:spPr>
          <a:xfrm>
            <a:off x="4139640" y="2471400"/>
            <a:ext cx="977040" cy="453600"/>
          </a:xfrm>
          <a:prstGeom prst="rect">
            <a:avLst/>
          </a:prstGeom>
          <a:solidFill>
            <a:srgbClr val="D4A5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13"/>
          <p:cNvSpPr/>
          <p:nvPr/>
        </p:nvSpPr>
        <p:spPr>
          <a:xfrm>
            <a:off x="4004640" y="25696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4A574"/>
                </a:solidFill>
                <a:effectLst/>
                <a:uFillTx/>
                <a:latin typeface="Gelasio"/>
                <a:ea typeface="Gelasio"/>
              </a:rPr>
              <a:t>▬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59"/>
          <p:cNvSpPr/>
          <p:nvPr/>
        </p:nvSpPr>
        <p:spPr>
          <a:xfrm>
            <a:off x="5117760" y="2471400"/>
            <a:ext cx="977040" cy="453600"/>
          </a:xfrm>
          <a:prstGeom prst="rect">
            <a:avLst/>
          </a:prstGeom>
          <a:solidFill>
            <a:srgbClr val="D4A5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14"/>
          <p:cNvSpPr/>
          <p:nvPr/>
        </p:nvSpPr>
        <p:spPr>
          <a:xfrm>
            <a:off x="4982760" y="25696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4A574"/>
                </a:solidFill>
                <a:effectLst/>
                <a:uFillTx/>
                <a:latin typeface="Gelasio"/>
                <a:ea typeface="Gelasio"/>
              </a:rPr>
              <a:t>▬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60"/>
          <p:cNvSpPr/>
          <p:nvPr/>
        </p:nvSpPr>
        <p:spPr>
          <a:xfrm>
            <a:off x="6095880" y="2471400"/>
            <a:ext cx="977040" cy="453600"/>
          </a:xfrm>
          <a:prstGeom prst="rect">
            <a:avLst/>
          </a:prstGeom>
          <a:solidFill>
            <a:srgbClr val="D4A5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15"/>
          <p:cNvSpPr/>
          <p:nvPr/>
        </p:nvSpPr>
        <p:spPr>
          <a:xfrm>
            <a:off x="5961240" y="25696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4A574"/>
                </a:solidFill>
                <a:effectLst/>
                <a:uFillTx/>
                <a:latin typeface="Gelasio"/>
                <a:ea typeface="Gelasio"/>
              </a:rPr>
              <a:t>▬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16"/>
          <p:cNvSpPr/>
          <p:nvPr/>
        </p:nvSpPr>
        <p:spPr>
          <a:xfrm>
            <a:off x="7243920" y="25696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 317"/>
          <p:cNvSpPr/>
          <p:nvPr/>
        </p:nvSpPr>
        <p:spPr>
          <a:xfrm>
            <a:off x="8222400" y="25696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 318"/>
          <p:cNvSpPr/>
          <p:nvPr/>
        </p:nvSpPr>
        <p:spPr>
          <a:xfrm>
            <a:off x="9200520" y="25696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 319"/>
          <p:cNvSpPr/>
          <p:nvPr/>
        </p:nvSpPr>
        <p:spPr>
          <a:xfrm>
            <a:off x="10178640" y="25696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 320"/>
          <p:cNvSpPr/>
          <p:nvPr/>
        </p:nvSpPr>
        <p:spPr>
          <a:xfrm>
            <a:off x="11156760" y="2569680"/>
            <a:ext cx="1033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Shape 161"/>
          <p:cNvSpPr/>
          <p:nvPr/>
        </p:nvSpPr>
        <p:spPr>
          <a:xfrm>
            <a:off x="661680" y="2926080"/>
            <a:ext cx="1520640" cy="453600"/>
          </a:xfrm>
          <a:prstGeom prst="rect">
            <a:avLst/>
          </a:prstGeom>
          <a:solidFill>
            <a:srgbClr val="F0EB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21"/>
          <p:cNvSpPr/>
          <p:nvPr/>
        </p:nvSpPr>
        <p:spPr>
          <a:xfrm>
            <a:off x="831600" y="3024360"/>
            <a:ext cx="1789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7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8B7355"/>
                </a:solidFill>
                <a:effectLst/>
                <a:uFillTx/>
                <a:latin typeface="Gelasio Bold"/>
                <a:ea typeface="Gelasio Bold"/>
              </a:rPr>
              <a:t>資料庫建立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62"/>
          <p:cNvSpPr/>
          <p:nvPr/>
        </p:nvSpPr>
        <p:spPr>
          <a:xfrm>
            <a:off x="2183040" y="2926080"/>
            <a:ext cx="977040" cy="453600"/>
          </a:xfrm>
          <a:prstGeom prst="rect">
            <a:avLst/>
          </a:prstGeom>
          <a:solidFill>
            <a:srgbClr val="8B73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22"/>
          <p:cNvSpPr/>
          <p:nvPr/>
        </p:nvSpPr>
        <p:spPr>
          <a:xfrm>
            <a:off x="2353320" y="30243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Shape 163"/>
          <p:cNvSpPr/>
          <p:nvPr/>
        </p:nvSpPr>
        <p:spPr>
          <a:xfrm>
            <a:off x="3161160" y="2926080"/>
            <a:ext cx="977040" cy="453600"/>
          </a:xfrm>
          <a:prstGeom prst="rect">
            <a:avLst/>
          </a:prstGeom>
          <a:solidFill>
            <a:srgbClr val="8B73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23"/>
          <p:cNvSpPr/>
          <p:nvPr/>
        </p:nvSpPr>
        <p:spPr>
          <a:xfrm>
            <a:off x="3331440" y="30243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Shape 164"/>
          <p:cNvSpPr/>
          <p:nvPr/>
        </p:nvSpPr>
        <p:spPr>
          <a:xfrm>
            <a:off x="4139640" y="2926080"/>
            <a:ext cx="977040" cy="453600"/>
          </a:xfrm>
          <a:prstGeom prst="rect">
            <a:avLst/>
          </a:prstGeom>
          <a:solidFill>
            <a:srgbClr val="8B73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24"/>
          <p:cNvSpPr/>
          <p:nvPr/>
        </p:nvSpPr>
        <p:spPr>
          <a:xfrm>
            <a:off x="4309560" y="30243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 325"/>
          <p:cNvSpPr/>
          <p:nvPr/>
        </p:nvSpPr>
        <p:spPr>
          <a:xfrm>
            <a:off x="5287680" y="30243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 326"/>
          <p:cNvSpPr/>
          <p:nvPr/>
        </p:nvSpPr>
        <p:spPr>
          <a:xfrm>
            <a:off x="6265800" y="30243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 327"/>
          <p:cNvSpPr/>
          <p:nvPr/>
        </p:nvSpPr>
        <p:spPr>
          <a:xfrm>
            <a:off x="7243920" y="30243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 328"/>
          <p:cNvSpPr/>
          <p:nvPr/>
        </p:nvSpPr>
        <p:spPr>
          <a:xfrm>
            <a:off x="8222400" y="30243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 329"/>
          <p:cNvSpPr/>
          <p:nvPr/>
        </p:nvSpPr>
        <p:spPr>
          <a:xfrm>
            <a:off x="9200520" y="30243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 330"/>
          <p:cNvSpPr/>
          <p:nvPr/>
        </p:nvSpPr>
        <p:spPr>
          <a:xfrm>
            <a:off x="10178640" y="30243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 331"/>
          <p:cNvSpPr/>
          <p:nvPr/>
        </p:nvSpPr>
        <p:spPr>
          <a:xfrm>
            <a:off x="11156760" y="3024360"/>
            <a:ext cx="1033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Shape 165"/>
          <p:cNvSpPr/>
          <p:nvPr/>
        </p:nvSpPr>
        <p:spPr>
          <a:xfrm>
            <a:off x="661680" y="3381120"/>
            <a:ext cx="1520640" cy="453600"/>
          </a:xfrm>
          <a:prstGeom prst="rect">
            <a:avLst/>
          </a:prstGeom>
          <a:solidFill>
            <a:srgbClr val="F0EB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32"/>
          <p:cNvSpPr/>
          <p:nvPr/>
        </p:nvSpPr>
        <p:spPr>
          <a:xfrm>
            <a:off x="831600" y="3479040"/>
            <a:ext cx="1789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7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B8956A"/>
                </a:solidFill>
                <a:effectLst/>
                <a:uFillTx/>
                <a:latin typeface="Gelasio Bold"/>
                <a:ea typeface="Gelasio Bold"/>
              </a:rPr>
              <a:t>地端測試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33"/>
          <p:cNvSpPr/>
          <p:nvPr/>
        </p:nvSpPr>
        <p:spPr>
          <a:xfrm>
            <a:off x="2353320" y="34790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 334"/>
          <p:cNvSpPr/>
          <p:nvPr/>
        </p:nvSpPr>
        <p:spPr>
          <a:xfrm>
            <a:off x="3331440" y="34790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 335"/>
          <p:cNvSpPr/>
          <p:nvPr/>
        </p:nvSpPr>
        <p:spPr>
          <a:xfrm>
            <a:off x="4309560" y="34790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Shape 166"/>
          <p:cNvSpPr/>
          <p:nvPr/>
        </p:nvSpPr>
        <p:spPr>
          <a:xfrm>
            <a:off x="5117760" y="3381120"/>
            <a:ext cx="977040" cy="453600"/>
          </a:xfrm>
          <a:prstGeom prst="rect">
            <a:avLst/>
          </a:prstGeom>
          <a:solidFill>
            <a:srgbClr val="B895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36"/>
          <p:cNvSpPr/>
          <p:nvPr/>
        </p:nvSpPr>
        <p:spPr>
          <a:xfrm>
            <a:off x="5287680" y="34790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9" name="Shape 167"/>
          <p:cNvSpPr/>
          <p:nvPr/>
        </p:nvSpPr>
        <p:spPr>
          <a:xfrm>
            <a:off x="6095880" y="3381120"/>
            <a:ext cx="977040" cy="453600"/>
          </a:xfrm>
          <a:prstGeom prst="rect">
            <a:avLst/>
          </a:prstGeom>
          <a:solidFill>
            <a:srgbClr val="B895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37"/>
          <p:cNvSpPr/>
          <p:nvPr/>
        </p:nvSpPr>
        <p:spPr>
          <a:xfrm>
            <a:off x="6265800" y="34790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Shape 168"/>
          <p:cNvSpPr/>
          <p:nvPr/>
        </p:nvSpPr>
        <p:spPr>
          <a:xfrm>
            <a:off x="7074000" y="3381120"/>
            <a:ext cx="977040" cy="453600"/>
          </a:xfrm>
          <a:prstGeom prst="rect">
            <a:avLst/>
          </a:prstGeom>
          <a:solidFill>
            <a:srgbClr val="B895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38"/>
          <p:cNvSpPr/>
          <p:nvPr/>
        </p:nvSpPr>
        <p:spPr>
          <a:xfrm>
            <a:off x="7243920" y="34790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Shape 169"/>
          <p:cNvSpPr/>
          <p:nvPr/>
        </p:nvSpPr>
        <p:spPr>
          <a:xfrm>
            <a:off x="8052120" y="3381120"/>
            <a:ext cx="977040" cy="453600"/>
          </a:xfrm>
          <a:prstGeom prst="rect">
            <a:avLst/>
          </a:prstGeom>
          <a:solidFill>
            <a:srgbClr val="B895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39"/>
          <p:cNvSpPr/>
          <p:nvPr/>
        </p:nvSpPr>
        <p:spPr>
          <a:xfrm>
            <a:off x="8222400" y="34790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Shape 170"/>
          <p:cNvSpPr/>
          <p:nvPr/>
        </p:nvSpPr>
        <p:spPr>
          <a:xfrm>
            <a:off x="9030240" y="3381120"/>
            <a:ext cx="977040" cy="453600"/>
          </a:xfrm>
          <a:prstGeom prst="rect">
            <a:avLst/>
          </a:prstGeom>
          <a:solidFill>
            <a:srgbClr val="B895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40"/>
          <p:cNvSpPr/>
          <p:nvPr/>
        </p:nvSpPr>
        <p:spPr>
          <a:xfrm>
            <a:off x="9200520" y="34790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Shape 171"/>
          <p:cNvSpPr/>
          <p:nvPr/>
        </p:nvSpPr>
        <p:spPr>
          <a:xfrm>
            <a:off x="10008720" y="3381120"/>
            <a:ext cx="977040" cy="453600"/>
          </a:xfrm>
          <a:prstGeom prst="rect">
            <a:avLst/>
          </a:prstGeom>
          <a:solidFill>
            <a:srgbClr val="B895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41"/>
          <p:cNvSpPr/>
          <p:nvPr/>
        </p:nvSpPr>
        <p:spPr>
          <a:xfrm>
            <a:off x="10178640" y="347904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Shape 172"/>
          <p:cNvSpPr/>
          <p:nvPr/>
        </p:nvSpPr>
        <p:spPr>
          <a:xfrm>
            <a:off x="10986840" y="3381120"/>
            <a:ext cx="977040" cy="453600"/>
          </a:xfrm>
          <a:prstGeom prst="rect">
            <a:avLst/>
          </a:prstGeom>
          <a:solidFill>
            <a:srgbClr val="B895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42"/>
          <p:cNvSpPr/>
          <p:nvPr/>
        </p:nvSpPr>
        <p:spPr>
          <a:xfrm>
            <a:off x="11156760" y="3479040"/>
            <a:ext cx="1033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Shape 173"/>
          <p:cNvSpPr/>
          <p:nvPr/>
        </p:nvSpPr>
        <p:spPr>
          <a:xfrm>
            <a:off x="661680" y="3835800"/>
            <a:ext cx="1520640" cy="453600"/>
          </a:xfrm>
          <a:prstGeom prst="rect">
            <a:avLst/>
          </a:prstGeom>
          <a:solidFill>
            <a:srgbClr val="F0EB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43"/>
          <p:cNvSpPr/>
          <p:nvPr/>
        </p:nvSpPr>
        <p:spPr>
          <a:xfrm>
            <a:off x="831600" y="3934080"/>
            <a:ext cx="1789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7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9B8B7E"/>
                </a:solidFill>
                <a:effectLst/>
                <a:uFillTx/>
                <a:latin typeface="Gelasio Bold"/>
                <a:ea typeface="Gelasio Bold"/>
              </a:rPr>
              <a:t>後台系統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74"/>
          <p:cNvSpPr/>
          <p:nvPr/>
        </p:nvSpPr>
        <p:spPr>
          <a:xfrm>
            <a:off x="2183040" y="3835800"/>
            <a:ext cx="977040" cy="453600"/>
          </a:xfrm>
          <a:prstGeom prst="rect">
            <a:avLst/>
          </a:prstGeom>
          <a:solidFill>
            <a:srgbClr val="9B8B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44"/>
          <p:cNvSpPr/>
          <p:nvPr/>
        </p:nvSpPr>
        <p:spPr>
          <a:xfrm>
            <a:off x="2353320" y="39340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" name="Shape 175"/>
          <p:cNvSpPr/>
          <p:nvPr/>
        </p:nvSpPr>
        <p:spPr>
          <a:xfrm>
            <a:off x="3161160" y="3835800"/>
            <a:ext cx="977040" cy="453600"/>
          </a:xfrm>
          <a:prstGeom prst="rect">
            <a:avLst/>
          </a:prstGeom>
          <a:solidFill>
            <a:srgbClr val="9B8B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45"/>
          <p:cNvSpPr/>
          <p:nvPr/>
        </p:nvSpPr>
        <p:spPr>
          <a:xfrm>
            <a:off x="3331440" y="39340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7" name="Shape 176"/>
          <p:cNvSpPr/>
          <p:nvPr/>
        </p:nvSpPr>
        <p:spPr>
          <a:xfrm>
            <a:off x="4139640" y="3835800"/>
            <a:ext cx="977040" cy="453600"/>
          </a:xfrm>
          <a:prstGeom prst="rect">
            <a:avLst/>
          </a:prstGeom>
          <a:solidFill>
            <a:srgbClr val="9B8B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46"/>
          <p:cNvSpPr/>
          <p:nvPr/>
        </p:nvSpPr>
        <p:spPr>
          <a:xfrm>
            <a:off x="4309560" y="39340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" name="Shape 177"/>
          <p:cNvSpPr/>
          <p:nvPr/>
        </p:nvSpPr>
        <p:spPr>
          <a:xfrm>
            <a:off x="5117760" y="3835800"/>
            <a:ext cx="977040" cy="453600"/>
          </a:xfrm>
          <a:prstGeom prst="rect">
            <a:avLst/>
          </a:prstGeom>
          <a:solidFill>
            <a:srgbClr val="9B8B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47"/>
          <p:cNvSpPr/>
          <p:nvPr/>
        </p:nvSpPr>
        <p:spPr>
          <a:xfrm>
            <a:off x="5287680" y="39340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" name="Shape 178"/>
          <p:cNvSpPr/>
          <p:nvPr/>
        </p:nvSpPr>
        <p:spPr>
          <a:xfrm>
            <a:off x="6095880" y="3835800"/>
            <a:ext cx="977040" cy="453600"/>
          </a:xfrm>
          <a:prstGeom prst="rect">
            <a:avLst/>
          </a:prstGeom>
          <a:solidFill>
            <a:srgbClr val="9B8B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48"/>
          <p:cNvSpPr/>
          <p:nvPr/>
        </p:nvSpPr>
        <p:spPr>
          <a:xfrm>
            <a:off x="6265800" y="39340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Shape 179"/>
          <p:cNvSpPr/>
          <p:nvPr/>
        </p:nvSpPr>
        <p:spPr>
          <a:xfrm>
            <a:off x="7074000" y="3835800"/>
            <a:ext cx="977040" cy="453600"/>
          </a:xfrm>
          <a:prstGeom prst="rect">
            <a:avLst/>
          </a:prstGeom>
          <a:solidFill>
            <a:srgbClr val="9B8B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49"/>
          <p:cNvSpPr/>
          <p:nvPr/>
        </p:nvSpPr>
        <p:spPr>
          <a:xfrm>
            <a:off x="7243920" y="39340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" name="Shape 180"/>
          <p:cNvSpPr/>
          <p:nvPr/>
        </p:nvSpPr>
        <p:spPr>
          <a:xfrm>
            <a:off x="8052120" y="3835800"/>
            <a:ext cx="977040" cy="453600"/>
          </a:xfrm>
          <a:prstGeom prst="rect">
            <a:avLst/>
          </a:prstGeom>
          <a:solidFill>
            <a:srgbClr val="9B8B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50"/>
          <p:cNvSpPr/>
          <p:nvPr/>
        </p:nvSpPr>
        <p:spPr>
          <a:xfrm>
            <a:off x="8222400" y="39340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" name="Shape 181"/>
          <p:cNvSpPr/>
          <p:nvPr/>
        </p:nvSpPr>
        <p:spPr>
          <a:xfrm>
            <a:off x="9030240" y="3835800"/>
            <a:ext cx="977040" cy="453600"/>
          </a:xfrm>
          <a:prstGeom prst="rect">
            <a:avLst/>
          </a:prstGeom>
          <a:solidFill>
            <a:srgbClr val="9B8B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351"/>
          <p:cNvSpPr/>
          <p:nvPr/>
        </p:nvSpPr>
        <p:spPr>
          <a:xfrm>
            <a:off x="9200520" y="39340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 352"/>
          <p:cNvSpPr/>
          <p:nvPr/>
        </p:nvSpPr>
        <p:spPr>
          <a:xfrm>
            <a:off x="10178640" y="39340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 353"/>
          <p:cNvSpPr/>
          <p:nvPr/>
        </p:nvSpPr>
        <p:spPr>
          <a:xfrm>
            <a:off x="11156760" y="3934080"/>
            <a:ext cx="1033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" name="Shape 182"/>
          <p:cNvSpPr/>
          <p:nvPr/>
        </p:nvSpPr>
        <p:spPr>
          <a:xfrm>
            <a:off x="661680" y="4290840"/>
            <a:ext cx="1520640" cy="453600"/>
          </a:xfrm>
          <a:prstGeom prst="rect">
            <a:avLst/>
          </a:prstGeom>
          <a:solidFill>
            <a:srgbClr val="F0EB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54"/>
          <p:cNvSpPr/>
          <p:nvPr/>
        </p:nvSpPr>
        <p:spPr>
          <a:xfrm>
            <a:off x="831600" y="4388760"/>
            <a:ext cx="1789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C4A57B"/>
                </a:solidFill>
                <a:effectLst/>
                <a:uFillTx/>
                <a:latin typeface="Gelasio Bold"/>
                <a:ea typeface="Gelasio Bold"/>
              </a:rPr>
              <a:t>LINE </a:t>
            </a:r>
            <a:r>
              <a:rPr lang="zh-TW" sz="1430" b="1" u="none" strike="noStrike">
                <a:solidFill>
                  <a:srgbClr val="C4A57B"/>
                </a:solidFill>
                <a:effectLst/>
                <a:uFillTx/>
                <a:latin typeface="Gelasio Bold"/>
                <a:ea typeface="Gelasio Bold"/>
              </a:rPr>
              <a:t>應用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55"/>
          <p:cNvSpPr/>
          <p:nvPr/>
        </p:nvSpPr>
        <p:spPr>
          <a:xfrm>
            <a:off x="2353320" y="43887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 356"/>
          <p:cNvSpPr/>
          <p:nvPr/>
        </p:nvSpPr>
        <p:spPr>
          <a:xfrm>
            <a:off x="3331440" y="43887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" name="Shape 183"/>
          <p:cNvSpPr/>
          <p:nvPr/>
        </p:nvSpPr>
        <p:spPr>
          <a:xfrm>
            <a:off x="4139640" y="4290840"/>
            <a:ext cx="977040" cy="453600"/>
          </a:xfrm>
          <a:prstGeom prst="rect">
            <a:avLst/>
          </a:prstGeom>
          <a:solidFill>
            <a:srgbClr val="C4A5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57"/>
          <p:cNvSpPr/>
          <p:nvPr/>
        </p:nvSpPr>
        <p:spPr>
          <a:xfrm>
            <a:off x="4309560" y="43887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" name="Shape 184"/>
          <p:cNvSpPr/>
          <p:nvPr/>
        </p:nvSpPr>
        <p:spPr>
          <a:xfrm>
            <a:off x="5117760" y="4290840"/>
            <a:ext cx="977040" cy="453600"/>
          </a:xfrm>
          <a:prstGeom prst="rect">
            <a:avLst/>
          </a:prstGeom>
          <a:solidFill>
            <a:srgbClr val="C4A5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58"/>
          <p:cNvSpPr/>
          <p:nvPr/>
        </p:nvSpPr>
        <p:spPr>
          <a:xfrm>
            <a:off x="5287680" y="43887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" name="Shape 185"/>
          <p:cNvSpPr/>
          <p:nvPr/>
        </p:nvSpPr>
        <p:spPr>
          <a:xfrm>
            <a:off x="6095880" y="4290840"/>
            <a:ext cx="977040" cy="453600"/>
          </a:xfrm>
          <a:prstGeom prst="rect">
            <a:avLst/>
          </a:prstGeom>
          <a:solidFill>
            <a:srgbClr val="C4A5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59"/>
          <p:cNvSpPr/>
          <p:nvPr/>
        </p:nvSpPr>
        <p:spPr>
          <a:xfrm>
            <a:off x="6265800" y="43887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" name="Shape 186"/>
          <p:cNvSpPr/>
          <p:nvPr/>
        </p:nvSpPr>
        <p:spPr>
          <a:xfrm>
            <a:off x="7074000" y="4290840"/>
            <a:ext cx="977040" cy="453600"/>
          </a:xfrm>
          <a:prstGeom prst="rect">
            <a:avLst/>
          </a:prstGeom>
          <a:solidFill>
            <a:srgbClr val="C4A5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60"/>
          <p:cNvSpPr/>
          <p:nvPr/>
        </p:nvSpPr>
        <p:spPr>
          <a:xfrm>
            <a:off x="7243920" y="43887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" name="Shape 187"/>
          <p:cNvSpPr/>
          <p:nvPr/>
        </p:nvSpPr>
        <p:spPr>
          <a:xfrm>
            <a:off x="8052120" y="4290840"/>
            <a:ext cx="977040" cy="453600"/>
          </a:xfrm>
          <a:prstGeom prst="rect">
            <a:avLst/>
          </a:prstGeom>
          <a:solidFill>
            <a:srgbClr val="C4A5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61"/>
          <p:cNvSpPr/>
          <p:nvPr/>
        </p:nvSpPr>
        <p:spPr>
          <a:xfrm>
            <a:off x="8222400" y="43887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" name="Shape 188"/>
          <p:cNvSpPr/>
          <p:nvPr/>
        </p:nvSpPr>
        <p:spPr>
          <a:xfrm>
            <a:off x="9030240" y="4290840"/>
            <a:ext cx="977040" cy="453600"/>
          </a:xfrm>
          <a:prstGeom prst="rect">
            <a:avLst/>
          </a:prstGeom>
          <a:solidFill>
            <a:srgbClr val="C4A5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62"/>
          <p:cNvSpPr/>
          <p:nvPr/>
        </p:nvSpPr>
        <p:spPr>
          <a:xfrm>
            <a:off x="9200520" y="43887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" name="Shape 189"/>
          <p:cNvSpPr/>
          <p:nvPr/>
        </p:nvSpPr>
        <p:spPr>
          <a:xfrm>
            <a:off x="10008720" y="4290840"/>
            <a:ext cx="977040" cy="453600"/>
          </a:xfrm>
          <a:prstGeom prst="rect">
            <a:avLst/>
          </a:prstGeom>
          <a:solidFill>
            <a:srgbClr val="C4A5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63"/>
          <p:cNvSpPr/>
          <p:nvPr/>
        </p:nvSpPr>
        <p:spPr>
          <a:xfrm>
            <a:off x="10178640" y="43887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" name="Shape 190"/>
          <p:cNvSpPr/>
          <p:nvPr/>
        </p:nvSpPr>
        <p:spPr>
          <a:xfrm>
            <a:off x="10986840" y="4290840"/>
            <a:ext cx="977040" cy="453600"/>
          </a:xfrm>
          <a:prstGeom prst="rect">
            <a:avLst/>
          </a:prstGeom>
          <a:solidFill>
            <a:srgbClr val="C4A5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64"/>
          <p:cNvSpPr/>
          <p:nvPr/>
        </p:nvSpPr>
        <p:spPr>
          <a:xfrm>
            <a:off x="11156760" y="4388760"/>
            <a:ext cx="1033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" name="Shape 191"/>
          <p:cNvSpPr/>
          <p:nvPr/>
        </p:nvSpPr>
        <p:spPr>
          <a:xfrm>
            <a:off x="661680" y="4745520"/>
            <a:ext cx="1520640" cy="453600"/>
          </a:xfrm>
          <a:prstGeom prst="rect">
            <a:avLst/>
          </a:prstGeom>
          <a:solidFill>
            <a:srgbClr val="F0EB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65"/>
          <p:cNvSpPr/>
          <p:nvPr/>
        </p:nvSpPr>
        <p:spPr>
          <a:xfrm>
            <a:off x="831600" y="4843800"/>
            <a:ext cx="1789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C9A876"/>
                </a:solidFill>
                <a:effectLst/>
                <a:uFillTx/>
                <a:latin typeface="Gelasio Bold"/>
                <a:ea typeface="Gelasio Bold"/>
              </a:rPr>
              <a:t>Agent </a:t>
            </a:r>
            <a:r>
              <a:rPr lang="zh-TW" sz="1430" b="1" u="none" strike="noStrike">
                <a:solidFill>
                  <a:srgbClr val="C9A876"/>
                </a:solidFill>
                <a:effectLst/>
                <a:uFillTx/>
                <a:latin typeface="Gelasio Bold"/>
                <a:ea typeface="Gelasio Bold"/>
              </a:rPr>
              <a:t>應用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66"/>
          <p:cNvSpPr/>
          <p:nvPr/>
        </p:nvSpPr>
        <p:spPr>
          <a:xfrm>
            <a:off x="2353320" y="484380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 367"/>
          <p:cNvSpPr/>
          <p:nvPr/>
        </p:nvSpPr>
        <p:spPr>
          <a:xfrm>
            <a:off x="3331440" y="484380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 368"/>
          <p:cNvSpPr/>
          <p:nvPr/>
        </p:nvSpPr>
        <p:spPr>
          <a:xfrm>
            <a:off x="4309560" y="484380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 369"/>
          <p:cNvSpPr/>
          <p:nvPr/>
        </p:nvSpPr>
        <p:spPr>
          <a:xfrm>
            <a:off x="5287680" y="484380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 370"/>
          <p:cNvSpPr/>
          <p:nvPr/>
        </p:nvSpPr>
        <p:spPr>
          <a:xfrm>
            <a:off x="6265800" y="484380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" name="Shape 192"/>
          <p:cNvSpPr/>
          <p:nvPr/>
        </p:nvSpPr>
        <p:spPr>
          <a:xfrm>
            <a:off x="7074000" y="4745520"/>
            <a:ext cx="977040" cy="453600"/>
          </a:xfrm>
          <a:prstGeom prst="rect">
            <a:avLst/>
          </a:prstGeom>
          <a:solidFill>
            <a:srgbClr val="C9A8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371"/>
          <p:cNvSpPr/>
          <p:nvPr/>
        </p:nvSpPr>
        <p:spPr>
          <a:xfrm>
            <a:off x="7243920" y="484380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" name="Shape 193"/>
          <p:cNvSpPr/>
          <p:nvPr/>
        </p:nvSpPr>
        <p:spPr>
          <a:xfrm>
            <a:off x="8052120" y="4745520"/>
            <a:ext cx="977040" cy="453600"/>
          </a:xfrm>
          <a:prstGeom prst="rect">
            <a:avLst/>
          </a:prstGeom>
          <a:solidFill>
            <a:srgbClr val="C9A8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72"/>
          <p:cNvSpPr/>
          <p:nvPr/>
        </p:nvSpPr>
        <p:spPr>
          <a:xfrm>
            <a:off x="8222400" y="484380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" name="Shape 194"/>
          <p:cNvSpPr/>
          <p:nvPr/>
        </p:nvSpPr>
        <p:spPr>
          <a:xfrm>
            <a:off x="9030240" y="4745520"/>
            <a:ext cx="977040" cy="453600"/>
          </a:xfrm>
          <a:prstGeom prst="rect">
            <a:avLst/>
          </a:prstGeom>
          <a:solidFill>
            <a:srgbClr val="C9A8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73"/>
          <p:cNvSpPr/>
          <p:nvPr/>
        </p:nvSpPr>
        <p:spPr>
          <a:xfrm>
            <a:off x="9200520" y="484380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" name="Shape 195"/>
          <p:cNvSpPr/>
          <p:nvPr/>
        </p:nvSpPr>
        <p:spPr>
          <a:xfrm>
            <a:off x="10008720" y="4745520"/>
            <a:ext cx="977040" cy="453600"/>
          </a:xfrm>
          <a:prstGeom prst="rect">
            <a:avLst/>
          </a:prstGeom>
          <a:solidFill>
            <a:srgbClr val="C9A8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74"/>
          <p:cNvSpPr/>
          <p:nvPr/>
        </p:nvSpPr>
        <p:spPr>
          <a:xfrm>
            <a:off x="10178640" y="484380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" name="Shape 196"/>
          <p:cNvSpPr/>
          <p:nvPr/>
        </p:nvSpPr>
        <p:spPr>
          <a:xfrm>
            <a:off x="10986840" y="4745520"/>
            <a:ext cx="977040" cy="453600"/>
          </a:xfrm>
          <a:prstGeom prst="rect">
            <a:avLst/>
          </a:prstGeom>
          <a:solidFill>
            <a:srgbClr val="C9A8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75"/>
          <p:cNvSpPr/>
          <p:nvPr/>
        </p:nvSpPr>
        <p:spPr>
          <a:xfrm>
            <a:off x="11156760" y="4843800"/>
            <a:ext cx="1033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" name="Shape 197"/>
          <p:cNvSpPr/>
          <p:nvPr/>
        </p:nvSpPr>
        <p:spPr>
          <a:xfrm>
            <a:off x="661680" y="5200200"/>
            <a:ext cx="1520640" cy="453600"/>
          </a:xfrm>
          <a:prstGeom prst="rect">
            <a:avLst/>
          </a:prstGeom>
          <a:solidFill>
            <a:srgbClr val="F0EB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76"/>
          <p:cNvSpPr/>
          <p:nvPr/>
        </p:nvSpPr>
        <p:spPr>
          <a:xfrm>
            <a:off x="831600" y="5298480"/>
            <a:ext cx="1789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7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A89968"/>
                </a:solidFill>
                <a:effectLst/>
                <a:uFillTx/>
                <a:latin typeface="Gelasio Bold"/>
                <a:ea typeface="Gelasio Bold"/>
              </a:rPr>
              <a:t>CI </a:t>
            </a:r>
            <a:r>
              <a:rPr lang="zh-TW" sz="1430" b="1" u="none" strike="noStrike">
                <a:solidFill>
                  <a:srgbClr val="A89968"/>
                </a:solidFill>
                <a:effectLst/>
                <a:uFillTx/>
                <a:latin typeface="Gelasio Bold"/>
                <a:ea typeface="Gelasio Bold"/>
              </a:rPr>
              <a:t>測試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98"/>
          <p:cNvSpPr/>
          <p:nvPr/>
        </p:nvSpPr>
        <p:spPr>
          <a:xfrm>
            <a:off x="2183040" y="5200200"/>
            <a:ext cx="977040" cy="453600"/>
          </a:xfrm>
          <a:prstGeom prst="rect">
            <a:avLst/>
          </a:prstGeom>
          <a:solidFill>
            <a:srgbClr val="A899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77"/>
          <p:cNvSpPr/>
          <p:nvPr/>
        </p:nvSpPr>
        <p:spPr>
          <a:xfrm>
            <a:off x="2353320" y="52984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2" name="Shape 199"/>
          <p:cNvSpPr/>
          <p:nvPr/>
        </p:nvSpPr>
        <p:spPr>
          <a:xfrm>
            <a:off x="3161160" y="5200200"/>
            <a:ext cx="977040" cy="453600"/>
          </a:xfrm>
          <a:prstGeom prst="rect">
            <a:avLst/>
          </a:prstGeom>
          <a:solidFill>
            <a:srgbClr val="A899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378"/>
          <p:cNvSpPr/>
          <p:nvPr/>
        </p:nvSpPr>
        <p:spPr>
          <a:xfrm>
            <a:off x="3331440" y="52984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4" name="Shape 200"/>
          <p:cNvSpPr/>
          <p:nvPr/>
        </p:nvSpPr>
        <p:spPr>
          <a:xfrm>
            <a:off x="4139640" y="5200200"/>
            <a:ext cx="977040" cy="453600"/>
          </a:xfrm>
          <a:prstGeom prst="rect">
            <a:avLst/>
          </a:prstGeom>
          <a:solidFill>
            <a:srgbClr val="A899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79"/>
          <p:cNvSpPr/>
          <p:nvPr/>
        </p:nvSpPr>
        <p:spPr>
          <a:xfrm>
            <a:off x="4309560" y="52984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6" name="Shape 201"/>
          <p:cNvSpPr/>
          <p:nvPr/>
        </p:nvSpPr>
        <p:spPr>
          <a:xfrm>
            <a:off x="5117760" y="5200200"/>
            <a:ext cx="977040" cy="453600"/>
          </a:xfrm>
          <a:prstGeom prst="rect">
            <a:avLst/>
          </a:prstGeom>
          <a:solidFill>
            <a:srgbClr val="A899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380"/>
          <p:cNvSpPr/>
          <p:nvPr/>
        </p:nvSpPr>
        <p:spPr>
          <a:xfrm>
            <a:off x="5287680" y="52984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8" name="Shape 202"/>
          <p:cNvSpPr/>
          <p:nvPr/>
        </p:nvSpPr>
        <p:spPr>
          <a:xfrm>
            <a:off x="6095880" y="5200200"/>
            <a:ext cx="977040" cy="453600"/>
          </a:xfrm>
          <a:prstGeom prst="rect">
            <a:avLst/>
          </a:prstGeom>
          <a:solidFill>
            <a:srgbClr val="A899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81"/>
          <p:cNvSpPr/>
          <p:nvPr/>
        </p:nvSpPr>
        <p:spPr>
          <a:xfrm>
            <a:off x="6265800" y="52984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0" name="Shape 203"/>
          <p:cNvSpPr/>
          <p:nvPr/>
        </p:nvSpPr>
        <p:spPr>
          <a:xfrm>
            <a:off x="7074000" y="5200200"/>
            <a:ext cx="977040" cy="453600"/>
          </a:xfrm>
          <a:prstGeom prst="rect">
            <a:avLst/>
          </a:prstGeom>
          <a:solidFill>
            <a:srgbClr val="A899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382"/>
          <p:cNvSpPr/>
          <p:nvPr/>
        </p:nvSpPr>
        <p:spPr>
          <a:xfrm>
            <a:off x="7243920" y="52984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2" name="Shape 204"/>
          <p:cNvSpPr/>
          <p:nvPr/>
        </p:nvSpPr>
        <p:spPr>
          <a:xfrm>
            <a:off x="8052120" y="5200200"/>
            <a:ext cx="977040" cy="453600"/>
          </a:xfrm>
          <a:prstGeom prst="rect">
            <a:avLst/>
          </a:prstGeom>
          <a:solidFill>
            <a:srgbClr val="A899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83"/>
          <p:cNvSpPr/>
          <p:nvPr/>
        </p:nvSpPr>
        <p:spPr>
          <a:xfrm>
            <a:off x="8222400" y="52984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4" name="Shape 205"/>
          <p:cNvSpPr/>
          <p:nvPr/>
        </p:nvSpPr>
        <p:spPr>
          <a:xfrm>
            <a:off x="9030240" y="5200200"/>
            <a:ext cx="977040" cy="453600"/>
          </a:xfrm>
          <a:prstGeom prst="rect">
            <a:avLst/>
          </a:prstGeom>
          <a:solidFill>
            <a:srgbClr val="A899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84"/>
          <p:cNvSpPr/>
          <p:nvPr/>
        </p:nvSpPr>
        <p:spPr>
          <a:xfrm>
            <a:off x="9200520" y="52984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6" name="Shape 206"/>
          <p:cNvSpPr/>
          <p:nvPr/>
        </p:nvSpPr>
        <p:spPr>
          <a:xfrm>
            <a:off x="10008720" y="5200200"/>
            <a:ext cx="977040" cy="453600"/>
          </a:xfrm>
          <a:prstGeom prst="rect">
            <a:avLst/>
          </a:prstGeom>
          <a:solidFill>
            <a:srgbClr val="A899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85"/>
          <p:cNvSpPr/>
          <p:nvPr/>
        </p:nvSpPr>
        <p:spPr>
          <a:xfrm>
            <a:off x="10178640" y="529848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8" name="Shape 207"/>
          <p:cNvSpPr/>
          <p:nvPr/>
        </p:nvSpPr>
        <p:spPr>
          <a:xfrm>
            <a:off x="10986840" y="5200200"/>
            <a:ext cx="977040" cy="453600"/>
          </a:xfrm>
          <a:prstGeom prst="rect">
            <a:avLst/>
          </a:prstGeom>
          <a:solidFill>
            <a:srgbClr val="A899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86"/>
          <p:cNvSpPr/>
          <p:nvPr/>
        </p:nvSpPr>
        <p:spPr>
          <a:xfrm>
            <a:off x="11156760" y="5298480"/>
            <a:ext cx="1033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0" name="Shape 208"/>
          <p:cNvSpPr/>
          <p:nvPr/>
        </p:nvSpPr>
        <p:spPr>
          <a:xfrm>
            <a:off x="661680" y="5655240"/>
            <a:ext cx="1520640" cy="453600"/>
          </a:xfrm>
          <a:custGeom>
            <a:avLst/>
            <a:gdLst>
              <a:gd name="textAreaLeft" fmla="*/ 0 w 1520640"/>
              <a:gd name="textAreaRight" fmla="*/ 1521720 w 1520640"/>
              <a:gd name="textAreaTop" fmla="*/ 0 h 453600"/>
              <a:gd name="textAreaBottom" fmla="*/ 454680 h 453600"/>
            </a:gdLst>
            <a:ahLst/>
            <a:cxnLst/>
            <a:rect l="textAreaLeft" t="textAreaTop" r="textAreaRight" b="textAreaBottom"/>
            <a:pathLst>
              <a:path w="1521581" h="454819">
                <a:moveTo>
                  <a:pt x="0" y="0"/>
                </a:moveTo>
                <a:lnTo>
                  <a:pt x="1521581" y="0"/>
                </a:lnTo>
                <a:lnTo>
                  <a:pt x="1521581" y="454819"/>
                </a:lnTo>
                <a:lnTo>
                  <a:pt x="21265" y="454819"/>
                </a:lnTo>
                <a:arcTo wR="21265" hR="21265" stAng="5400000" swAng="5400000"/>
                <a:lnTo>
                  <a:pt x="0" y="0"/>
                </a:lnTo>
                <a:close/>
              </a:path>
            </a:pathLst>
          </a:custGeom>
          <a:solidFill>
            <a:srgbClr val="F0EB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87"/>
          <p:cNvSpPr/>
          <p:nvPr/>
        </p:nvSpPr>
        <p:spPr>
          <a:xfrm>
            <a:off x="831600" y="5753160"/>
            <a:ext cx="1789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7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A0826D"/>
                </a:solidFill>
                <a:effectLst/>
                <a:uFillTx/>
                <a:latin typeface="Gelasio Bold"/>
                <a:ea typeface="Gelasio Bold"/>
              </a:rPr>
              <a:t>程式部署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88"/>
          <p:cNvSpPr/>
          <p:nvPr/>
        </p:nvSpPr>
        <p:spPr>
          <a:xfrm>
            <a:off x="2353320" y="57531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 389"/>
          <p:cNvSpPr/>
          <p:nvPr/>
        </p:nvSpPr>
        <p:spPr>
          <a:xfrm>
            <a:off x="3331440" y="57531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 390"/>
          <p:cNvSpPr/>
          <p:nvPr/>
        </p:nvSpPr>
        <p:spPr>
          <a:xfrm>
            <a:off x="4309560" y="57531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 391"/>
          <p:cNvSpPr/>
          <p:nvPr/>
        </p:nvSpPr>
        <p:spPr>
          <a:xfrm>
            <a:off x="5287680" y="57531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 392"/>
          <p:cNvSpPr/>
          <p:nvPr/>
        </p:nvSpPr>
        <p:spPr>
          <a:xfrm>
            <a:off x="6265800" y="57531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 393"/>
          <p:cNvSpPr/>
          <p:nvPr/>
        </p:nvSpPr>
        <p:spPr>
          <a:xfrm>
            <a:off x="7243920" y="57531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 394"/>
          <p:cNvSpPr/>
          <p:nvPr/>
        </p:nvSpPr>
        <p:spPr>
          <a:xfrm>
            <a:off x="8222400" y="57531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9" name="Shape 209"/>
          <p:cNvSpPr/>
          <p:nvPr/>
        </p:nvSpPr>
        <p:spPr>
          <a:xfrm>
            <a:off x="9030240" y="5655240"/>
            <a:ext cx="977040" cy="453600"/>
          </a:xfrm>
          <a:prstGeom prst="rect">
            <a:avLst/>
          </a:prstGeom>
          <a:solidFill>
            <a:srgbClr val="A082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395"/>
          <p:cNvSpPr/>
          <p:nvPr/>
        </p:nvSpPr>
        <p:spPr>
          <a:xfrm>
            <a:off x="9200520" y="57531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1" name="Shape 210"/>
          <p:cNvSpPr/>
          <p:nvPr/>
        </p:nvSpPr>
        <p:spPr>
          <a:xfrm>
            <a:off x="10008720" y="5655240"/>
            <a:ext cx="977040" cy="453600"/>
          </a:xfrm>
          <a:prstGeom prst="rect">
            <a:avLst/>
          </a:prstGeom>
          <a:solidFill>
            <a:srgbClr val="A082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396"/>
          <p:cNvSpPr/>
          <p:nvPr/>
        </p:nvSpPr>
        <p:spPr>
          <a:xfrm>
            <a:off x="10178640" y="5753160"/>
            <a:ext cx="1246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3" name="Shape 211"/>
          <p:cNvSpPr/>
          <p:nvPr/>
        </p:nvSpPr>
        <p:spPr>
          <a:xfrm>
            <a:off x="10986840" y="5655240"/>
            <a:ext cx="977040" cy="453600"/>
          </a:xfrm>
          <a:custGeom>
            <a:avLst/>
            <a:gdLst>
              <a:gd name="textAreaLeft" fmla="*/ 0 w 977040"/>
              <a:gd name="textAreaRight" fmla="*/ 978120 w 977040"/>
              <a:gd name="textAreaTop" fmla="*/ 0 h 453600"/>
              <a:gd name="textAreaBottom" fmla="*/ 454680 h 453600"/>
            </a:gdLst>
            <a:ahLst/>
            <a:cxnLst/>
            <a:rect l="textAreaLeft" t="textAreaTop" r="textAreaRight" b="textAreaBottom"/>
            <a:pathLst>
              <a:path w="978173" h="454819">
                <a:moveTo>
                  <a:pt x="0" y="0"/>
                </a:moveTo>
                <a:lnTo>
                  <a:pt x="978173" y="0"/>
                </a:lnTo>
                <a:lnTo>
                  <a:pt x="978173" y="433554"/>
                </a:lnTo>
                <a:arcTo wR="21265" hR="21265" stAng="0" swAng="5400000"/>
                <a:lnTo>
                  <a:pt x="0" y="454819"/>
                </a:lnTo>
                <a:lnTo>
                  <a:pt x="0" y="0"/>
                </a:lnTo>
                <a:close/>
              </a:path>
            </a:pathLst>
          </a:custGeom>
          <a:solidFill>
            <a:srgbClr val="A082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97"/>
          <p:cNvSpPr/>
          <p:nvPr/>
        </p:nvSpPr>
        <p:spPr>
          <a:xfrm>
            <a:off x="11156760" y="5753160"/>
            <a:ext cx="1033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5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398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需求釐清：從流程與資料找出數位化入口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流程圖說明"/>
          <p:cNvSpPr/>
          <p:nvPr/>
        </p:nvSpPr>
        <p:spPr>
          <a:xfrm>
            <a:off x="6286680" y="2333520"/>
            <a:ext cx="4000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從新訂單到帳務核銷的單一案件脈絡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需求釐清重點符號"/>
          <p:cNvSpPr/>
          <p:nvPr/>
        </p:nvSpPr>
        <p:spPr>
          <a:xfrm>
            <a:off x="914400" y="2200320"/>
            <a:ext cx="95040" cy="95040"/>
          </a:xfrm>
          <a:prstGeom prst="ellipse">
            <a:avLst/>
          </a:prstGeom>
          <a:solidFill>
            <a:srgbClr val="B96F4D"/>
          </a:solidFill>
          <a:ln w="0">
            <a:solidFill>
              <a:srgbClr val="B96F4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需求釐清重點"/>
          <p:cNvSpPr/>
          <p:nvPr/>
        </p:nvSpPr>
        <p:spPr>
          <a:xfrm>
            <a:off x="1162080" y="2143080"/>
            <a:ext cx="40003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TW" sz="1430" b="0" u="none" strike="noStrike">
                <a:solidFill>
                  <a:srgbClr val="685344"/>
                </a:solidFill>
                <a:effectLst/>
                <a:uFillTx/>
                <a:latin typeface="Noto Sans TC"/>
                <a:ea typeface="Noto Sans TC"/>
              </a:rPr>
              <a:t>先熟悉登記、媒合、排班、服務與帳務的實際交接。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需求釐清重點符號"/>
          <p:cNvSpPr/>
          <p:nvPr/>
        </p:nvSpPr>
        <p:spPr>
          <a:xfrm>
            <a:off x="914400" y="2962440"/>
            <a:ext cx="95040" cy="95040"/>
          </a:xfrm>
          <a:prstGeom prst="ellipse">
            <a:avLst/>
          </a:prstGeom>
          <a:solidFill>
            <a:srgbClr val="B96F4D"/>
          </a:solidFill>
          <a:ln w="0">
            <a:solidFill>
              <a:srgbClr val="B96F4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需求釐清重點"/>
          <p:cNvSpPr/>
          <p:nvPr/>
        </p:nvSpPr>
        <p:spPr>
          <a:xfrm>
            <a:off x="1162080" y="2905200"/>
            <a:ext cx="40003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TW" sz="1430" b="0" u="none" strike="noStrike">
                <a:solidFill>
                  <a:srgbClr val="685344"/>
                </a:solidFill>
                <a:effectLst/>
                <a:uFillTx/>
                <a:latin typeface="Noto Sans TC"/>
                <a:ea typeface="Noto Sans TC"/>
              </a:rPr>
              <a:t>將 </a:t>
            </a:r>
            <a:r>
              <a:rPr lang="en-US" sz="1430" b="0" u="none" strike="noStrike">
                <a:solidFill>
                  <a:srgbClr val="685344"/>
                </a:solidFill>
                <a:effectLst/>
                <a:uFillTx/>
                <a:latin typeface="Noto Sans TC"/>
                <a:ea typeface="Noto Sans TC"/>
              </a:rPr>
              <a:t>Excel </a:t>
            </a:r>
            <a:r>
              <a:rPr lang="zh-TW" sz="1430" b="0" u="none" strike="noStrike">
                <a:solidFill>
                  <a:srgbClr val="685344"/>
                </a:solidFill>
                <a:effectLst/>
                <a:uFillTx/>
                <a:latin typeface="Noto Sans TC"/>
                <a:ea typeface="Noto Sans TC"/>
              </a:rPr>
              <a:t>與紙本紀錄轉成可追蹤的訂單狀態與資料關係。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需求釐清重點符號"/>
          <p:cNvSpPr/>
          <p:nvPr/>
        </p:nvSpPr>
        <p:spPr>
          <a:xfrm>
            <a:off x="914400" y="3724200"/>
            <a:ext cx="95040" cy="95040"/>
          </a:xfrm>
          <a:prstGeom prst="ellipse">
            <a:avLst/>
          </a:prstGeom>
          <a:solidFill>
            <a:srgbClr val="B96F4D"/>
          </a:solidFill>
          <a:ln w="0">
            <a:solidFill>
              <a:srgbClr val="B96F4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需求釐清重點"/>
          <p:cNvSpPr/>
          <p:nvPr/>
        </p:nvSpPr>
        <p:spPr>
          <a:xfrm>
            <a:off x="1162080" y="3666960"/>
            <a:ext cx="40003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TW" sz="1430" b="0" u="none" strike="noStrike">
                <a:solidFill>
                  <a:srgbClr val="685344"/>
                </a:solidFill>
                <a:effectLst/>
                <a:uFillTx/>
                <a:latin typeface="Noto Sans TC"/>
                <a:ea typeface="Noto Sans TC"/>
              </a:rPr>
              <a:t>減少行政查找與重複核對，支援後續跨地協作。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訂單流程 1"/>
          <p:cNvSpPr/>
          <p:nvPr/>
        </p:nvSpPr>
        <p:spPr>
          <a:xfrm>
            <a:off x="5619600" y="3143160"/>
            <a:ext cx="971280" cy="647280"/>
          </a:xfrm>
          <a:prstGeom prst="roundRect">
            <a:avLst>
              <a:gd name="adj" fmla="val 17647"/>
            </a:avLst>
          </a:prstGeom>
          <a:solidFill>
            <a:srgbClr val="B96F4D"/>
          </a:solidFill>
          <a:ln w="11430">
            <a:solidFill>
              <a:srgbClr val="B96F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Noto Sans TC"/>
                <a:ea typeface="Noto Sans TC"/>
              </a:rPr>
              <a:t>1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FFFFFF"/>
                </a:solidFill>
                <a:effectLst/>
                <a:uFillTx/>
                <a:latin typeface="Noto Sans TC"/>
                <a:ea typeface="Noto Sans TC"/>
              </a:rPr>
              <a:t>新訂單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訂單流程 2"/>
          <p:cNvSpPr/>
          <p:nvPr/>
        </p:nvSpPr>
        <p:spPr>
          <a:xfrm>
            <a:off x="6762600" y="3143160"/>
            <a:ext cx="971280" cy="647280"/>
          </a:xfrm>
          <a:prstGeom prst="roundRect">
            <a:avLst>
              <a:gd name="adj" fmla="val 17647"/>
            </a:avLst>
          </a:prstGeom>
          <a:solidFill>
            <a:srgbClr val="F1E2D1"/>
          </a:solidFill>
          <a:ln w="11430">
            <a:solidFill>
              <a:srgbClr val="C98C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確認需求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訂單流程 3"/>
          <p:cNvSpPr/>
          <p:nvPr/>
        </p:nvSpPr>
        <p:spPr>
          <a:xfrm>
            <a:off x="7905600" y="3143160"/>
            <a:ext cx="971280" cy="647280"/>
          </a:xfrm>
          <a:prstGeom prst="roundRect">
            <a:avLst>
              <a:gd name="adj" fmla="val 17647"/>
            </a:avLst>
          </a:prstGeom>
          <a:solidFill>
            <a:srgbClr val="F1E2D1"/>
          </a:solidFill>
          <a:ln w="11430">
            <a:solidFill>
              <a:srgbClr val="C98C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媒合排班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訂單流程 4"/>
          <p:cNvSpPr/>
          <p:nvPr/>
        </p:nvSpPr>
        <p:spPr>
          <a:xfrm>
            <a:off x="9048600" y="3143160"/>
            <a:ext cx="971280" cy="647280"/>
          </a:xfrm>
          <a:prstGeom prst="roundRect">
            <a:avLst>
              <a:gd name="adj" fmla="val 17647"/>
            </a:avLst>
          </a:prstGeom>
          <a:solidFill>
            <a:srgbClr val="F1E2D1"/>
          </a:solidFill>
          <a:ln w="11430">
            <a:solidFill>
              <a:srgbClr val="C98C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服務完成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訂單流程 5"/>
          <p:cNvSpPr/>
          <p:nvPr/>
        </p:nvSpPr>
        <p:spPr>
          <a:xfrm>
            <a:off x="10191600" y="3143160"/>
            <a:ext cx="971280" cy="647280"/>
          </a:xfrm>
          <a:prstGeom prst="roundRect">
            <a:avLst>
              <a:gd name="adj" fmla="val 17647"/>
            </a:avLst>
          </a:prstGeom>
          <a:solidFill>
            <a:srgbClr val="F1E2D1"/>
          </a:solidFill>
          <a:ln w="11430">
            <a:solidFill>
              <a:srgbClr val="C98C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5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帳務核銷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0" name=""/>
          <p:cNvCxnSpPr>
            <a:stCxn id="315" idx="3"/>
            <a:endCxn id="316" idx="1"/>
          </p:cNvCxnSpPr>
          <p:nvPr/>
        </p:nvCxnSpPr>
        <p:spPr>
          <a:xfrm>
            <a:off x="6590880" y="3466800"/>
            <a:ext cx="172080" cy="360"/>
          </a:xfrm>
          <a:prstGeom prst="straightConnector1">
            <a:avLst/>
          </a:prstGeom>
          <a:ln w="19050">
            <a:solidFill>
              <a:srgbClr val="C7A187"/>
            </a:solidFill>
            <a:round/>
            <a:headEnd len="sm" type="arrow" w="sm"/>
          </a:ln>
        </p:spPr>
      </p:cxnSp>
      <p:cxnSp>
        <p:nvCxnSpPr>
          <p:cNvPr id="321" name=""/>
          <p:cNvCxnSpPr>
            <a:stCxn id="316" idx="3"/>
            <a:endCxn id="317" idx="1"/>
          </p:cNvCxnSpPr>
          <p:nvPr/>
        </p:nvCxnSpPr>
        <p:spPr>
          <a:xfrm>
            <a:off x="7733880" y="3466800"/>
            <a:ext cx="172080" cy="360"/>
          </a:xfrm>
          <a:prstGeom prst="straightConnector1">
            <a:avLst/>
          </a:prstGeom>
          <a:ln w="19050">
            <a:solidFill>
              <a:srgbClr val="C7A187"/>
            </a:solidFill>
            <a:round/>
            <a:headEnd len="sm" type="arrow" w="sm"/>
          </a:ln>
        </p:spPr>
      </p:cxnSp>
      <p:cxnSp>
        <p:nvCxnSpPr>
          <p:cNvPr id="322" name=""/>
          <p:cNvCxnSpPr>
            <a:stCxn id="317" idx="3"/>
            <a:endCxn id="318" idx="1"/>
          </p:cNvCxnSpPr>
          <p:nvPr/>
        </p:nvCxnSpPr>
        <p:spPr>
          <a:xfrm>
            <a:off x="8876880" y="3466800"/>
            <a:ext cx="172080" cy="360"/>
          </a:xfrm>
          <a:prstGeom prst="straightConnector1">
            <a:avLst/>
          </a:prstGeom>
          <a:ln w="19050">
            <a:solidFill>
              <a:srgbClr val="C7A187"/>
            </a:solidFill>
            <a:round/>
            <a:headEnd len="sm" type="arrow" w="sm"/>
          </a:ln>
        </p:spPr>
      </p:cxnSp>
      <p:cxnSp>
        <p:nvCxnSpPr>
          <p:cNvPr id="323" name=""/>
          <p:cNvCxnSpPr>
            <a:stCxn id="318" idx="3"/>
            <a:endCxn id="319" idx="1"/>
          </p:cNvCxnSpPr>
          <p:nvPr/>
        </p:nvCxnSpPr>
        <p:spPr>
          <a:xfrm>
            <a:off x="10019880" y="3466800"/>
            <a:ext cx="172080" cy="360"/>
          </a:xfrm>
          <a:prstGeom prst="straightConnector1">
            <a:avLst/>
          </a:prstGeom>
          <a:ln w="19050">
            <a:solidFill>
              <a:srgbClr val="C7A187"/>
            </a:solidFill>
            <a:round/>
            <a:headEnd len="sm" type="arrow" w="sm"/>
          </a:ln>
        </p:spPr>
      </p:cxnSp>
      <p:sp>
        <p:nvSpPr>
          <p:cNvPr id="324" name="需求釐清成果句"/>
          <p:cNvSpPr/>
          <p:nvPr/>
        </p:nvSpPr>
        <p:spPr>
          <a:xfrm>
            <a:off x="885960" y="5048280"/>
            <a:ext cx="9857880" cy="590040"/>
          </a:xfrm>
          <a:prstGeom prst="roundRect">
            <a:avLst>
              <a:gd name="adj" fmla="val 19355"/>
            </a:avLst>
          </a:prstGeom>
          <a:solidFill>
            <a:srgbClr val="EEE2D3"/>
          </a:solidFill>
          <a:ln w="9525">
            <a:solidFill>
              <a:srgbClr val="D5B6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需求釐清成果文字"/>
          <p:cNvSpPr/>
          <p:nvPr/>
        </p:nvSpPr>
        <p:spPr>
          <a:xfrm>
            <a:off x="1190520" y="5181480"/>
            <a:ext cx="9239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行政工作由「找資料」轉向「判斷與服務」，後台、</a:t>
            </a:r>
            <a:r>
              <a:rPr lang="en-US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LINE </a:t>
            </a:r>
            <a:r>
              <a:rPr lang="zh-TW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與 </a:t>
            </a:r>
            <a:r>
              <a:rPr lang="en-US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Agent </a:t>
            </a:r>
            <a:r>
              <a:rPr lang="zh-TW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皆可使用同一份業務脈絡。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軟體分層架構圖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11144160" y="6305400"/>
            <a:ext cx="52200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12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704880" y="1600200"/>
            <a:ext cx="1284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/>
          </a:bodyPr>
          <a:p>
            <a:pPr algn="r">
              <a:lnSpc>
                <a:spcPct val="100000"/>
              </a:lnSpc>
            </a:pPr>
            <a:r>
              <a:rPr lang="zh-TW" sz="1430" b="1" u="none" strike="noStrike">
                <a:solidFill>
                  <a:srgbClr val="6D6259"/>
                </a:solidFill>
                <a:effectLst/>
                <a:uFillTx/>
                <a:latin typeface="Microsoft JhengHei"/>
                <a:ea typeface="Microsoft JhengHei"/>
              </a:rPr>
              <a:t>介面層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2238480" y="1504800"/>
            <a:ext cx="7237080" cy="645840"/>
          </a:xfrm>
          <a:prstGeom prst="roundRect">
            <a:avLst>
              <a:gd name="adj" fmla="val 17647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Streamlit 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管理端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LINE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Excel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／檔案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704880" y="2381400"/>
            <a:ext cx="1284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1430" b="1" u="none" strike="noStrike">
                <a:solidFill>
                  <a:srgbClr val="6D6259"/>
                </a:solidFill>
                <a:effectLst/>
                <a:uFillTx/>
                <a:latin typeface="Microsoft JhengHei"/>
                <a:ea typeface="Microsoft JhengHei"/>
              </a:rPr>
              <a:t>API </a:t>
            </a:r>
            <a:r>
              <a:rPr lang="zh-TW" sz="1430" b="1" u="none" strike="noStrike">
                <a:solidFill>
                  <a:srgbClr val="6D6259"/>
                </a:solidFill>
                <a:effectLst/>
                <a:uFillTx/>
                <a:latin typeface="Microsoft JhengHei"/>
                <a:ea typeface="Microsoft JhengHei"/>
              </a:rPr>
              <a:t>邊界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2238480" y="2286000"/>
            <a:ext cx="7237080" cy="645840"/>
          </a:xfrm>
          <a:prstGeom prst="roundRect">
            <a:avLst>
              <a:gd name="adj" fmla="val 17647"/>
            </a:avLst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FastAPI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Webhook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Pydantic Schemas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704880" y="3162240"/>
            <a:ext cx="1284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/>
          </a:bodyPr>
          <a:p>
            <a:pPr algn="r">
              <a:lnSpc>
                <a:spcPct val="100000"/>
              </a:lnSpc>
            </a:pPr>
            <a:r>
              <a:rPr lang="zh-TW" sz="1430" b="1" u="none" strike="noStrike">
                <a:solidFill>
                  <a:srgbClr val="6D6259"/>
                </a:solidFill>
                <a:effectLst/>
                <a:uFillTx/>
                <a:latin typeface="Microsoft JhengHei"/>
                <a:ea typeface="Microsoft JhengHei"/>
              </a:rPr>
              <a:t>應用流程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2238480" y="3067200"/>
            <a:ext cx="7237080" cy="645840"/>
          </a:xfrm>
          <a:prstGeom prst="roundRect">
            <a:avLst>
              <a:gd name="adj" fmla="val 17647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Workflow Coordinator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Preview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Apply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Unit of Work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704880" y="4038480"/>
            <a:ext cx="1284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/>
          </a:bodyPr>
          <a:p>
            <a:pPr algn="r">
              <a:lnSpc>
                <a:spcPct val="100000"/>
              </a:lnSpc>
            </a:pPr>
            <a:r>
              <a:rPr lang="zh-TW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業務核心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2238480" y="3943440"/>
            <a:ext cx="7237080" cy="645840"/>
          </a:xfrm>
          <a:prstGeom prst="roundRect">
            <a:avLst>
              <a:gd name="adj" fmla="val 17647"/>
            </a:avLst>
          </a:prstGeom>
          <a:solidFill>
            <a:srgbClr val="F3ECE3"/>
          </a:solidFill>
          <a:ln w="19050">
            <a:solidFill>
              <a:srgbClr val="D8B4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Orders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Scheduling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Finance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Payroll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Anomalies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704880" y="4915080"/>
            <a:ext cx="1284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/>
          </a:bodyPr>
          <a:p>
            <a:pPr algn="r">
              <a:lnSpc>
                <a:spcPct val="100000"/>
              </a:lnSpc>
            </a:pPr>
            <a:r>
              <a:rPr lang="zh-TW" sz="1430" b="1" u="none" strike="noStrike">
                <a:solidFill>
                  <a:srgbClr val="6D6259"/>
                </a:solidFill>
                <a:effectLst/>
                <a:uFillTx/>
                <a:latin typeface="Microsoft JhengHei"/>
                <a:ea typeface="Microsoft JhengHei"/>
              </a:rPr>
              <a:t>基礎設施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2238480" y="4819680"/>
            <a:ext cx="7237080" cy="645840"/>
          </a:xfrm>
          <a:prstGeom prst="roundRect">
            <a:avLst>
              <a:gd name="adj" fmla="val 17647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Typed Ports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→　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MySQL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LINE Provider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Archive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8" name=""/>
          <p:cNvCxnSpPr>
            <a:stCxn id="329" idx="2"/>
            <a:endCxn id="331" idx="0"/>
          </p:cNvCxnSpPr>
          <p:nvPr/>
        </p:nvCxnSpPr>
        <p:spPr>
          <a:xfrm>
            <a:off x="5857200" y="2150640"/>
            <a:ext cx="360" cy="135720"/>
          </a:xfrm>
          <a:prstGeom prst="straightConnector1">
            <a:avLst/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339" name=""/>
          <p:cNvCxnSpPr>
            <a:stCxn id="331" idx="2"/>
            <a:endCxn id="333" idx="0"/>
          </p:cNvCxnSpPr>
          <p:nvPr/>
        </p:nvCxnSpPr>
        <p:spPr>
          <a:xfrm>
            <a:off x="5857200" y="2931840"/>
            <a:ext cx="360" cy="135720"/>
          </a:xfrm>
          <a:prstGeom prst="straightConnector1">
            <a:avLst/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340" name=""/>
          <p:cNvCxnSpPr>
            <a:stCxn id="333" idx="2"/>
            <a:endCxn id="335" idx="0"/>
          </p:cNvCxnSpPr>
          <p:nvPr/>
        </p:nvCxnSpPr>
        <p:spPr>
          <a:xfrm>
            <a:off x="5857200" y="3713040"/>
            <a:ext cx="360" cy="230760"/>
          </a:xfrm>
          <a:prstGeom prst="straightConnector1">
            <a:avLst/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341" name=""/>
          <p:cNvCxnSpPr>
            <a:stCxn id="335" idx="2"/>
            <a:endCxn id="337" idx="0"/>
          </p:cNvCxnSpPr>
          <p:nvPr/>
        </p:nvCxnSpPr>
        <p:spPr>
          <a:xfrm>
            <a:off x="5857200" y="4589280"/>
            <a:ext cx="360" cy="230760"/>
          </a:xfrm>
          <a:prstGeom prst="straightConnector1">
            <a:avLst/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sp>
        <p:nvSpPr>
          <p:cNvPr id="342" name=""/>
          <p:cNvSpPr/>
          <p:nvPr/>
        </p:nvSpPr>
        <p:spPr>
          <a:xfrm>
            <a:off x="9829800" y="2571840"/>
            <a:ext cx="1712880" cy="2236680"/>
          </a:xfrm>
          <a:prstGeom prst="roundRect">
            <a:avLst>
              <a:gd name="adj" fmla="val 8889"/>
            </a:avLst>
          </a:prstGeom>
          <a:solidFill>
            <a:srgbClr val="E4E9DF"/>
          </a:solidFill>
          <a:ln w="11430">
            <a:solidFill>
              <a:srgbClr val="AAB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9963000" y="2647800"/>
            <a:ext cx="14461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zh-TW" sz="1430" b="1" u="none" strike="noStrike">
                <a:solidFill>
                  <a:srgbClr val="65735B"/>
                </a:solidFill>
                <a:effectLst/>
                <a:uFillTx/>
                <a:latin typeface="Microsoft JhengHei"/>
                <a:ea typeface="Microsoft JhengHei"/>
              </a:rPr>
              <a:t>非同步工作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10001160" y="3048120"/>
            <a:ext cx="1369800" cy="1379160"/>
          </a:xfrm>
          <a:prstGeom prst="roundRect">
            <a:avLst>
              <a:gd name="adj" fmla="val 8333"/>
            </a:avLst>
          </a:prstGeom>
          <a:solidFill>
            <a:srgbClr val="FFFDF9"/>
          </a:solidFill>
          <a:ln w="11430">
            <a:solidFill>
              <a:srgbClr val="AAB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Durable Worker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Inbox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Outbox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Background Jobs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5" name=""/>
          <p:cNvCxnSpPr>
            <a:stCxn id="331" idx="3"/>
            <a:endCxn id="344" idx="0"/>
          </p:cNvCxnSpPr>
          <p:nvPr/>
        </p:nvCxnSpPr>
        <p:spPr>
          <a:xfrm>
            <a:off x="9475560" y="2608920"/>
            <a:ext cx="1211040" cy="439560"/>
          </a:xfrm>
          <a:prstGeom prst="bentConnector2">
            <a:avLst/>
          </a:prstGeom>
          <a:ln w="19050">
            <a:solidFill>
              <a:srgbClr val="AAB6A0"/>
            </a:solidFill>
            <a:round/>
            <a:tailEnd len="sm" type="triangle" w="sm"/>
          </a:ln>
        </p:spPr>
      </p:cxnSp>
      <p:cxnSp>
        <p:nvCxnSpPr>
          <p:cNvPr id="346" name=""/>
          <p:cNvCxnSpPr>
            <a:stCxn id="344" idx="1"/>
            <a:endCxn id="335" idx="3"/>
          </p:cNvCxnSpPr>
          <p:nvPr/>
        </p:nvCxnSpPr>
        <p:spPr>
          <a:xfrm flipV="1" rot="10800000">
            <a:off x="9475560" y="3737880"/>
            <a:ext cx="525960" cy="528840"/>
          </a:xfrm>
          <a:prstGeom prst="bentConnector3">
            <a:avLst>
              <a:gd name="adj1" fmla="val 49794"/>
            </a:avLst>
          </a:prstGeom>
          <a:ln w="19050">
            <a:solidFill>
              <a:srgbClr val="AAB6A0"/>
            </a:solidFill>
            <a:round/>
            <a:tailEnd len="sm" type="triangle" w="sm"/>
          </a:ln>
        </p:spPr>
      </p:cxnSp>
      <p:sp>
        <p:nvSpPr>
          <p:cNvPr id="347" name=""/>
          <p:cNvSpPr/>
          <p:nvPr/>
        </p:nvSpPr>
        <p:spPr>
          <a:xfrm>
            <a:off x="2857680" y="5638680"/>
            <a:ext cx="65703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/>
          </a:bodyPr>
          <a:p>
            <a:pPr algn="ctr">
              <a:lnSpc>
                <a:spcPct val="100000"/>
              </a:lnSpc>
            </a:pPr>
            <a:r>
              <a:rPr lang="zh-TW" sz="1430" b="0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所有正式異動共用同一套命令、交易與稽核規則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資料庫設計共用暖米色背景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6F0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399"/>
          <p:cNvSpPr/>
          <p:nvPr/>
        </p:nvSpPr>
        <p:spPr>
          <a:xfrm>
            <a:off x="76248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資料庫設計：以資料結構承接真實業務流程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400"/>
          <p:cNvSpPr/>
          <p:nvPr/>
        </p:nvSpPr>
        <p:spPr>
          <a:xfrm>
            <a:off x="895680" y="1952640"/>
            <a:ext cx="485748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marL="294480" indent="-294480" defTabSz="914400">
              <a:lnSpc>
                <a:spcPct val="133000"/>
              </a:lnSpc>
              <a:buClr>
                <a:srgbClr val="746558"/>
              </a:buClr>
              <a:buFont typeface="Symbol"/>
              <a:buChar char=""/>
            </a:pPr>
            <a:r>
              <a:rPr lang="zh-TW" sz="1700" b="0" u="none" strike="noStrike">
                <a:solidFill>
                  <a:srgbClr val="806857"/>
                </a:solidFill>
                <a:effectLst/>
                <a:uFillTx/>
                <a:latin typeface="Noto Sans TC Thin"/>
                <a:ea typeface="Noto Sans TC Thin"/>
              </a:rPr>
              <a:t>依公會實際資料格式建立對應資料結構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ans TC Thin"/>
            </a:endParaRPr>
          </a:p>
          <a:p>
            <a:pPr marL="294480" indent="-294480" defTabSz="914400">
              <a:lnSpc>
                <a:spcPct val="133000"/>
              </a:lnSpc>
              <a:buClr>
                <a:srgbClr val="746558"/>
              </a:buClr>
              <a:buFont typeface="Symbol"/>
              <a:buChar char=""/>
            </a:pPr>
            <a:r>
              <a:rPr lang="zh-TW" sz="1700" b="0" u="none" strike="noStrike">
                <a:solidFill>
                  <a:srgbClr val="806857"/>
                </a:solidFill>
                <a:effectLst/>
                <a:uFillTx/>
                <a:latin typeface="Noto Sans TC Thin"/>
                <a:ea typeface="Noto Sans TC Thin"/>
              </a:rPr>
              <a:t>個資受限時，以欄位結構與</a:t>
            </a:r>
            <a:r>
              <a:rPr lang="zh-TW" sz="1700" b="1" u="none" strike="noStrike">
                <a:solidFill>
                  <a:srgbClr val="806857"/>
                </a:solidFill>
                <a:effectLst/>
                <a:uFillTx/>
                <a:latin typeface="Noto Sans TC Thin"/>
                <a:ea typeface="Noto Sans TC Thin"/>
              </a:rPr>
              <a:t>去識別測試資料</a:t>
            </a:r>
            <a:r>
              <a:rPr lang="zh-TW" sz="1700" b="0" u="none" strike="noStrike">
                <a:solidFill>
                  <a:srgbClr val="806857"/>
                </a:solidFill>
                <a:effectLst/>
                <a:uFillTx/>
                <a:latin typeface="Noto Sans TC Thin"/>
                <a:ea typeface="Noto Sans TC Thin"/>
              </a:rPr>
              <a:t>完成驗證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ans TC Thin"/>
            </a:endParaRPr>
          </a:p>
          <a:p>
            <a:pPr marL="294480" indent="-294480" defTabSz="914400">
              <a:lnSpc>
                <a:spcPct val="133000"/>
              </a:lnSpc>
              <a:buClr>
                <a:srgbClr val="746558"/>
              </a:buClr>
              <a:buFont typeface="Symbol"/>
              <a:buChar char=""/>
            </a:pPr>
            <a:r>
              <a:rPr lang="zh-TW" sz="1700" b="0" u="none" strike="noStrike">
                <a:solidFill>
                  <a:srgbClr val="806857"/>
                </a:solidFill>
                <a:effectLst/>
                <a:uFillTx/>
                <a:latin typeface="Noto Sans TC Thin"/>
                <a:ea typeface="Noto Sans TC Thin"/>
              </a:rPr>
              <a:t>統一業務資料，供後台系統與後續 </a:t>
            </a:r>
            <a:r>
              <a:rPr lang="en-US" sz="1700" b="0" u="none" strike="noStrike">
                <a:solidFill>
                  <a:srgbClr val="806857"/>
                </a:solidFill>
                <a:effectLst/>
                <a:uFillTx/>
                <a:latin typeface="Noto Sans TC Thin"/>
                <a:ea typeface="Noto Sans TC Thin"/>
              </a:rPr>
              <a:t>Agent </a:t>
            </a:r>
            <a:r>
              <a:rPr lang="zh-TW" sz="1700" b="0" u="none" strike="noStrike">
                <a:solidFill>
                  <a:srgbClr val="806857"/>
                </a:solidFill>
                <a:effectLst/>
                <a:uFillTx/>
                <a:latin typeface="Noto Sans TC Thin"/>
                <a:ea typeface="Noto Sans TC Thin"/>
              </a:rPr>
              <a:t>應用使用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ans TC Thin"/>
            </a:endParaRPr>
          </a:p>
        </p:txBody>
      </p:sp>
      <p:sp>
        <p:nvSpPr>
          <p:cNvPr id="352" name="資料關聯圖：訂單 1"/>
          <p:cNvSpPr/>
          <p:nvPr/>
        </p:nvSpPr>
        <p:spPr>
          <a:xfrm>
            <a:off x="8172720" y="3286080"/>
            <a:ext cx="1238040" cy="609120"/>
          </a:xfrm>
          <a:prstGeom prst="roundRect">
            <a:avLst>
              <a:gd name="adj" fmla="val 18750"/>
            </a:avLst>
          </a:prstGeom>
          <a:solidFill>
            <a:srgbClr val="B96F4D"/>
          </a:solidFill>
          <a:ln w="14288">
            <a:solidFill>
              <a:srgbClr val="B96F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1800" b="1" u="none" strike="noStrike">
                <a:solidFill>
                  <a:srgbClr val="FFFFFF"/>
                </a:solidFill>
                <a:effectLst/>
                <a:uFillTx/>
                <a:latin typeface="Noto Sans TC"/>
                <a:ea typeface="Noto Sans TC"/>
              </a:rPr>
              <a:t>訂單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資料關聯圖：客戶資料 1"/>
          <p:cNvSpPr/>
          <p:nvPr/>
        </p:nvSpPr>
        <p:spPr>
          <a:xfrm>
            <a:off x="6667920" y="2495520"/>
            <a:ext cx="1199880" cy="475920"/>
          </a:xfrm>
          <a:prstGeom prst="roundRect">
            <a:avLst>
              <a:gd name="adj" fmla="val 24000"/>
            </a:avLst>
          </a:prstGeom>
          <a:solidFill>
            <a:srgbClr val="F3E7D6"/>
          </a:solidFill>
          <a:ln w="14288">
            <a:solidFill>
              <a:srgbClr val="C986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客戶資料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資料關聯圖：服務排班 1"/>
          <p:cNvSpPr/>
          <p:nvPr/>
        </p:nvSpPr>
        <p:spPr>
          <a:xfrm>
            <a:off x="9668160" y="2495520"/>
            <a:ext cx="1199880" cy="475920"/>
          </a:xfrm>
          <a:prstGeom prst="roundRect">
            <a:avLst>
              <a:gd name="adj" fmla="val 24000"/>
            </a:avLst>
          </a:prstGeom>
          <a:solidFill>
            <a:srgbClr val="F3E7D6"/>
          </a:solidFill>
          <a:ln w="14288">
            <a:solidFill>
              <a:srgbClr val="C986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服務排班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資料關聯圖：收付款紀錄 1"/>
          <p:cNvSpPr/>
          <p:nvPr/>
        </p:nvSpPr>
        <p:spPr>
          <a:xfrm>
            <a:off x="9954000" y="3543480"/>
            <a:ext cx="1199880" cy="475920"/>
          </a:xfrm>
          <a:prstGeom prst="roundRect">
            <a:avLst>
              <a:gd name="adj" fmla="val 24000"/>
            </a:avLst>
          </a:prstGeom>
          <a:solidFill>
            <a:srgbClr val="F3E7D6"/>
          </a:solidFill>
          <a:ln w="14288">
            <a:solidFill>
              <a:srgbClr val="C986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收付款紀錄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資料關聯圖：月嫂資料 1"/>
          <p:cNvSpPr/>
          <p:nvPr/>
        </p:nvSpPr>
        <p:spPr>
          <a:xfrm>
            <a:off x="9668160" y="4591080"/>
            <a:ext cx="1199880" cy="475920"/>
          </a:xfrm>
          <a:prstGeom prst="roundRect">
            <a:avLst>
              <a:gd name="adj" fmla="val 24000"/>
            </a:avLst>
          </a:prstGeom>
          <a:solidFill>
            <a:srgbClr val="F3E7D6"/>
          </a:solidFill>
          <a:ln w="14288">
            <a:solidFill>
              <a:srgbClr val="C986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月嫂資料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資料關聯圖：客服知識 1"/>
          <p:cNvSpPr/>
          <p:nvPr/>
        </p:nvSpPr>
        <p:spPr>
          <a:xfrm>
            <a:off x="6667920" y="4591080"/>
            <a:ext cx="1199880" cy="475920"/>
          </a:xfrm>
          <a:prstGeom prst="roundRect">
            <a:avLst>
              <a:gd name="adj" fmla="val 24000"/>
            </a:avLst>
          </a:prstGeom>
          <a:solidFill>
            <a:srgbClr val="F3E7D6"/>
          </a:solidFill>
          <a:ln w="14288">
            <a:solidFill>
              <a:srgbClr val="C986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1430" b="0" u="none" strike="noStrike">
                <a:solidFill>
                  <a:srgbClr val="5A3B2E"/>
                </a:solidFill>
                <a:effectLst/>
                <a:uFillTx/>
                <a:latin typeface="Noto Sans TC"/>
                <a:ea typeface="Noto Sans TC"/>
              </a:rPr>
              <a:t>客服知識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8" name=""/>
          <p:cNvCxnSpPr>
            <a:stCxn id="352" idx="1"/>
            <a:endCxn id="353" idx="3"/>
          </p:cNvCxnSpPr>
          <p:nvPr/>
        </p:nvCxnSpPr>
        <p:spPr>
          <a:xfrm flipH="1" flipV="1">
            <a:off x="7867800" y="2733480"/>
            <a:ext cx="305280" cy="857520"/>
          </a:xfrm>
          <a:prstGeom prst="straightConnector1">
            <a:avLst/>
          </a:prstGeom>
          <a:ln cap="rnd" w="19050">
            <a:solidFill>
              <a:srgbClr val="C7A187"/>
            </a:solidFill>
            <a:round/>
          </a:ln>
        </p:spPr>
      </p:cxnSp>
      <p:cxnSp>
        <p:nvCxnSpPr>
          <p:cNvPr id="359" name=""/>
          <p:cNvCxnSpPr>
            <a:stCxn id="352" idx="3"/>
            <a:endCxn id="354" idx="1"/>
          </p:cNvCxnSpPr>
          <p:nvPr/>
        </p:nvCxnSpPr>
        <p:spPr>
          <a:xfrm flipV="1">
            <a:off x="9410760" y="2733480"/>
            <a:ext cx="257760" cy="857520"/>
          </a:xfrm>
          <a:prstGeom prst="straightConnector1">
            <a:avLst/>
          </a:prstGeom>
          <a:ln cap="rnd" w="19050">
            <a:solidFill>
              <a:srgbClr val="C7A187"/>
            </a:solidFill>
            <a:round/>
          </a:ln>
        </p:spPr>
      </p:cxnSp>
      <p:cxnSp>
        <p:nvCxnSpPr>
          <p:cNvPr id="360" name=""/>
          <p:cNvCxnSpPr>
            <a:stCxn id="352" idx="3"/>
            <a:endCxn id="355" idx="1"/>
          </p:cNvCxnSpPr>
          <p:nvPr/>
        </p:nvCxnSpPr>
        <p:spPr>
          <a:xfrm>
            <a:off x="9410760" y="3590640"/>
            <a:ext cx="543600" cy="191160"/>
          </a:xfrm>
          <a:prstGeom prst="straightConnector1">
            <a:avLst/>
          </a:prstGeom>
          <a:ln cap="rnd" w="19050">
            <a:solidFill>
              <a:srgbClr val="C7A187"/>
            </a:solidFill>
            <a:round/>
          </a:ln>
        </p:spPr>
      </p:cxnSp>
      <p:cxnSp>
        <p:nvCxnSpPr>
          <p:cNvPr id="361" name=""/>
          <p:cNvCxnSpPr>
            <a:stCxn id="352" idx="3"/>
            <a:endCxn id="356" idx="1"/>
          </p:cNvCxnSpPr>
          <p:nvPr/>
        </p:nvCxnSpPr>
        <p:spPr>
          <a:xfrm>
            <a:off x="9410760" y="3590640"/>
            <a:ext cx="257760" cy="1238760"/>
          </a:xfrm>
          <a:prstGeom prst="straightConnector1">
            <a:avLst/>
          </a:prstGeom>
          <a:ln cap="rnd" w="19050">
            <a:solidFill>
              <a:srgbClr val="C7A187"/>
            </a:solidFill>
            <a:round/>
          </a:ln>
        </p:spPr>
      </p:cxnSp>
      <p:cxnSp>
        <p:nvCxnSpPr>
          <p:cNvPr id="362" name=""/>
          <p:cNvCxnSpPr>
            <a:stCxn id="352" idx="1"/>
            <a:endCxn id="357" idx="3"/>
          </p:cNvCxnSpPr>
          <p:nvPr/>
        </p:nvCxnSpPr>
        <p:spPr>
          <a:xfrm flipH="1">
            <a:off x="7867800" y="3590640"/>
            <a:ext cx="305280" cy="1238760"/>
          </a:xfrm>
          <a:prstGeom prst="straightConnector1">
            <a:avLst/>
          </a:prstGeom>
          <a:ln cap="rnd" w="19050">
            <a:solidFill>
              <a:srgbClr val="C7A187"/>
            </a:solidFill>
            <a:round/>
          </a:ln>
        </p:spPr>
      </p:cxnSp>
      <p:sp>
        <p:nvSpPr>
          <p:cNvPr id="363" name="資料庫設計頁碼 1"/>
          <p:cNvSpPr/>
          <p:nvPr/>
        </p:nvSpPr>
        <p:spPr>
          <a:xfrm>
            <a:off x="11144520" y="6305400"/>
            <a:ext cx="523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806857"/>
                </a:solidFill>
                <a:effectLst/>
                <a:uFillTx/>
                <a:latin typeface="Noto Sans TC"/>
                <a:ea typeface="Noto Sans TC"/>
              </a:rPr>
              <a:t>07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資料庫設計分隔線 1"/>
          <p:cNvSpPr/>
          <p:nvPr/>
        </p:nvSpPr>
        <p:spPr>
          <a:xfrm>
            <a:off x="6191640" y="1809720"/>
            <a:ext cx="14040" cy="3619080"/>
          </a:xfrm>
          <a:prstGeom prst="rect">
            <a:avLst/>
          </a:prstGeom>
          <a:solidFill>
            <a:srgbClr val="E2D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統一章節標記 1"/>
          <p:cNvSpPr/>
          <p:nvPr/>
        </p:nvSpPr>
        <p:spPr>
          <a:xfrm>
            <a:off x="34344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0"/>
          <p:cNvSpPr/>
          <p:nvPr/>
        </p:nvSpPr>
        <p:spPr>
          <a:xfrm>
            <a:off x="8778240" y="-1463040"/>
            <a:ext cx="5941800" cy="5941800"/>
          </a:xfrm>
          <a:prstGeom prst="ellipse">
            <a:avLst/>
          </a:prstGeom>
          <a:solidFill>
            <a:srgbClr val="A66C4E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367" name="Shape 1"/>
          <p:cNvSpPr/>
          <p:nvPr/>
        </p:nvSpPr>
        <p:spPr>
          <a:xfrm>
            <a:off x="-1828800" y="4114800"/>
            <a:ext cx="4570200" cy="4570200"/>
          </a:xfrm>
          <a:prstGeom prst="ellipse">
            <a:avLst/>
          </a:prstGeom>
          <a:solidFill>
            <a:srgbClr val="A66C4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368" name="Shape 2"/>
          <p:cNvSpPr/>
          <p:nvPr/>
        </p:nvSpPr>
        <p:spPr>
          <a:xfrm>
            <a:off x="822960" y="1417320"/>
            <a:ext cx="2649960" cy="382320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369" name="Text 3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UI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管理後台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4"/>
          <p:cNvSpPr/>
          <p:nvPr/>
        </p:nvSpPr>
        <p:spPr>
          <a:xfrm>
            <a:off x="777240" y="1965960"/>
            <a:ext cx="1023948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5"/>
          <p:cNvSpPr/>
          <p:nvPr/>
        </p:nvSpPr>
        <p:spPr>
          <a:xfrm>
            <a:off x="822960" y="3794760"/>
            <a:ext cx="9599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從人工作業到自動化治理系統的建置歷程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6"/>
          <p:cNvSpPr/>
          <p:nvPr/>
        </p:nvSpPr>
        <p:spPr>
          <a:xfrm>
            <a:off x="822960" y="4434840"/>
            <a:ext cx="2926080" cy="360"/>
          </a:xfrm>
          <a:prstGeom prst="line">
            <a:avLst/>
          </a:prstGeom>
          <a:ln w="25400">
            <a:solidFill>
              <a:srgbClr val="A66C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373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Domain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邊界讓資料責任保持清楚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11144160" y="6305400"/>
            <a:ext cx="52200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14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4429080" y="2876400"/>
            <a:ext cx="3331800" cy="950760"/>
          </a:xfrm>
          <a:prstGeom prst="roundRect">
            <a:avLst>
              <a:gd name="adj" fmla="val 12000"/>
            </a:avLst>
          </a:prstGeom>
          <a:solidFill>
            <a:srgbClr val="E8DED0"/>
          </a:solidFill>
          <a:ln w="19050">
            <a:solidFill>
              <a:srgbClr val="B56F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Workflow Coordinator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唯一跨域交易協調者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857160" y="1952640"/>
            <a:ext cx="1998360" cy="779400"/>
          </a:xfrm>
          <a:prstGeom prst="roundRect">
            <a:avLst>
              <a:gd name="adj" fmla="val 14634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Orders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契約／生命週期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5095800" y="1571760"/>
            <a:ext cx="1998360" cy="779400"/>
          </a:xfrm>
          <a:prstGeom prst="roundRect">
            <a:avLst>
              <a:gd name="adj" fmla="val 14634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Scheduling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媒合／排班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9334440" y="1952640"/>
            <a:ext cx="1998360" cy="779400"/>
          </a:xfrm>
          <a:prstGeom prst="roundRect">
            <a:avLst>
              <a:gd name="adj" fmla="val 14634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Anomalies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異常／修復入口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857160" y="4334040"/>
            <a:ext cx="1998360" cy="779400"/>
          </a:xfrm>
          <a:prstGeom prst="roundRect">
            <a:avLst>
              <a:gd name="adj" fmla="val 14634"/>
            </a:avLst>
          </a:prstGeom>
          <a:solidFill>
            <a:srgbClr val="E4E9DF"/>
          </a:solidFill>
          <a:ln w="11430">
            <a:solidFill>
              <a:srgbClr val="AAB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LINE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Knowledge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外部互動／知識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5095800" y="4809960"/>
            <a:ext cx="1998360" cy="779400"/>
          </a:xfrm>
          <a:prstGeom prst="roundRect">
            <a:avLst>
              <a:gd name="adj" fmla="val 14634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Client Finance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應收／核銷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9334440" y="4334040"/>
            <a:ext cx="1998360" cy="779400"/>
          </a:xfrm>
          <a:prstGeom prst="roundRect">
            <a:avLst>
              <a:gd name="adj" fmla="val 14634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Payroll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Payables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薪資／應付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3" name=""/>
          <p:cNvCxnSpPr>
            <a:stCxn id="376" idx="1"/>
            <a:endCxn id="377" idx="3"/>
          </p:cNvCxnSpPr>
          <p:nvPr/>
        </p:nvCxnSpPr>
        <p:spPr>
          <a:xfrm rot="10800000">
            <a:off x="2855160" y="2342520"/>
            <a:ext cx="1573920" cy="1009800"/>
          </a:xfrm>
          <a:prstGeom prst="bentConnector3">
            <a:avLst>
              <a:gd name="adj1" fmla="val 49919"/>
            </a:avLst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384" name=""/>
          <p:cNvCxnSpPr>
            <a:stCxn id="376" idx="0"/>
            <a:endCxn id="378" idx="2"/>
          </p:cNvCxnSpPr>
          <p:nvPr/>
        </p:nvCxnSpPr>
        <p:spPr>
          <a:xfrm flipV="1">
            <a:off x="6095160" y="2351160"/>
            <a:ext cx="360" cy="525600"/>
          </a:xfrm>
          <a:prstGeom prst="straightConnector1">
            <a:avLst/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385" name=""/>
          <p:cNvCxnSpPr>
            <a:stCxn id="376" idx="3"/>
            <a:endCxn id="379" idx="1"/>
          </p:cNvCxnSpPr>
          <p:nvPr/>
        </p:nvCxnSpPr>
        <p:spPr>
          <a:xfrm flipV="1">
            <a:off x="7760880" y="2342520"/>
            <a:ext cx="1573920" cy="1009800"/>
          </a:xfrm>
          <a:prstGeom prst="bentConnector3">
            <a:avLst>
              <a:gd name="adj1" fmla="val 50057"/>
            </a:avLst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386" name=""/>
          <p:cNvCxnSpPr>
            <a:stCxn id="376" idx="1"/>
            <a:endCxn id="380" idx="3"/>
          </p:cNvCxnSpPr>
          <p:nvPr/>
        </p:nvCxnSpPr>
        <p:spPr>
          <a:xfrm flipV="1" rot="10800000">
            <a:off x="2855160" y="3351600"/>
            <a:ext cx="1573920" cy="1372320"/>
          </a:xfrm>
          <a:prstGeom prst="bentConnector3">
            <a:avLst>
              <a:gd name="adj1" fmla="val 49919"/>
            </a:avLst>
          </a:prstGeom>
          <a:ln w="19050">
            <a:solidFill>
              <a:srgbClr val="AAB6A0"/>
            </a:solidFill>
            <a:round/>
            <a:tailEnd len="sm" type="triangle" w="sm"/>
          </a:ln>
        </p:spPr>
      </p:cxnSp>
      <p:cxnSp>
        <p:nvCxnSpPr>
          <p:cNvPr id="387" name=""/>
          <p:cNvCxnSpPr>
            <a:stCxn id="376" idx="2"/>
            <a:endCxn id="381" idx="0"/>
          </p:cNvCxnSpPr>
          <p:nvPr/>
        </p:nvCxnSpPr>
        <p:spPr>
          <a:xfrm>
            <a:off x="6095160" y="3827160"/>
            <a:ext cx="360" cy="983160"/>
          </a:xfrm>
          <a:prstGeom prst="straightConnector1">
            <a:avLst/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388" name=""/>
          <p:cNvCxnSpPr>
            <a:stCxn id="376" idx="3"/>
            <a:endCxn id="382" idx="1"/>
          </p:cNvCxnSpPr>
          <p:nvPr/>
        </p:nvCxnSpPr>
        <p:spPr>
          <a:xfrm>
            <a:off x="7760880" y="3351960"/>
            <a:ext cx="1573920" cy="1372320"/>
          </a:xfrm>
          <a:prstGeom prst="bentConnector3">
            <a:avLst>
              <a:gd name="adj1" fmla="val 50057"/>
            </a:avLst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sp>
        <p:nvSpPr>
          <p:cNvPr id="389" name=""/>
          <p:cNvSpPr/>
          <p:nvPr/>
        </p:nvSpPr>
        <p:spPr>
          <a:xfrm>
            <a:off x="8096400" y="3124080"/>
            <a:ext cx="99828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Typed Ports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3286080" y="5829480"/>
            <a:ext cx="561780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zh-TW" sz="1430" b="0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根事實、狀態機與寫入規則由各 </a:t>
            </a:r>
            <a:r>
              <a:rPr lang="en-US" sz="1430" b="0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Domain </a:t>
            </a:r>
            <a:r>
              <a:rPr lang="zh-TW" sz="1430" b="0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自行擁有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"/>
          <p:cNvSpPr/>
          <p:nvPr/>
        </p:nvSpPr>
        <p:spPr>
          <a:xfrm>
            <a:off x="514440" y="419040"/>
            <a:ext cx="131400" cy="74124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857160" y="428760"/>
            <a:ext cx="10475640" cy="8362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TW" sz="36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軟體分層架構圖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11144160" y="6305400"/>
            <a:ext cx="52200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2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704880" y="1600200"/>
            <a:ext cx="1284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/>
          </a:bodyPr>
          <a:p>
            <a:pPr algn="r">
              <a:lnSpc>
                <a:spcPct val="100000"/>
              </a:lnSpc>
            </a:pPr>
            <a:r>
              <a:rPr lang="zh-TW" sz="1280" b="1" u="none" strike="noStrike">
                <a:solidFill>
                  <a:srgbClr val="6D6259"/>
                </a:solidFill>
                <a:effectLst/>
                <a:uFillTx/>
                <a:latin typeface="Microsoft JhengHei"/>
                <a:ea typeface="Microsoft JhengHei"/>
              </a:rPr>
              <a:t>介面層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2238480" y="1504800"/>
            <a:ext cx="7237080" cy="645840"/>
          </a:xfrm>
          <a:prstGeom prst="roundRect">
            <a:avLst>
              <a:gd name="adj" fmla="val 17647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Streamlit 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管理端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LINE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Excel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／檔案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704880" y="2381400"/>
            <a:ext cx="1284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6D6259"/>
                </a:solidFill>
                <a:effectLst/>
                <a:uFillTx/>
                <a:latin typeface="Microsoft JhengHei"/>
                <a:ea typeface="Microsoft JhengHei"/>
              </a:rPr>
              <a:t>API </a:t>
            </a:r>
            <a:r>
              <a:rPr lang="zh-TW" sz="1280" b="1" u="none" strike="noStrike">
                <a:solidFill>
                  <a:srgbClr val="6D6259"/>
                </a:solidFill>
                <a:effectLst/>
                <a:uFillTx/>
                <a:latin typeface="Microsoft JhengHei"/>
                <a:ea typeface="Microsoft JhengHei"/>
              </a:rPr>
              <a:t>邊界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2238480" y="2286000"/>
            <a:ext cx="7237080" cy="645840"/>
          </a:xfrm>
          <a:prstGeom prst="roundRect">
            <a:avLst>
              <a:gd name="adj" fmla="val 17647"/>
            </a:avLst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FastAPI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Webhook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Pydantic Schemas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704880" y="3162240"/>
            <a:ext cx="1284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/>
          </a:bodyPr>
          <a:p>
            <a:pPr algn="r">
              <a:lnSpc>
                <a:spcPct val="100000"/>
              </a:lnSpc>
            </a:pPr>
            <a:r>
              <a:rPr lang="zh-TW" sz="1280" b="1" u="none" strike="noStrike">
                <a:solidFill>
                  <a:srgbClr val="6D6259"/>
                </a:solidFill>
                <a:effectLst/>
                <a:uFillTx/>
                <a:latin typeface="Microsoft JhengHei"/>
                <a:ea typeface="Microsoft JhengHei"/>
              </a:rPr>
              <a:t>應用流程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2238480" y="3067200"/>
            <a:ext cx="7237080" cy="645840"/>
          </a:xfrm>
          <a:prstGeom prst="roundRect">
            <a:avLst>
              <a:gd name="adj" fmla="val 17647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Workflow Coordinator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Preview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Apply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Unit of Work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704880" y="4038480"/>
            <a:ext cx="1284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/>
          </a:bodyPr>
          <a:p>
            <a:pPr algn="r">
              <a:lnSpc>
                <a:spcPct val="100000"/>
              </a:lnSpc>
            </a:pPr>
            <a:r>
              <a:rPr lang="zh-TW" sz="128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業務核心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2238480" y="3943440"/>
            <a:ext cx="7237080" cy="645840"/>
          </a:xfrm>
          <a:prstGeom prst="roundRect">
            <a:avLst>
              <a:gd name="adj" fmla="val 17647"/>
            </a:avLst>
          </a:prstGeom>
          <a:solidFill>
            <a:srgbClr val="F3ECE3"/>
          </a:solidFill>
          <a:ln w="19050">
            <a:solidFill>
              <a:srgbClr val="D8B4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Orders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Scheduling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Finance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Payroll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·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Anomalies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704880" y="4915080"/>
            <a:ext cx="1284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/>
          </a:bodyPr>
          <a:p>
            <a:pPr algn="r">
              <a:lnSpc>
                <a:spcPct val="100000"/>
              </a:lnSpc>
            </a:pPr>
            <a:r>
              <a:rPr lang="zh-TW" sz="1280" b="1" u="none" strike="noStrike">
                <a:solidFill>
                  <a:srgbClr val="6D6259"/>
                </a:solidFill>
                <a:effectLst/>
                <a:uFillTx/>
                <a:latin typeface="Microsoft JhengHei"/>
                <a:ea typeface="Microsoft JhengHei"/>
              </a:rPr>
              <a:t>基礎設施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2238480" y="4819680"/>
            <a:ext cx="7237080" cy="645840"/>
          </a:xfrm>
          <a:prstGeom prst="roundRect">
            <a:avLst>
              <a:gd name="adj" fmla="val 17647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Typed Ports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　→　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MySQL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LINE Provider</a:t>
            </a:r>
            <a:r>
              <a:rPr lang="zh-TW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35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Archive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5" name=""/>
          <p:cNvCxnSpPr>
            <a:stCxn id="396" idx="2"/>
            <a:endCxn id="398" idx="0"/>
          </p:cNvCxnSpPr>
          <p:nvPr/>
        </p:nvCxnSpPr>
        <p:spPr>
          <a:xfrm>
            <a:off x="5857200" y="2150640"/>
            <a:ext cx="360" cy="135720"/>
          </a:xfrm>
          <a:prstGeom prst="straightConnector1">
            <a:avLst/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406" name=""/>
          <p:cNvCxnSpPr>
            <a:stCxn id="398" idx="2"/>
            <a:endCxn id="400" idx="0"/>
          </p:cNvCxnSpPr>
          <p:nvPr/>
        </p:nvCxnSpPr>
        <p:spPr>
          <a:xfrm>
            <a:off x="5857200" y="2931840"/>
            <a:ext cx="360" cy="135720"/>
          </a:xfrm>
          <a:prstGeom prst="straightConnector1">
            <a:avLst/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407" name=""/>
          <p:cNvCxnSpPr>
            <a:stCxn id="400" idx="2"/>
            <a:endCxn id="402" idx="0"/>
          </p:cNvCxnSpPr>
          <p:nvPr/>
        </p:nvCxnSpPr>
        <p:spPr>
          <a:xfrm>
            <a:off x="5857200" y="3713040"/>
            <a:ext cx="360" cy="230760"/>
          </a:xfrm>
          <a:prstGeom prst="straightConnector1">
            <a:avLst/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408" name=""/>
          <p:cNvCxnSpPr>
            <a:stCxn id="402" idx="2"/>
            <a:endCxn id="404" idx="0"/>
          </p:cNvCxnSpPr>
          <p:nvPr/>
        </p:nvCxnSpPr>
        <p:spPr>
          <a:xfrm>
            <a:off x="5857200" y="4589280"/>
            <a:ext cx="360" cy="230760"/>
          </a:xfrm>
          <a:prstGeom prst="straightConnector1">
            <a:avLst/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sp>
        <p:nvSpPr>
          <p:cNvPr id="409" name=""/>
          <p:cNvSpPr/>
          <p:nvPr/>
        </p:nvSpPr>
        <p:spPr>
          <a:xfrm>
            <a:off x="9829800" y="2571840"/>
            <a:ext cx="1712880" cy="2236680"/>
          </a:xfrm>
          <a:prstGeom prst="roundRect">
            <a:avLst>
              <a:gd name="adj" fmla="val 8889"/>
            </a:avLst>
          </a:prstGeom>
          <a:solidFill>
            <a:srgbClr val="E4E9DF"/>
          </a:solidFill>
          <a:ln w="11430">
            <a:solidFill>
              <a:srgbClr val="AAB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9963000" y="2647800"/>
            <a:ext cx="14461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/>
          </a:bodyPr>
          <a:p>
            <a:pPr>
              <a:lnSpc>
                <a:spcPct val="100000"/>
              </a:lnSpc>
            </a:pPr>
            <a:r>
              <a:rPr lang="zh-TW" sz="1130" b="1" u="none" strike="noStrike">
                <a:solidFill>
                  <a:srgbClr val="65735B"/>
                </a:solidFill>
                <a:effectLst/>
                <a:uFillTx/>
                <a:latin typeface="Microsoft JhengHei"/>
                <a:ea typeface="Microsoft JhengHei"/>
              </a:rPr>
              <a:t>非同步工作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10001160" y="3048120"/>
            <a:ext cx="1369800" cy="1379160"/>
          </a:xfrm>
          <a:prstGeom prst="roundRect">
            <a:avLst>
              <a:gd name="adj" fmla="val 8333"/>
            </a:avLst>
          </a:prstGeom>
          <a:solidFill>
            <a:srgbClr val="FFFDF9"/>
          </a:solidFill>
          <a:ln w="11430">
            <a:solidFill>
              <a:srgbClr val="AAB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Durable Worker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Inbox</a:t>
            </a:r>
            <a:r>
              <a:rPr lang="zh-TW" sz="120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20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Outbox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Background Jobs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2" name=""/>
          <p:cNvCxnSpPr>
            <a:stCxn id="398" idx="3"/>
            <a:endCxn id="411" idx="0"/>
          </p:cNvCxnSpPr>
          <p:nvPr/>
        </p:nvCxnSpPr>
        <p:spPr>
          <a:xfrm>
            <a:off x="9475560" y="2608920"/>
            <a:ext cx="1211040" cy="439560"/>
          </a:xfrm>
          <a:prstGeom prst="bentConnector2">
            <a:avLst/>
          </a:prstGeom>
          <a:ln w="19050">
            <a:solidFill>
              <a:srgbClr val="AAB6A0"/>
            </a:solidFill>
            <a:round/>
            <a:tailEnd len="sm" type="triangle" w="sm"/>
          </a:ln>
        </p:spPr>
      </p:cxnSp>
      <p:cxnSp>
        <p:nvCxnSpPr>
          <p:cNvPr id="413" name=""/>
          <p:cNvCxnSpPr>
            <a:stCxn id="411" idx="1"/>
            <a:endCxn id="402" idx="3"/>
          </p:cNvCxnSpPr>
          <p:nvPr/>
        </p:nvCxnSpPr>
        <p:spPr>
          <a:xfrm flipV="1" rot="10800000">
            <a:off x="9475560" y="3737880"/>
            <a:ext cx="525960" cy="528840"/>
          </a:xfrm>
          <a:prstGeom prst="bentConnector3">
            <a:avLst>
              <a:gd name="adj1" fmla="val 49794"/>
            </a:avLst>
          </a:prstGeom>
          <a:ln w="19050">
            <a:solidFill>
              <a:srgbClr val="AAB6A0"/>
            </a:solidFill>
            <a:round/>
            <a:tailEnd len="sm" type="triangle" w="sm"/>
          </a:ln>
        </p:spPr>
      </p:cxnSp>
      <p:sp>
        <p:nvSpPr>
          <p:cNvPr id="414" name=""/>
          <p:cNvSpPr/>
          <p:nvPr/>
        </p:nvSpPr>
        <p:spPr>
          <a:xfrm>
            <a:off x="2857680" y="5638680"/>
            <a:ext cx="65703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/>
          </a:bodyPr>
          <a:p>
            <a:pPr algn="ctr">
              <a:lnSpc>
                <a:spcPct val="100000"/>
              </a:lnSpc>
            </a:pPr>
            <a:r>
              <a:rPr lang="zh-TW" sz="1130" b="0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所有正式異動共用同一套命令、交易與稽核規則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3"/>
          <p:cNvSpPr/>
          <p:nvPr/>
        </p:nvSpPr>
        <p:spPr>
          <a:xfrm>
            <a:off x="548640" y="411480"/>
            <a:ext cx="2375640" cy="345600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416" name="Text 1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現況痛點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2"/>
          <p:cNvSpPr/>
          <p:nvPr/>
        </p:nvSpPr>
        <p:spPr>
          <a:xfrm>
            <a:off x="548640" y="914400"/>
            <a:ext cx="1106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6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為什麼需要這個專案？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6"/>
          <p:cNvSpPr/>
          <p:nvPr/>
        </p:nvSpPr>
        <p:spPr>
          <a:xfrm>
            <a:off x="548640" y="1508760"/>
            <a:ext cx="10056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工會行政人員原本每天要面對的四個日常困境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4"/>
          <p:cNvSpPr/>
          <p:nvPr/>
        </p:nvSpPr>
        <p:spPr>
          <a:xfrm>
            <a:off x="548640" y="1965960"/>
            <a:ext cx="11062440" cy="8758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  <a:effectLst>
            <a:outerShdw algn="bl" blurRad="76320" dir="5400000" dist="25560" kx="0" ky="0" rotWithShape="0" sx="100000" sy="100000">
              <a:srgbClr val="6F7069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420" name="Shape 5"/>
          <p:cNvSpPr/>
          <p:nvPr/>
        </p:nvSpPr>
        <p:spPr>
          <a:xfrm>
            <a:off x="841320" y="2121480"/>
            <a:ext cx="565200" cy="565200"/>
          </a:xfrm>
          <a:prstGeom prst="ellipse">
            <a:avLst/>
          </a:prstGeom>
          <a:solidFill>
            <a:srgbClr val="F7F4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pic>
        <p:nvPicPr>
          <p:cNvPr id="421" name="Image 1"/>
          <p:cNvPicPr/>
          <p:nvPr/>
        </p:nvPicPr>
        <p:blipFill>
          <a:blip r:embed="rId1"/>
          <a:stretch/>
        </p:blipFill>
        <p:spPr>
          <a:xfrm>
            <a:off x="987480" y="2267640"/>
            <a:ext cx="272520" cy="27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Text 7"/>
          <p:cNvSpPr/>
          <p:nvPr/>
        </p:nvSpPr>
        <p:spPr>
          <a:xfrm>
            <a:off x="1600200" y="2057400"/>
            <a:ext cx="969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銀行對帳單靠人工比對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0"/>
          <p:cNvSpPr/>
          <p:nvPr/>
        </p:nvSpPr>
        <p:spPr>
          <a:xfrm>
            <a:off x="1600200" y="2386440"/>
            <a:ext cx="9782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每筆客戶收款、月嫂撥款、政府補助入帳，都要逐筆對照 </a:t>
            </a: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Excel </a:t>
            </a: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記錄，容易漏掉或算錯。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8"/>
          <p:cNvSpPr/>
          <p:nvPr/>
        </p:nvSpPr>
        <p:spPr>
          <a:xfrm>
            <a:off x="548640" y="3008520"/>
            <a:ext cx="11062440" cy="8758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  <a:effectLst>
            <a:outerShdw algn="bl" blurRad="76320" dir="5400000" dist="25560" kx="0" ky="0" rotWithShape="0" sx="100000" sy="100000">
              <a:srgbClr val="6F7069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425" name="Shape 9"/>
          <p:cNvSpPr/>
          <p:nvPr/>
        </p:nvSpPr>
        <p:spPr>
          <a:xfrm>
            <a:off x="841320" y="3163680"/>
            <a:ext cx="565200" cy="565200"/>
          </a:xfrm>
          <a:prstGeom prst="ellipse">
            <a:avLst/>
          </a:prstGeom>
          <a:solidFill>
            <a:srgbClr val="F7F4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pic>
        <p:nvPicPr>
          <p:cNvPr id="426" name="Image 2"/>
          <p:cNvPicPr/>
          <p:nvPr/>
        </p:nvPicPr>
        <p:blipFill>
          <a:blip r:embed="rId2"/>
          <a:stretch/>
        </p:blipFill>
        <p:spPr>
          <a:xfrm>
            <a:off x="987480" y="3310200"/>
            <a:ext cx="272520" cy="27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Text 11"/>
          <p:cNvSpPr/>
          <p:nvPr/>
        </p:nvSpPr>
        <p:spPr>
          <a:xfrm>
            <a:off x="1600200" y="3099960"/>
            <a:ext cx="969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客戶與月嫂聯繫全靠電話簡訊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4"/>
          <p:cNvSpPr/>
          <p:nvPr/>
        </p:nvSpPr>
        <p:spPr>
          <a:xfrm>
            <a:off x="1600200" y="3429000"/>
            <a:ext cx="9782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通知繳費、確認排班、催補件，全部要一通一通打電話或發簡訊，耗費大量人力與時間。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2"/>
          <p:cNvSpPr/>
          <p:nvPr/>
        </p:nvSpPr>
        <p:spPr>
          <a:xfrm>
            <a:off x="548640" y="4050720"/>
            <a:ext cx="11062440" cy="8758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  <a:effectLst>
            <a:outerShdw algn="bl" blurRad="76320" dir="5400000" dist="25560" kx="0" ky="0" rotWithShape="0" sx="100000" sy="100000">
              <a:srgbClr val="6F7069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430" name="Shape 13"/>
          <p:cNvSpPr/>
          <p:nvPr/>
        </p:nvSpPr>
        <p:spPr>
          <a:xfrm>
            <a:off x="841320" y="4206240"/>
            <a:ext cx="565200" cy="565200"/>
          </a:xfrm>
          <a:prstGeom prst="ellipse">
            <a:avLst/>
          </a:prstGeom>
          <a:solidFill>
            <a:srgbClr val="F7F4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pic>
        <p:nvPicPr>
          <p:cNvPr id="431" name="Image 3"/>
          <p:cNvPicPr/>
          <p:nvPr/>
        </p:nvPicPr>
        <p:blipFill>
          <a:blip r:embed="rId3"/>
          <a:stretch/>
        </p:blipFill>
        <p:spPr>
          <a:xfrm>
            <a:off x="987480" y="4352400"/>
            <a:ext cx="272520" cy="27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2" name="Text 15"/>
          <p:cNvSpPr/>
          <p:nvPr/>
        </p:nvSpPr>
        <p:spPr>
          <a:xfrm>
            <a:off x="1600200" y="4142160"/>
            <a:ext cx="969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名冊資料重複人工輸入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8"/>
          <p:cNvSpPr/>
          <p:nvPr/>
        </p:nvSpPr>
        <p:spPr>
          <a:xfrm>
            <a:off x="1600200" y="4471560"/>
            <a:ext cx="9782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HCM</a:t>
            </a: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BeClass </a:t>
            </a: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問卷下載下來的 </a:t>
            </a: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Excel</a:t>
            </a: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，每次都要人工謄寫進系統，容易打錯字或漏登。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6"/>
          <p:cNvSpPr/>
          <p:nvPr/>
        </p:nvSpPr>
        <p:spPr>
          <a:xfrm>
            <a:off x="548640" y="5093280"/>
            <a:ext cx="11062440" cy="8758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  <a:effectLst>
            <a:outerShdw algn="bl" blurRad="76320" dir="5400000" dist="25560" kx="0" ky="0" rotWithShape="0" sx="100000" sy="100000">
              <a:srgbClr val="6F7069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435" name="Shape 17"/>
          <p:cNvSpPr/>
          <p:nvPr/>
        </p:nvSpPr>
        <p:spPr>
          <a:xfrm>
            <a:off x="841320" y="5248800"/>
            <a:ext cx="565200" cy="565200"/>
          </a:xfrm>
          <a:prstGeom prst="ellipse">
            <a:avLst/>
          </a:prstGeom>
          <a:solidFill>
            <a:srgbClr val="F7F4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pic>
        <p:nvPicPr>
          <p:cNvPr id="436" name="Image 8"/>
          <p:cNvPicPr/>
          <p:nvPr/>
        </p:nvPicPr>
        <p:blipFill>
          <a:blip r:embed="rId4"/>
          <a:stretch/>
        </p:blipFill>
        <p:spPr>
          <a:xfrm>
            <a:off x="987480" y="5394960"/>
            <a:ext cx="272520" cy="27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7" name="Text 19"/>
          <p:cNvSpPr/>
          <p:nvPr/>
        </p:nvSpPr>
        <p:spPr>
          <a:xfrm>
            <a:off x="1600200" y="5184720"/>
            <a:ext cx="969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排班衝突全憑肉眼檢查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20"/>
          <p:cNvSpPr/>
          <p:nvPr/>
        </p:nvSpPr>
        <p:spPr>
          <a:xfrm>
            <a:off x="1600200" y="5513760"/>
            <a:ext cx="9782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月嫂檔期是否重疊、國定假日該不該休、服務天數對不對，都要人工逐案核對，出錯也難即時發現。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25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7E0D3"/>
                </a:solidFill>
                <a:effectLst/>
                <a:uFillTx/>
                <a:latin typeface="Microsoft JhengHei"/>
                <a:ea typeface="Microsoft JhengHei"/>
              </a:rPr>
              <a:t>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19"/>
          <p:cNvSpPr/>
          <p:nvPr/>
        </p:nvSpPr>
        <p:spPr>
          <a:xfrm>
            <a:off x="548640" y="411480"/>
            <a:ext cx="2375640" cy="345600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442" name="Text 8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解決方案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9"/>
          <p:cNvSpPr/>
          <p:nvPr/>
        </p:nvSpPr>
        <p:spPr>
          <a:xfrm>
            <a:off x="548640" y="914400"/>
            <a:ext cx="1106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6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自動化了什麼？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2"/>
          <p:cNvSpPr/>
          <p:nvPr/>
        </p:nvSpPr>
        <p:spPr>
          <a:xfrm>
            <a:off x="548640" y="1508760"/>
            <a:ext cx="10056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針對前一頁的四個痛點，系統實際做到的事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7"/>
          <p:cNvSpPr/>
          <p:nvPr/>
        </p:nvSpPr>
        <p:spPr>
          <a:xfrm>
            <a:off x="548640" y="1965960"/>
            <a:ext cx="11062440" cy="8758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  <a:effectLst>
            <a:outerShdw algn="bl" blurRad="76320" dir="5400000" dist="25560" kx="0" ky="0" rotWithShape="0" sx="100000" sy="100000">
              <a:srgbClr val="A66C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446" name="Shape 10"/>
          <p:cNvSpPr/>
          <p:nvPr/>
        </p:nvSpPr>
        <p:spPr>
          <a:xfrm>
            <a:off x="841320" y="2121480"/>
            <a:ext cx="565200" cy="565200"/>
          </a:xfrm>
          <a:prstGeom prst="ellipse">
            <a:avLst/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pic>
        <p:nvPicPr>
          <p:cNvPr id="447" name="Image 4"/>
          <p:cNvPicPr/>
          <p:nvPr/>
        </p:nvPicPr>
        <p:blipFill>
          <a:blip r:embed="rId1"/>
          <a:stretch/>
        </p:blipFill>
        <p:spPr>
          <a:xfrm>
            <a:off x="987480" y="2267640"/>
            <a:ext cx="272520" cy="27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Text 13"/>
          <p:cNvSpPr/>
          <p:nvPr/>
        </p:nvSpPr>
        <p:spPr>
          <a:xfrm>
            <a:off x="1600200" y="2057400"/>
            <a:ext cx="969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5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銀行對帳單自動匯入分類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6"/>
          <p:cNvSpPr/>
          <p:nvPr/>
        </p:nvSpPr>
        <p:spPr>
          <a:xfrm>
            <a:off x="1600200" y="2386440"/>
            <a:ext cx="9782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系統自動讀取對帳單、自動歸戶核銷，比對不上的才跳出來給人工確認，不再逐筆手動核對。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1"/>
          <p:cNvSpPr/>
          <p:nvPr/>
        </p:nvSpPr>
        <p:spPr>
          <a:xfrm>
            <a:off x="548640" y="3008520"/>
            <a:ext cx="11062440" cy="8758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  <a:effectLst>
            <a:outerShdw algn="bl" blurRad="76320" dir="5400000" dist="25560" kx="0" ky="0" rotWithShape="0" sx="100000" sy="100000">
              <a:srgbClr val="A66C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451" name="Shape 14"/>
          <p:cNvSpPr/>
          <p:nvPr/>
        </p:nvSpPr>
        <p:spPr>
          <a:xfrm>
            <a:off x="841320" y="3163680"/>
            <a:ext cx="565200" cy="565200"/>
          </a:xfrm>
          <a:prstGeom prst="ellipse">
            <a:avLst/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pic>
        <p:nvPicPr>
          <p:cNvPr id="452" name="Image 5"/>
          <p:cNvPicPr/>
          <p:nvPr/>
        </p:nvPicPr>
        <p:blipFill>
          <a:blip r:embed="rId2"/>
          <a:stretch/>
        </p:blipFill>
        <p:spPr>
          <a:xfrm>
            <a:off x="987480" y="3310200"/>
            <a:ext cx="272520" cy="27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3" name="Text 17"/>
          <p:cNvSpPr/>
          <p:nvPr/>
        </p:nvSpPr>
        <p:spPr>
          <a:xfrm>
            <a:off x="1600200" y="3099960"/>
            <a:ext cx="969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LINE </a:t>
            </a:r>
            <a:r>
              <a:rPr lang="zh-TW" sz="15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官方帳號自動通知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1"/>
          <p:cNvSpPr/>
          <p:nvPr/>
        </p:nvSpPr>
        <p:spPr>
          <a:xfrm>
            <a:off x="1600200" y="3429000"/>
            <a:ext cx="9782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Rich Menu</a:t>
            </a: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、即時推播取代電話簡訊，客戶與月嫂自己就能查詢繳費與排班進度。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5"/>
          <p:cNvSpPr/>
          <p:nvPr/>
        </p:nvSpPr>
        <p:spPr>
          <a:xfrm>
            <a:off x="548640" y="4050720"/>
            <a:ext cx="11062440" cy="8758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  <a:effectLst>
            <a:outerShdw algn="bl" blurRad="76320" dir="5400000" dist="25560" kx="0" ky="0" rotWithShape="0" sx="100000" sy="100000">
              <a:srgbClr val="A66C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456" name="Shape 18"/>
          <p:cNvSpPr/>
          <p:nvPr/>
        </p:nvSpPr>
        <p:spPr>
          <a:xfrm>
            <a:off x="841320" y="4206240"/>
            <a:ext cx="565200" cy="565200"/>
          </a:xfrm>
          <a:prstGeom prst="ellipse">
            <a:avLst/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pic>
        <p:nvPicPr>
          <p:cNvPr id="457" name="Image 6"/>
          <p:cNvPicPr/>
          <p:nvPr/>
        </p:nvPicPr>
        <p:blipFill>
          <a:blip r:embed="rId3"/>
          <a:stretch/>
        </p:blipFill>
        <p:spPr>
          <a:xfrm>
            <a:off x="987480" y="4352400"/>
            <a:ext cx="272520" cy="27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Text 22"/>
          <p:cNvSpPr/>
          <p:nvPr/>
        </p:nvSpPr>
        <p:spPr>
          <a:xfrm>
            <a:off x="1600200" y="4142160"/>
            <a:ext cx="969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Excel </a:t>
            </a:r>
            <a:r>
              <a:rPr lang="zh-TW" sz="15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名冊自動匯入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23"/>
          <p:cNvSpPr/>
          <p:nvPr/>
        </p:nvSpPr>
        <p:spPr>
          <a:xfrm>
            <a:off x="1600200" y="4471560"/>
            <a:ext cx="9782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File Watcher </a:t>
            </a: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偵測到新檔案立即自動讀取寫入資料庫，欄位格式錯誤自動攔截、不再人工謄寫。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28"/>
          <p:cNvSpPr/>
          <p:nvPr/>
        </p:nvSpPr>
        <p:spPr>
          <a:xfrm>
            <a:off x="548640" y="5093280"/>
            <a:ext cx="11062440" cy="8758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  <a:effectLst>
            <a:outerShdw algn="bl" blurRad="76320" dir="5400000" dist="25560" kx="0" ky="0" rotWithShape="0" sx="100000" sy="100000">
              <a:srgbClr val="A66C4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461" name="Shape 29"/>
          <p:cNvSpPr/>
          <p:nvPr/>
        </p:nvSpPr>
        <p:spPr>
          <a:xfrm>
            <a:off x="841320" y="5248800"/>
            <a:ext cx="565200" cy="565200"/>
          </a:xfrm>
          <a:prstGeom prst="ellipse">
            <a:avLst/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pic>
        <p:nvPicPr>
          <p:cNvPr id="462" name="Image 7"/>
          <p:cNvPicPr/>
          <p:nvPr/>
        </p:nvPicPr>
        <p:blipFill>
          <a:blip r:embed="rId4"/>
          <a:stretch/>
        </p:blipFill>
        <p:spPr>
          <a:xfrm>
            <a:off x="987480" y="5394960"/>
            <a:ext cx="272520" cy="27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Text 24"/>
          <p:cNvSpPr/>
          <p:nvPr/>
        </p:nvSpPr>
        <p:spPr>
          <a:xfrm>
            <a:off x="1600200" y="5184720"/>
            <a:ext cx="969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33 </a:t>
            </a:r>
            <a:r>
              <a:rPr lang="zh-TW" sz="15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種異常自動偵測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37"/>
          <p:cNvSpPr/>
          <p:nvPr/>
        </p:nvSpPr>
        <p:spPr>
          <a:xfrm>
            <a:off x="1600200" y="5513760"/>
            <a:ext cx="9782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檔期重疊、國定假日衝突、服務天數不符，背景系統每分鐘自動掃描，異常直接送進警示中心。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38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7E0D3"/>
                </a:solidFill>
                <a:effectLst/>
                <a:uFillTx/>
                <a:latin typeface="Microsoft JhengHei"/>
                <a:ea typeface="Microsoft JhengHei"/>
              </a:rPr>
              <a:t>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20"/>
          <p:cNvSpPr/>
          <p:nvPr/>
        </p:nvSpPr>
        <p:spPr>
          <a:xfrm>
            <a:off x="548640" y="411480"/>
            <a:ext cx="2375640" cy="345600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468" name="Text 26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系統架構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27"/>
          <p:cNvSpPr/>
          <p:nvPr/>
        </p:nvSpPr>
        <p:spPr>
          <a:xfrm>
            <a:off x="548640" y="914400"/>
            <a:ext cx="1106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6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技術架構總覽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21"/>
          <p:cNvSpPr/>
          <p:nvPr/>
        </p:nvSpPr>
        <p:spPr>
          <a:xfrm>
            <a:off x="548640" y="1920240"/>
            <a:ext cx="1872720" cy="1369800"/>
          </a:xfrm>
          <a:prstGeom prst="roundRect">
            <a:avLst>
              <a:gd name="adj" fmla="val 4667"/>
            </a:avLst>
          </a:prstGeom>
          <a:solidFill>
            <a:srgbClr val="5D4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sp>
        <p:nvSpPr>
          <p:cNvPr id="471" name="Shape 22"/>
          <p:cNvSpPr/>
          <p:nvPr/>
        </p:nvSpPr>
        <p:spPr>
          <a:xfrm>
            <a:off x="1229760" y="2084760"/>
            <a:ext cx="510120" cy="510120"/>
          </a:xfrm>
          <a:prstGeom prst="ellipse">
            <a:avLst/>
          </a:prstGeom>
          <a:solidFill>
            <a:srgbClr val="5D4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pic>
        <p:nvPicPr>
          <p:cNvPr id="472" name="Image 9"/>
          <p:cNvPicPr/>
          <p:nvPr/>
        </p:nvPicPr>
        <p:blipFill>
          <a:blip r:embed="rId1"/>
          <a:stretch/>
        </p:blipFill>
        <p:spPr>
          <a:xfrm>
            <a:off x="1357920" y="2212920"/>
            <a:ext cx="254160" cy="2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3" name="Text 28"/>
          <p:cNvSpPr/>
          <p:nvPr/>
        </p:nvSpPr>
        <p:spPr>
          <a:xfrm>
            <a:off x="548640" y="2651760"/>
            <a:ext cx="1872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資料來源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29"/>
          <p:cNvSpPr/>
          <p:nvPr/>
        </p:nvSpPr>
        <p:spPr>
          <a:xfrm>
            <a:off x="621720" y="2907720"/>
            <a:ext cx="1726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Excel </a:t>
            </a:r>
            <a:r>
              <a:rPr lang="zh-TW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名冊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LINE Webhook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30"/>
          <p:cNvSpPr/>
          <p:nvPr/>
        </p:nvSpPr>
        <p:spPr>
          <a:xfrm>
            <a:off x="2423160" y="2377440"/>
            <a:ext cx="318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3"/>
          <p:cNvSpPr/>
          <p:nvPr/>
        </p:nvSpPr>
        <p:spPr>
          <a:xfrm>
            <a:off x="2743200" y="1920240"/>
            <a:ext cx="1872720" cy="1369800"/>
          </a:xfrm>
          <a:prstGeom prst="roundRect">
            <a:avLst>
              <a:gd name="adj" fmla="val 4667"/>
            </a:avLst>
          </a:prstGeom>
          <a:solidFill>
            <a:srgbClr val="5D4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sp>
        <p:nvSpPr>
          <p:cNvPr id="477" name="Shape 24"/>
          <p:cNvSpPr/>
          <p:nvPr/>
        </p:nvSpPr>
        <p:spPr>
          <a:xfrm>
            <a:off x="3424320" y="2084760"/>
            <a:ext cx="510120" cy="510120"/>
          </a:xfrm>
          <a:prstGeom prst="ellipse">
            <a:avLst/>
          </a:prstGeom>
          <a:solidFill>
            <a:srgbClr val="5D4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pic>
        <p:nvPicPr>
          <p:cNvPr id="478" name="Image 10"/>
          <p:cNvPicPr/>
          <p:nvPr/>
        </p:nvPicPr>
        <p:blipFill>
          <a:blip r:embed="rId2"/>
          <a:stretch/>
        </p:blipFill>
        <p:spPr>
          <a:xfrm>
            <a:off x="3552480" y="2212920"/>
            <a:ext cx="254160" cy="2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9" name="Text 31"/>
          <p:cNvSpPr/>
          <p:nvPr/>
        </p:nvSpPr>
        <p:spPr>
          <a:xfrm>
            <a:off x="2743200" y="2651760"/>
            <a:ext cx="1872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匯入與驗證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32"/>
          <p:cNvSpPr/>
          <p:nvPr/>
        </p:nvSpPr>
        <p:spPr>
          <a:xfrm>
            <a:off x="2816280" y="2907720"/>
            <a:ext cx="1726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File Watcher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Webhook Intake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33"/>
          <p:cNvSpPr/>
          <p:nvPr/>
        </p:nvSpPr>
        <p:spPr>
          <a:xfrm>
            <a:off x="4617720" y="2377440"/>
            <a:ext cx="318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25"/>
          <p:cNvSpPr/>
          <p:nvPr/>
        </p:nvSpPr>
        <p:spPr>
          <a:xfrm>
            <a:off x="4937760" y="1920240"/>
            <a:ext cx="1872720" cy="1369800"/>
          </a:xfrm>
          <a:prstGeom prst="roundRect">
            <a:avLst>
              <a:gd name="adj" fmla="val 4667"/>
            </a:avLst>
          </a:prstGeom>
          <a:solidFill>
            <a:srgbClr val="5D4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sp>
        <p:nvSpPr>
          <p:cNvPr id="483" name="Shape 26"/>
          <p:cNvSpPr/>
          <p:nvPr/>
        </p:nvSpPr>
        <p:spPr>
          <a:xfrm>
            <a:off x="5618880" y="2084760"/>
            <a:ext cx="510120" cy="510120"/>
          </a:xfrm>
          <a:prstGeom prst="ellipse">
            <a:avLst/>
          </a:prstGeom>
          <a:solidFill>
            <a:srgbClr val="5D4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pic>
        <p:nvPicPr>
          <p:cNvPr id="484" name="Image 11"/>
          <p:cNvPicPr/>
          <p:nvPr/>
        </p:nvPicPr>
        <p:blipFill>
          <a:blip r:embed="rId3"/>
          <a:stretch/>
        </p:blipFill>
        <p:spPr>
          <a:xfrm>
            <a:off x="5747040" y="2212920"/>
            <a:ext cx="254160" cy="2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5" name="Text 34"/>
          <p:cNvSpPr/>
          <p:nvPr/>
        </p:nvSpPr>
        <p:spPr>
          <a:xfrm>
            <a:off x="4937760" y="2651760"/>
            <a:ext cx="1872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應用層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35"/>
          <p:cNvSpPr/>
          <p:nvPr/>
        </p:nvSpPr>
        <p:spPr>
          <a:xfrm>
            <a:off x="5010840" y="2907720"/>
            <a:ext cx="1726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FastAPI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Query / Preview / Apply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36"/>
          <p:cNvSpPr/>
          <p:nvPr/>
        </p:nvSpPr>
        <p:spPr>
          <a:xfrm>
            <a:off x="6812280" y="2377440"/>
            <a:ext cx="318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27"/>
          <p:cNvSpPr/>
          <p:nvPr/>
        </p:nvSpPr>
        <p:spPr>
          <a:xfrm>
            <a:off x="7132320" y="1920240"/>
            <a:ext cx="1872720" cy="1369800"/>
          </a:xfrm>
          <a:prstGeom prst="roundRect">
            <a:avLst>
              <a:gd name="adj" fmla="val 4667"/>
            </a:avLst>
          </a:prstGeom>
          <a:solidFill>
            <a:srgbClr val="5D4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sp>
        <p:nvSpPr>
          <p:cNvPr id="489" name="Shape 31"/>
          <p:cNvSpPr/>
          <p:nvPr/>
        </p:nvSpPr>
        <p:spPr>
          <a:xfrm>
            <a:off x="7813440" y="2084760"/>
            <a:ext cx="510120" cy="510120"/>
          </a:xfrm>
          <a:prstGeom prst="ellipse">
            <a:avLst/>
          </a:prstGeom>
          <a:solidFill>
            <a:srgbClr val="5D4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pic>
        <p:nvPicPr>
          <p:cNvPr id="490" name="Image 17"/>
          <p:cNvPicPr/>
          <p:nvPr/>
        </p:nvPicPr>
        <p:blipFill>
          <a:blip r:embed="rId4"/>
          <a:stretch/>
        </p:blipFill>
        <p:spPr>
          <a:xfrm>
            <a:off x="7941600" y="2212920"/>
            <a:ext cx="254160" cy="2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Text 40"/>
          <p:cNvSpPr/>
          <p:nvPr/>
        </p:nvSpPr>
        <p:spPr>
          <a:xfrm>
            <a:off x="7132320" y="2651760"/>
            <a:ext cx="1872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資料庫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42"/>
          <p:cNvSpPr/>
          <p:nvPr/>
        </p:nvSpPr>
        <p:spPr>
          <a:xfrm>
            <a:off x="7205400" y="2907720"/>
            <a:ext cx="1726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MySQL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33 </a:t>
            </a:r>
            <a:r>
              <a:rPr lang="zh-TW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種異常註冊表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44"/>
          <p:cNvSpPr/>
          <p:nvPr/>
        </p:nvSpPr>
        <p:spPr>
          <a:xfrm>
            <a:off x="9006840" y="2377440"/>
            <a:ext cx="318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33"/>
          <p:cNvSpPr/>
          <p:nvPr/>
        </p:nvSpPr>
        <p:spPr>
          <a:xfrm>
            <a:off x="9326880" y="1920240"/>
            <a:ext cx="1872720" cy="1369800"/>
          </a:xfrm>
          <a:prstGeom prst="roundRect">
            <a:avLst>
              <a:gd name="adj" fmla="val 4667"/>
            </a:avLst>
          </a:prstGeom>
          <a:solidFill>
            <a:srgbClr val="5D4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sp>
        <p:nvSpPr>
          <p:cNvPr id="495" name="Shape 35"/>
          <p:cNvSpPr/>
          <p:nvPr/>
        </p:nvSpPr>
        <p:spPr>
          <a:xfrm>
            <a:off x="10008000" y="2084760"/>
            <a:ext cx="510120" cy="510120"/>
          </a:xfrm>
          <a:prstGeom prst="ellipse">
            <a:avLst/>
          </a:prstGeom>
          <a:solidFill>
            <a:srgbClr val="5D4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pic>
        <p:nvPicPr>
          <p:cNvPr id="496" name="Image 18"/>
          <p:cNvPicPr/>
          <p:nvPr/>
        </p:nvPicPr>
        <p:blipFill>
          <a:blip r:embed="rId5"/>
          <a:stretch/>
        </p:blipFill>
        <p:spPr>
          <a:xfrm>
            <a:off x="10136160" y="2212920"/>
            <a:ext cx="254160" cy="2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7" name="Text 46"/>
          <p:cNvSpPr/>
          <p:nvPr/>
        </p:nvSpPr>
        <p:spPr>
          <a:xfrm>
            <a:off x="9326880" y="2651760"/>
            <a:ext cx="1872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使用介面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48"/>
          <p:cNvSpPr/>
          <p:nvPr/>
        </p:nvSpPr>
        <p:spPr>
          <a:xfrm>
            <a:off x="9399960" y="2907720"/>
            <a:ext cx="1726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Streamlit </a:t>
            </a:r>
            <a:r>
              <a:rPr lang="zh-TW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後台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LINE Bot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49"/>
          <p:cNvSpPr/>
          <p:nvPr/>
        </p:nvSpPr>
        <p:spPr>
          <a:xfrm>
            <a:off x="548640" y="3611880"/>
            <a:ext cx="1106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0" i="1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每一層都有明確 </a:t>
            </a:r>
            <a:r>
              <a:rPr lang="en-US" sz="1430" b="0" i="1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Owner</a:t>
            </a:r>
            <a:r>
              <a:rPr lang="zh-TW" sz="1430" b="0" i="1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：資料匯入不直接改帳務，</a:t>
            </a:r>
            <a:r>
              <a:rPr lang="en-US" sz="1430" b="0" i="1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LINE </a:t>
            </a:r>
            <a:r>
              <a:rPr lang="zh-TW" sz="1430" b="0" i="1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只管平台互動不直接改案件狀態。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69"/>
          <p:cNvSpPr/>
          <p:nvPr/>
        </p:nvSpPr>
        <p:spPr>
          <a:xfrm>
            <a:off x="548640" y="4206240"/>
            <a:ext cx="27414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技術棧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37"/>
          <p:cNvSpPr/>
          <p:nvPr/>
        </p:nvSpPr>
        <p:spPr>
          <a:xfrm>
            <a:off x="548640" y="4617720"/>
            <a:ext cx="1539000" cy="382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02" name="Text 70"/>
          <p:cNvSpPr/>
          <p:nvPr/>
        </p:nvSpPr>
        <p:spPr>
          <a:xfrm>
            <a:off x="548640" y="4617720"/>
            <a:ext cx="153900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Python 3.11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39"/>
          <p:cNvSpPr/>
          <p:nvPr/>
        </p:nvSpPr>
        <p:spPr>
          <a:xfrm>
            <a:off x="2253960" y="4617720"/>
            <a:ext cx="1118520" cy="382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04" name="Text 71"/>
          <p:cNvSpPr/>
          <p:nvPr/>
        </p:nvSpPr>
        <p:spPr>
          <a:xfrm>
            <a:off x="2253960" y="4617720"/>
            <a:ext cx="11185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FastAPI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41"/>
          <p:cNvSpPr/>
          <p:nvPr/>
        </p:nvSpPr>
        <p:spPr>
          <a:xfrm>
            <a:off x="3538800" y="4617720"/>
            <a:ext cx="1328760" cy="382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06" name="Text 72"/>
          <p:cNvSpPr/>
          <p:nvPr/>
        </p:nvSpPr>
        <p:spPr>
          <a:xfrm>
            <a:off x="3538800" y="4617720"/>
            <a:ext cx="132876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Streamlit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43"/>
          <p:cNvSpPr/>
          <p:nvPr/>
        </p:nvSpPr>
        <p:spPr>
          <a:xfrm>
            <a:off x="5033880" y="4617720"/>
            <a:ext cx="907920" cy="382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08" name="Text 73"/>
          <p:cNvSpPr/>
          <p:nvPr/>
        </p:nvSpPr>
        <p:spPr>
          <a:xfrm>
            <a:off x="5033880" y="4617720"/>
            <a:ext cx="907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MySQL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45"/>
          <p:cNvSpPr/>
          <p:nvPr/>
        </p:nvSpPr>
        <p:spPr>
          <a:xfrm>
            <a:off x="6108120" y="4617720"/>
            <a:ext cx="907920" cy="382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10" name="Text 74"/>
          <p:cNvSpPr/>
          <p:nvPr/>
        </p:nvSpPr>
        <p:spPr>
          <a:xfrm>
            <a:off x="6108120" y="4617720"/>
            <a:ext cx="907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Redis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47"/>
          <p:cNvSpPr/>
          <p:nvPr/>
        </p:nvSpPr>
        <p:spPr>
          <a:xfrm>
            <a:off x="7182720" y="4617720"/>
            <a:ext cx="2275200" cy="382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12" name="Text 75"/>
          <p:cNvSpPr/>
          <p:nvPr/>
        </p:nvSpPr>
        <p:spPr>
          <a:xfrm>
            <a:off x="7182720" y="4617720"/>
            <a:ext cx="227520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LINE Messaging API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56"/>
          <p:cNvSpPr/>
          <p:nvPr/>
        </p:nvSpPr>
        <p:spPr>
          <a:xfrm>
            <a:off x="9624240" y="4617720"/>
            <a:ext cx="1223640" cy="382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14" name="Text 76"/>
          <p:cNvSpPr/>
          <p:nvPr/>
        </p:nvSpPr>
        <p:spPr>
          <a:xfrm>
            <a:off x="9624240" y="4617720"/>
            <a:ext cx="12236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ChromaDB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57"/>
          <p:cNvSpPr/>
          <p:nvPr/>
        </p:nvSpPr>
        <p:spPr>
          <a:xfrm>
            <a:off x="548640" y="5120640"/>
            <a:ext cx="1013040" cy="382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16" name="Text 77"/>
          <p:cNvSpPr/>
          <p:nvPr/>
        </p:nvSpPr>
        <p:spPr>
          <a:xfrm>
            <a:off x="548640" y="5120640"/>
            <a:ext cx="1013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Docker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58"/>
          <p:cNvSpPr/>
          <p:nvPr/>
        </p:nvSpPr>
        <p:spPr>
          <a:xfrm>
            <a:off x="1728360" y="5120640"/>
            <a:ext cx="1013040" cy="382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18" name="Text 78"/>
          <p:cNvSpPr/>
          <p:nvPr/>
        </p:nvSpPr>
        <p:spPr>
          <a:xfrm>
            <a:off x="1728360" y="5120640"/>
            <a:ext cx="1013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pytest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59"/>
          <p:cNvSpPr/>
          <p:nvPr/>
        </p:nvSpPr>
        <p:spPr>
          <a:xfrm>
            <a:off x="2907720" y="5120640"/>
            <a:ext cx="1433880" cy="382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20" name="Text 79"/>
          <p:cNvSpPr/>
          <p:nvPr/>
        </p:nvSpPr>
        <p:spPr>
          <a:xfrm>
            <a:off x="2907720" y="5120640"/>
            <a:ext cx="14338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Playwright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80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7E0D3"/>
                </a:solidFill>
                <a:effectLst/>
                <a:uFillTx/>
                <a:latin typeface="Microsoft JhengHei"/>
                <a:ea typeface="Microsoft JhengHei"/>
              </a:rPr>
              <a:t>5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Text 39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管理端 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Streamlit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：七大功能頁面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41"/>
          <p:cNvSpPr/>
          <p:nvPr/>
        </p:nvSpPr>
        <p:spPr>
          <a:xfrm>
            <a:off x="548640" y="932760"/>
            <a:ext cx="11089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側邊欄自動掃描頁面模組，動態產生導覽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30"/>
          <p:cNvSpPr/>
          <p:nvPr/>
        </p:nvSpPr>
        <p:spPr>
          <a:xfrm>
            <a:off x="567000" y="1591200"/>
            <a:ext cx="510120" cy="51012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26" name="Text 43"/>
          <p:cNvSpPr/>
          <p:nvPr/>
        </p:nvSpPr>
        <p:spPr>
          <a:xfrm>
            <a:off x="567000" y="1591200"/>
            <a:ext cx="5101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45"/>
          <p:cNvSpPr/>
          <p:nvPr/>
        </p:nvSpPr>
        <p:spPr>
          <a:xfrm>
            <a:off x="1234440" y="1536120"/>
            <a:ext cx="4707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TW" sz="13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資料庫原始資料瀏覽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管理端資料表查詢與稽核工具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32"/>
          <p:cNvSpPr/>
          <p:nvPr/>
        </p:nvSpPr>
        <p:spPr>
          <a:xfrm>
            <a:off x="567000" y="2642760"/>
            <a:ext cx="510120" cy="51012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29" name="Text 47"/>
          <p:cNvSpPr/>
          <p:nvPr/>
        </p:nvSpPr>
        <p:spPr>
          <a:xfrm>
            <a:off x="567000" y="2642760"/>
            <a:ext cx="5101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帳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50"/>
          <p:cNvSpPr/>
          <p:nvPr/>
        </p:nvSpPr>
        <p:spPr>
          <a:xfrm>
            <a:off x="1234440" y="2587680"/>
            <a:ext cx="4707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TW" sz="13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訂單與帳務管理系統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訂單總覽、人力指派、財務、應付帳款、補助對帳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34"/>
          <p:cNvSpPr/>
          <p:nvPr/>
        </p:nvSpPr>
        <p:spPr>
          <a:xfrm>
            <a:off x="567000" y="3694320"/>
            <a:ext cx="510120" cy="51012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32" name="Text 51"/>
          <p:cNvSpPr/>
          <p:nvPr/>
        </p:nvSpPr>
        <p:spPr>
          <a:xfrm>
            <a:off x="567000" y="3694320"/>
            <a:ext cx="5101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曆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52"/>
          <p:cNvSpPr/>
          <p:nvPr/>
        </p:nvSpPr>
        <p:spPr>
          <a:xfrm>
            <a:off x="1234440" y="3639240"/>
            <a:ext cx="4707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TW" sz="13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多月嫂排班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行事曆、請假代班、排班試算 </a:t>
            </a:r>
            <a:r>
              <a:rPr lang="en-US" sz="105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Preview / Apply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36"/>
          <p:cNvSpPr/>
          <p:nvPr/>
        </p:nvSpPr>
        <p:spPr>
          <a:xfrm>
            <a:off x="567000" y="4745880"/>
            <a:ext cx="510120" cy="51012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35" name="Text 53"/>
          <p:cNvSpPr/>
          <p:nvPr/>
        </p:nvSpPr>
        <p:spPr>
          <a:xfrm>
            <a:off x="567000" y="4745880"/>
            <a:ext cx="5101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表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54"/>
          <p:cNvSpPr/>
          <p:nvPr/>
        </p:nvSpPr>
        <p:spPr>
          <a:xfrm>
            <a:off x="1234440" y="4690800"/>
            <a:ext cx="4707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TW" sz="13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表單與履歷問卷管理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範本庫、合約管理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38"/>
          <p:cNvSpPr/>
          <p:nvPr/>
        </p:nvSpPr>
        <p:spPr>
          <a:xfrm>
            <a:off x="6282000" y="1591200"/>
            <a:ext cx="510120" cy="51012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38" name="Text 55"/>
          <p:cNvSpPr/>
          <p:nvPr/>
        </p:nvSpPr>
        <p:spPr>
          <a:xfrm>
            <a:off x="6282000" y="1591200"/>
            <a:ext cx="5101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警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56"/>
          <p:cNvSpPr/>
          <p:nvPr/>
        </p:nvSpPr>
        <p:spPr>
          <a:xfrm>
            <a:off x="6949440" y="1536120"/>
            <a:ext cx="4707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TW" sz="13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異常警示中心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自動偵測流程異常，指派人工處理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40"/>
          <p:cNvSpPr/>
          <p:nvPr/>
        </p:nvSpPr>
        <p:spPr>
          <a:xfrm>
            <a:off x="6282000" y="2642760"/>
            <a:ext cx="510120" cy="51012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41" name="Text 57"/>
          <p:cNvSpPr/>
          <p:nvPr/>
        </p:nvSpPr>
        <p:spPr>
          <a:xfrm>
            <a:off x="6282000" y="2642760"/>
            <a:ext cx="5101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訊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58"/>
          <p:cNvSpPr/>
          <p:nvPr/>
        </p:nvSpPr>
        <p:spPr>
          <a:xfrm>
            <a:off x="6949440" y="2587680"/>
            <a:ext cx="4707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LINE </a:t>
            </a:r>
            <a:r>
              <a:rPr lang="zh-TW" sz="13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管理中心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訊息、</a:t>
            </a:r>
            <a:r>
              <a:rPr lang="en-US" sz="105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Rich Menu</a:t>
            </a:r>
            <a:r>
              <a:rPr lang="zh-TW" sz="105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lang="en-US" sz="105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LIFF</a:t>
            </a:r>
            <a:r>
              <a:rPr lang="zh-TW" sz="105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、客服、排程任務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42"/>
          <p:cNvSpPr/>
          <p:nvPr/>
        </p:nvSpPr>
        <p:spPr>
          <a:xfrm>
            <a:off x="6282000" y="3694320"/>
            <a:ext cx="510120" cy="51012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44" name="Text 59"/>
          <p:cNvSpPr/>
          <p:nvPr/>
        </p:nvSpPr>
        <p:spPr>
          <a:xfrm>
            <a:off x="6282000" y="3694320"/>
            <a:ext cx="5101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況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60"/>
          <p:cNvSpPr/>
          <p:nvPr/>
        </p:nvSpPr>
        <p:spPr>
          <a:xfrm>
            <a:off x="6949440" y="3639240"/>
            <a:ext cx="4707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TW" sz="13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系統狀態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05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後端健康監控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44"/>
          <p:cNvSpPr/>
          <p:nvPr/>
        </p:nvSpPr>
        <p:spPr>
          <a:xfrm>
            <a:off x="6263640" y="4709160"/>
            <a:ext cx="5393160" cy="1415520"/>
          </a:xfrm>
          <a:prstGeom prst="roundRect">
            <a:avLst>
              <a:gd name="adj" fmla="val 6452"/>
            </a:avLst>
          </a:prstGeom>
          <a:solidFill>
            <a:srgbClr val="E7E0D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5D493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47" name="Text 61"/>
          <p:cNvSpPr/>
          <p:nvPr/>
        </p:nvSpPr>
        <p:spPr>
          <a:xfrm>
            <a:off x="6492240" y="4864680"/>
            <a:ext cx="49359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薄顯示層原則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62"/>
          <p:cNvSpPr/>
          <p:nvPr/>
        </p:nvSpPr>
        <p:spPr>
          <a:xfrm>
            <a:off x="6492240" y="5175360"/>
            <a:ext cx="493596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七個頁面都只負責 </a:t>
            </a: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layout</a:t>
            </a: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widget </a:t>
            </a: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與 </a:t>
            </a: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API </a:t>
            </a: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呼叫；排班、金額、資格等正式計算全部留在後端 </a:t>
            </a: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Service</a:t>
            </a: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，</a:t>
            </a: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Streamlit </a:t>
            </a: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隨時可被 </a:t>
            </a: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React </a:t>
            </a: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取代。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Text 0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業務範疇：十大核心領域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63"/>
          <p:cNvSpPr/>
          <p:nvPr/>
        </p:nvSpPr>
        <p:spPr>
          <a:xfrm>
            <a:off x="548640" y="932760"/>
            <a:ext cx="11089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涵蓋案件全生命週期，從接案、排班到帳務、補助與客服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46"/>
          <p:cNvSpPr/>
          <p:nvPr/>
        </p:nvSpPr>
        <p:spPr>
          <a:xfrm>
            <a:off x="548640" y="1481400"/>
            <a:ext cx="2085480" cy="2119680"/>
          </a:xfrm>
          <a:prstGeom prst="roundRect">
            <a:avLst>
              <a:gd name="adj" fmla="val 4381"/>
            </a:avLst>
          </a:prstGeom>
          <a:solidFill>
            <a:srgbClr val="E7E0D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5D493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53" name="Shape 48"/>
          <p:cNvSpPr/>
          <p:nvPr/>
        </p:nvSpPr>
        <p:spPr>
          <a:xfrm>
            <a:off x="1308960" y="1764720"/>
            <a:ext cx="565200" cy="56520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54" name="Text 64"/>
          <p:cNvSpPr/>
          <p:nvPr/>
        </p:nvSpPr>
        <p:spPr>
          <a:xfrm>
            <a:off x="1308960" y="1764720"/>
            <a:ext cx="56520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65"/>
          <p:cNvSpPr/>
          <p:nvPr/>
        </p:nvSpPr>
        <p:spPr>
          <a:xfrm>
            <a:off x="621720" y="2468880"/>
            <a:ext cx="193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Orders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66"/>
          <p:cNvSpPr/>
          <p:nvPr/>
        </p:nvSpPr>
        <p:spPr>
          <a:xfrm>
            <a:off x="640080" y="2779920"/>
            <a:ext cx="19026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訂單條款、生命週期、取消 </a:t>
            </a: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/ </a:t>
            </a: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重開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49"/>
          <p:cNvSpPr/>
          <p:nvPr/>
        </p:nvSpPr>
        <p:spPr>
          <a:xfrm>
            <a:off x="2800440" y="1481400"/>
            <a:ext cx="2085480" cy="2119680"/>
          </a:xfrm>
          <a:prstGeom prst="roundRect">
            <a:avLst>
              <a:gd name="adj" fmla="val 4381"/>
            </a:avLst>
          </a:prstGeom>
          <a:solidFill>
            <a:srgbClr val="E7E0D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5D493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58" name="Shape 50"/>
          <p:cNvSpPr/>
          <p:nvPr/>
        </p:nvSpPr>
        <p:spPr>
          <a:xfrm>
            <a:off x="3560760" y="1764720"/>
            <a:ext cx="565200" cy="56520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59" name="Text 67"/>
          <p:cNvSpPr/>
          <p:nvPr/>
        </p:nvSpPr>
        <p:spPr>
          <a:xfrm>
            <a:off x="3560760" y="1764720"/>
            <a:ext cx="56520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班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68"/>
          <p:cNvSpPr/>
          <p:nvPr/>
        </p:nvSpPr>
        <p:spPr>
          <a:xfrm>
            <a:off x="2873520" y="2468880"/>
            <a:ext cx="193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Scheduling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81"/>
          <p:cNvSpPr/>
          <p:nvPr/>
        </p:nvSpPr>
        <p:spPr>
          <a:xfrm>
            <a:off x="2891880" y="2779920"/>
            <a:ext cx="19026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派班、服務日、請假與代班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51"/>
          <p:cNvSpPr/>
          <p:nvPr/>
        </p:nvSpPr>
        <p:spPr>
          <a:xfrm>
            <a:off x="5052240" y="1481400"/>
            <a:ext cx="2085480" cy="2119680"/>
          </a:xfrm>
          <a:prstGeom prst="roundRect">
            <a:avLst>
              <a:gd name="adj" fmla="val 4381"/>
            </a:avLst>
          </a:prstGeom>
          <a:solidFill>
            <a:srgbClr val="E7E0D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5D493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63" name="Shape 52"/>
          <p:cNvSpPr/>
          <p:nvPr/>
        </p:nvSpPr>
        <p:spPr>
          <a:xfrm>
            <a:off x="5812560" y="1764720"/>
            <a:ext cx="565200" cy="56520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64" name="Text 82"/>
          <p:cNvSpPr/>
          <p:nvPr/>
        </p:nvSpPr>
        <p:spPr>
          <a:xfrm>
            <a:off x="5812560" y="1764720"/>
            <a:ext cx="56520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薪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83"/>
          <p:cNvSpPr/>
          <p:nvPr/>
        </p:nvSpPr>
        <p:spPr>
          <a:xfrm>
            <a:off x="5125320" y="2468880"/>
            <a:ext cx="193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Payroll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84"/>
          <p:cNvSpPr/>
          <p:nvPr/>
        </p:nvSpPr>
        <p:spPr>
          <a:xfrm>
            <a:off x="5143680" y="2779920"/>
            <a:ext cx="19026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月嫂薪資義務與調整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53"/>
          <p:cNvSpPr/>
          <p:nvPr/>
        </p:nvSpPr>
        <p:spPr>
          <a:xfrm>
            <a:off x="7304040" y="1481400"/>
            <a:ext cx="2085480" cy="2119680"/>
          </a:xfrm>
          <a:prstGeom prst="roundRect">
            <a:avLst>
              <a:gd name="adj" fmla="val 4381"/>
            </a:avLst>
          </a:prstGeom>
          <a:solidFill>
            <a:srgbClr val="E7E0D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5D493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68" name="Shape 54"/>
          <p:cNvSpPr/>
          <p:nvPr/>
        </p:nvSpPr>
        <p:spPr>
          <a:xfrm>
            <a:off x="8064360" y="1764720"/>
            <a:ext cx="565200" cy="56520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69" name="Text 85"/>
          <p:cNvSpPr/>
          <p:nvPr/>
        </p:nvSpPr>
        <p:spPr>
          <a:xfrm>
            <a:off x="8064360" y="1764720"/>
            <a:ext cx="56520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86"/>
          <p:cNvSpPr/>
          <p:nvPr/>
        </p:nvSpPr>
        <p:spPr>
          <a:xfrm>
            <a:off x="7377120" y="2468880"/>
            <a:ext cx="193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Client Finance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87"/>
          <p:cNvSpPr/>
          <p:nvPr/>
        </p:nvSpPr>
        <p:spPr>
          <a:xfrm>
            <a:off x="7395480" y="2779920"/>
            <a:ext cx="19026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客戶應收、收款、退款、核銷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55"/>
          <p:cNvSpPr/>
          <p:nvPr/>
        </p:nvSpPr>
        <p:spPr>
          <a:xfrm>
            <a:off x="9555840" y="1481400"/>
            <a:ext cx="2085480" cy="2119680"/>
          </a:xfrm>
          <a:prstGeom prst="roundRect">
            <a:avLst>
              <a:gd name="adj" fmla="val 4381"/>
            </a:avLst>
          </a:prstGeom>
          <a:solidFill>
            <a:srgbClr val="E7E0D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5D493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73" name="Shape 60"/>
          <p:cNvSpPr/>
          <p:nvPr/>
        </p:nvSpPr>
        <p:spPr>
          <a:xfrm>
            <a:off x="10316160" y="1764720"/>
            <a:ext cx="565200" cy="56520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74" name="Text 88"/>
          <p:cNvSpPr/>
          <p:nvPr/>
        </p:nvSpPr>
        <p:spPr>
          <a:xfrm>
            <a:off x="10316160" y="1764720"/>
            <a:ext cx="56520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20"/>
          <p:cNvSpPr/>
          <p:nvPr/>
        </p:nvSpPr>
        <p:spPr>
          <a:xfrm>
            <a:off x="9628920" y="2468880"/>
            <a:ext cx="193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Staff Payables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121"/>
          <p:cNvSpPr/>
          <p:nvPr/>
        </p:nvSpPr>
        <p:spPr>
          <a:xfrm>
            <a:off x="9647280" y="2779920"/>
            <a:ext cx="19026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月嫂應付、出款、退匯沖正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61"/>
          <p:cNvSpPr/>
          <p:nvPr/>
        </p:nvSpPr>
        <p:spPr>
          <a:xfrm>
            <a:off x="548640" y="3803760"/>
            <a:ext cx="2085480" cy="2119680"/>
          </a:xfrm>
          <a:prstGeom prst="roundRect">
            <a:avLst>
              <a:gd name="adj" fmla="val 4381"/>
            </a:avLst>
          </a:prstGeom>
          <a:solidFill>
            <a:srgbClr val="E7E0D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5D493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78" name="Shape 62"/>
          <p:cNvSpPr/>
          <p:nvPr/>
        </p:nvSpPr>
        <p:spPr>
          <a:xfrm>
            <a:off x="1308960" y="4087440"/>
            <a:ext cx="565200" cy="56520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79" name="Text 122"/>
          <p:cNvSpPr/>
          <p:nvPr/>
        </p:nvSpPr>
        <p:spPr>
          <a:xfrm>
            <a:off x="1308960" y="4087440"/>
            <a:ext cx="56520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匯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123"/>
          <p:cNvSpPr/>
          <p:nvPr/>
        </p:nvSpPr>
        <p:spPr>
          <a:xfrm>
            <a:off x="621720" y="4791600"/>
            <a:ext cx="193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Finance Import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124"/>
          <p:cNvSpPr/>
          <p:nvPr/>
        </p:nvSpPr>
        <p:spPr>
          <a:xfrm>
            <a:off x="640080" y="5102280"/>
            <a:ext cx="19026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銀行對帳單匯入與分類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78"/>
          <p:cNvSpPr/>
          <p:nvPr/>
        </p:nvSpPr>
        <p:spPr>
          <a:xfrm>
            <a:off x="2800440" y="3803760"/>
            <a:ext cx="2085480" cy="2119680"/>
          </a:xfrm>
          <a:prstGeom prst="roundRect">
            <a:avLst>
              <a:gd name="adj" fmla="val 4381"/>
            </a:avLst>
          </a:prstGeom>
          <a:solidFill>
            <a:srgbClr val="E7E0D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5D493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83" name="Shape 79"/>
          <p:cNvSpPr/>
          <p:nvPr/>
        </p:nvSpPr>
        <p:spPr>
          <a:xfrm>
            <a:off x="3560760" y="4087440"/>
            <a:ext cx="565200" cy="56520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84" name="Text 125"/>
          <p:cNvSpPr/>
          <p:nvPr/>
        </p:nvSpPr>
        <p:spPr>
          <a:xfrm>
            <a:off x="3560760" y="4087440"/>
            <a:ext cx="56520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126"/>
          <p:cNvSpPr/>
          <p:nvPr/>
        </p:nvSpPr>
        <p:spPr>
          <a:xfrm>
            <a:off x="2873520" y="4791600"/>
            <a:ext cx="193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Gov. Subsidy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127"/>
          <p:cNvSpPr/>
          <p:nvPr/>
        </p:nvSpPr>
        <p:spPr>
          <a:xfrm>
            <a:off x="2891880" y="5102280"/>
            <a:ext cx="19026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補助申請、核准、撥款核銷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80"/>
          <p:cNvSpPr/>
          <p:nvPr/>
        </p:nvSpPr>
        <p:spPr>
          <a:xfrm>
            <a:off x="5052240" y="3803760"/>
            <a:ext cx="2085480" cy="2119680"/>
          </a:xfrm>
          <a:prstGeom prst="roundRect">
            <a:avLst>
              <a:gd name="adj" fmla="val 4381"/>
            </a:avLst>
          </a:prstGeom>
          <a:solidFill>
            <a:srgbClr val="E7E0D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5D493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88" name="Shape 81"/>
          <p:cNvSpPr/>
          <p:nvPr/>
        </p:nvSpPr>
        <p:spPr>
          <a:xfrm>
            <a:off x="5812560" y="4087440"/>
            <a:ext cx="565200" cy="56520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89" name="Text 128"/>
          <p:cNvSpPr/>
          <p:nvPr/>
        </p:nvSpPr>
        <p:spPr>
          <a:xfrm>
            <a:off x="5812560" y="4087440"/>
            <a:ext cx="56520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警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129"/>
          <p:cNvSpPr/>
          <p:nvPr/>
        </p:nvSpPr>
        <p:spPr>
          <a:xfrm>
            <a:off x="5125320" y="4791600"/>
            <a:ext cx="193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Anomalies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30"/>
          <p:cNvSpPr/>
          <p:nvPr/>
        </p:nvSpPr>
        <p:spPr>
          <a:xfrm>
            <a:off x="5143680" y="5102280"/>
            <a:ext cx="19026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異常偵測、告警與處理進度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82"/>
          <p:cNvSpPr/>
          <p:nvPr/>
        </p:nvSpPr>
        <p:spPr>
          <a:xfrm>
            <a:off x="7304040" y="3803760"/>
            <a:ext cx="2085480" cy="2119680"/>
          </a:xfrm>
          <a:prstGeom prst="roundRect">
            <a:avLst>
              <a:gd name="adj" fmla="val 4381"/>
            </a:avLst>
          </a:prstGeom>
          <a:solidFill>
            <a:srgbClr val="E7E0D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5D493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93" name="Shape 83"/>
          <p:cNvSpPr/>
          <p:nvPr/>
        </p:nvSpPr>
        <p:spPr>
          <a:xfrm>
            <a:off x="8064360" y="4087440"/>
            <a:ext cx="565200" cy="56520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94" name="Text 131"/>
          <p:cNvSpPr/>
          <p:nvPr/>
        </p:nvSpPr>
        <p:spPr>
          <a:xfrm>
            <a:off x="8064360" y="4087440"/>
            <a:ext cx="56520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32"/>
          <p:cNvSpPr/>
          <p:nvPr/>
        </p:nvSpPr>
        <p:spPr>
          <a:xfrm>
            <a:off x="7377120" y="4791600"/>
            <a:ext cx="193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Case Import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133"/>
          <p:cNvSpPr/>
          <p:nvPr/>
        </p:nvSpPr>
        <p:spPr>
          <a:xfrm>
            <a:off x="7395480" y="5102280"/>
            <a:ext cx="19026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外部案件來源驗證與匯入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84"/>
          <p:cNvSpPr/>
          <p:nvPr/>
        </p:nvSpPr>
        <p:spPr>
          <a:xfrm>
            <a:off x="9555840" y="3803760"/>
            <a:ext cx="2085480" cy="2119680"/>
          </a:xfrm>
          <a:prstGeom prst="roundRect">
            <a:avLst>
              <a:gd name="adj" fmla="val 4381"/>
            </a:avLst>
          </a:prstGeom>
          <a:solidFill>
            <a:srgbClr val="E7E0D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5D493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98" name="Shape 85"/>
          <p:cNvSpPr/>
          <p:nvPr/>
        </p:nvSpPr>
        <p:spPr>
          <a:xfrm>
            <a:off x="10316160" y="4087440"/>
            <a:ext cx="565200" cy="565200"/>
          </a:xfrm>
          <a:prstGeom prst="ellipse">
            <a:avLst/>
          </a:prstGeom>
          <a:solidFill>
            <a:srgbClr val="A66C4E"/>
          </a:solidFill>
          <a:ln w="0">
            <a:noFill/>
          </a:ln>
          <a:effectLst>
            <a:outerShdw algn="bl" blurRad="50760" dir="5400000" dist="19080" kx="0" ky="0" rotWithShape="0" sx="100000" sy="100000">
              <a:srgbClr val="5D493D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599" name="Text 134"/>
          <p:cNvSpPr/>
          <p:nvPr/>
        </p:nvSpPr>
        <p:spPr>
          <a:xfrm>
            <a:off x="10316160" y="4087440"/>
            <a:ext cx="56520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權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135"/>
          <p:cNvSpPr/>
          <p:nvPr/>
        </p:nvSpPr>
        <p:spPr>
          <a:xfrm>
            <a:off x="9628920" y="4791600"/>
            <a:ext cx="1938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Access / LINE / Jobs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36"/>
          <p:cNvSpPr/>
          <p:nvPr/>
        </p:nvSpPr>
        <p:spPr>
          <a:xfrm>
            <a:off x="9647280" y="5102280"/>
            <a:ext cx="19026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管理權限、全通路、背景排程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hape 63"/>
          <p:cNvSpPr/>
          <p:nvPr/>
        </p:nvSpPr>
        <p:spPr>
          <a:xfrm>
            <a:off x="548640" y="411480"/>
            <a:ext cx="2375640" cy="345600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604" name="Text 89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自動偵測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90"/>
          <p:cNvSpPr/>
          <p:nvPr/>
        </p:nvSpPr>
        <p:spPr>
          <a:xfrm>
            <a:off x="548640" y="914400"/>
            <a:ext cx="1106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6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異常自動偵測系統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64"/>
          <p:cNvSpPr/>
          <p:nvPr/>
        </p:nvSpPr>
        <p:spPr>
          <a:xfrm>
            <a:off x="548640" y="1783080"/>
            <a:ext cx="3290040" cy="4158720"/>
          </a:xfrm>
          <a:prstGeom prst="roundRect">
            <a:avLst>
              <a:gd name="adj" fmla="val 2222"/>
            </a:avLst>
          </a:prstGeom>
          <a:solidFill>
            <a:srgbClr val="5D4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sp>
        <p:nvSpPr>
          <p:cNvPr id="607" name="Text 91"/>
          <p:cNvSpPr/>
          <p:nvPr/>
        </p:nvSpPr>
        <p:spPr>
          <a:xfrm>
            <a:off x="548640" y="2286000"/>
            <a:ext cx="32900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33</a:t>
            </a:r>
            <a:endParaRPr lang="en-US" sz="7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92"/>
          <p:cNvSpPr/>
          <p:nvPr/>
        </p:nvSpPr>
        <p:spPr>
          <a:xfrm>
            <a:off x="548640" y="3429000"/>
            <a:ext cx="3290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種異常自動偵測類型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65"/>
          <p:cNvSpPr/>
          <p:nvPr/>
        </p:nvSpPr>
        <p:spPr>
          <a:xfrm>
            <a:off x="1280160" y="3931920"/>
            <a:ext cx="1828800" cy="360"/>
          </a:xfrm>
          <a:prstGeom prst="line">
            <a:avLst/>
          </a:prstGeom>
          <a:ln w="12700">
            <a:solidFill>
              <a:srgbClr val="A66C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610" name="Text 93"/>
          <p:cNvSpPr/>
          <p:nvPr/>
        </p:nvSpPr>
        <p:spPr>
          <a:xfrm>
            <a:off x="822960" y="4160520"/>
            <a:ext cx="27414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背景系統每 </a:t>
            </a:r>
            <a:r>
              <a:rPr lang="en-US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60 </a:t>
            </a:r>
            <a:r>
              <a:rPr lang="zh-TW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秒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重新掃描一次全庫現況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94"/>
          <p:cNvSpPr/>
          <p:nvPr/>
        </p:nvSpPr>
        <p:spPr>
          <a:xfrm>
            <a:off x="822960" y="5212080"/>
            <a:ext cx="2741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涵蓋 </a:t>
            </a:r>
            <a:r>
              <a:rPr lang="en-US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7 </a:t>
            </a:r>
            <a:r>
              <a:rPr lang="zh-TW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大類別：訂單媒合、資料匯入、排班衝突、帳務提醒、政府補助、月嫂應付款、</a:t>
            </a:r>
            <a:r>
              <a:rPr lang="en-US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LINE </a:t>
            </a:r>
            <a:r>
              <a:rPr lang="zh-TW" sz="1430" b="0" u="none" strike="noStrike">
                <a:solidFill>
                  <a:srgbClr val="D8C2AE"/>
                </a:solidFill>
                <a:effectLst/>
                <a:uFillTx/>
                <a:latin typeface="Microsoft JhengHei"/>
                <a:ea typeface="Microsoft JhengHei"/>
              </a:rPr>
              <a:t>整合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95"/>
          <p:cNvSpPr/>
          <p:nvPr/>
        </p:nvSpPr>
        <p:spPr>
          <a:xfrm>
            <a:off x="4160520" y="1828800"/>
            <a:ext cx="21013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訂單媒合流程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66"/>
          <p:cNvSpPr/>
          <p:nvPr/>
        </p:nvSpPr>
        <p:spPr>
          <a:xfrm>
            <a:off x="6355080" y="1938600"/>
            <a:ext cx="4204440" cy="290880"/>
          </a:xfrm>
          <a:prstGeom prst="roundRect">
            <a:avLst>
              <a:gd name="adj" fmla="val 15625"/>
            </a:avLst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614" name="Shape 67"/>
          <p:cNvSpPr/>
          <p:nvPr/>
        </p:nvSpPr>
        <p:spPr>
          <a:xfrm>
            <a:off x="6355080" y="1938600"/>
            <a:ext cx="2101320" cy="290880"/>
          </a:xfrm>
          <a:prstGeom prst="roundRect">
            <a:avLst>
              <a:gd name="adj" fmla="val 15625"/>
            </a:avLst>
          </a:prstGeom>
          <a:solidFill>
            <a:srgbClr val="A66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sp>
        <p:nvSpPr>
          <p:cNvPr id="615" name="Text 96"/>
          <p:cNvSpPr/>
          <p:nvPr/>
        </p:nvSpPr>
        <p:spPr>
          <a:xfrm>
            <a:off x="10652760" y="1828800"/>
            <a:ext cx="45540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97"/>
          <p:cNvSpPr/>
          <p:nvPr/>
        </p:nvSpPr>
        <p:spPr>
          <a:xfrm>
            <a:off x="4160520" y="2414160"/>
            <a:ext cx="21013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資料匯入驗證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68"/>
          <p:cNvSpPr/>
          <p:nvPr/>
        </p:nvSpPr>
        <p:spPr>
          <a:xfrm>
            <a:off x="6355080" y="2523600"/>
            <a:ext cx="4204440" cy="290880"/>
          </a:xfrm>
          <a:prstGeom prst="roundRect">
            <a:avLst>
              <a:gd name="adj" fmla="val 15625"/>
            </a:avLst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618" name="Shape 69"/>
          <p:cNvSpPr/>
          <p:nvPr/>
        </p:nvSpPr>
        <p:spPr>
          <a:xfrm>
            <a:off x="6355080" y="2523600"/>
            <a:ext cx="2101320" cy="290880"/>
          </a:xfrm>
          <a:prstGeom prst="roundRect">
            <a:avLst>
              <a:gd name="adj" fmla="val 15625"/>
            </a:avLst>
          </a:prstGeom>
          <a:solidFill>
            <a:srgbClr val="A66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sp>
        <p:nvSpPr>
          <p:cNvPr id="619" name="Text 98"/>
          <p:cNvSpPr/>
          <p:nvPr/>
        </p:nvSpPr>
        <p:spPr>
          <a:xfrm>
            <a:off x="10652760" y="2414160"/>
            <a:ext cx="45540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99"/>
          <p:cNvSpPr/>
          <p:nvPr/>
        </p:nvSpPr>
        <p:spPr>
          <a:xfrm>
            <a:off x="4160520" y="2999160"/>
            <a:ext cx="21013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排班衝突偵測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70"/>
          <p:cNvSpPr/>
          <p:nvPr/>
        </p:nvSpPr>
        <p:spPr>
          <a:xfrm>
            <a:off x="6355080" y="3108960"/>
            <a:ext cx="4204440" cy="290880"/>
          </a:xfrm>
          <a:prstGeom prst="roundRect">
            <a:avLst>
              <a:gd name="adj" fmla="val 15625"/>
            </a:avLst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622" name="Shape 71"/>
          <p:cNvSpPr/>
          <p:nvPr/>
        </p:nvSpPr>
        <p:spPr>
          <a:xfrm>
            <a:off x="6355080" y="3108960"/>
            <a:ext cx="2627280" cy="290880"/>
          </a:xfrm>
          <a:prstGeom prst="roundRect">
            <a:avLst>
              <a:gd name="adj" fmla="val 15625"/>
            </a:avLst>
          </a:prstGeom>
          <a:solidFill>
            <a:srgbClr val="A66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sp>
        <p:nvSpPr>
          <p:cNvPr id="623" name="Text 100"/>
          <p:cNvSpPr/>
          <p:nvPr/>
        </p:nvSpPr>
        <p:spPr>
          <a:xfrm>
            <a:off x="10652760" y="2999160"/>
            <a:ext cx="45540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5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101"/>
          <p:cNvSpPr/>
          <p:nvPr/>
        </p:nvSpPr>
        <p:spPr>
          <a:xfrm>
            <a:off x="4160520" y="3584520"/>
            <a:ext cx="21013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帳務與流程提醒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72"/>
          <p:cNvSpPr/>
          <p:nvPr/>
        </p:nvSpPr>
        <p:spPr>
          <a:xfrm>
            <a:off x="6355080" y="3694320"/>
            <a:ext cx="4204440" cy="290880"/>
          </a:xfrm>
          <a:prstGeom prst="roundRect">
            <a:avLst>
              <a:gd name="adj" fmla="val 15625"/>
            </a:avLst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626" name="Shape 73"/>
          <p:cNvSpPr/>
          <p:nvPr/>
        </p:nvSpPr>
        <p:spPr>
          <a:xfrm>
            <a:off x="6355080" y="3694320"/>
            <a:ext cx="4204440" cy="290880"/>
          </a:xfrm>
          <a:prstGeom prst="roundRect">
            <a:avLst>
              <a:gd name="adj" fmla="val 15625"/>
            </a:avLst>
          </a:prstGeom>
          <a:solidFill>
            <a:srgbClr val="A66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sp>
        <p:nvSpPr>
          <p:cNvPr id="627" name="Text 102"/>
          <p:cNvSpPr/>
          <p:nvPr/>
        </p:nvSpPr>
        <p:spPr>
          <a:xfrm>
            <a:off x="10652760" y="3584520"/>
            <a:ext cx="45540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8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103"/>
          <p:cNvSpPr/>
          <p:nvPr/>
        </p:nvSpPr>
        <p:spPr>
          <a:xfrm>
            <a:off x="4160520" y="4169520"/>
            <a:ext cx="21013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政府補助對帳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74"/>
          <p:cNvSpPr/>
          <p:nvPr/>
        </p:nvSpPr>
        <p:spPr>
          <a:xfrm>
            <a:off x="6355080" y="4279320"/>
            <a:ext cx="4204440" cy="290880"/>
          </a:xfrm>
          <a:prstGeom prst="roundRect">
            <a:avLst>
              <a:gd name="adj" fmla="val 15625"/>
            </a:avLst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630" name="Shape 75"/>
          <p:cNvSpPr/>
          <p:nvPr/>
        </p:nvSpPr>
        <p:spPr>
          <a:xfrm>
            <a:off x="6355080" y="4279320"/>
            <a:ext cx="2627280" cy="290880"/>
          </a:xfrm>
          <a:prstGeom prst="roundRect">
            <a:avLst>
              <a:gd name="adj" fmla="val 15625"/>
            </a:avLst>
          </a:prstGeom>
          <a:solidFill>
            <a:srgbClr val="A66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sp>
        <p:nvSpPr>
          <p:cNvPr id="631" name="Text 104"/>
          <p:cNvSpPr/>
          <p:nvPr/>
        </p:nvSpPr>
        <p:spPr>
          <a:xfrm>
            <a:off x="10652760" y="4169520"/>
            <a:ext cx="45540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5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105"/>
          <p:cNvSpPr/>
          <p:nvPr/>
        </p:nvSpPr>
        <p:spPr>
          <a:xfrm>
            <a:off x="4160520" y="4754880"/>
            <a:ext cx="21013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月嫂應付款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76"/>
          <p:cNvSpPr/>
          <p:nvPr/>
        </p:nvSpPr>
        <p:spPr>
          <a:xfrm>
            <a:off x="6355080" y="4864680"/>
            <a:ext cx="4204440" cy="290880"/>
          </a:xfrm>
          <a:prstGeom prst="roundRect">
            <a:avLst>
              <a:gd name="adj" fmla="val 15625"/>
            </a:avLst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634" name="Shape 77"/>
          <p:cNvSpPr/>
          <p:nvPr/>
        </p:nvSpPr>
        <p:spPr>
          <a:xfrm>
            <a:off x="6355080" y="4864680"/>
            <a:ext cx="1575720" cy="290880"/>
          </a:xfrm>
          <a:prstGeom prst="roundRect">
            <a:avLst>
              <a:gd name="adj" fmla="val 15625"/>
            </a:avLst>
          </a:prstGeom>
          <a:solidFill>
            <a:srgbClr val="A66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sp>
        <p:nvSpPr>
          <p:cNvPr id="635" name="Text 106"/>
          <p:cNvSpPr/>
          <p:nvPr/>
        </p:nvSpPr>
        <p:spPr>
          <a:xfrm>
            <a:off x="10652760" y="4754880"/>
            <a:ext cx="45540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107"/>
          <p:cNvSpPr/>
          <p:nvPr/>
        </p:nvSpPr>
        <p:spPr>
          <a:xfrm>
            <a:off x="4160520" y="5340240"/>
            <a:ext cx="21013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LINE </a:t>
            </a:r>
            <a:r>
              <a:rPr lang="zh-TW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整合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88"/>
          <p:cNvSpPr/>
          <p:nvPr/>
        </p:nvSpPr>
        <p:spPr>
          <a:xfrm>
            <a:off x="6355080" y="5449680"/>
            <a:ext cx="4204440" cy="290880"/>
          </a:xfrm>
          <a:prstGeom prst="roundRect">
            <a:avLst>
              <a:gd name="adj" fmla="val 15625"/>
            </a:avLst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638" name="Shape 89"/>
          <p:cNvSpPr/>
          <p:nvPr/>
        </p:nvSpPr>
        <p:spPr>
          <a:xfrm>
            <a:off x="6355080" y="5449680"/>
            <a:ext cx="2101320" cy="290880"/>
          </a:xfrm>
          <a:prstGeom prst="roundRect">
            <a:avLst>
              <a:gd name="adj" fmla="val 15625"/>
            </a:avLst>
          </a:prstGeom>
          <a:solidFill>
            <a:srgbClr val="A66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Microsoft JhengHei"/>
            </a:endParaRPr>
          </a:p>
        </p:txBody>
      </p:sp>
      <p:sp>
        <p:nvSpPr>
          <p:cNvPr id="639" name="Text 108"/>
          <p:cNvSpPr/>
          <p:nvPr/>
        </p:nvSpPr>
        <p:spPr>
          <a:xfrm>
            <a:off x="10652760" y="5340240"/>
            <a:ext cx="45540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109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7E0D3"/>
                </a:solidFill>
                <a:effectLst/>
                <a:uFillTx/>
                <a:latin typeface="Microsoft JhengHei"/>
                <a:ea typeface="Microsoft JhengHei"/>
              </a:rPr>
              <a:t>8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Shape 86"/>
          <p:cNvSpPr/>
          <p:nvPr/>
        </p:nvSpPr>
        <p:spPr>
          <a:xfrm>
            <a:off x="548640" y="411480"/>
            <a:ext cx="2375640" cy="345600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643" name="Text 110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實機畫面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111"/>
          <p:cNvSpPr/>
          <p:nvPr/>
        </p:nvSpPr>
        <p:spPr>
          <a:xfrm>
            <a:off x="548640" y="914400"/>
            <a:ext cx="1106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6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系統實際運作畫面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87"/>
          <p:cNvSpPr/>
          <p:nvPr/>
        </p:nvSpPr>
        <p:spPr>
          <a:xfrm>
            <a:off x="548640" y="1783080"/>
            <a:ext cx="5530320" cy="41587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  <a:effectLst>
            <a:outerShdw algn="bl" blurRad="101520" dir="5400000" dist="38160" kx="0" ky="0" rotWithShape="0" sx="100000" sy="100000">
              <a:srgbClr val="6F7069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pic>
        <p:nvPicPr>
          <p:cNvPr id="646" name="Image 12"/>
          <p:cNvPicPr/>
          <p:nvPr/>
        </p:nvPicPr>
        <p:blipFill>
          <a:blip r:embed="rId1"/>
          <a:stretch/>
        </p:blipFill>
        <p:spPr>
          <a:xfrm>
            <a:off x="685800" y="1920240"/>
            <a:ext cx="5256000" cy="356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7" name="Text 112"/>
          <p:cNvSpPr/>
          <p:nvPr/>
        </p:nvSpPr>
        <p:spPr>
          <a:xfrm>
            <a:off x="685800" y="5532120"/>
            <a:ext cx="5256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異常警示中心｜服務人員排班衝突自動列出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91"/>
          <p:cNvSpPr/>
          <p:nvPr/>
        </p:nvSpPr>
        <p:spPr>
          <a:xfrm>
            <a:off x="6263640" y="1783080"/>
            <a:ext cx="5530320" cy="41587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7E0D3"/>
            </a:solidFill>
            <a:round/>
          </a:ln>
          <a:effectLst>
            <a:outerShdw algn="bl" blurRad="101520" dir="5400000" dist="38160" kx="0" ky="0" rotWithShape="0" sx="100000" sy="100000">
              <a:srgbClr val="6F7069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pic>
        <p:nvPicPr>
          <p:cNvPr id="649" name="Image 13"/>
          <p:cNvPicPr/>
          <p:nvPr/>
        </p:nvPicPr>
        <p:blipFill>
          <a:blip r:embed="rId2"/>
          <a:stretch/>
        </p:blipFill>
        <p:spPr>
          <a:xfrm>
            <a:off x="6400800" y="1920240"/>
            <a:ext cx="5256000" cy="356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0" name="Text 113"/>
          <p:cNvSpPr/>
          <p:nvPr/>
        </p:nvSpPr>
        <p:spPr>
          <a:xfrm>
            <a:off x="6400800" y="5532120"/>
            <a:ext cx="5256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多月嫂排班｜服務人員動態檔期月曆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114"/>
          <p:cNvSpPr/>
          <p:nvPr/>
        </p:nvSpPr>
        <p:spPr>
          <a:xfrm>
            <a:off x="1152144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7E0D3"/>
                </a:solidFill>
                <a:effectLst/>
                <a:uFillTx/>
                <a:latin typeface="Microsoft JhengHei"/>
                <a:ea typeface="Microsoft JhengHei"/>
              </a:rPr>
              <a:t>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Shape 90"/>
          <p:cNvSpPr/>
          <p:nvPr/>
        </p:nvSpPr>
        <p:spPr>
          <a:xfrm>
            <a:off x="8778240" y="-1463040"/>
            <a:ext cx="5941800" cy="5941800"/>
          </a:xfrm>
          <a:prstGeom prst="ellipse">
            <a:avLst/>
          </a:prstGeom>
          <a:solidFill>
            <a:srgbClr val="A66C4E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654" name="Shape 92"/>
          <p:cNvSpPr/>
          <p:nvPr/>
        </p:nvSpPr>
        <p:spPr>
          <a:xfrm>
            <a:off x="-1828800" y="4114800"/>
            <a:ext cx="4570200" cy="4570200"/>
          </a:xfrm>
          <a:prstGeom prst="ellipse">
            <a:avLst/>
          </a:prstGeom>
          <a:solidFill>
            <a:srgbClr val="A66C4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655" name="Shape 93"/>
          <p:cNvSpPr/>
          <p:nvPr/>
        </p:nvSpPr>
        <p:spPr>
          <a:xfrm>
            <a:off x="822960" y="1417320"/>
            <a:ext cx="2649960" cy="382320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656" name="Text 115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line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管理後台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116"/>
          <p:cNvSpPr/>
          <p:nvPr/>
        </p:nvSpPr>
        <p:spPr>
          <a:xfrm>
            <a:off x="777240" y="1965960"/>
            <a:ext cx="1023948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117"/>
          <p:cNvSpPr/>
          <p:nvPr/>
        </p:nvSpPr>
        <p:spPr>
          <a:xfrm>
            <a:off x="822960" y="3794760"/>
            <a:ext cx="9599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從人工作業到自動化治理系統的建置歷程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94"/>
          <p:cNvSpPr/>
          <p:nvPr/>
        </p:nvSpPr>
        <p:spPr>
          <a:xfrm>
            <a:off x="822960" y="4434840"/>
            <a:ext cx="2926080" cy="360"/>
          </a:xfrm>
          <a:prstGeom prst="line">
            <a:avLst/>
          </a:prstGeom>
          <a:ln w="25400">
            <a:solidFill>
              <a:srgbClr val="A66C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rgbClr val="292C28"/>
              </a:solidFill>
              <a:effectLst/>
              <a:uFillTx/>
              <a:latin typeface="Microsoft JhengHei"/>
            </a:endParaRPr>
          </a:p>
        </p:txBody>
      </p:sp>
      <p:sp>
        <p:nvSpPr>
          <p:cNvPr id="660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LINE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客服由人工追問轉為可追蹤流程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>
            <a:off x="11144160" y="6305400"/>
            <a:ext cx="52200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07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905040" y="1819440"/>
            <a:ext cx="131400" cy="13140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>
            <a:off x="1228680" y="1752480"/>
            <a:ext cx="5484600" cy="98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Before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｜訊息分散，身分與案件需人工核對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"/>
          <p:cNvSpPr/>
          <p:nvPr/>
        </p:nvSpPr>
        <p:spPr>
          <a:xfrm>
            <a:off x="905040" y="2994120"/>
            <a:ext cx="131400" cy="13140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"/>
          <p:cNvSpPr/>
          <p:nvPr/>
        </p:nvSpPr>
        <p:spPr>
          <a:xfrm>
            <a:off x="1228680" y="2927520"/>
            <a:ext cx="5484600" cy="98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After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｜身分綁定、待審與通知集中處理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905040" y="4168800"/>
            <a:ext cx="131400" cy="13140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>
            <a:off x="1228680" y="4102200"/>
            <a:ext cx="5484600" cy="98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邊界｜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LINE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不直接改寫訂單、排班或帳務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"/>
          <p:cNvSpPr/>
          <p:nvPr/>
        </p:nvSpPr>
        <p:spPr>
          <a:xfrm>
            <a:off x="7429680" y="1762200"/>
            <a:ext cx="3713040" cy="337968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7953480" y="2523960"/>
            <a:ext cx="2665080" cy="1807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28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入口保持熟悉，交接開始留下證據。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LINE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入口把使用者先分流再收資料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>
            <a:off x="11144160" y="6305400"/>
            <a:ext cx="522720" cy="227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08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"/>
          <p:cNvSpPr/>
          <p:nvPr/>
        </p:nvSpPr>
        <p:spPr>
          <a:xfrm>
            <a:off x="905040" y="181944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1228680" y="175248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入口分成已登記服務與新客戶，避免既有資料被重複建立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905040" y="299412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1228680" y="292752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LIFF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表單負責收集姓名、手機、地址、日期與服務天數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>
            <a:off x="905040" y="416880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>
            <a:off x="1228680" y="410220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API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先檢查格式與資格，通過後才寫入正式資料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>
            <a:off x="7429680" y="1762200"/>
            <a:ext cx="3713760" cy="338040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7953480" y="2523960"/>
            <a:ext cx="2665800" cy="180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8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LINE </a:t>
            </a:r>
            <a:r>
              <a:rPr lang="zh-TW" sz="28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負責方便，資料正確性由 </a:t>
            </a:r>
            <a:r>
              <a:rPr lang="en-US" sz="28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LIFF </a:t>
            </a:r>
            <a:r>
              <a:rPr lang="zh-TW" sz="28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與 </a:t>
            </a:r>
            <a:r>
              <a:rPr lang="en-US" sz="28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API </a:t>
            </a:r>
            <a:r>
              <a:rPr lang="zh-TW" sz="28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接手。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已登記服務以 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LINE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綁定既有紀錄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11144160" y="6305400"/>
            <a:ext cx="522720" cy="227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09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>
            <a:off x="905040" y="181944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>
            <a:off x="1228680" y="175248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客戶輸入姓名與 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09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開頭手機，系統比對 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clients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既有資料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"/>
          <p:cNvSpPr/>
          <p:nvPr/>
        </p:nvSpPr>
        <p:spPr>
          <a:xfrm>
            <a:off x="905040" y="299412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"/>
          <p:cNvSpPr/>
          <p:nvPr/>
        </p:nvSpPr>
        <p:spPr>
          <a:xfrm>
            <a:off x="1228680" y="292752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找到既有服務登記後，才把 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LINE userId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綁到該客戶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"/>
          <p:cNvSpPr/>
          <p:nvPr/>
        </p:nvSpPr>
        <p:spPr>
          <a:xfrm>
            <a:off x="905040" y="416880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"/>
          <p:cNvSpPr/>
          <p:nvPr/>
        </p:nvSpPr>
        <p:spPr>
          <a:xfrm>
            <a:off x="1228680" y="410220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查不到就阻擋綁定，提示改走新客戶登記表單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"/>
          <p:cNvSpPr/>
          <p:nvPr/>
        </p:nvSpPr>
        <p:spPr>
          <a:xfrm>
            <a:off x="7429680" y="1762200"/>
            <a:ext cx="3713760" cy="338040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"/>
          <p:cNvSpPr/>
          <p:nvPr/>
        </p:nvSpPr>
        <p:spPr>
          <a:xfrm>
            <a:off x="7953480" y="2523960"/>
            <a:ext cx="2665800" cy="180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28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綁定不是重填表，而是把熟悉入口接到既有資料。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新客戶登記先擋錯，再建立案件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"/>
          <p:cNvSpPr/>
          <p:nvPr/>
        </p:nvSpPr>
        <p:spPr>
          <a:xfrm>
            <a:off x="11144160" y="6305400"/>
            <a:ext cx="522720" cy="227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10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"/>
          <p:cNvSpPr/>
          <p:nvPr/>
        </p:nvSpPr>
        <p:spPr>
          <a:xfrm>
            <a:off x="905040" y="181944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"/>
          <p:cNvSpPr/>
          <p:nvPr/>
        </p:nvSpPr>
        <p:spPr>
          <a:xfrm>
            <a:off x="1228680" y="175248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前端即時檢查手機、服務天數、退費原則與必填欄位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"/>
          <p:cNvSpPr/>
          <p:nvPr/>
        </p:nvSpPr>
        <p:spPr>
          <a:xfrm>
            <a:off x="905040" y="299412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"/>
          <p:cNvSpPr/>
          <p:nvPr/>
        </p:nvSpPr>
        <p:spPr>
          <a:xfrm>
            <a:off x="1228680" y="292752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後端再檢查一次，避免繞過網頁送入不合理資料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"/>
          <p:cNvSpPr/>
          <p:nvPr/>
        </p:nvSpPr>
        <p:spPr>
          <a:xfrm>
            <a:off x="905040" y="416880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"/>
          <p:cNvSpPr/>
          <p:nvPr/>
        </p:nvSpPr>
        <p:spPr>
          <a:xfrm>
            <a:off x="1228680" y="410220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通過後才建立客戶、訂單與表單紀錄，成為可追蹤案件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>
            <a:off x="7429680" y="1762200"/>
            <a:ext cx="3713760" cy="338040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"/>
          <p:cNvSpPr/>
          <p:nvPr/>
        </p:nvSpPr>
        <p:spPr>
          <a:xfrm>
            <a:off x="7953480" y="2523960"/>
            <a:ext cx="2665800" cy="180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28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表單不是資料終點，而是正式案件的安全入口。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資料異動先暫存，審核後才套用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"/>
          <p:cNvSpPr/>
          <p:nvPr/>
        </p:nvSpPr>
        <p:spPr>
          <a:xfrm>
            <a:off x="11144160" y="6305400"/>
            <a:ext cx="522720" cy="227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11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"/>
          <p:cNvSpPr/>
          <p:nvPr/>
        </p:nvSpPr>
        <p:spPr>
          <a:xfrm>
            <a:off x="905040" y="181944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"/>
          <p:cNvSpPr/>
          <p:nvPr/>
        </p:nvSpPr>
        <p:spPr>
          <a:xfrm>
            <a:off x="1228680" y="175248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客戶可申請修改電話、地址、預產期或服務天數等資料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"/>
          <p:cNvSpPr/>
          <p:nvPr/>
        </p:nvSpPr>
        <p:spPr>
          <a:xfrm>
            <a:off x="905040" y="299412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"/>
          <p:cNvSpPr/>
          <p:nvPr/>
        </p:nvSpPr>
        <p:spPr>
          <a:xfrm>
            <a:off x="1228680" y="292752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新內容先建立異動申請，不直接覆蓋原始紀錄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"/>
          <p:cNvSpPr/>
          <p:nvPr/>
        </p:nvSpPr>
        <p:spPr>
          <a:xfrm>
            <a:off x="905040" y="416880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"/>
          <p:cNvSpPr/>
          <p:nvPr/>
        </p:nvSpPr>
        <p:spPr>
          <a:xfrm>
            <a:off x="1228680" y="410220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工會後台可同意部分項目、拒絕並填寫原因，再通知客戶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>
            <a:off x="7429680" y="1762200"/>
            <a:ext cx="3713760" cy="338040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"/>
          <p:cNvSpPr/>
          <p:nvPr/>
        </p:nvSpPr>
        <p:spPr>
          <a:xfrm>
            <a:off x="7953480" y="2523960"/>
            <a:ext cx="2665800" cy="180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28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避免誤填直接影響媒合、補助、契約與後續帳務。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月嫂功能先確認身分再開放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"/>
          <p:cNvSpPr/>
          <p:nvPr/>
        </p:nvSpPr>
        <p:spPr>
          <a:xfrm>
            <a:off x="11144160" y="6305400"/>
            <a:ext cx="522720" cy="227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12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"/>
          <p:cNvSpPr/>
          <p:nvPr/>
        </p:nvSpPr>
        <p:spPr>
          <a:xfrm>
            <a:off x="905040" y="181944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"/>
          <p:cNvSpPr/>
          <p:nvPr/>
        </p:nvSpPr>
        <p:spPr>
          <a:xfrm>
            <a:off x="1228680" y="175248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使用者傳送「我是月嫂」後，系統建立身分申請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"/>
          <p:cNvSpPr/>
          <p:nvPr/>
        </p:nvSpPr>
        <p:spPr>
          <a:xfrm>
            <a:off x="905040" y="299412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"/>
          <p:cNvSpPr/>
          <p:nvPr/>
        </p:nvSpPr>
        <p:spPr>
          <a:xfrm>
            <a:off x="1228680" y="292752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工會後台確認 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LINE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帳號對應哪一位月嫂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"/>
          <p:cNvSpPr/>
          <p:nvPr/>
        </p:nvSpPr>
        <p:spPr>
          <a:xfrm>
            <a:off x="905040" y="416880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"/>
          <p:cNvSpPr/>
          <p:nvPr/>
        </p:nvSpPr>
        <p:spPr>
          <a:xfrm>
            <a:off x="1228680" y="410220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通過後才切換月嫂選單，開放訂單查詢與排班資訊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"/>
          <p:cNvSpPr/>
          <p:nvPr/>
        </p:nvSpPr>
        <p:spPr>
          <a:xfrm>
            <a:off x="7429680" y="1762200"/>
            <a:ext cx="3713760" cy="338040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"/>
          <p:cNvSpPr/>
          <p:nvPr/>
        </p:nvSpPr>
        <p:spPr>
          <a:xfrm>
            <a:off x="7953480" y="2523960"/>
            <a:ext cx="2665800" cy="180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28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月嫂入口牽涉案件與個資，不能只靠一句文字判定。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後台保留人工判斷，系統負責留痕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"/>
          <p:cNvSpPr/>
          <p:nvPr/>
        </p:nvSpPr>
        <p:spPr>
          <a:xfrm>
            <a:off x="11144160" y="6305400"/>
            <a:ext cx="522720" cy="227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13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"/>
          <p:cNvSpPr/>
          <p:nvPr/>
        </p:nvSpPr>
        <p:spPr>
          <a:xfrm>
            <a:off x="905040" y="181944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"/>
          <p:cNvSpPr/>
          <p:nvPr/>
        </p:nvSpPr>
        <p:spPr>
          <a:xfrm>
            <a:off x="1228680" y="175248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月嫂身分、客戶重新綁定、資料異動與請假代班都進入待審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"/>
          <p:cNvSpPr/>
          <p:nvPr/>
        </p:nvSpPr>
        <p:spPr>
          <a:xfrm>
            <a:off x="905040" y="299412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"/>
          <p:cNvSpPr/>
          <p:nvPr/>
        </p:nvSpPr>
        <p:spPr>
          <a:xfrm>
            <a:off x="1228680" y="292752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後台決定通過、部分通過或退回，系統同步保存理由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"/>
          <p:cNvSpPr/>
          <p:nvPr/>
        </p:nvSpPr>
        <p:spPr>
          <a:xfrm>
            <a:off x="905040" y="416880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"/>
          <p:cNvSpPr/>
          <p:nvPr/>
        </p:nvSpPr>
        <p:spPr>
          <a:xfrm>
            <a:off x="1228680" y="4102200"/>
            <a:ext cx="5485320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審核結果再由 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LINE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通知，形成可查詢、可追蹤的閉環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"/>
          <p:cNvSpPr/>
          <p:nvPr/>
        </p:nvSpPr>
        <p:spPr>
          <a:xfrm>
            <a:off x="7429680" y="1762200"/>
            <a:ext cx="3713760" cy="338040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"/>
          <p:cNvSpPr/>
          <p:nvPr/>
        </p:nvSpPr>
        <p:spPr>
          <a:xfrm>
            <a:off x="7953480" y="2523960"/>
            <a:ext cx="2665800" cy="180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28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自動化負責整理與通知，正式判斷仍留給工會。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Text 425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Agent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客服應用：讓回答建立在資料與行為邊界上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426"/>
          <p:cNvSpPr/>
          <p:nvPr/>
        </p:nvSpPr>
        <p:spPr>
          <a:xfrm>
            <a:off x="661320" y="2245320"/>
            <a:ext cx="4069800" cy="19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94480" indent="-294480" defTabSz="914400">
              <a:lnSpc>
                <a:spcPct val="133000"/>
              </a:lnSpc>
              <a:buClr>
                <a:srgbClr val="746558"/>
              </a:buClr>
              <a:buFont typeface="Symbol"/>
              <a:buChar char=""/>
            </a:pPr>
            <a:r>
              <a:rPr lang="zh-TW" sz="1450" b="0" u="none" strike="noStrike">
                <a:solidFill>
                  <a:srgbClr val="746558"/>
                </a:solidFill>
                <a:effectLst/>
                <a:uFillTx/>
                <a:latin typeface="Gelasio"/>
                <a:ea typeface="Gelasio"/>
              </a:rPr>
              <a:t>根據整理後的資料庫與知識內容</a:t>
            </a:r>
            <a:r>
              <a:rPr lang="zh-TW" sz="1450" b="1" u="none" strike="noStrike">
                <a:solidFill>
                  <a:srgbClr val="746558"/>
                </a:solidFill>
                <a:effectLst/>
                <a:uFillTx/>
                <a:latin typeface="Gelasio Bold"/>
                <a:ea typeface="Gelasio Bold"/>
              </a:rPr>
              <a:t>設定 </a:t>
            </a:r>
            <a:r>
              <a:rPr lang="en-US" sz="1450" b="1" u="none" strike="noStrike">
                <a:solidFill>
                  <a:srgbClr val="746558"/>
                </a:solidFill>
                <a:effectLst/>
                <a:uFillTx/>
                <a:latin typeface="Gelasio Bold"/>
                <a:ea typeface="Gelasio Bold"/>
              </a:rPr>
              <a:t>Agent </a:t>
            </a:r>
            <a:r>
              <a:rPr lang="zh-TW" sz="1450" b="1" u="none" strike="noStrike">
                <a:solidFill>
                  <a:srgbClr val="746558"/>
                </a:solidFill>
                <a:effectLst/>
                <a:uFillTx/>
                <a:latin typeface="Gelasio Bold"/>
                <a:ea typeface="Gelasio Bold"/>
              </a:rPr>
              <a:t>行為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4480" indent="-294480" defTabSz="914400">
              <a:lnSpc>
                <a:spcPct val="133000"/>
              </a:lnSpc>
              <a:buClr>
                <a:srgbClr val="746558"/>
              </a:buClr>
              <a:buFont typeface="Symbol"/>
              <a:buChar char=""/>
            </a:pPr>
            <a:r>
              <a:rPr lang="en-US" sz="1450" b="0" u="none" strike="noStrike">
                <a:solidFill>
                  <a:srgbClr val="746558"/>
                </a:solidFill>
                <a:effectLst/>
                <a:uFillTx/>
                <a:latin typeface="Gelasio"/>
                <a:ea typeface="Gelasio"/>
              </a:rPr>
              <a:t>Harness </a:t>
            </a:r>
            <a:r>
              <a:rPr lang="zh-TW" sz="1450" b="0" u="none" strike="noStrike">
                <a:solidFill>
                  <a:srgbClr val="746558"/>
                </a:solidFill>
                <a:effectLst/>
                <a:uFillTx/>
                <a:latin typeface="Gelasio"/>
                <a:ea typeface="Gelasio"/>
              </a:rPr>
              <a:t>用於限制可回答範圍、格式與例外處理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4480" indent="-294480" defTabSz="914400">
              <a:lnSpc>
                <a:spcPct val="133000"/>
              </a:lnSpc>
              <a:buClr>
                <a:srgbClr val="746558"/>
              </a:buClr>
              <a:buFont typeface="Symbol"/>
              <a:buChar char=""/>
            </a:pPr>
            <a:r>
              <a:rPr lang="en-US" sz="1450" b="0" u="none" strike="noStrike">
                <a:solidFill>
                  <a:srgbClr val="746558"/>
                </a:solidFill>
                <a:effectLst/>
                <a:uFillTx/>
                <a:latin typeface="Gelasio"/>
                <a:ea typeface="Gelasio"/>
              </a:rPr>
              <a:t>Agent </a:t>
            </a:r>
            <a:r>
              <a:rPr lang="zh-TW" sz="1450" b="0" u="none" strike="noStrike">
                <a:solidFill>
                  <a:srgbClr val="746558"/>
                </a:solidFill>
                <a:effectLst/>
                <a:uFillTx/>
                <a:latin typeface="Gelasio"/>
                <a:ea typeface="Gelasio"/>
              </a:rPr>
              <a:t>協助回覆與導引；訂單、付款與帳務異動仍保留</a:t>
            </a:r>
            <a:r>
              <a:rPr lang="zh-TW" sz="1450" b="1" u="none" strike="noStrike">
                <a:solidFill>
                  <a:srgbClr val="746558"/>
                </a:solidFill>
                <a:effectLst/>
                <a:uFillTx/>
                <a:latin typeface="Gelasio Bold"/>
                <a:ea typeface="Gelasio Bold"/>
              </a:rPr>
              <a:t>人工確認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Shape 223"/>
          <p:cNvSpPr/>
          <p:nvPr/>
        </p:nvSpPr>
        <p:spPr>
          <a:xfrm>
            <a:off x="661320" y="4404600"/>
            <a:ext cx="4069800" cy="1038240"/>
          </a:xfrm>
          <a:prstGeom prst="roundRect">
            <a:avLst>
              <a:gd name="adj" fmla="val 2728"/>
            </a:avLst>
          </a:prstGeom>
          <a:solidFill>
            <a:srgbClr val="ECE6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1" name="Image 53"/>
          <p:cNvPicPr/>
          <p:nvPr/>
        </p:nvPicPr>
        <p:blipFill>
          <a:blip r:embed="rId1"/>
          <a:stretch/>
        </p:blipFill>
        <p:spPr>
          <a:xfrm>
            <a:off x="850320" y="4678920"/>
            <a:ext cx="23508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2" name="Text 427"/>
          <p:cNvSpPr/>
          <p:nvPr/>
        </p:nvSpPr>
        <p:spPr>
          <a:xfrm>
            <a:off x="1275840" y="4622040"/>
            <a:ext cx="3266280" cy="6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50" b="0" u="none" strike="noStrike">
                <a:solidFill>
                  <a:srgbClr val="000000"/>
                </a:solidFill>
                <a:effectLst/>
                <a:uFillTx/>
                <a:latin typeface="Gelasio"/>
                <a:ea typeface="Gelasio"/>
              </a:rPr>
              <a:t>核心原則：</a:t>
            </a: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Gelasio"/>
                <a:ea typeface="Gelasio"/>
              </a:rPr>
              <a:t>Agent </a:t>
            </a:r>
            <a:r>
              <a:rPr lang="zh-TW" sz="1450" b="0" u="none" strike="noStrike">
                <a:solidFill>
                  <a:srgbClr val="000000"/>
                </a:solidFill>
                <a:effectLst/>
                <a:uFillTx/>
                <a:latin typeface="Gelasio"/>
                <a:ea typeface="Gelasio"/>
              </a:rPr>
              <a:t>輔助，人工把關關鍵決策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3" name="Image 54"/>
          <p:cNvPicPr/>
          <p:nvPr/>
        </p:nvPicPr>
        <p:blipFill>
          <a:blip r:embed="rId2"/>
          <a:stretch/>
        </p:blipFill>
        <p:spPr>
          <a:xfrm>
            <a:off x="5199840" y="2476080"/>
            <a:ext cx="6336000" cy="277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4" name="Text 428"/>
          <p:cNvSpPr/>
          <p:nvPr/>
        </p:nvSpPr>
        <p:spPr>
          <a:xfrm>
            <a:off x="7120080" y="4663440"/>
            <a:ext cx="95652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484237"/>
                </a:solidFill>
                <a:effectLst/>
                <a:uFillTx/>
                <a:latin typeface="Gelasio SemiBold"/>
                <a:ea typeface="Gelasio SemiBold"/>
              </a:rPr>
              <a:t>Agent </a:t>
            </a:r>
            <a:r>
              <a:rPr lang="zh-TW" sz="1430" b="0" u="none" strike="noStrike">
                <a:solidFill>
                  <a:srgbClr val="484237"/>
                </a:solidFill>
                <a:effectLst/>
                <a:uFillTx/>
                <a:latin typeface="Gelasio SemiBold"/>
                <a:ea typeface="Gelasio SemiBold"/>
              </a:rPr>
              <a:t>行為邏輯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429"/>
          <p:cNvSpPr/>
          <p:nvPr/>
        </p:nvSpPr>
        <p:spPr>
          <a:xfrm>
            <a:off x="10162440" y="4663440"/>
            <a:ext cx="95652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484237"/>
                </a:solidFill>
                <a:effectLst/>
                <a:uFillTx/>
                <a:latin typeface="Gelasio SemiBold"/>
                <a:ea typeface="Gelasio SemiBold"/>
              </a:rPr>
              <a:t>客服回覆與人工轉介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430"/>
          <p:cNvSpPr/>
          <p:nvPr/>
        </p:nvSpPr>
        <p:spPr>
          <a:xfrm>
            <a:off x="5632560" y="2725920"/>
            <a:ext cx="9565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484237"/>
                </a:solidFill>
                <a:effectLst/>
                <a:uFillTx/>
                <a:latin typeface="Gelasio SemiBold"/>
                <a:ea typeface="Gelasio SemiBold"/>
              </a:rPr>
              <a:t>資料庫整理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431"/>
          <p:cNvSpPr/>
          <p:nvPr/>
        </p:nvSpPr>
        <p:spPr>
          <a:xfrm>
            <a:off x="8662680" y="2725920"/>
            <a:ext cx="9565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484237"/>
                </a:solidFill>
                <a:effectLst/>
                <a:uFillTx/>
                <a:latin typeface="Gelasio SemiBold"/>
                <a:ea typeface="Gelasio SemiBold"/>
              </a:rPr>
              <a:t>Harness </a:t>
            </a:r>
            <a:r>
              <a:rPr lang="zh-TW" sz="1430" b="0" u="none" strike="noStrike">
                <a:solidFill>
                  <a:srgbClr val="484237"/>
                </a:solidFill>
                <a:effectLst/>
                <a:uFillTx/>
                <a:latin typeface="Gelasio SemiBold"/>
                <a:ea typeface="Gelasio SemiBold"/>
              </a:rPr>
              <a:t>限制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"/>
          <p:cNvSpPr/>
          <p:nvPr/>
        </p:nvSpPr>
        <p:spPr>
          <a:xfrm>
            <a:off x="7238880" y="-571680"/>
            <a:ext cx="5618160" cy="7428240"/>
          </a:xfrm>
          <a:prstGeom prst="ellipse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>
            <a:off x="8096400" y="1523880"/>
            <a:ext cx="2856240" cy="2856240"/>
          </a:xfrm>
          <a:prstGeom prst="ellipse">
            <a:avLst/>
          </a:prstGeom>
          <a:solidFill>
            <a:srgbClr val="D8C2A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QA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工程簡報 ｜ 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CI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入門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>
            <a:off x="762120" y="1504800"/>
            <a:ext cx="6189840" cy="1713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54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CI </a:t>
            </a:r>
            <a:r>
              <a:rPr lang="zh-TW" sz="5400" b="1" u="none" strike="noStrike">
                <a:solidFill>
                  <a:srgbClr val="292C28"/>
                </a:solidFill>
                <a:effectLst/>
                <a:uFillTx/>
                <a:latin typeface="Microsoft JhengHei"/>
                <a:ea typeface="Microsoft JhengHei"/>
              </a:rPr>
              <a:t>是什麼？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"/>
          <p:cNvSpPr/>
          <p:nvPr/>
        </p:nvSpPr>
        <p:spPr>
          <a:xfrm>
            <a:off x="360000" y="3619440"/>
            <a:ext cx="6067800" cy="855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TW" sz="232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以及它如何透過 </a:t>
            </a:r>
            <a:r>
              <a:rPr lang="en-US" sz="232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GitHub Actions </a:t>
            </a:r>
            <a:r>
              <a:rPr lang="zh-TW" sz="232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自動執行</a:t>
            </a:r>
            <a:r>
              <a:rPr lang="en-US" sz="232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.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"/>
          <p:cNvSpPr/>
          <p:nvPr/>
        </p:nvSpPr>
        <p:spPr>
          <a:xfrm>
            <a:off x="321120" y="5180400"/>
            <a:ext cx="7057800" cy="398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TW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重點</a:t>
            </a:r>
            <a:r>
              <a:rPr lang="en-US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: </a:t>
            </a:r>
            <a:r>
              <a:rPr lang="zh-TW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定義 → 關係 → </a:t>
            </a:r>
            <a:r>
              <a:rPr lang="en-US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Workflow </a:t>
            </a:r>
            <a:r>
              <a:rPr lang="zh-TW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結構 → </a:t>
            </a:r>
            <a:r>
              <a:rPr lang="en-US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QA </a:t>
            </a:r>
            <a:r>
              <a:rPr lang="zh-TW" sz="180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關卡 → 專案套用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CI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的核心：每次變更都快速整合、驗證、回饋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"/>
          <p:cNvSpPr/>
          <p:nvPr/>
        </p:nvSpPr>
        <p:spPr>
          <a:xfrm>
            <a:off x="11144160" y="6305400"/>
            <a:ext cx="522360" cy="227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36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"/>
          <p:cNvSpPr/>
          <p:nvPr/>
        </p:nvSpPr>
        <p:spPr>
          <a:xfrm>
            <a:off x="1047600" y="1733400"/>
            <a:ext cx="9904680" cy="91296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"/>
          <p:cNvSpPr/>
          <p:nvPr/>
        </p:nvSpPr>
        <p:spPr>
          <a:xfrm>
            <a:off x="1333440" y="1914480"/>
            <a:ext cx="551160" cy="551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55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1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>
            <a:off x="2190600" y="1905120"/>
            <a:ext cx="8285400" cy="570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1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頻繁整合：小幅變更持續提交到共享分支，降低長時間分歧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>
            <a:off x="1047600" y="2990880"/>
            <a:ext cx="9904680" cy="912960"/>
          </a:xfrm>
          <a:prstGeom prst="rect">
            <a:avLst/>
          </a:prstGeom>
          <a:solidFill>
            <a:srgbClr val="D8C2A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"/>
          <p:cNvSpPr/>
          <p:nvPr/>
        </p:nvSpPr>
        <p:spPr>
          <a:xfrm>
            <a:off x="1333440" y="3171960"/>
            <a:ext cx="551160" cy="551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55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2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"/>
          <p:cNvSpPr/>
          <p:nvPr/>
        </p:nvSpPr>
        <p:spPr>
          <a:xfrm>
            <a:off x="2190600" y="3162240"/>
            <a:ext cx="8285400" cy="570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1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自動驗證：每次變更自動建置、靜態檢查與測試，不靠人工記憶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"/>
          <p:cNvSpPr/>
          <p:nvPr/>
        </p:nvSpPr>
        <p:spPr>
          <a:xfrm>
            <a:off x="1047600" y="4248000"/>
            <a:ext cx="9904680" cy="91296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"/>
          <p:cNvSpPr/>
          <p:nvPr/>
        </p:nvSpPr>
        <p:spPr>
          <a:xfrm>
            <a:off x="1333440" y="4429080"/>
            <a:ext cx="551160" cy="551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55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3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"/>
          <p:cNvSpPr/>
          <p:nvPr/>
        </p:nvSpPr>
        <p:spPr>
          <a:xfrm>
            <a:off x="2190600" y="4419720"/>
            <a:ext cx="8285400" cy="570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1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快速回饋：失敗時保留 </a:t>
            </a:r>
            <a:r>
              <a:rPr lang="en-US" sz="21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log </a:t>
            </a:r>
            <a:r>
              <a:rPr lang="zh-TW" sz="21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與測試報告，讓修復更早發生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"/>
          <p:cNvSpPr/>
          <p:nvPr/>
        </p:nvSpPr>
        <p:spPr>
          <a:xfrm>
            <a:off x="1428840" y="5619600"/>
            <a:ext cx="9142560" cy="398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8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CI </a:t>
            </a:r>
            <a:r>
              <a:rPr lang="zh-TW" sz="158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是一種工程實務與工作流程，不是單一工具。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Git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是版本來源，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GitHub Actions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是執行引擎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"/>
          <p:cNvSpPr/>
          <p:nvPr/>
        </p:nvSpPr>
        <p:spPr>
          <a:xfrm>
            <a:off x="11144160" y="6305400"/>
            <a:ext cx="522360" cy="227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37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"/>
          <p:cNvSpPr/>
          <p:nvPr/>
        </p:nvSpPr>
        <p:spPr>
          <a:xfrm>
            <a:off x="819000" y="2095560"/>
            <a:ext cx="1570320" cy="109404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"/>
          <p:cNvSpPr/>
          <p:nvPr/>
        </p:nvSpPr>
        <p:spPr>
          <a:xfrm>
            <a:off x="952560" y="2324160"/>
            <a:ext cx="1303560" cy="627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Git commit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"/>
          <p:cNvSpPr/>
          <p:nvPr/>
        </p:nvSpPr>
        <p:spPr>
          <a:xfrm>
            <a:off x="2629080" y="2762280"/>
            <a:ext cx="1570320" cy="109404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"/>
          <p:cNvSpPr/>
          <p:nvPr/>
        </p:nvSpPr>
        <p:spPr>
          <a:xfrm>
            <a:off x="2762280" y="2990880"/>
            <a:ext cx="1303560" cy="627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GitHub event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"/>
          <p:cNvSpPr/>
          <p:nvPr/>
        </p:nvSpPr>
        <p:spPr>
          <a:xfrm>
            <a:off x="4438800" y="2095560"/>
            <a:ext cx="1570320" cy="109404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"/>
          <p:cNvSpPr/>
          <p:nvPr/>
        </p:nvSpPr>
        <p:spPr>
          <a:xfrm>
            <a:off x="4572000" y="2324160"/>
            <a:ext cx="1303560" cy="627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ci.yml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"/>
          <p:cNvSpPr/>
          <p:nvPr/>
        </p:nvSpPr>
        <p:spPr>
          <a:xfrm>
            <a:off x="6248520" y="2762280"/>
            <a:ext cx="1570320" cy="109404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"/>
          <p:cNvSpPr/>
          <p:nvPr/>
        </p:nvSpPr>
        <p:spPr>
          <a:xfrm>
            <a:off x="6302160" y="2990880"/>
            <a:ext cx="1436760" cy="788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Runner </a:t>
            </a:r>
            <a:r>
              <a:rPr lang="zh-TW" sz="1729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執行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"/>
          <p:cNvSpPr/>
          <p:nvPr/>
        </p:nvSpPr>
        <p:spPr>
          <a:xfrm>
            <a:off x="8058240" y="2095560"/>
            <a:ext cx="1570320" cy="109404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"/>
          <p:cNvSpPr/>
          <p:nvPr/>
        </p:nvSpPr>
        <p:spPr>
          <a:xfrm>
            <a:off x="8191440" y="2324160"/>
            <a:ext cx="1303560" cy="627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Checks </a:t>
            </a:r>
            <a:r>
              <a:rPr lang="zh-TW" sz="1729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產出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"/>
          <p:cNvSpPr/>
          <p:nvPr/>
        </p:nvSpPr>
        <p:spPr>
          <a:xfrm>
            <a:off x="9867960" y="2762280"/>
            <a:ext cx="1570320" cy="109404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"/>
          <p:cNvSpPr/>
          <p:nvPr/>
        </p:nvSpPr>
        <p:spPr>
          <a:xfrm>
            <a:off x="10001160" y="2990880"/>
            <a:ext cx="1303560" cy="627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1729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結果回到 </a:t>
            </a:r>
            <a:r>
              <a:rPr lang="en-US" sz="1729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PR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"/>
          <p:cNvSpPr/>
          <p:nvPr/>
        </p:nvSpPr>
        <p:spPr>
          <a:xfrm>
            <a:off x="900000" y="4667400"/>
            <a:ext cx="10099800" cy="6843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CI </a:t>
            </a:r>
            <a:r>
              <a:rPr lang="zh-TW" sz="202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是流程與品質目標；</a:t>
            </a:r>
            <a:r>
              <a:rPr lang="en-US" sz="202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Git </a:t>
            </a:r>
            <a:r>
              <a:rPr lang="zh-TW" sz="202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保存版本與變更；</a:t>
            </a:r>
            <a:br>
              <a:rPr sz="1800"/>
            </a:br>
            <a:r>
              <a:rPr lang="en-US" sz="202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GitHub Actions </a:t>
            </a:r>
            <a:r>
              <a:rPr lang="zh-TW" sz="202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依事件執行 </a:t>
            </a:r>
            <a:r>
              <a:rPr lang="en-US" sz="202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workflow</a:t>
            </a:r>
            <a:r>
              <a:rPr lang="zh-TW" sz="202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個案背景：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Finance Import UI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找不到入口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"/>
          <p:cNvSpPr/>
          <p:nvPr/>
        </p:nvSpPr>
        <p:spPr>
          <a:xfrm>
            <a:off x="11144160" y="6305400"/>
            <a:ext cx="522360" cy="227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38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"/>
          <p:cNvSpPr/>
          <p:nvPr/>
        </p:nvSpPr>
        <p:spPr>
          <a:xfrm>
            <a:off x="762120" y="1676520"/>
            <a:ext cx="4761000" cy="361800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"/>
          <p:cNvSpPr/>
          <p:nvPr/>
        </p:nvSpPr>
        <p:spPr>
          <a:xfrm>
            <a:off x="1143000" y="2333520"/>
            <a:ext cx="3999240" cy="18082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338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Test Case 1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38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Test Case 2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"/>
          <p:cNvSpPr/>
          <p:nvPr/>
        </p:nvSpPr>
        <p:spPr>
          <a:xfrm>
            <a:off x="6238800" y="1895400"/>
            <a:ext cx="131760" cy="13176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"/>
          <p:cNvSpPr/>
          <p:nvPr/>
        </p:nvSpPr>
        <p:spPr>
          <a:xfrm>
            <a:off x="6562800" y="1828800"/>
            <a:ext cx="4437360" cy="919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觀察現象：啟動 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FastAPI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與 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Streamlit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後，瀏覽器找不到「銀行流水匯入與帳務修正」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"/>
          <p:cNvSpPr/>
          <p:nvPr/>
        </p:nvSpPr>
        <p:spPr>
          <a:xfrm>
            <a:off x="6238800" y="3006720"/>
            <a:ext cx="131760" cy="13176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"/>
          <p:cNvSpPr/>
          <p:nvPr/>
        </p:nvSpPr>
        <p:spPr>
          <a:xfrm>
            <a:off x="6562800" y="2940120"/>
            <a:ext cx="4437360" cy="919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程式證據：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Finance Import router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已註冊、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panel.py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存在，但沒有被掛入 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Streamlit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導覽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"/>
          <p:cNvSpPr/>
          <p:nvPr/>
        </p:nvSpPr>
        <p:spPr>
          <a:xfrm>
            <a:off x="6238800" y="4118040"/>
            <a:ext cx="131760" cy="13176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"/>
          <p:cNvSpPr/>
          <p:nvPr/>
        </p:nvSpPr>
        <p:spPr>
          <a:xfrm>
            <a:off x="6562800" y="4051440"/>
            <a:ext cx="4437360" cy="919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業務影響：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API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可被驗證，但使用者無法從 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UI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完成 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ingest → preview → apply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同一個案，拆成兩個獨立結論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"/>
          <p:cNvSpPr/>
          <p:nvPr/>
        </p:nvSpPr>
        <p:spPr>
          <a:xfrm>
            <a:off x="11144160" y="6305400"/>
            <a:ext cx="522360" cy="227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39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"/>
          <p:cNvSpPr/>
          <p:nvPr/>
        </p:nvSpPr>
        <p:spPr>
          <a:xfrm>
            <a:off x="762120" y="1676520"/>
            <a:ext cx="5176800" cy="462240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"/>
          <p:cNvSpPr/>
          <p:nvPr/>
        </p:nvSpPr>
        <p:spPr>
          <a:xfrm>
            <a:off x="1143000" y="2333520"/>
            <a:ext cx="3999240" cy="18082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0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測試案例＝該怎麼測；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TW" sz="24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測試結果＝這次發生什麼；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TW" sz="280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缺陷＝需要誰修復。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"/>
          <p:cNvSpPr/>
          <p:nvPr/>
        </p:nvSpPr>
        <p:spPr>
          <a:xfrm>
            <a:off x="6238800" y="1895400"/>
            <a:ext cx="131760" cy="13176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"/>
          <p:cNvSpPr/>
          <p:nvPr/>
        </p:nvSpPr>
        <p:spPr>
          <a:xfrm>
            <a:off x="6562800" y="1828800"/>
            <a:ext cx="4437360" cy="919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FI-API-001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：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Finance Import API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已註冊，未認證請求會被拒絕。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"/>
          <p:cNvSpPr/>
          <p:nvPr/>
        </p:nvSpPr>
        <p:spPr>
          <a:xfrm>
            <a:off x="6238800" y="3006720"/>
            <a:ext cx="131760" cy="13176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"/>
          <p:cNvSpPr/>
          <p:nvPr/>
        </p:nvSpPr>
        <p:spPr>
          <a:xfrm>
            <a:off x="6562800" y="2940120"/>
            <a:ext cx="4437360" cy="919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FI-UI-001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：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Finance Import UI panel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存在，但目前未掛入 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Streamlit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導覽，使用者無法操作完整流程。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"/>
          <p:cNvSpPr/>
          <p:nvPr/>
        </p:nvSpPr>
        <p:spPr>
          <a:xfrm>
            <a:off x="6238800" y="4118040"/>
            <a:ext cx="131760" cy="13176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5" name=""/>
          <p:cNvSpPr/>
          <p:nvPr/>
        </p:nvSpPr>
        <p:spPr>
          <a:xfrm>
            <a:off x="6562800" y="4051440"/>
            <a:ext cx="4437360" cy="919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API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與 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UI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責任不同，不能用其中一個 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Pass 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取代另一個結果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驗證不等於正式上線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"/>
          <p:cNvSpPr/>
          <p:nvPr/>
        </p:nvSpPr>
        <p:spPr>
          <a:xfrm>
            <a:off x="11144160" y="6305400"/>
            <a:ext cx="52200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33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"/>
          <p:cNvSpPr/>
          <p:nvPr/>
        </p:nvSpPr>
        <p:spPr>
          <a:xfrm>
            <a:off x="905040" y="1819440"/>
            <a:ext cx="131400" cy="13140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0" name=""/>
          <p:cNvSpPr/>
          <p:nvPr/>
        </p:nvSpPr>
        <p:spPr>
          <a:xfrm>
            <a:off x="1228680" y="1752480"/>
            <a:ext cx="5484600" cy="98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Module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Subsystem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｜規則與失敗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"/>
          <p:cNvSpPr/>
          <p:nvPr/>
        </p:nvSpPr>
        <p:spPr>
          <a:xfrm>
            <a:off x="905040" y="2994120"/>
            <a:ext cx="131400" cy="13140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"/>
          <p:cNvSpPr/>
          <p:nvPr/>
        </p:nvSpPr>
        <p:spPr>
          <a:xfrm>
            <a:off x="1228680" y="2927520"/>
            <a:ext cx="5484600" cy="98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Domain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Global</a:t>
            </a: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｜交易與重播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"/>
          <p:cNvSpPr/>
          <p:nvPr/>
        </p:nvSpPr>
        <p:spPr>
          <a:xfrm>
            <a:off x="905040" y="4168800"/>
            <a:ext cx="131400" cy="13140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"/>
          <p:cNvSpPr/>
          <p:nvPr/>
        </p:nvSpPr>
        <p:spPr>
          <a:xfrm>
            <a:off x="1228680" y="4102200"/>
            <a:ext cx="5484600" cy="98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目前為隔離 </a:t>
            </a:r>
            <a:r>
              <a:rPr lang="en-US" sz="1870" b="0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release candidate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"/>
          <p:cNvSpPr/>
          <p:nvPr/>
        </p:nvSpPr>
        <p:spPr>
          <a:xfrm>
            <a:off x="7429680" y="1762200"/>
            <a:ext cx="3713040" cy="337968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"/>
          <p:cNvSpPr/>
          <p:nvPr/>
        </p:nvSpPr>
        <p:spPr>
          <a:xfrm>
            <a:off x="7953480" y="2523960"/>
            <a:ext cx="2665080" cy="1807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2850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正式環境仍需驗收與復原演練。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Text 417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地端整合測試：讓系統在真實工作情境中被驗證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213"/>
          <p:cNvSpPr/>
          <p:nvPr/>
        </p:nvSpPr>
        <p:spPr>
          <a:xfrm>
            <a:off x="661320" y="2644920"/>
            <a:ext cx="4069800" cy="24480"/>
          </a:xfrm>
          <a:prstGeom prst="rect">
            <a:avLst/>
          </a:prstGeom>
          <a:solidFill>
            <a:srgbClr val="D3C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418"/>
          <p:cNvSpPr/>
          <p:nvPr/>
        </p:nvSpPr>
        <p:spPr>
          <a:xfrm>
            <a:off x="661320" y="2790360"/>
            <a:ext cx="406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50" b="0" u="none" strike="noStrike">
                <a:solidFill>
                  <a:srgbClr val="746558"/>
                </a:solidFill>
                <a:effectLst/>
                <a:uFillTx/>
                <a:latin typeface="Gelasio"/>
                <a:ea typeface="Gelasio"/>
              </a:rPr>
              <a:t>將開發中的程式部署至</a:t>
            </a:r>
            <a:r>
              <a:rPr lang="zh-TW" sz="1450" b="1" u="none" strike="noStrike">
                <a:solidFill>
                  <a:srgbClr val="746558"/>
                </a:solidFill>
                <a:effectLst/>
                <a:uFillTx/>
                <a:latin typeface="Gelasio Bold"/>
                <a:ea typeface="Gelasio Bold"/>
              </a:rPr>
              <a:t>地端測試環境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214"/>
          <p:cNvSpPr/>
          <p:nvPr/>
        </p:nvSpPr>
        <p:spPr>
          <a:xfrm>
            <a:off x="661320" y="3719160"/>
            <a:ext cx="4069800" cy="24480"/>
          </a:xfrm>
          <a:prstGeom prst="rect">
            <a:avLst/>
          </a:prstGeom>
          <a:solidFill>
            <a:srgbClr val="D3C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419"/>
          <p:cNvSpPr/>
          <p:nvPr/>
        </p:nvSpPr>
        <p:spPr>
          <a:xfrm>
            <a:off x="661320" y="3864600"/>
            <a:ext cx="406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50" b="0" u="none" strike="noStrike">
                <a:solidFill>
                  <a:srgbClr val="746558"/>
                </a:solidFill>
                <a:effectLst/>
                <a:uFillTx/>
                <a:latin typeface="Gelasio"/>
                <a:ea typeface="Gelasio"/>
              </a:rPr>
              <a:t>使用經授權且受保護的測試資料驗證流程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215"/>
          <p:cNvSpPr/>
          <p:nvPr/>
        </p:nvSpPr>
        <p:spPr>
          <a:xfrm>
            <a:off x="661320" y="4793400"/>
            <a:ext cx="4069800" cy="24480"/>
          </a:xfrm>
          <a:prstGeom prst="rect">
            <a:avLst/>
          </a:prstGeom>
          <a:solidFill>
            <a:srgbClr val="D3C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420"/>
          <p:cNvSpPr/>
          <p:nvPr/>
        </p:nvSpPr>
        <p:spPr>
          <a:xfrm>
            <a:off x="661320" y="4938840"/>
            <a:ext cx="406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50" b="0" u="none" strike="noStrike">
                <a:solidFill>
                  <a:srgbClr val="746558"/>
                </a:solidFill>
                <a:effectLst/>
                <a:uFillTx/>
                <a:latin typeface="Gelasio"/>
                <a:ea typeface="Gelasio"/>
              </a:rPr>
              <a:t>將現場回饋轉為後續開發的修正依據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216"/>
          <p:cNvSpPr/>
          <p:nvPr/>
        </p:nvSpPr>
        <p:spPr>
          <a:xfrm>
            <a:off x="5199840" y="2377800"/>
            <a:ext cx="790920" cy="672120"/>
          </a:xfrm>
          <a:prstGeom prst="roundRect">
            <a:avLst>
              <a:gd name="adj" fmla="val 4211"/>
            </a:avLst>
          </a:prstGeom>
          <a:solidFill>
            <a:srgbClr val="EEE8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6" name="Image 49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463000" y="2581560"/>
            <a:ext cx="26460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7" name="Text 421"/>
          <p:cNvSpPr/>
          <p:nvPr/>
        </p:nvSpPr>
        <p:spPr>
          <a:xfrm>
            <a:off x="6180840" y="2566800"/>
            <a:ext cx="51656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850" b="0" u="none" strike="noStrike">
                <a:solidFill>
                  <a:srgbClr val="746558"/>
                </a:solidFill>
                <a:effectLst/>
                <a:uFillTx/>
                <a:latin typeface="Gelasio SemiBold"/>
                <a:ea typeface="Gelasio SemiBold"/>
              </a:rPr>
              <a:t>地端部署測試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Shape 217"/>
          <p:cNvSpPr/>
          <p:nvPr/>
        </p:nvSpPr>
        <p:spPr>
          <a:xfrm>
            <a:off x="6086160" y="3038400"/>
            <a:ext cx="5354640" cy="11520"/>
          </a:xfrm>
          <a:prstGeom prst="roundRect">
            <a:avLst>
              <a:gd name="adj" fmla="val 49999"/>
            </a:avLst>
          </a:prstGeom>
          <a:solidFill>
            <a:srgbClr val="D4CE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218"/>
          <p:cNvSpPr/>
          <p:nvPr/>
        </p:nvSpPr>
        <p:spPr>
          <a:xfrm>
            <a:off x="5199840" y="3145680"/>
            <a:ext cx="1583280" cy="672120"/>
          </a:xfrm>
          <a:prstGeom prst="roundRect">
            <a:avLst>
              <a:gd name="adj" fmla="val 4211"/>
            </a:avLst>
          </a:prstGeom>
          <a:solidFill>
            <a:srgbClr val="EEE8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0" name="Image 50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859000" y="3349080"/>
            <a:ext cx="26460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1" name="Text 422"/>
          <p:cNvSpPr/>
          <p:nvPr/>
        </p:nvSpPr>
        <p:spPr>
          <a:xfrm>
            <a:off x="6972840" y="3334680"/>
            <a:ext cx="43736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850" b="0" u="none" strike="noStrike">
                <a:solidFill>
                  <a:srgbClr val="746558"/>
                </a:solidFill>
                <a:effectLst/>
                <a:uFillTx/>
                <a:latin typeface="Gelasio SemiBold"/>
                <a:ea typeface="Gelasio SemiBold"/>
              </a:rPr>
              <a:t>實際流程操作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219"/>
          <p:cNvSpPr/>
          <p:nvPr/>
        </p:nvSpPr>
        <p:spPr>
          <a:xfrm>
            <a:off x="6878520" y="3806280"/>
            <a:ext cx="4562640" cy="11520"/>
          </a:xfrm>
          <a:prstGeom prst="roundRect">
            <a:avLst>
              <a:gd name="adj" fmla="val 49999"/>
            </a:avLst>
          </a:prstGeom>
          <a:solidFill>
            <a:srgbClr val="D4CE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220"/>
          <p:cNvSpPr/>
          <p:nvPr/>
        </p:nvSpPr>
        <p:spPr>
          <a:xfrm>
            <a:off x="5199840" y="3913200"/>
            <a:ext cx="2375280" cy="672120"/>
          </a:xfrm>
          <a:prstGeom prst="roundRect">
            <a:avLst>
              <a:gd name="adj" fmla="val 4211"/>
            </a:avLst>
          </a:prstGeom>
          <a:solidFill>
            <a:srgbClr val="EEE8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4" name="Image 51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255000" y="4116960"/>
            <a:ext cx="26460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5" name="Text 423"/>
          <p:cNvSpPr/>
          <p:nvPr/>
        </p:nvSpPr>
        <p:spPr>
          <a:xfrm>
            <a:off x="7764840" y="4102200"/>
            <a:ext cx="358128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850" b="0" u="none" strike="noStrike">
                <a:solidFill>
                  <a:srgbClr val="746558"/>
                </a:solidFill>
                <a:effectLst/>
                <a:uFillTx/>
                <a:latin typeface="Gelasio SemiBold"/>
                <a:ea typeface="Gelasio SemiBold"/>
              </a:rPr>
              <a:t>問題與回饋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Shape 221"/>
          <p:cNvSpPr/>
          <p:nvPr/>
        </p:nvSpPr>
        <p:spPr>
          <a:xfrm>
            <a:off x="7670520" y="4573800"/>
            <a:ext cx="3770640" cy="11520"/>
          </a:xfrm>
          <a:prstGeom prst="roundRect">
            <a:avLst>
              <a:gd name="adj" fmla="val 49999"/>
            </a:avLst>
          </a:prstGeom>
          <a:solidFill>
            <a:srgbClr val="D4CE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Shape 222"/>
          <p:cNvSpPr/>
          <p:nvPr/>
        </p:nvSpPr>
        <p:spPr>
          <a:xfrm>
            <a:off x="5199840" y="4681080"/>
            <a:ext cx="3167280" cy="672120"/>
          </a:xfrm>
          <a:prstGeom prst="roundRect">
            <a:avLst>
              <a:gd name="adj" fmla="val 4211"/>
            </a:avLst>
          </a:prstGeom>
          <a:solidFill>
            <a:srgbClr val="EEE8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8" name="Image 52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651000" y="4884840"/>
            <a:ext cx="264600" cy="2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9" name="Text 424"/>
          <p:cNvSpPr/>
          <p:nvPr/>
        </p:nvSpPr>
        <p:spPr>
          <a:xfrm>
            <a:off x="8557200" y="4870080"/>
            <a:ext cx="278928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850" b="0" u="none" strike="noStrike">
                <a:solidFill>
                  <a:srgbClr val="746558"/>
                </a:solidFill>
                <a:effectLst/>
                <a:uFillTx/>
                <a:latin typeface="Gelasio SemiBold"/>
                <a:ea typeface="Gelasio SemiBold"/>
              </a:rPr>
              <a:t>系統修正驗證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Text 118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工會系統部署架構決策報告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119"/>
          <p:cNvSpPr/>
          <p:nvPr/>
        </p:nvSpPr>
        <p:spPr>
          <a:xfrm>
            <a:off x="356400" y="1483920"/>
            <a:ext cx="1147716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兼顧資安隱私與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24/7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高可用性的「地端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+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雲端」混合架構實踐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95"/>
          <p:cNvSpPr/>
          <p:nvPr/>
        </p:nvSpPr>
        <p:spPr>
          <a:xfrm>
            <a:off x="661320" y="1975680"/>
            <a:ext cx="10867680" cy="17640"/>
          </a:xfrm>
          <a:prstGeom prst="roundRect">
            <a:avLst>
              <a:gd name="adj" fmla="val 49998"/>
            </a:avLst>
          </a:prstGeom>
          <a:solidFill>
            <a:srgbClr val="76564B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96"/>
          <p:cNvSpPr/>
          <p:nvPr/>
        </p:nvSpPr>
        <p:spPr>
          <a:xfrm>
            <a:off x="638280" y="2222280"/>
            <a:ext cx="5469480" cy="1854360"/>
          </a:xfrm>
          <a:prstGeom prst="roundRect">
            <a:avLst>
              <a:gd name="adj" fmla="val 6416"/>
            </a:avLst>
          </a:prstGeom>
          <a:solidFill>
            <a:srgbClr val="D98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137"/>
          <p:cNvSpPr/>
          <p:nvPr/>
        </p:nvSpPr>
        <p:spPr>
          <a:xfrm>
            <a:off x="803160" y="2387160"/>
            <a:ext cx="51386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000000"/>
                </a:solidFill>
                <a:effectLst/>
                <a:uFillTx/>
                <a:latin typeface="Noto Sans TC Bold"/>
                <a:ea typeface="Noto Sans TC Bold"/>
              </a:rPr>
              <a:t>核心結論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 138"/>
          <p:cNvSpPr/>
          <p:nvPr/>
        </p:nvSpPr>
        <p:spPr>
          <a:xfrm>
            <a:off x="803160" y="2810880"/>
            <a:ext cx="513864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採納「雲端應用 </a:t>
            </a: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+ </a:t>
            </a: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地端資料庫」混合架構，確保 </a:t>
            </a: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LINE </a:t>
            </a: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服務不中斷，同時資料主權 </a:t>
            </a: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100% </a:t>
            </a: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保留在工會。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 139"/>
          <p:cNvSpPr/>
          <p:nvPr/>
        </p:nvSpPr>
        <p:spPr>
          <a:xfrm>
            <a:off x="6303600" y="2387160"/>
            <a:ext cx="523116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3B302C"/>
                </a:solidFill>
                <a:effectLst/>
                <a:uFillTx/>
                <a:latin typeface="Noto Sans TC Bold"/>
                <a:ea typeface="Noto Sans TC Bold"/>
              </a:rPr>
              <a:t>報告人 </a:t>
            </a:r>
            <a:r>
              <a:rPr lang="en-US" sz="1430" b="1" u="none" strike="noStrike">
                <a:solidFill>
                  <a:srgbClr val="3B302C"/>
                </a:solidFill>
                <a:effectLst/>
                <a:uFillTx/>
                <a:latin typeface="Noto Sans TC Bold"/>
                <a:ea typeface="Noto Sans TC Bold"/>
              </a:rPr>
              <a:t>/ </a:t>
            </a:r>
            <a:r>
              <a:rPr lang="zh-TW" sz="1430" b="1" u="none" strike="noStrike">
                <a:solidFill>
                  <a:srgbClr val="3B302C"/>
                </a:solidFill>
                <a:effectLst/>
                <a:uFillTx/>
                <a:latin typeface="Noto Sans TC Bold"/>
                <a:ea typeface="Noto Sans TC Bold"/>
              </a:rPr>
              <a:t>團隊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140"/>
          <p:cNvSpPr/>
          <p:nvPr/>
        </p:nvSpPr>
        <p:spPr>
          <a:xfrm>
            <a:off x="6303600" y="2810880"/>
            <a:ext cx="584100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技術架構小組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141"/>
          <p:cNvSpPr/>
          <p:nvPr/>
        </p:nvSpPr>
        <p:spPr>
          <a:xfrm>
            <a:off x="6303600" y="3241080"/>
            <a:ext cx="523116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3B302C"/>
                </a:solidFill>
                <a:effectLst/>
                <a:uFillTx/>
                <a:latin typeface="Noto Sans TC Bold"/>
                <a:ea typeface="Noto Sans TC Bold"/>
              </a:rPr>
              <a:t>報告性質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142"/>
          <p:cNvSpPr/>
          <p:nvPr/>
        </p:nvSpPr>
        <p:spPr>
          <a:xfrm>
            <a:off x="6303600" y="3664800"/>
            <a:ext cx="584100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架構決策報告（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Architecture Decision Record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97"/>
          <p:cNvSpPr/>
          <p:nvPr/>
        </p:nvSpPr>
        <p:spPr>
          <a:xfrm>
            <a:off x="661320" y="4264560"/>
            <a:ext cx="10867320" cy="1954440"/>
          </a:xfrm>
          <a:prstGeom prst="roundRect">
            <a:avLst>
              <a:gd name="adj" fmla="val 3550"/>
            </a:avLst>
          </a:prstGeom>
          <a:solidFill>
            <a:srgbClr val="F5DFD6"/>
          </a:solidFill>
          <a:ln w="4763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Shape 98"/>
          <p:cNvSpPr/>
          <p:nvPr/>
        </p:nvSpPr>
        <p:spPr>
          <a:xfrm>
            <a:off x="667800" y="4270680"/>
            <a:ext cx="5426640" cy="970200"/>
          </a:xfrm>
          <a:custGeom>
            <a:avLst/>
            <a:gdLst>
              <a:gd name="textAreaLeft" fmla="*/ 0 w 5426640"/>
              <a:gd name="textAreaRight" fmla="*/ 5428080 w 5426640"/>
              <a:gd name="textAreaTop" fmla="*/ 0 h 970200"/>
              <a:gd name="textAreaBottom" fmla="*/ 971640 h 970200"/>
            </a:gdLst>
            <a:ahLst/>
            <a:cxnLst/>
            <a:rect l="textAreaLeft" t="textAreaTop" r="textAreaRight" b="textAreaBottom"/>
            <a:pathLst>
              <a:path w="4071119" h="728960">
                <a:moveTo>
                  <a:pt x="43416" y="0"/>
                </a:moveTo>
                <a:lnTo>
                  <a:pt x="4071119" y="0"/>
                </a:lnTo>
                <a:lnTo>
                  <a:pt x="4071119" y="728960"/>
                </a:lnTo>
                <a:lnTo>
                  <a:pt x="0" y="728960"/>
                </a:lnTo>
                <a:lnTo>
                  <a:pt x="0" y="43416"/>
                </a:lnTo>
                <a:arcTo wR="43416" hR="43416" stAng="10800000" swAng="5400000"/>
                <a:close/>
              </a:path>
            </a:pathLst>
          </a:custGeom>
          <a:solidFill>
            <a:srgbClr val="F5DF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 143"/>
          <p:cNvSpPr/>
          <p:nvPr/>
        </p:nvSpPr>
        <p:spPr>
          <a:xfrm>
            <a:off x="833040" y="4435920"/>
            <a:ext cx="50958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🚀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 24/7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高可用性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144"/>
          <p:cNvSpPr/>
          <p:nvPr/>
        </p:nvSpPr>
        <p:spPr>
          <a:xfrm>
            <a:off x="833040" y="4812480"/>
            <a:ext cx="509580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LINE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官方帳號服務不中斷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Shape 99"/>
          <p:cNvSpPr/>
          <p:nvPr/>
        </p:nvSpPr>
        <p:spPr>
          <a:xfrm>
            <a:off x="6095880" y="4270680"/>
            <a:ext cx="5426640" cy="970200"/>
          </a:xfrm>
          <a:custGeom>
            <a:avLst/>
            <a:gdLst>
              <a:gd name="textAreaLeft" fmla="*/ 0 w 5426640"/>
              <a:gd name="textAreaRight" fmla="*/ 5428080 w 5426640"/>
              <a:gd name="textAreaTop" fmla="*/ 0 h 970200"/>
              <a:gd name="textAreaBottom" fmla="*/ 971640 h 970200"/>
            </a:gdLst>
            <a:ahLst/>
            <a:cxnLst/>
            <a:rect l="textAreaLeft" t="textAreaTop" r="textAreaRight" b="textAreaBottom"/>
            <a:pathLst>
              <a:path w="4071119" h="728960">
                <a:moveTo>
                  <a:pt x="0" y="0"/>
                </a:moveTo>
                <a:lnTo>
                  <a:pt x="4027703" y="0"/>
                </a:lnTo>
                <a:arcTo wR="43416" hR="43416" stAng="16200000" swAng="5400000"/>
                <a:lnTo>
                  <a:pt x="4071119" y="728960"/>
                </a:lnTo>
                <a:lnTo>
                  <a:pt x="0" y="728960"/>
                </a:lnTo>
                <a:lnTo>
                  <a:pt x="0" y="0"/>
                </a:lnTo>
                <a:close/>
              </a:path>
            </a:pathLst>
          </a:custGeom>
          <a:solidFill>
            <a:srgbClr val="F5DF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100"/>
          <p:cNvSpPr/>
          <p:nvPr/>
        </p:nvSpPr>
        <p:spPr>
          <a:xfrm>
            <a:off x="6095880" y="4270680"/>
            <a:ext cx="17640" cy="970200"/>
          </a:xfrm>
          <a:prstGeom prst="roundRect">
            <a:avLst>
              <a:gd name="adj" fmla="val 49998"/>
            </a:avLst>
          </a:prstGeom>
          <a:solidFill>
            <a:srgbClr val="DBC5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" tIns="45000" rIns="684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145"/>
          <p:cNvSpPr/>
          <p:nvPr/>
        </p:nvSpPr>
        <p:spPr>
          <a:xfrm>
            <a:off x="6261120" y="4435920"/>
            <a:ext cx="50958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🔒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 資料主權在地化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146"/>
          <p:cNvSpPr/>
          <p:nvPr/>
        </p:nvSpPr>
        <p:spPr>
          <a:xfrm>
            <a:off x="6261120" y="4812480"/>
            <a:ext cx="509580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敏感帳務與會員資料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100%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留存地端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Shape 101"/>
          <p:cNvSpPr/>
          <p:nvPr/>
        </p:nvSpPr>
        <p:spPr>
          <a:xfrm>
            <a:off x="667800" y="5242680"/>
            <a:ext cx="5426640" cy="970560"/>
          </a:xfrm>
          <a:custGeom>
            <a:avLst/>
            <a:gdLst>
              <a:gd name="textAreaLeft" fmla="*/ 0 w 5426640"/>
              <a:gd name="textAreaRight" fmla="*/ 5428080 w 5426640"/>
              <a:gd name="textAreaTop" fmla="*/ 0 h 970560"/>
              <a:gd name="textAreaBottom" fmla="*/ 972000 h 970560"/>
            </a:gdLst>
            <a:ahLst/>
            <a:cxnLst/>
            <a:rect l="textAreaLeft" t="textAreaTop" r="textAreaRight" b="textAreaBottom"/>
            <a:pathLst>
              <a:path w="4071119" h="728960">
                <a:moveTo>
                  <a:pt x="0" y="0"/>
                </a:moveTo>
                <a:lnTo>
                  <a:pt x="4071119" y="0"/>
                </a:lnTo>
                <a:lnTo>
                  <a:pt x="4071119" y="728960"/>
                </a:lnTo>
                <a:lnTo>
                  <a:pt x="43416" y="728960"/>
                </a:lnTo>
                <a:arcTo wR="43416" hR="43416" stAng="5400000" swAng="5400000"/>
                <a:lnTo>
                  <a:pt x="0" y="0"/>
                </a:lnTo>
                <a:close/>
              </a:path>
            </a:pathLst>
          </a:custGeom>
          <a:solidFill>
            <a:srgbClr val="F5DF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Shape 102"/>
          <p:cNvSpPr/>
          <p:nvPr/>
        </p:nvSpPr>
        <p:spPr>
          <a:xfrm>
            <a:off x="667800" y="5242680"/>
            <a:ext cx="5426640" cy="17640"/>
          </a:xfrm>
          <a:prstGeom prst="roundRect">
            <a:avLst>
              <a:gd name="adj" fmla="val 49998"/>
            </a:avLst>
          </a:prstGeom>
          <a:solidFill>
            <a:srgbClr val="DBC5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147"/>
          <p:cNvSpPr/>
          <p:nvPr/>
        </p:nvSpPr>
        <p:spPr>
          <a:xfrm>
            <a:off x="833040" y="5407920"/>
            <a:ext cx="50958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💰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 成本效益最佳化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148"/>
          <p:cNvSpPr/>
          <p:nvPr/>
        </p:nvSpPr>
        <p:spPr>
          <a:xfrm>
            <a:off x="833040" y="5784480"/>
            <a:ext cx="509580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免額外高規硬體採購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Shape 103"/>
          <p:cNvSpPr/>
          <p:nvPr/>
        </p:nvSpPr>
        <p:spPr>
          <a:xfrm>
            <a:off x="6095880" y="5242680"/>
            <a:ext cx="5426640" cy="970560"/>
          </a:xfrm>
          <a:custGeom>
            <a:avLst/>
            <a:gdLst>
              <a:gd name="textAreaLeft" fmla="*/ 0 w 5426640"/>
              <a:gd name="textAreaRight" fmla="*/ 5428080 w 5426640"/>
              <a:gd name="textAreaTop" fmla="*/ 0 h 970560"/>
              <a:gd name="textAreaBottom" fmla="*/ 972000 h 970560"/>
            </a:gdLst>
            <a:ahLst/>
            <a:cxnLst/>
            <a:rect l="textAreaLeft" t="textAreaTop" r="textAreaRight" b="textAreaBottom"/>
            <a:pathLst>
              <a:path w="4071119" h="728960">
                <a:moveTo>
                  <a:pt x="0" y="0"/>
                </a:moveTo>
                <a:lnTo>
                  <a:pt x="4071119" y="0"/>
                </a:lnTo>
                <a:lnTo>
                  <a:pt x="4071119" y="685544"/>
                </a:lnTo>
                <a:arcTo wR="43416" hR="43416" stAng="0" swAng="5400000"/>
                <a:lnTo>
                  <a:pt x="0" y="728960"/>
                </a:lnTo>
                <a:lnTo>
                  <a:pt x="0" y="0"/>
                </a:lnTo>
                <a:close/>
              </a:path>
            </a:pathLst>
          </a:custGeom>
          <a:solidFill>
            <a:srgbClr val="F5DF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Shape 104"/>
          <p:cNvSpPr/>
          <p:nvPr/>
        </p:nvSpPr>
        <p:spPr>
          <a:xfrm>
            <a:off x="6095880" y="5242680"/>
            <a:ext cx="17640" cy="970200"/>
          </a:xfrm>
          <a:prstGeom prst="roundRect">
            <a:avLst>
              <a:gd name="adj" fmla="val 49998"/>
            </a:avLst>
          </a:prstGeom>
          <a:solidFill>
            <a:srgbClr val="DBC5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" tIns="45000" rIns="684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Shape 105"/>
          <p:cNvSpPr/>
          <p:nvPr/>
        </p:nvSpPr>
        <p:spPr>
          <a:xfrm>
            <a:off x="6095880" y="5242680"/>
            <a:ext cx="5426640" cy="17640"/>
          </a:xfrm>
          <a:prstGeom prst="roundRect">
            <a:avLst>
              <a:gd name="adj" fmla="val 49998"/>
            </a:avLst>
          </a:prstGeom>
          <a:solidFill>
            <a:srgbClr val="DBC5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 149"/>
          <p:cNvSpPr/>
          <p:nvPr/>
        </p:nvSpPr>
        <p:spPr>
          <a:xfrm>
            <a:off x="6261120" y="5407920"/>
            <a:ext cx="50958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🛠️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 維運彈性極高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 150"/>
          <p:cNvSpPr/>
          <p:nvPr/>
        </p:nvSpPr>
        <p:spPr>
          <a:xfrm>
            <a:off x="6261120" y="5784480"/>
            <a:ext cx="509580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工程團隊可隨時遠端維護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地端部署候選方案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"/>
          <p:cNvSpPr/>
          <p:nvPr/>
        </p:nvSpPr>
        <p:spPr>
          <a:xfrm>
            <a:off x="11144160" y="6305400"/>
            <a:ext cx="52200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28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"/>
          <p:cNvSpPr/>
          <p:nvPr/>
        </p:nvSpPr>
        <p:spPr>
          <a:xfrm>
            <a:off x="619200" y="1619280"/>
            <a:ext cx="1903320" cy="342720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"/>
          <p:cNvSpPr/>
          <p:nvPr/>
        </p:nvSpPr>
        <p:spPr>
          <a:xfrm>
            <a:off x="752400" y="1695600"/>
            <a:ext cx="16365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zh-TW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外部與操作端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"/>
          <p:cNvSpPr/>
          <p:nvPr/>
        </p:nvSpPr>
        <p:spPr>
          <a:xfrm>
            <a:off x="905040" y="2238480"/>
            <a:ext cx="1331640" cy="684000"/>
          </a:xfrm>
          <a:prstGeom prst="roundRect">
            <a:avLst>
              <a:gd name="adj" fmla="val 16667"/>
            </a:avLst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LINE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Platform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"/>
          <p:cNvSpPr/>
          <p:nvPr/>
        </p:nvSpPr>
        <p:spPr>
          <a:xfrm>
            <a:off x="905040" y="3191040"/>
            <a:ext cx="1331640" cy="684000"/>
          </a:xfrm>
          <a:prstGeom prst="roundRect">
            <a:avLst>
              <a:gd name="adj" fmla="val 16667"/>
            </a:avLst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行政端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LAN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VPN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"/>
          <p:cNvSpPr/>
          <p:nvPr/>
        </p:nvSpPr>
        <p:spPr>
          <a:xfrm>
            <a:off x="905040" y="4143240"/>
            <a:ext cx="1331640" cy="550800"/>
          </a:xfrm>
          <a:prstGeom prst="roundRect">
            <a:avLst>
              <a:gd name="adj" fmla="val 20690"/>
            </a:avLst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Excel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／檔案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"/>
          <p:cNvSpPr/>
          <p:nvPr/>
        </p:nvSpPr>
        <p:spPr>
          <a:xfrm>
            <a:off x="2905200" y="2714760"/>
            <a:ext cx="1665000" cy="1141200"/>
          </a:xfrm>
          <a:prstGeom prst="roundRect">
            <a:avLst>
              <a:gd name="adj" fmla="val 10000"/>
            </a:avLst>
          </a:prstGeom>
          <a:solidFill>
            <a:srgbClr val="E8DED0"/>
          </a:solidFill>
          <a:ln w="11430">
            <a:solidFill>
              <a:srgbClr val="D8B4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HTTPS Edge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TLS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／來源驗證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"/>
          <p:cNvSpPr/>
          <p:nvPr/>
        </p:nvSpPr>
        <p:spPr>
          <a:xfrm>
            <a:off x="4952880" y="1476360"/>
            <a:ext cx="3713040" cy="3713040"/>
          </a:xfrm>
          <a:prstGeom prst="roundRect">
            <a:avLst>
              <a:gd name="adj" fmla="val 4103"/>
            </a:avLst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"/>
          <p:cNvSpPr/>
          <p:nvPr/>
        </p:nvSpPr>
        <p:spPr>
          <a:xfrm>
            <a:off x="5086440" y="1552680"/>
            <a:ext cx="34462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zh-TW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地端 </a:t>
            </a: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Application Zone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"/>
          <p:cNvSpPr/>
          <p:nvPr/>
        </p:nvSpPr>
        <p:spPr>
          <a:xfrm>
            <a:off x="5238720" y="2143080"/>
            <a:ext cx="1379160" cy="645840"/>
          </a:xfrm>
          <a:prstGeom prst="roundRect">
            <a:avLst>
              <a:gd name="adj" fmla="val 17647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Streamlit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"/>
          <p:cNvSpPr/>
          <p:nvPr/>
        </p:nvSpPr>
        <p:spPr>
          <a:xfrm>
            <a:off x="7000920" y="2143080"/>
            <a:ext cx="1379160" cy="645840"/>
          </a:xfrm>
          <a:prstGeom prst="roundRect">
            <a:avLst>
              <a:gd name="adj" fmla="val 17647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FastAPI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"/>
          <p:cNvSpPr/>
          <p:nvPr/>
        </p:nvSpPr>
        <p:spPr>
          <a:xfrm>
            <a:off x="5238720" y="3238560"/>
            <a:ext cx="1379160" cy="741240"/>
          </a:xfrm>
          <a:prstGeom prst="roundRect">
            <a:avLst>
              <a:gd name="adj" fmla="val 15385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File Watcher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"/>
          <p:cNvSpPr/>
          <p:nvPr/>
        </p:nvSpPr>
        <p:spPr>
          <a:xfrm>
            <a:off x="7000920" y="3238560"/>
            <a:ext cx="1379160" cy="741240"/>
          </a:xfrm>
          <a:prstGeom prst="roundRect">
            <a:avLst>
              <a:gd name="adj" fmla="val 15385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Durable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Workers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"/>
          <p:cNvSpPr/>
          <p:nvPr/>
        </p:nvSpPr>
        <p:spPr>
          <a:xfrm>
            <a:off x="9096480" y="1619280"/>
            <a:ext cx="2427120" cy="3427200"/>
          </a:xfrm>
          <a:prstGeom prst="roundRect">
            <a:avLst>
              <a:gd name="adj" fmla="val 6275"/>
            </a:avLst>
          </a:prstGeom>
          <a:solidFill>
            <a:srgbClr val="E4E9DF"/>
          </a:solidFill>
          <a:ln w="11430">
            <a:solidFill>
              <a:srgbClr val="AAB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"/>
          <p:cNvSpPr/>
          <p:nvPr/>
        </p:nvSpPr>
        <p:spPr>
          <a:xfrm>
            <a:off x="9229680" y="1695600"/>
            <a:ext cx="21603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zh-TW" sz="1430" b="1" u="none" strike="noStrike">
                <a:solidFill>
                  <a:srgbClr val="65735B"/>
                </a:solidFill>
                <a:effectLst/>
                <a:uFillTx/>
                <a:latin typeface="Microsoft JhengHei"/>
                <a:ea typeface="Microsoft JhengHei"/>
              </a:rPr>
              <a:t>私有 </a:t>
            </a:r>
            <a:r>
              <a:rPr lang="en-US" sz="1430" b="1" u="none" strike="noStrike">
                <a:solidFill>
                  <a:srgbClr val="65735B"/>
                </a:solidFill>
                <a:effectLst/>
                <a:uFillTx/>
                <a:latin typeface="Microsoft JhengHei"/>
                <a:ea typeface="Microsoft JhengHei"/>
              </a:rPr>
              <a:t>Data Zone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"/>
          <p:cNvSpPr/>
          <p:nvPr/>
        </p:nvSpPr>
        <p:spPr>
          <a:xfrm>
            <a:off x="9477360" y="2238480"/>
            <a:ext cx="1665000" cy="684000"/>
          </a:xfrm>
          <a:prstGeom prst="roundRect">
            <a:avLst>
              <a:gd name="adj" fmla="val 16667"/>
            </a:avLst>
          </a:prstGeom>
          <a:solidFill>
            <a:srgbClr val="FFFDF9"/>
          </a:solidFill>
          <a:ln w="11430">
            <a:solidFill>
              <a:srgbClr val="AAB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MySQL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"/>
          <p:cNvSpPr/>
          <p:nvPr/>
        </p:nvSpPr>
        <p:spPr>
          <a:xfrm>
            <a:off x="9477360" y="3238560"/>
            <a:ext cx="1665000" cy="588600"/>
          </a:xfrm>
          <a:prstGeom prst="roundRect">
            <a:avLst>
              <a:gd name="adj" fmla="val 19355"/>
            </a:avLst>
          </a:prstGeom>
          <a:solidFill>
            <a:srgbClr val="FFFDF9"/>
          </a:solidFill>
          <a:ln w="11430">
            <a:solidFill>
              <a:srgbClr val="AAB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Archive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"/>
          <p:cNvSpPr/>
          <p:nvPr/>
        </p:nvSpPr>
        <p:spPr>
          <a:xfrm>
            <a:off x="9477360" y="4143240"/>
            <a:ext cx="1665000" cy="588600"/>
          </a:xfrm>
          <a:prstGeom prst="roundRect">
            <a:avLst>
              <a:gd name="adj" fmla="val 19355"/>
            </a:avLst>
          </a:prstGeom>
          <a:solidFill>
            <a:srgbClr val="FFFDF9"/>
          </a:solidFill>
          <a:ln w="11430">
            <a:solidFill>
              <a:srgbClr val="AAB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Backup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Restore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8" name=""/>
          <p:cNvCxnSpPr>
            <a:stCxn id="873" idx="3"/>
            <a:endCxn id="876" idx="1"/>
          </p:cNvCxnSpPr>
          <p:nvPr/>
        </p:nvCxnSpPr>
        <p:spPr>
          <a:xfrm>
            <a:off x="2236680" y="2580480"/>
            <a:ext cx="668880" cy="705240"/>
          </a:xfrm>
          <a:prstGeom prst="bentConnector3">
            <a:avLst>
              <a:gd name="adj1" fmla="val 50134"/>
            </a:avLst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889" name=""/>
          <p:cNvCxnSpPr>
            <a:stCxn id="874" idx="3"/>
            <a:endCxn id="876" idx="1"/>
          </p:cNvCxnSpPr>
          <p:nvPr/>
        </p:nvCxnSpPr>
        <p:spPr>
          <a:xfrm flipV="1">
            <a:off x="2236680" y="3285360"/>
            <a:ext cx="668880" cy="248040"/>
          </a:xfrm>
          <a:prstGeom prst="bentConnector3">
            <a:avLst>
              <a:gd name="adj1" fmla="val 50134"/>
            </a:avLst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890" name=""/>
          <p:cNvCxnSpPr>
            <a:stCxn id="876" idx="3"/>
            <a:endCxn id="880" idx="1"/>
          </p:cNvCxnSpPr>
          <p:nvPr/>
        </p:nvCxnSpPr>
        <p:spPr>
          <a:xfrm flipV="1">
            <a:off x="4570200" y="2466000"/>
            <a:ext cx="2431080" cy="819720"/>
          </a:xfrm>
          <a:prstGeom prst="straightConnector1">
            <a:avLst/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891" name=""/>
          <p:cNvCxnSpPr>
            <a:stCxn id="879" idx="3"/>
            <a:endCxn id="880" idx="1"/>
          </p:cNvCxnSpPr>
          <p:nvPr/>
        </p:nvCxnSpPr>
        <p:spPr>
          <a:xfrm>
            <a:off x="6617880" y="2466000"/>
            <a:ext cx="383400" cy="360"/>
          </a:xfrm>
          <a:prstGeom prst="straightConnector1">
            <a:avLst/>
          </a:prstGeom>
          <a:ln w="19050">
            <a:solidFill>
              <a:srgbClr val="6D6259"/>
            </a:solidFill>
            <a:round/>
            <a:tailEnd len="sm" type="triangle" w="sm"/>
          </a:ln>
        </p:spPr>
      </p:cxnSp>
      <p:cxnSp>
        <p:nvCxnSpPr>
          <p:cNvPr id="892" name=""/>
          <p:cNvCxnSpPr>
            <a:stCxn id="875" idx="3"/>
            <a:endCxn id="881" idx="1"/>
          </p:cNvCxnSpPr>
          <p:nvPr/>
        </p:nvCxnSpPr>
        <p:spPr>
          <a:xfrm flipV="1">
            <a:off x="2236680" y="3609360"/>
            <a:ext cx="3002400" cy="809640"/>
          </a:xfrm>
          <a:prstGeom prst="bentConnector3">
            <a:avLst>
              <a:gd name="adj1" fmla="val 50029"/>
            </a:avLst>
          </a:prstGeom>
          <a:ln w="19050">
            <a:solidFill>
              <a:srgbClr val="6D6259"/>
            </a:solidFill>
            <a:round/>
            <a:tailEnd len="sm" type="triangle" w="sm"/>
          </a:ln>
        </p:spPr>
      </p:cxnSp>
      <p:cxnSp>
        <p:nvCxnSpPr>
          <p:cNvPr id="893" name=""/>
          <p:cNvCxnSpPr>
            <a:stCxn id="881" idx="3"/>
            <a:endCxn id="882" idx="1"/>
          </p:cNvCxnSpPr>
          <p:nvPr/>
        </p:nvCxnSpPr>
        <p:spPr>
          <a:xfrm>
            <a:off x="6617880" y="3609360"/>
            <a:ext cx="383400" cy="360"/>
          </a:xfrm>
          <a:prstGeom prst="straightConnector1">
            <a:avLst/>
          </a:prstGeom>
          <a:ln w="19050">
            <a:solidFill>
              <a:srgbClr val="6D6259"/>
            </a:solidFill>
            <a:round/>
            <a:tailEnd len="sm" type="triangle" w="sm"/>
          </a:ln>
        </p:spPr>
      </p:cxnSp>
      <p:cxnSp>
        <p:nvCxnSpPr>
          <p:cNvPr id="894" name=""/>
          <p:cNvCxnSpPr>
            <a:stCxn id="880" idx="3"/>
            <a:endCxn id="885" idx="1"/>
          </p:cNvCxnSpPr>
          <p:nvPr/>
        </p:nvCxnSpPr>
        <p:spPr>
          <a:xfrm>
            <a:off x="8380080" y="2466000"/>
            <a:ext cx="1097640" cy="114840"/>
          </a:xfrm>
          <a:prstGeom prst="bentConnector3">
            <a:avLst>
              <a:gd name="adj1" fmla="val 50065"/>
            </a:avLst>
          </a:prstGeom>
          <a:ln w="19050">
            <a:solidFill>
              <a:srgbClr val="AAB6A0"/>
            </a:solidFill>
            <a:round/>
            <a:tailEnd len="sm" type="triangle" w="sm"/>
          </a:ln>
        </p:spPr>
      </p:cxnSp>
      <p:cxnSp>
        <p:nvCxnSpPr>
          <p:cNvPr id="895" name=""/>
          <p:cNvCxnSpPr>
            <a:stCxn id="882" idx="3"/>
            <a:endCxn id="885" idx="1"/>
          </p:cNvCxnSpPr>
          <p:nvPr/>
        </p:nvCxnSpPr>
        <p:spPr>
          <a:xfrm flipV="1">
            <a:off x="8380080" y="2580480"/>
            <a:ext cx="1097640" cy="1029240"/>
          </a:xfrm>
          <a:prstGeom prst="bentConnector3">
            <a:avLst>
              <a:gd name="adj1" fmla="val 50065"/>
            </a:avLst>
          </a:prstGeom>
          <a:ln w="19050">
            <a:solidFill>
              <a:srgbClr val="AAB6A0"/>
            </a:solidFill>
            <a:round/>
            <a:tailEnd len="sm" type="triangle" w="sm"/>
          </a:ln>
        </p:spPr>
      </p:cxnSp>
      <p:cxnSp>
        <p:nvCxnSpPr>
          <p:cNvPr id="896" name=""/>
          <p:cNvCxnSpPr>
            <a:stCxn id="885" idx="2"/>
            <a:endCxn id="886" idx="0"/>
          </p:cNvCxnSpPr>
          <p:nvPr/>
        </p:nvCxnSpPr>
        <p:spPr>
          <a:xfrm>
            <a:off x="10310040" y="2922480"/>
            <a:ext cx="360" cy="316440"/>
          </a:xfrm>
          <a:prstGeom prst="straightConnector1">
            <a:avLst/>
          </a:prstGeom>
          <a:ln w="19050">
            <a:solidFill>
              <a:srgbClr val="AAB6A0"/>
            </a:solidFill>
            <a:round/>
            <a:tailEnd len="sm" type="triangle" w="sm"/>
          </a:ln>
        </p:spPr>
      </p:cxnSp>
      <p:cxnSp>
        <p:nvCxnSpPr>
          <p:cNvPr id="897" name=""/>
          <p:cNvCxnSpPr>
            <a:stCxn id="886" idx="2"/>
            <a:endCxn id="887" idx="0"/>
          </p:cNvCxnSpPr>
          <p:nvPr/>
        </p:nvCxnSpPr>
        <p:spPr>
          <a:xfrm>
            <a:off x="10310040" y="3827160"/>
            <a:ext cx="360" cy="316440"/>
          </a:xfrm>
          <a:prstGeom prst="straightConnector1">
            <a:avLst/>
          </a:prstGeom>
          <a:ln w="19050">
            <a:solidFill>
              <a:srgbClr val="AAB6A0"/>
            </a:solidFill>
            <a:round/>
            <a:tailEnd len="sm" type="triangle" w="sm"/>
          </a:ln>
        </p:spPr>
      </p:cxnSp>
      <p:sp>
        <p:nvSpPr>
          <p:cNvPr id="898" name=""/>
          <p:cNvSpPr/>
          <p:nvPr/>
        </p:nvSpPr>
        <p:spPr>
          <a:xfrm>
            <a:off x="2428920" y="5572080"/>
            <a:ext cx="733248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/>
          </a:bodyPr>
          <a:p>
            <a:pPr algn="ctr">
              <a:lnSpc>
                <a:spcPct val="100000"/>
              </a:lnSpc>
            </a:pPr>
            <a:r>
              <a:rPr lang="zh-TW" sz="1430" b="0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候選方案｜資料與應用皆在地端，需管理電力、網路與現場維運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雲端主體混合部署候選方案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"/>
          <p:cNvSpPr/>
          <p:nvPr/>
        </p:nvSpPr>
        <p:spPr>
          <a:xfrm>
            <a:off x="11144160" y="6305400"/>
            <a:ext cx="52200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29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"/>
          <p:cNvSpPr/>
          <p:nvPr/>
        </p:nvSpPr>
        <p:spPr>
          <a:xfrm>
            <a:off x="619200" y="1714680"/>
            <a:ext cx="1950840" cy="3141360"/>
          </a:xfrm>
          <a:prstGeom prst="roundRect">
            <a:avLst>
              <a:gd name="adj" fmla="val 7805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"/>
          <p:cNvSpPr/>
          <p:nvPr/>
        </p:nvSpPr>
        <p:spPr>
          <a:xfrm>
            <a:off x="752400" y="1790640"/>
            <a:ext cx="16840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zh-TW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外部與操作端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"/>
          <p:cNvSpPr/>
          <p:nvPr/>
        </p:nvSpPr>
        <p:spPr>
          <a:xfrm>
            <a:off x="952560" y="2333520"/>
            <a:ext cx="1284120" cy="684000"/>
          </a:xfrm>
          <a:prstGeom prst="roundRect">
            <a:avLst>
              <a:gd name="adj" fmla="val 16667"/>
            </a:avLst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LINE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Platform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"/>
          <p:cNvSpPr/>
          <p:nvPr/>
        </p:nvSpPr>
        <p:spPr>
          <a:xfrm>
            <a:off x="952560" y="3524400"/>
            <a:ext cx="1284120" cy="684000"/>
          </a:xfrm>
          <a:prstGeom prst="roundRect">
            <a:avLst>
              <a:gd name="adj" fmla="val 16667"/>
            </a:avLst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行政端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受控存取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"/>
          <p:cNvSpPr/>
          <p:nvPr/>
        </p:nvSpPr>
        <p:spPr>
          <a:xfrm>
            <a:off x="3048120" y="1476360"/>
            <a:ext cx="4474800" cy="3713040"/>
          </a:xfrm>
          <a:prstGeom prst="roundRect">
            <a:avLst>
              <a:gd name="adj" fmla="val 4103"/>
            </a:avLst>
          </a:prstGeom>
          <a:solidFill>
            <a:srgbClr val="F3ECE3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"/>
          <p:cNvSpPr/>
          <p:nvPr/>
        </p:nvSpPr>
        <p:spPr>
          <a:xfrm>
            <a:off x="3181320" y="1552680"/>
            <a:ext cx="42084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Cloud Application Zone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"/>
          <p:cNvSpPr/>
          <p:nvPr/>
        </p:nvSpPr>
        <p:spPr>
          <a:xfrm>
            <a:off x="3333600" y="2190600"/>
            <a:ext cx="1427040" cy="722160"/>
          </a:xfrm>
          <a:prstGeom prst="roundRect">
            <a:avLst>
              <a:gd name="adj" fmla="val 15789"/>
            </a:avLst>
          </a:prstGeom>
          <a:solidFill>
            <a:srgbClr val="E8DED0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Cloud Edge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TLS 443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"/>
          <p:cNvSpPr/>
          <p:nvPr/>
        </p:nvSpPr>
        <p:spPr>
          <a:xfrm>
            <a:off x="5429160" y="2190600"/>
            <a:ext cx="1665000" cy="722160"/>
          </a:xfrm>
          <a:prstGeom prst="roundRect">
            <a:avLst>
              <a:gd name="adj" fmla="val 15789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FastAPI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UI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"/>
          <p:cNvSpPr/>
          <p:nvPr/>
        </p:nvSpPr>
        <p:spPr>
          <a:xfrm>
            <a:off x="3333600" y="3619440"/>
            <a:ext cx="1427040" cy="722160"/>
          </a:xfrm>
          <a:prstGeom prst="roundRect">
            <a:avLst>
              <a:gd name="adj" fmla="val 15789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Inbox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Outbox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"/>
          <p:cNvSpPr/>
          <p:nvPr/>
        </p:nvSpPr>
        <p:spPr>
          <a:xfrm>
            <a:off x="5429160" y="3619440"/>
            <a:ext cx="1665000" cy="722160"/>
          </a:xfrm>
          <a:prstGeom prst="roundRect">
            <a:avLst>
              <a:gd name="adj" fmla="val 15789"/>
            </a:avLst>
          </a:prstGeom>
          <a:solidFill>
            <a:srgbClr val="FFFDF9"/>
          </a:solidFill>
          <a:ln w="11430">
            <a:solidFill>
              <a:srgbClr val="D7CA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Workers</a:t>
            </a: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／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Jobs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"/>
          <p:cNvSpPr/>
          <p:nvPr/>
        </p:nvSpPr>
        <p:spPr>
          <a:xfrm>
            <a:off x="7953480" y="2762280"/>
            <a:ext cx="1427040" cy="1122120"/>
          </a:xfrm>
          <a:prstGeom prst="roundRect">
            <a:avLst>
              <a:gd name="adj" fmla="val 10169"/>
            </a:avLst>
          </a:prstGeom>
          <a:solidFill>
            <a:srgbClr val="E8DED0"/>
          </a:solidFill>
          <a:ln w="11430">
            <a:solidFill>
              <a:srgbClr val="D8B4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zh-TW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加密 </a:t>
            </a: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VPN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Private Link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"/>
          <p:cNvSpPr/>
          <p:nvPr/>
        </p:nvSpPr>
        <p:spPr>
          <a:xfrm>
            <a:off x="9715680" y="1714680"/>
            <a:ext cx="1950840" cy="3141360"/>
          </a:xfrm>
          <a:prstGeom prst="roundRect">
            <a:avLst>
              <a:gd name="adj" fmla="val 7805"/>
            </a:avLst>
          </a:prstGeom>
          <a:solidFill>
            <a:srgbClr val="E4E9DF"/>
          </a:solidFill>
          <a:ln w="11430">
            <a:solidFill>
              <a:srgbClr val="AAB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"/>
          <p:cNvSpPr/>
          <p:nvPr/>
        </p:nvSpPr>
        <p:spPr>
          <a:xfrm>
            <a:off x="9848880" y="1790640"/>
            <a:ext cx="16840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zh-TW" sz="1430" b="1" u="none" strike="noStrike">
                <a:solidFill>
                  <a:srgbClr val="65735B"/>
                </a:solidFill>
                <a:effectLst/>
                <a:uFillTx/>
                <a:latin typeface="Microsoft JhengHei"/>
                <a:ea typeface="Microsoft JhengHei"/>
              </a:rPr>
              <a:t>地端 </a:t>
            </a:r>
            <a:r>
              <a:rPr lang="en-US" sz="1430" b="1" u="none" strike="noStrike">
                <a:solidFill>
                  <a:srgbClr val="65735B"/>
                </a:solidFill>
                <a:effectLst/>
                <a:uFillTx/>
                <a:latin typeface="Microsoft JhengHei"/>
                <a:ea typeface="Microsoft JhengHei"/>
              </a:rPr>
              <a:t>Data Zone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"/>
          <p:cNvSpPr/>
          <p:nvPr/>
        </p:nvSpPr>
        <p:spPr>
          <a:xfrm>
            <a:off x="10001160" y="2333520"/>
            <a:ext cx="1379160" cy="664920"/>
          </a:xfrm>
          <a:prstGeom prst="roundRect">
            <a:avLst>
              <a:gd name="adj" fmla="val 17143"/>
            </a:avLst>
          </a:prstGeom>
          <a:solidFill>
            <a:srgbClr val="FFFDF9"/>
          </a:solidFill>
          <a:ln w="11430">
            <a:solidFill>
              <a:srgbClr val="AAB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MySQL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"/>
          <p:cNvSpPr/>
          <p:nvPr/>
        </p:nvSpPr>
        <p:spPr>
          <a:xfrm>
            <a:off x="10001160" y="3333600"/>
            <a:ext cx="1379160" cy="550800"/>
          </a:xfrm>
          <a:prstGeom prst="roundRect">
            <a:avLst>
              <a:gd name="adj" fmla="val 20690"/>
            </a:avLst>
          </a:prstGeom>
          <a:solidFill>
            <a:srgbClr val="FFFDF9"/>
          </a:solidFill>
          <a:ln w="11430">
            <a:solidFill>
              <a:srgbClr val="AAB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Archive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"/>
          <p:cNvSpPr/>
          <p:nvPr/>
        </p:nvSpPr>
        <p:spPr>
          <a:xfrm>
            <a:off x="10001160" y="4143240"/>
            <a:ext cx="1379160" cy="550800"/>
          </a:xfrm>
          <a:prstGeom prst="roundRect">
            <a:avLst>
              <a:gd name="adj" fmla="val 20690"/>
            </a:avLst>
          </a:prstGeom>
          <a:solidFill>
            <a:srgbClr val="FFFDF9"/>
          </a:solidFill>
          <a:ln w="11430">
            <a:solidFill>
              <a:srgbClr val="AAB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6600" tIns="66600" rIns="66600" bIns="6660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33332F"/>
                </a:solidFill>
                <a:effectLst/>
                <a:uFillTx/>
                <a:latin typeface="Microsoft JhengHei"/>
                <a:ea typeface="Microsoft JhengHei"/>
              </a:rPr>
              <a:t>Backup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8" name=""/>
          <p:cNvCxnSpPr>
            <a:stCxn id="904" idx="3"/>
            <a:endCxn id="908" idx="1"/>
          </p:cNvCxnSpPr>
          <p:nvPr/>
        </p:nvCxnSpPr>
        <p:spPr>
          <a:xfrm flipV="1">
            <a:off x="2236680" y="2551680"/>
            <a:ext cx="1097280" cy="124200"/>
          </a:xfrm>
          <a:prstGeom prst="bentConnector3">
            <a:avLst>
              <a:gd name="adj1" fmla="val 50082"/>
            </a:avLst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919" name=""/>
          <p:cNvCxnSpPr>
            <a:stCxn id="905" idx="3"/>
            <a:endCxn id="908" idx="1"/>
          </p:cNvCxnSpPr>
          <p:nvPr/>
        </p:nvCxnSpPr>
        <p:spPr>
          <a:xfrm flipV="1">
            <a:off x="2236680" y="2551680"/>
            <a:ext cx="1097280" cy="1315080"/>
          </a:xfrm>
          <a:prstGeom prst="bentConnector3">
            <a:avLst>
              <a:gd name="adj1" fmla="val 50082"/>
            </a:avLst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920" name=""/>
          <p:cNvCxnSpPr>
            <a:stCxn id="908" idx="3"/>
            <a:endCxn id="909" idx="1"/>
          </p:cNvCxnSpPr>
          <p:nvPr/>
        </p:nvCxnSpPr>
        <p:spPr>
          <a:xfrm>
            <a:off x="4760640" y="2551680"/>
            <a:ext cx="668880" cy="360"/>
          </a:xfrm>
          <a:prstGeom prst="straightConnector1">
            <a:avLst/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921" name=""/>
          <p:cNvCxnSpPr>
            <a:stCxn id="909" idx="2"/>
            <a:endCxn id="910" idx="0"/>
          </p:cNvCxnSpPr>
          <p:nvPr/>
        </p:nvCxnSpPr>
        <p:spPr>
          <a:xfrm rot="5400000">
            <a:off x="4800960" y="2158560"/>
            <a:ext cx="707040" cy="2215080"/>
          </a:xfrm>
          <a:prstGeom prst="bentConnector3">
            <a:avLst>
              <a:gd name="adj1" fmla="val 50178"/>
            </a:avLst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922" name=""/>
          <p:cNvCxnSpPr>
            <a:stCxn id="910" idx="3"/>
            <a:endCxn id="911" idx="1"/>
          </p:cNvCxnSpPr>
          <p:nvPr/>
        </p:nvCxnSpPr>
        <p:spPr>
          <a:xfrm>
            <a:off x="4760640" y="3980520"/>
            <a:ext cx="668880" cy="360"/>
          </a:xfrm>
          <a:prstGeom prst="straightConnector1">
            <a:avLst/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923" name=""/>
          <p:cNvCxnSpPr>
            <a:stCxn id="909" idx="3"/>
            <a:endCxn id="912" idx="1"/>
          </p:cNvCxnSpPr>
          <p:nvPr/>
        </p:nvCxnSpPr>
        <p:spPr>
          <a:xfrm>
            <a:off x="7094160" y="2551680"/>
            <a:ext cx="859680" cy="772200"/>
          </a:xfrm>
          <a:prstGeom prst="straightConnector1">
            <a:avLst/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924" name=""/>
          <p:cNvCxnSpPr>
            <a:stCxn id="911" idx="3"/>
            <a:endCxn id="912" idx="2"/>
          </p:cNvCxnSpPr>
          <p:nvPr/>
        </p:nvCxnSpPr>
        <p:spPr>
          <a:xfrm flipV="1">
            <a:off x="7094160" y="3884400"/>
            <a:ext cx="1573200" cy="96480"/>
          </a:xfrm>
          <a:prstGeom prst="bentConnector2">
            <a:avLst/>
          </a:prstGeom>
          <a:ln w="19050">
            <a:solidFill>
              <a:srgbClr val="B56F49"/>
            </a:solidFill>
            <a:round/>
            <a:tailEnd len="sm" type="triangle" w="sm"/>
          </a:ln>
        </p:spPr>
      </p:cxnSp>
      <p:cxnSp>
        <p:nvCxnSpPr>
          <p:cNvPr id="925" name=""/>
          <p:cNvCxnSpPr>
            <a:stCxn id="912" idx="3"/>
            <a:endCxn id="915" idx="1"/>
          </p:cNvCxnSpPr>
          <p:nvPr/>
        </p:nvCxnSpPr>
        <p:spPr>
          <a:xfrm flipV="1">
            <a:off x="9380520" y="2666160"/>
            <a:ext cx="621000" cy="657720"/>
          </a:xfrm>
          <a:prstGeom prst="straightConnector1">
            <a:avLst/>
          </a:prstGeom>
          <a:ln w="19050">
            <a:solidFill>
              <a:srgbClr val="AAB6A0"/>
            </a:solidFill>
            <a:round/>
            <a:tailEnd len="sm" type="triangle" w="sm"/>
          </a:ln>
        </p:spPr>
      </p:cxnSp>
      <p:cxnSp>
        <p:nvCxnSpPr>
          <p:cNvPr id="926" name=""/>
          <p:cNvCxnSpPr>
            <a:stCxn id="915" idx="2"/>
            <a:endCxn id="916" idx="0"/>
          </p:cNvCxnSpPr>
          <p:nvPr/>
        </p:nvCxnSpPr>
        <p:spPr>
          <a:xfrm>
            <a:off x="10690920" y="2998440"/>
            <a:ext cx="360" cy="335520"/>
          </a:xfrm>
          <a:prstGeom prst="straightConnector1">
            <a:avLst/>
          </a:prstGeom>
          <a:ln w="19050">
            <a:solidFill>
              <a:srgbClr val="AAB6A0"/>
            </a:solidFill>
            <a:round/>
            <a:tailEnd len="sm" type="triangle" w="sm"/>
          </a:ln>
        </p:spPr>
      </p:cxnSp>
      <p:cxnSp>
        <p:nvCxnSpPr>
          <p:cNvPr id="927" name=""/>
          <p:cNvCxnSpPr>
            <a:stCxn id="916" idx="2"/>
            <a:endCxn id="917" idx="0"/>
          </p:cNvCxnSpPr>
          <p:nvPr/>
        </p:nvCxnSpPr>
        <p:spPr>
          <a:xfrm>
            <a:off x="10690920" y="3884400"/>
            <a:ext cx="360" cy="259200"/>
          </a:xfrm>
          <a:prstGeom prst="straightConnector1">
            <a:avLst/>
          </a:prstGeom>
          <a:ln w="19050">
            <a:solidFill>
              <a:srgbClr val="AAB6A0"/>
            </a:solidFill>
            <a:round/>
            <a:tailEnd len="sm" type="triangle" w="sm"/>
          </a:ln>
        </p:spPr>
      </p:cxnSp>
      <p:sp>
        <p:nvSpPr>
          <p:cNvPr id="928" name=""/>
          <p:cNvSpPr/>
          <p:nvPr/>
        </p:nvSpPr>
        <p:spPr>
          <a:xfrm>
            <a:off x="2428920" y="5572080"/>
            <a:ext cx="752292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38160" rIns="57240" bIns="38160" anchor="ctr">
            <a:normAutofit/>
          </a:bodyPr>
          <a:p>
            <a:pPr algn="ctr">
              <a:lnSpc>
                <a:spcPct val="100000"/>
              </a:lnSpc>
            </a:pPr>
            <a:r>
              <a:rPr lang="zh-TW" sz="1430" b="0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候選方案｜應用在雲端、資料留地端；需治理 </a:t>
            </a:r>
            <a:r>
              <a:rPr lang="en-US" sz="1430" b="0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VPN</a:t>
            </a:r>
            <a:r>
              <a:rPr lang="zh-TW" sz="1430" b="0" u="none" strike="noStrike">
                <a:solidFill>
                  <a:srgbClr val="B56F49"/>
                </a:solidFill>
                <a:effectLst/>
                <a:uFillTx/>
                <a:latin typeface="Microsoft JhengHei"/>
                <a:ea typeface="Microsoft JhengHei"/>
              </a:rPr>
              <a:t>、延遲與網路中斷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Text 151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部署決策的兩難：數據隱私 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vs.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服務可用性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 152"/>
          <p:cNvSpPr/>
          <p:nvPr/>
        </p:nvSpPr>
        <p:spPr>
          <a:xfrm>
            <a:off x="661320" y="2049120"/>
            <a:ext cx="1147716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在規劃工會系統部署架構時，技術架構小組識別出三項核心矛盾，這些矛盾構成了本次架構決策的根本驅動力。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2" name="Image 14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61320" y="2500200"/>
            <a:ext cx="3511080" cy="204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3" name="Text 153"/>
          <p:cNvSpPr/>
          <p:nvPr/>
        </p:nvSpPr>
        <p:spPr>
          <a:xfrm>
            <a:off x="921960" y="2684160"/>
            <a:ext cx="306612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挑戰一：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LINE Bot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需要 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24/7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高可用性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154"/>
          <p:cNvSpPr/>
          <p:nvPr/>
        </p:nvSpPr>
        <p:spPr>
          <a:xfrm>
            <a:off x="921960" y="3300480"/>
            <a:ext cx="3066120" cy="10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辦公室停電、斷網或電腦誤關機，會導致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LINE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官方帳號漏接訊息。工會服務對象為廣大會員，任何服務中斷均直接影響會員權益與信任度，不可接受。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5" name="Image 15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339440" y="2500200"/>
            <a:ext cx="3511080" cy="204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6" name="Text 155"/>
          <p:cNvSpPr/>
          <p:nvPr/>
        </p:nvSpPr>
        <p:spPr>
          <a:xfrm>
            <a:off x="4599720" y="2684160"/>
            <a:ext cx="306648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挑戰二：敏感帳務與會員資料的資安防護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Text 156"/>
          <p:cNvSpPr/>
          <p:nvPr/>
        </p:nvSpPr>
        <p:spPr>
          <a:xfrm>
            <a:off x="4599720" y="3300480"/>
            <a:ext cx="3066480" cy="10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嚴格的資料主權要求，財務與個資不宜直接裸露於公網雲端資料庫。工會依法對會員個人資料負有保管責任，資料外洩風險不可承擔。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8" name="Image 16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017200" y="2500200"/>
            <a:ext cx="3511080" cy="204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9" name="Text 157"/>
          <p:cNvSpPr/>
          <p:nvPr/>
        </p:nvSpPr>
        <p:spPr>
          <a:xfrm>
            <a:off x="8277840" y="2684520"/>
            <a:ext cx="30661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挑戰三：硬體與維運成本控制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 158"/>
          <p:cNvSpPr/>
          <p:nvPr/>
        </p:nvSpPr>
        <p:spPr>
          <a:xfrm>
            <a:off x="8277840" y="3042000"/>
            <a:ext cx="3066120" cy="10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在地端運行高規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AI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模型硬體成本極高；若雲端資料庫突發流量費用不可控。需在服務品質與總擁有成本（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TCO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）之間取得最佳平衡。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Shape 106"/>
          <p:cNvSpPr/>
          <p:nvPr/>
        </p:nvSpPr>
        <p:spPr>
          <a:xfrm>
            <a:off x="661320" y="4729680"/>
            <a:ext cx="10867680" cy="924120"/>
          </a:xfrm>
          <a:prstGeom prst="roundRect">
            <a:avLst>
              <a:gd name="adj" fmla="val 7502"/>
            </a:avLst>
          </a:prstGeom>
          <a:solidFill>
            <a:srgbClr val="F5DF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2" name="Image 19"/>
          <p:cNvPicPr/>
          <p:nvPr/>
        </p:nvPicPr>
        <p:blipFill>
          <a:blip r:embed="rId7"/>
          <a:stretch/>
        </p:blipFill>
        <p:spPr>
          <a:xfrm>
            <a:off x="826560" y="4969080"/>
            <a:ext cx="205200" cy="16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3" name="Text 159"/>
          <p:cNvSpPr/>
          <p:nvPr/>
        </p:nvSpPr>
        <p:spPr>
          <a:xfrm>
            <a:off x="1198440" y="4935960"/>
            <a:ext cx="101649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三項挑戰相互制約：提升可用性往往需要雲端化，但雲端化又引發資安疑慮；強化地端資安則增加硬體成本與維運複雜度。混合架構正是破解此三角困境的關鍵。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Text 160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方案評估：全地端雙機 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vs.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雲端主體混合架構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161"/>
          <p:cNvSpPr/>
          <p:nvPr/>
        </p:nvSpPr>
        <p:spPr>
          <a:xfrm>
            <a:off x="661320" y="1323360"/>
            <a:ext cx="1147716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技術架構小組針對兩種主要部署方案進行多維度系統性評估，以下比較表呈現各評估維度的詳細對照結果。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Shape 107"/>
          <p:cNvSpPr/>
          <p:nvPr/>
        </p:nvSpPr>
        <p:spPr>
          <a:xfrm>
            <a:off x="661320" y="1774440"/>
            <a:ext cx="10867320" cy="3493440"/>
          </a:xfrm>
          <a:prstGeom prst="roundRect">
            <a:avLst>
              <a:gd name="adj" fmla="val 1987"/>
            </a:avLst>
          </a:prstGeom>
          <a:noFill/>
          <a:ln w="4763">
            <a:solidFill>
              <a:srgbClr val="000000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Shape 108"/>
          <p:cNvSpPr/>
          <p:nvPr/>
        </p:nvSpPr>
        <p:spPr>
          <a:xfrm>
            <a:off x="661320" y="2259720"/>
            <a:ext cx="10867680" cy="900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Shape 109"/>
          <p:cNvSpPr/>
          <p:nvPr/>
        </p:nvSpPr>
        <p:spPr>
          <a:xfrm>
            <a:off x="661320" y="2760840"/>
            <a:ext cx="10867680" cy="900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0" name="Shape 110"/>
          <p:cNvSpPr/>
          <p:nvPr/>
        </p:nvSpPr>
        <p:spPr>
          <a:xfrm>
            <a:off x="661320" y="3261960"/>
            <a:ext cx="10867680" cy="900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Shape 111"/>
          <p:cNvSpPr/>
          <p:nvPr/>
        </p:nvSpPr>
        <p:spPr>
          <a:xfrm>
            <a:off x="661320" y="3762720"/>
            <a:ext cx="10867680" cy="900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112"/>
          <p:cNvSpPr/>
          <p:nvPr/>
        </p:nvSpPr>
        <p:spPr>
          <a:xfrm>
            <a:off x="661320" y="4263840"/>
            <a:ext cx="10867680" cy="900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3" name="Shape 113"/>
          <p:cNvSpPr/>
          <p:nvPr/>
        </p:nvSpPr>
        <p:spPr>
          <a:xfrm>
            <a:off x="661320" y="4764960"/>
            <a:ext cx="10867680" cy="900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4" name="Shape 114"/>
          <p:cNvSpPr/>
          <p:nvPr/>
        </p:nvSpPr>
        <p:spPr>
          <a:xfrm>
            <a:off x="3707280" y="1774440"/>
            <a:ext cx="9000" cy="349344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" tIns="45000" rIns="36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5" name="Shape 115"/>
          <p:cNvSpPr/>
          <p:nvPr/>
        </p:nvSpPr>
        <p:spPr>
          <a:xfrm>
            <a:off x="7616160" y="1774440"/>
            <a:ext cx="9000" cy="349344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" tIns="45000" rIns="36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116"/>
          <p:cNvSpPr/>
          <p:nvPr/>
        </p:nvSpPr>
        <p:spPr>
          <a:xfrm>
            <a:off x="667800" y="1780560"/>
            <a:ext cx="3038400" cy="477360"/>
          </a:xfrm>
          <a:custGeom>
            <a:avLst/>
            <a:gdLst>
              <a:gd name="textAreaLeft" fmla="*/ 0 w 3038400"/>
              <a:gd name="textAreaRight" fmla="*/ 3039840 w 3038400"/>
              <a:gd name="textAreaTop" fmla="*/ 0 h 477360"/>
              <a:gd name="textAreaBottom" fmla="*/ 478800 h 477360"/>
            </a:gdLst>
            <a:ahLst/>
            <a:cxnLst/>
            <a:rect l="textAreaLeft" t="textAreaTop" r="textAreaRight" b="textAreaBottom"/>
            <a:pathLst>
              <a:path w="2279824" h="359197">
                <a:moveTo>
                  <a:pt x="43416" y="0"/>
                </a:moveTo>
                <a:lnTo>
                  <a:pt x="2279824" y="0"/>
                </a:lnTo>
                <a:lnTo>
                  <a:pt x="2279824" y="359197"/>
                </a:lnTo>
                <a:lnTo>
                  <a:pt x="0" y="359197"/>
                </a:lnTo>
                <a:lnTo>
                  <a:pt x="0" y="43416"/>
                </a:lnTo>
                <a:arcTo wR="43416" hR="43416" stAng="10800000" swAng="5400000"/>
                <a:close/>
              </a:path>
            </a:pathLst>
          </a:custGeom>
          <a:solidFill>
            <a:srgbClr val="3C31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7" name="Text 162"/>
          <p:cNvSpPr/>
          <p:nvPr/>
        </p:nvSpPr>
        <p:spPr>
          <a:xfrm>
            <a:off x="833040" y="1886040"/>
            <a:ext cx="331380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FFFFFF"/>
                </a:solidFill>
                <a:effectLst/>
                <a:uFillTx/>
                <a:latin typeface="Noto Sans TC Bold"/>
                <a:ea typeface="Noto Sans TC Bold"/>
              </a:rPr>
              <a:t>評估維度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Shape 117"/>
          <p:cNvSpPr/>
          <p:nvPr/>
        </p:nvSpPr>
        <p:spPr>
          <a:xfrm>
            <a:off x="3707280" y="1780560"/>
            <a:ext cx="3906360" cy="477360"/>
          </a:xfrm>
          <a:prstGeom prst="rect">
            <a:avLst/>
          </a:prstGeom>
          <a:solidFill>
            <a:srgbClr val="7766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9" name="Text 163"/>
          <p:cNvSpPr/>
          <p:nvPr/>
        </p:nvSpPr>
        <p:spPr>
          <a:xfrm>
            <a:off x="3875760" y="1886040"/>
            <a:ext cx="417924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FFFFFF"/>
                </a:solidFill>
                <a:effectLst/>
                <a:uFillTx/>
                <a:latin typeface="Noto Sans TC Bold"/>
                <a:ea typeface="Noto Sans TC Bold"/>
              </a:rPr>
              <a:t>方案 </a:t>
            </a: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Noto Sans TC Bold"/>
                <a:ea typeface="Noto Sans TC Bold"/>
              </a:rPr>
              <a:t>A</a:t>
            </a:r>
            <a:r>
              <a:rPr lang="zh-TW" sz="1430" b="1" u="none" strike="noStrike">
                <a:solidFill>
                  <a:srgbClr val="FFFFFF"/>
                </a:solidFill>
                <a:effectLst/>
                <a:uFillTx/>
                <a:latin typeface="Noto Sans TC Bold"/>
                <a:ea typeface="Noto Sans TC Bold"/>
              </a:rPr>
              <a:t>：全地端雙機架構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118"/>
          <p:cNvSpPr/>
          <p:nvPr/>
        </p:nvSpPr>
        <p:spPr>
          <a:xfrm>
            <a:off x="7616160" y="1780560"/>
            <a:ext cx="3906360" cy="477360"/>
          </a:xfrm>
          <a:custGeom>
            <a:avLst/>
            <a:gdLst>
              <a:gd name="textAreaLeft" fmla="*/ 0 w 3906360"/>
              <a:gd name="textAreaRight" fmla="*/ 3907800 w 3906360"/>
              <a:gd name="textAreaTop" fmla="*/ 0 h 477360"/>
              <a:gd name="textAreaBottom" fmla="*/ 478800 h 477360"/>
            </a:gdLst>
            <a:ahLst/>
            <a:cxnLst/>
            <a:rect l="textAreaLeft" t="textAreaTop" r="textAreaRight" b="textAreaBottom"/>
            <a:pathLst>
              <a:path w="2931170" h="359197">
                <a:moveTo>
                  <a:pt x="0" y="0"/>
                </a:moveTo>
                <a:lnTo>
                  <a:pt x="2887754" y="0"/>
                </a:lnTo>
                <a:arcTo wR="43416" hR="43416" stAng="16200000" swAng="5400000"/>
                <a:lnTo>
                  <a:pt x="2931170" y="359197"/>
                </a:lnTo>
                <a:lnTo>
                  <a:pt x="0" y="359197"/>
                </a:lnTo>
                <a:lnTo>
                  <a:pt x="0" y="0"/>
                </a:lnTo>
                <a:close/>
              </a:path>
            </a:pathLst>
          </a:custGeom>
          <a:solidFill>
            <a:srgbClr val="D98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1" name="Text 164"/>
          <p:cNvSpPr/>
          <p:nvPr/>
        </p:nvSpPr>
        <p:spPr>
          <a:xfrm>
            <a:off x="7784280" y="1886040"/>
            <a:ext cx="41824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272525"/>
                </a:solidFill>
                <a:effectLst/>
                <a:uFillTx/>
                <a:latin typeface="Noto Sans TC Bold"/>
                <a:ea typeface="Noto Sans TC Bold"/>
              </a:rPr>
              <a:t>方案 </a:t>
            </a:r>
            <a:r>
              <a:rPr lang="en-US" sz="1430" b="1" u="none" strike="noStrike">
                <a:solidFill>
                  <a:srgbClr val="272525"/>
                </a:solidFill>
                <a:effectLst/>
                <a:uFillTx/>
                <a:latin typeface="Noto Sans TC Bold"/>
                <a:ea typeface="Noto Sans TC Bold"/>
              </a:rPr>
              <a:t>B</a:t>
            </a:r>
            <a:r>
              <a:rPr lang="zh-TW" sz="1430" b="1" u="none" strike="noStrike">
                <a:solidFill>
                  <a:srgbClr val="272525"/>
                </a:solidFill>
                <a:effectLst/>
                <a:uFillTx/>
                <a:latin typeface="Noto Sans TC Bold"/>
                <a:ea typeface="Noto Sans TC Bold"/>
              </a:rPr>
              <a:t>：雲端主體混合架構（最終選型）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Text 165"/>
          <p:cNvSpPr/>
          <p:nvPr/>
        </p:nvSpPr>
        <p:spPr>
          <a:xfrm>
            <a:off x="833040" y="2368080"/>
            <a:ext cx="331380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初期硬體成本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Text 166"/>
          <p:cNvSpPr/>
          <p:nvPr/>
        </p:nvSpPr>
        <p:spPr>
          <a:xfrm>
            <a:off x="3875760" y="2368080"/>
            <a:ext cx="417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💵💵💵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需採購高規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Laptop /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工作站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Text 167"/>
          <p:cNvSpPr/>
          <p:nvPr/>
        </p:nvSpPr>
        <p:spPr>
          <a:xfrm>
            <a:off x="7784280" y="2368080"/>
            <a:ext cx="41824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💵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現有電腦即可，雲端訂閱制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Text 168"/>
          <p:cNvSpPr/>
          <p:nvPr/>
        </p:nvSpPr>
        <p:spPr>
          <a:xfrm>
            <a:off x="833040" y="2869200"/>
            <a:ext cx="331380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服務可用性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Text 169"/>
          <p:cNvSpPr/>
          <p:nvPr/>
        </p:nvSpPr>
        <p:spPr>
          <a:xfrm>
            <a:off x="3875760" y="2869200"/>
            <a:ext cx="417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🟡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受限於辦公室電力與網路穩定度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Text 170"/>
          <p:cNvSpPr/>
          <p:nvPr/>
        </p:nvSpPr>
        <p:spPr>
          <a:xfrm>
            <a:off x="7784280" y="2869200"/>
            <a:ext cx="41824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🟢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99.9%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雲端高可用性（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24/7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穩定）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Text 171"/>
          <p:cNvSpPr/>
          <p:nvPr/>
        </p:nvSpPr>
        <p:spPr>
          <a:xfrm>
            <a:off x="833040" y="3370320"/>
            <a:ext cx="331380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遠端維運性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Text 172"/>
          <p:cNvSpPr/>
          <p:nvPr/>
        </p:nvSpPr>
        <p:spPr>
          <a:xfrm>
            <a:off x="3875760" y="3370320"/>
            <a:ext cx="417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🟡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斷網時需現場實體排查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Text 173"/>
          <p:cNvSpPr/>
          <p:nvPr/>
        </p:nvSpPr>
        <p:spPr>
          <a:xfrm>
            <a:off x="7784280" y="3370320"/>
            <a:ext cx="41824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🟢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工程團隊可隨時遠端修補升級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Text 174"/>
          <p:cNvSpPr/>
          <p:nvPr/>
        </p:nvSpPr>
        <p:spPr>
          <a:xfrm>
            <a:off x="833040" y="3871080"/>
            <a:ext cx="331380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資料庫資安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Text 175"/>
          <p:cNvSpPr/>
          <p:nvPr/>
        </p:nvSpPr>
        <p:spPr>
          <a:xfrm>
            <a:off x="3875760" y="3871080"/>
            <a:ext cx="417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🟢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資料完全留在內部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NAS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Text 176"/>
          <p:cNvSpPr/>
          <p:nvPr/>
        </p:nvSpPr>
        <p:spPr>
          <a:xfrm>
            <a:off x="7784280" y="3871080"/>
            <a:ext cx="41824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🟢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資料完全留在地端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NAS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（經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VPN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隔離）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Text 177"/>
          <p:cNvSpPr/>
          <p:nvPr/>
        </p:nvSpPr>
        <p:spPr>
          <a:xfrm>
            <a:off x="833040" y="4372200"/>
            <a:ext cx="331380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AI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模型運算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Text 178"/>
          <p:cNvSpPr/>
          <p:nvPr/>
        </p:nvSpPr>
        <p:spPr>
          <a:xfrm>
            <a:off x="3875760" y="4372200"/>
            <a:ext cx="417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🟡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地端高規硬體成本極高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 179"/>
          <p:cNvSpPr/>
          <p:nvPr/>
        </p:nvSpPr>
        <p:spPr>
          <a:xfrm>
            <a:off x="7784280" y="4372200"/>
            <a:ext cx="41824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🟢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雲端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LLM API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彈性串接，按需付費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Text 180"/>
          <p:cNvSpPr/>
          <p:nvPr/>
        </p:nvSpPr>
        <p:spPr>
          <a:xfrm>
            <a:off x="833040" y="4873320"/>
            <a:ext cx="331380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擴充彈性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Text 181"/>
          <p:cNvSpPr/>
          <p:nvPr/>
        </p:nvSpPr>
        <p:spPr>
          <a:xfrm>
            <a:off x="3875760" y="4873320"/>
            <a:ext cx="417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🟡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受限於實體硬體規格上限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Text 182"/>
          <p:cNvSpPr/>
          <p:nvPr/>
        </p:nvSpPr>
        <p:spPr>
          <a:xfrm>
            <a:off x="7784280" y="4873320"/>
            <a:ext cx="41824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🟢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雲端運算資源可彈性擴充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Shape 119"/>
          <p:cNvSpPr/>
          <p:nvPr/>
        </p:nvSpPr>
        <p:spPr>
          <a:xfrm>
            <a:off x="661320" y="5455440"/>
            <a:ext cx="10867680" cy="924120"/>
          </a:xfrm>
          <a:prstGeom prst="roundRect">
            <a:avLst>
              <a:gd name="adj" fmla="val 7502"/>
            </a:avLst>
          </a:prstGeom>
          <a:solidFill>
            <a:srgbClr val="B6FC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1" name="Image 20"/>
          <p:cNvPicPr/>
          <p:nvPr/>
        </p:nvPicPr>
        <p:blipFill>
          <a:blip r:embed="rId1"/>
          <a:stretch/>
        </p:blipFill>
        <p:spPr>
          <a:xfrm>
            <a:off x="826560" y="5695200"/>
            <a:ext cx="205200" cy="16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2" name="Text 183"/>
          <p:cNvSpPr/>
          <p:nvPr/>
        </p:nvSpPr>
        <p:spPr>
          <a:xfrm>
            <a:off x="1198440" y="5661720"/>
            <a:ext cx="101649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方案 </a:t>
            </a: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B </a:t>
            </a: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在服務可用性、遠端維運性、成本效益與擴充彈性四個維度全面優於方案 </a:t>
            </a: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A</a:t>
            </a: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，且在資料庫資安維度達到同等保護水準，因此確定為最終選型。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Text 184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為什麼最終選擇「地端 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+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雲端」混合架構？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Text 185"/>
          <p:cNvSpPr/>
          <p:nvPr/>
        </p:nvSpPr>
        <p:spPr>
          <a:xfrm>
            <a:off x="661320" y="1369080"/>
            <a:ext cx="1147716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混合架構的選型並非妥協，而是在充分評估後，針對工會系統特性所做出的最優解。以下四大支柱構成本次決策的核心理由。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Shape 120"/>
          <p:cNvSpPr/>
          <p:nvPr/>
        </p:nvSpPr>
        <p:spPr>
          <a:xfrm>
            <a:off x="661320" y="1820160"/>
            <a:ext cx="5350320" cy="2173320"/>
          </a:xfrm>
          <a:prstGeom prst="roundRect">
            <a:avLst>
              <a:gd name="adj" fmla="val 3193"/>
            </a:avLst>
          </a:prstGeom>
          <a:solidFill>
            <a:srgbClr val="F5DFD6"/>
          </a:solidFill>
          <a:ln w="4763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Shape 121"/>
          <p:cNvSpPr/>
          <p:nvPr/>
        </p:nvSpPr>
        <p:spPr>
          <a:xfrm>
            <a:off x="833040" y="1991160"/>
            <a:ext cx="494640" cy="494640"/>
          </a:xfrm>
          <a:prstGeom prst="ellipse">
            <a:avLst/>
          </a:prstGeom>
          <a:solidFill>
            <a:srgbClr val="D98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8" name="Image 21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69480" y="2127600"/>
            <a:ext cx="221400" cy="22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9" name="Text 186"/>
          <p:cNvSpPr/>
          <p:nvPr/>
        </p:nvSpPr>
        <p:spPr>
          <a:xfrm>
            <a:off x="833040" y="2652840"/>
            <a:ext cx="50072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🚀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 24/7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服務零中斷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Text 187"/>
          <p:cNvSpPr/>
          <p:nvPr/>
        </p:nvSpPr>
        <p:spPr>
          <a:xfrm>
            <a:off x="833040" y="3029400"/>
            <a:ext cx="500724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LINE Webhook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與管理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API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放在雲端，不受辦公室停電影響。會員隨時可透過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LINE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官方帳號取得服務，工會形象與服務品質獲得根本性保障。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Shape 122"/>
          <p:cNvSpPr/>
          <p:nvPr/>
        </p:nvSpPr>
        <p:spPr>
          <a:xfrm>
            <a:off x="6178680" y="1820160"/>
            <a:ext cx="5350320" cy="2173320"/>
          </a:xfrm>
          <a:prstGeom prst="roundRect">
            <a:avLst>
              <a:gd name="adj" fmla="val 3193"/>
            </a:avLst>
          </a:prstGeom>
          <a:solidFill>
            <a:srgbClr val="F5DFD6"/>
          </a:solidFill>
          <a:ln w="4763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Shape 123"/>
          <p:cNvSpPr/>
          <p:nvPr/>
        </p:nvSpPr>
        <p:spPr>
          <a:xfrm>
            <a:off x="6350400" y="1991160"/>
            <a:ext cx="494640" cy="494640"/>
          </a:xfrm>
          <a:prstGeom prst="ellipse">
            <a:avLst/>
          </a:prstGeom>
          <a:solidFill>
            <a:srgbClr val="D98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3" name="Image 22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86480" y="2127600"/>
            <a:ext cx="221400" cy="22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4" name="Text 188"/>
          <p:cNvSpPr/>
          <p:nvPr/>
        </p:nvSpPr>
        <p:spPr>
          <a:xfrm>
            <a:off x="6350040" y="2652840"/>
            <a:ext cx="50072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🔒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 100%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資料主權在地化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Text 189"/>
          <p:cNvSpPr/>
          <p:nvPr/>
        </p:nvSpPr>
        <p:spPr>
          <a:xfrm>
            <a:off x="6350040" y="3029400"/>
            <a:ext cx="500724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MySQL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資料庫實體保留在地端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NAS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，絕不出境。所有會員根事實、訂單、帳務與派班資料均受地端防火牆與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VPN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雙重保護，符合個資法規要求。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Shape 124"/>
          <p:cNvSpPr/>
          <p:nvPr/>
        </p:nvSpPr>
        <p:spPr>
          <a:xfrm>
            <a:off x="661320" y="4160520"/>
            <a:ext cx="5350320" cy="2173320"/>
          </a:xfrm>
          <a:prstGeom prst="roundRect">
            <a:avLst>
              <a:gd name="adj" fmla="val 3193"/>
            </a:avLst>
          </a:prstGeom>
          <a:solidFill>
            <a:srgbClr val="F5DFD6"/>
          </a:solidFill>
          <a:ln w="4763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Shape 125"/>
          <p:cNvSpPr/>
          <p:nvPr/>
        </p:nvSpPr>
        <p:spPr>
          <a:xfrm>
            <a:off x="833040" y="4331880"/>
            <a:ext cx="494640" cy="494640"/>
          </a:xfrm>
          <a:prstGeom prst="ellipse">
            <a:avLst/>
          </a:prstGeom>
          <a:solidFill>
            <a:srgbClr val="D98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8" name="Image 23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69480" y="4468320"/>
            <a:ext cx="221400" cy="22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9" name="Text 190"/>
          <p:cNvSpPr/>
          <p:nvPr/>
        </p:nvSpPr>
        <p:spPr>
          <a:xfrm>
            <a:off x="833040" y="4993560"/>
            <a:ext cx="50072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💰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 免額外高規硬體採購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Text 191"/>
          <p:cNvSpPr/>
          <p:nvPr/>
        </p:nvSpPr>
        <p:spPr>
          <a:xfrm>
            <a:off x="833040" y="5369760"/>
            <a:ext cx="500724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無須購買昂貴的地端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AI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伺服器，雲端運算彈性擴充。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AI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模型透過雲端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LLM API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（如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OpenAI / Gemini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）串接，大幅降低初期資本支出（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CapEx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126"/>
          <p:cNvSpPr/>
          <p:nvPr/>
        </p:nvSpPr>
        <p:spPr>
          <a:xfrm>
            <a:off x="6178680" y="4160520"/>
            <a:ext cx="5350320" cy="2173320"/>
          </a:xfrm>
          <a:prstGeom prst="roundRect">
            <a:avLst>
              <a:gd name="adj" fmla="val 3193"/>
            </a:avLst>
          </a:prstGeom>
          <a:solidFill>
            <a:srgbClr val="F5DFD6"/>
          </a:solidFill>
          <a:ln w="4763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Shape 127"/>
          <p:cNvSpPr/>
          <p:nvPr/>
        </p:nvSpPr>
        <p:spPr>
          <a:xfrm>
            <a:off x="6350400" y="4331880"/>
            <a:ext cx="494640" cy="494640"/>
          </a:xfrm>
          <a:prstGeom prst="ellipse">
            <a:avLst/>
          </a:prstGeom>
          <a:solidFill>
            <a:srgbClr val="D98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3" name="Image 24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486480" y="4468320"/>
            <a:ext cx="221400" cy="22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4" name="Text 192"/>
          <p:cNvSpPr/>
          <p:nvPr/>
        </p:nvSpPr>
        <p:spPr>
          <a:xfrm>
            <a:off x="6350040" y="4993560"/>
            <a:ext cx="50072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🛠️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 維運彈性極高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Text 193"/>
          <p:cNvSpPr/>
          <p:nvPr/>
        </p:nvSpPr>
        <p:spPr>
          <a:xfrm>
            <a:off x="6350040" y="5369760"/>
            <a:ext cx="500724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工程團隊可隨時遠端維護，無須跑現場，大幅降低隱性維修成本。系統升級、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Bug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修補、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Schema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遷移均可在遠端安全執行，提升整體維運效率。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Text 194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雲端平台選型：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Serverless Container (Cloud Run) vs.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傳統 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VM (Compute Engine)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Text 195"/>
          <p:cNvSpPr/>
          <p:nvPr/>
        </p:nvSpPr>
        <p:spPr>
          <a:xfrm>
            <a:off x="661320" y="1757880"/>
            <a:ext cx="1147716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為確保系統在雲端的運作效率與成本效益，技術架構小組深入評估了兩種主流雲端運算服務模型，並做出以下選型比較。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Shape 128"/>
          <p:cNvSpPr/>
          <p:nvPr/>
        </p:nvSpPr>
        <p:spPr>
          <a:xfrm>
            <a:off x="661320" y="2161800"/>
            <a:ext cx="10867320" cy="3198240"/>
          </a:xfrm>
          <a:prstGeom prst="roundRect">
            <a:avLst>
              <a:gd name="adj" fmla="val 2035"/>
            </a:avLst>
          </a:prstGeom>
          <a:noFill/>
          <a:ln w="4763">
            <a:solidFill>
              <a:srgbClr val="000000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Shape 129"/>
          <p:cNvSpPr/>
          <p:nvPr/>
        </p:nvSpPr>
        <p:spPr>
          <a:xfrm>
            <a:off x="661320" y="2611440"/>
            <a:ext cx="10867680" cy="792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1" name="Shape 130"/>
          <p:cNvSpPr/>
          <p:nvPr/>
        </p:nvSpPr>
        <p:spPr>
          <a:xfrm>
            <a:off x="661320" y="3298320"/>
            <a:ext cx="10867680" cy="792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131"/>
          <p:cNvSpPr/>
          <p:nvPr/>
        </p:nvSpPr>
        <p:spPr>
          <a:xfrm>
            <a:off x="661320" y="3984480"/>
            <a:ext cx="10867680" cy="792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132"/>
          <p:cNvSpPr/>
          <p:nvPr/>
        </p:nvSpPr>
        <p:spPr>
          <a:xfrm>
            <a:off x="661320" y="4671360"/>
            <a:ext cx="10867680" cy="792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133"/>
          <p:cNvSpPr/>
          <p:nvPr/>
        </p:nvSpPr>
        <p:spPr>
          <a:xfrm>
            <a:off x="3924720" y="2161440"/>
            <a:ext cx="7920" cy="319860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" tIns="45000" rIns="3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134"/>
          <p:cNvSpPr/>
          <p:nvPr/>
        </p:nvSpPr>
        <p:spPr>
          <a:xfrm>
            <a:off x="7724520" y="2161440"/>
            <a:ext cx="7920" cy="319860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" tIns="45000" rIns="32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6" name="Shape 135"/>
          <p:cNvSpPr/>
          <p:nvPr/>
        </p:nvSpPr>
        <p:spPr>
          <a:xfrm>
            <a:off x="668160" y="2167920"/>
            <a:ext cx="3255120" cy="442080"/>
          </a:xfrm>
          <a:custGeom>
            <a:avLst/>
            <a:gdLst>
              <a:gd name="textAreaLeft" fmla="*/ 0 w 3255120"/>
              <a:gd name="textAreaRight" fmla="*/ 3256560 w 3255120"/>
              <a:gd name="textAreaTop" fmla="*/ 0 h 442080"/>
              <a:gd name="textAreaBottom" fmla="*/ 443520 h 442080"/>
            </a:gdLst>
            <a:ahLst/>
            <a:cxnLst/>
            <a:rect l="textAreaLeft" t="textAreaTop" r="textAreaRight" b="textAreaBottom"/>
            <a:pathLst>
              <a:path w="2442642" h="332482">
                <a:moveTo>
                  <a:pt x="40703" y="0"/>
                </a:moveTo>
                <a:lnTo>
                  <a:pt x="2442642" y="0"/>
                </a:lnTo>
                <a:lnTo>
                  <a:pt x="2442642" y="332482"/>
                </a:lnTo>
                <a:lnTo>
                  <a:pt x="0" y="332482"/>
                </a:lnTo>
                <a:lnTo>
                  <a:pt x="0" y="40703"/>
                </a:lnTo>
                <a:arcTo wR="40703" hR="40703" stAng="10800000" swAng="5400000"/>
                <a:close/>
              </a:path>
            </a:pathLst>
          </a:custGeom>
          <a:solidFill>
            <a:srgbClr val="3C31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196"/>
          <p:cNvSpPr/>
          <p:nvPr/>
        </p:nvSpPr>
        <p:spPr>
          <a:xfrm>
            <a:off x="822600" y="2261520"/>
            <a:ext cx="355176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FFFFFF"/>
                </a:solidFill>
                <a:effectLst/>
                <a:uFillTx/>
                <a:latin typeface="Noto Sans TC Bold"/>
                <a:ea typeface="Noto Sans TC Bold"/>
              </a:rPr>
              <a:t>評估維度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Shape 136"/>
          <p:cNvSpPr/>
          <p:nvPr/>
        </p:nvSpPr>
        <p:spPr>
          <a:xfrm>
            <a:off x="3924720" y="2167920"/>
            <a:ext cx="3798000" cy="441720"/>
          </a:xfrm>
          <a:prstGeom prst="rect">
            <a:avLst/>
          </a:prstGeom>
          <a:solidFill>
            <a:srgbClr val="7766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9" name="Text 197"/>
          <p:cNvSpPr/>
          <p:nvPr/>
        </p:nvSpPr>
        <p:spPr>
          <a:xfrm>
            <a:off x="4082760" y="2261520"/>
            <a:ext cx="409140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FFFFFF"/>
                </a:solidFill>
                <a:effectLst/>
                <a:uFillTx/>
                <a:latin typeface="Noto Sans TC Bold"/>
                <a:ea typeface="Noto Sans TC Bold"/>
              </a:rPr>
              <a:t>傳統虛擬主機 </a:t>
            </a: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Noto Sans TC Bold"/>
                <a:ea typeface="Noto Sans TC Bold"/>
              </a:rPr>
              <a:t>(Compute Engine VM)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Shape 137"/>
          <p:cNvSpPr/>
          <p:nvPr/>
        </p:nvSpPr>
        <p:spPr>
          <a:xfrm>
            <a:off x="7724520" y="2167920"/>
            <a:ext cx="3798000" cy="442080"/>
          </a:xfrm>
          <a:custGeom>
            <a:avLst/>
            <a:gdLst>
              <a:gd name="textAreaLeft" fmla="*/ 0 w 3798000"/>
              <a:gd name="textAreaRight" fmla="*/ 3799440 w 3798000"/>
              <a:gd name="textAreaTop" fmla="*/ 0 h 442080"/>
              <a:gd name="textAreaBottom" fmla="*/ 443520 h 442080"/>
            </a:gdLst>
            <a:ahLst/>
            <a:cxnLst/>
            <a:rect l="textAreaLeft" t="textAreaTop" r="textAreaRight" b="textAreaBottom"/>
            <a:pathLst>
              <a:path w="2849761" h="332482">
                <a:moveTo>
                  <a:pt x="0" y="0"/>
                </a:moveTo>
                <a:lnTo>
                  <a:pt x="2809058" y="0"/>
                </a:lnTo>
                <a:arcTo wR="40703" hR="40703" stAng="16200000" swAng="5400000"/>
                <a:lnTo>
                  <a:pt x="2849761" y="332482"/>
                </a:lnTo>
                <a:lnTo>
                  <a:pt x="0" y="332482"/>
                </a:lnTo>
                <a:lnTo>
                  <a:pt x="0" y="0"/>
                </a:lnTo>
                <a:close/>
              </a:path>
            </a:pathLst>
          </a:custGeom>
          <a:solidFill>
            <a:srgbClr val="D98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 198"/>
          <p:cNvSpPr/>
          <p:nvPr/>
        </p:nvSpPr>
        <p:spPr>
          <a:xfrm>
            <a:off x="7882560" y="2261520"/>
            <a:ext cx="409464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272525"/>
                </a:solidFill>
                <a:effectLst/>
                <a:uFillTx/>
                <a:latin typeface="Noto Sans TC Bold"/>
                <a:ea typeface="Noto Sans TC Bold"/>
              </a:rPr>
              <a:t>託管容器平台 </a:t>
            </a:r>
            <a:r>
              <a:rPr lang="en-US" sz="1430" b="1" u="none" strike="noStrike">
                <a:solidFill>
                  <a:srgbClr val="272525"/>
                </a:solidFill>
                <a:effectLst/>
                <a:uFillTx/>
                <a:latin typeface="Noto Sans TC Bold"/>
                <a:ea typeface="Noto Sans TC Bold"/>
              </a:rPr>
              <a:t>(Google Cloud Run) </a:t>
            </a: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🌟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Text 199"/>
          <p:cNvSpPr/>
          <p:nvPr/>
        </p:nvSpPr>
        <p:spPr>
          <a:xfrm>
            <a:off x="822600" y="2707920"/>
            <a:ext cx="355176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維運負擔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Text 200"/>
          <p:cNvSpPr/>
          <p:nvPr/>
        </p:nvSpPr>
        <p:spPr>
          <a:xfrm>
            <a:off x="4082760" y="2707920"/>
            <a:ext cx="34819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🔴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高。需自行更新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OS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、安裝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Nginx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、維護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SSL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憑證與資安修補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Text 201"/>
          <p:cNvSpPr/>
          <p:nvPr/>
        </p:nvSpPr>
        <p:spPr>
          <a:xfrm>
            <a:off x="7882560" y="2707920"/>
            <a:ext cx="348516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🟢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零維運。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Google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全託管，僅需提供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Docker Image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，自動生成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HTTPS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 202"/>
          <p:cNvSpPr/>
          <p:nvPr/>
        </p:nvSpPr>
        <p:spPr>
          <a:xfrm>
            <a:off x="822600" y="3394800"/>
            <a:ext cx="355176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計費模式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Text 203"/>
          <p:cNvSpPr/>
          <p:nvPr/>
        </p:nvSpPr>
        <p:spPr>
          <a:xfrm>
            <a:off x="4082760" y="3394800"/>
            <a:ext cx="40914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🔴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24/7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持續扣款。閒置時（如深夜）仍需付費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Text 204"/>
          <p:cNvSpPr/>
          <p:nvPr/>
        </p:nvSpPr>
        <p:spPr>
          <a:xfrm>
            <a:off x="7882560" y="3394800"/>
            <a:ext cx="348516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🟢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按量計費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(Scale to Zero)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。離峰無流量時費用自動降至趨近於零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Text 205"/>
          <p:cNvSpPr/>
          <p:nvPr/>
        </p:nvSpPr>
        <p:spPr>
          <a:xfrm>
            <a:off x="822600" y="4081320"/>
            <a:ext cx="355176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彈性擴展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 206"/>
          <p:cNvSpPr/>
          <p:nvPr/>
        </p:nvSpPr>
        <p:spPr>
          <a:xfrm>
            <a:off x="4082760" y="4081680"/>
            <a:ext cx="34819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🟡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較慢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(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分級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)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。需複雜設定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Load Balancer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與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Instance Group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Text 207"/>
          <p:cNvSpPr/>
          <p:nvPr/>
        </p:nvSpPr>
        <p:spPr>
          <a:xfrm>
            <a:off x="7882560" y="4081680"/>
            <a:ext cx="348516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🟢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秒級自動擴展。輕鬆因應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LINE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訊息推播時的突發峰值流量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Text 208"/>
          <p:cNvSpPr/>
          <p:nvPr/>
        </p:nvSpPr>
        <p:spPr>
          <a:xfrm>
            <a:off x="822600" y="4768200"/>
            <a:ext cx="355176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部署體驗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Text 209"/>
          <p:cNvSpPr/>
          <p:nvPr/>
        </p:nvSpPr>
        <p:spPr>
          <a:xfrm>
            <a:off x="4082760" y="4768200"/>
            <a:ext cx="40914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🟡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較繁瑣。需手動或撰寫腳本配置主機環境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 210"/>
          <p:cNvSpPr/>
          <p:nvPr/>
        </p:nvSpPr>
        <p:spPr>
          <a:xfrm>
            <a:off x="7882560" y="4768560"/>
            <a:ext cx="348516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🟢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原生容器化。與專案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Docker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架構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100%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完美契合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Shape 138"/>
          <p:cNvSpPr/>
          <p:nvPr/>
        </p:nvSpPr>
        <p:spPr>
          <a:xfrm>
            <a:off x="661320" y="5524920"/>
            <a:ext cx="10867680" cy="832680"/>
          </a:xfrm>
          <a:prstGeom prst="roundRect">
            <a:avLst>
              <a:gd name="adj" fmla="val 7807"/>
            </a:avLst>
          </a:prstGeom>
          <a:solidFill>
            <a:srgbClr val="B6FC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5" name="Image 25"/>
          <p:cNvPicPr/>
          <p:nvPr/>
        </p:nvPicPr>
        <p:blipFill>
          <a:blip r:embed="rId1"/>
          <a:stretch/>
        </p:blipFill>
        <p:spPr>
          <a:xfrm>
            <a:off x="816480" y="5732280"/>
            <a:ext cx="192240" cy="15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6" name="Text 211"/>
          <p:cNvSpPr/>
          <p:nvPr/>
        </p:nvSpPr>
        <p:spPr>
          <a:xfrm>
            <a:off x="1165320" y="5709240"/>
            <a:ext cx="10208520" cy="47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綜合評估維運、成本、擴展與部署體驗，</a:t>
            </a: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Google Cloud Run </a:t>
            </a: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以其高度託管、彈性計費及原生容器支援的優勢，成為雲端運算層的最佳選擇，大幅簡化管理並最佳化成本。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Text 212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為什麼最終選擇 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Google Cloud Run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？四大決策關鍵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Shape 139"/>
          <p:cNvSpPr/>
          <p:nvPr/>
        </p:nvSpPr>
        <p:spPr>
          <a:xfrm>
            <a:off x="661320" y="1087200"/>
            <a:ext cx="10867680" cy="1245600"/>
          </a:xfrm>
          <a:prstGeom prst="roundRect">
            <a:avLst>
              <a:gd name="adj" fmla="val 4437"/>
            </a:avLst>
          </a:prstGeom>
          <a:solidFill>
            <a:srgbClr val="F5DFD6"/>
          </a:solidFill>
          <a:ln w="4763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Shape 140"/>
          <p:cNvSpPr/>
          <p:nvPr/>
        </p:nvSpPr>
        <p:spPr>
          <a:xfrm>
            <a:off x="799560" y="1225080"/>
            <a:ext cx="393840" cy="393840"/>
          </a:xfrm>
          <a:prstGeom prst="ellipse">
            <a:avLst/>
          </a:prstGeom>
          <a:solidFill>
            <a:srgbClr val="D98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1" name="Image 26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07920" y="1334160"/>
            <a:ext cx="176400" cy="17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2" name="Text 213"/>
          <p:cNvSpPr/>
          <p:nvPr/>
        </p:nvSpPr>
        <p:spPr>
          <a:xfrm>
            <a:off x="799560" y="1725120"/>
            <a:ext cx="1059120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🛠️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 「零 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OS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維運」降低人力門檻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Text 214"/>
          <p:cNvSpPr/>
          <p:nvPr/>
        </p:nvSpPr>
        <p:spPr>
          <a:xfrm>
            <a:off x="799560" y="2007000"/>
            <a:ext cx="105912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工會無需配置專職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24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小時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GCP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系統管理員，避免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OS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漏洞、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Nginx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設定失敗與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SSL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憑證過期風險，大幅簡化管理。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Shape 141"/>
          <p:cNvSpPr/>
          <p:nvPr/>
        </p:nvSpPr>
        <p:spPr>
          <a:xfrm>
            <a:off x="661320" y="2439720"/>
            <a:ext cx="10867680" cy="1245600"/>
          </a:xfrm>
          <a:prstGeom prst="roundRect">
            <a:avLst>
              <a:gd name="adj" fmla="val 4437"/>
            </a:avLst>
          </a:prstGeom>
          <a:solidFill>
            <a:srgbClr val="F5DFD6"/>
          </a:solidFill>
          <a:ln w="4763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Shape 142"/>
          <p:cNvSpPr/>
          <p:nvPr/>
        </p:nvSpPr>
        <p:spPr>
          <a:xfrm>
            <a:off x="799560" y="2577600"/>
            <a:ext cx="393840" cy="393840"/>
          </a:xfrm>
          <a:prstGeom prst="ellipse">
            <a:avLst/>
          </a:prstGeom>
          <a:solidFill>
            <a:srgbClr val="D98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6" name="Image 27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07920" y="2686320"/>
            <a:ext cx="176400" cy="17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7" name="Text 215"/>
          <p:cNvSpPr/>
          <p:nvPr/>
        </p:nvSpPr>
        <p:spPr>
          <a:xfrm>
            <a:off x="799560" y="3078000"/>
            <a:ext cx="1059120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💰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 「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Scale to Zero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」離峰極致省錢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Text 216"/>
          <p:cNvSpPr/>
          <p:nvPr/>
        </p:nvSpPr>
        <p:spPr>
          <a:xfrm>
            <a:off x="799560" y="3359520"/>
            <a:ext cx="105912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傳統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VM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深夜無人使用仍持續扣錢；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Cloud Run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在無請求時自動縮容至零，預算使用率達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100%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，有效控制成本。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Shape 143"/>
          <p:cNvSpPr/>
          <p:nvPr/>
        </p:nvSpPr>
        <p:spPr>
          <a:xfrm>
            <a:off x="661320" y="3792240"/>
            <a:ext cx="10867680" cy="1245600"/>
          </a:xfrm>
          <a:prstGeom prst="roundRect">
            <a:avLst>
              <a:gd name="adj" fmla="val 4437"/>
            </a:avLst>
          </a:prstGeom>
          <a:solidFill>
            <a:srgbClr val="F5DFD6"/>
          </a:solidFill>
          <a:ln w="4763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Shape 144"/>
          <p:cNvSpPr/>
          <p:nvPr/>
        </p:nvSpPr>
        <p:spPr>
          <a:xfrm>
            <a:off x="799560" y="3930120"/>
            <a:ext cx="393840" cy="393840"/>
          </a:xfrm>
          <a:prstGeom prst="ellipse">
            <a:avLst/>
          </a:prstGeom>
          <a:solidFill>
            <a:srgbClr val="D98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1" name="Image 28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07920" y="4038840"/>
            <a:ext cx="176400" cy="17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2" name="Text 217"/>
          <p:cNvSpPr/>
          <p:nvPr/>
        </p:nvSpPr>
        <p:spPr>
          <a:xfrm>
            <a:off x="799560" y="4430520"/>
            <a:ext cx="1059120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⚡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 「秒級擴展」應對 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LINE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突發流量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Text 218"/>
          <p:cNvSpPr/>
          <p:nvPr/>
        </p:nvSpPr>
        <p:spPr>
          <a:xfrm>
            <a:off x="799560" y="4712040"/>
            <a:ext cx="105912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當工會發送全體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LINE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訊息推播時，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Cloud Run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能秒級自動拉起實例，彈性應對瞬間流量峰值，防止服務潰散。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Shape 145"/>
          <p:cNvSpPr/>
          <p:nvPr/>
        </p:nvSpPr>
        <p:spPr>
          <a:xfrm>
            <a:off x="661320" y="5144760"/>
            <a:ext cx="10867680" cy="1245600"/>
          </a:xfrm>
          <a:prstGeom prst="roundRect">
            <a:avLst>
              <a:gd name="adj" fmla="val 4437"/>
            </a:avLst>
          </a:prstGeom>
          <a:solidFill>
            <a:srgbClr val="F5DFD6"/>
          </a:solidFill>
          <a:ln w="4763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Shape 146"/>
          <p:cNvSpPr/>
          <p:nvPr/>
        </p:nvSpPr>
        <p:spPr>
          <a:xfrm>
            <a:off x="799560" y="5282280"/>
            <a:ext cx="393840" cy="393840"/>
          </a:xfrm>
          <a:prstGeom prst="ellipse">
            <a:avLst/>
          </a:prstGeom>
          <a:solidFill>
            <a:srgbClr val="D98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6" name="Image 29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07920" y="5391360"/>
            <a:ext cx="176400" cy="17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7" name="Text 219"/>
          <p:cNvSpPr/>
          <p:nvPr/>
        </p:nvSpPr>
        <p:spPr>
          <a:xfrm>
            <a:off x="799560" y="5783040"/>
            <a:ext cx="1059120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🔒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 原生 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VPC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連線（安全回連地端）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220"/>
          <p:cNvSpPr/>
          <p:nvPr/>
        </p:nvSpPr>
        <p:spPr>
          <a:xfrm>
            <a:off x="799560" y="6064920"/>
            <a:ext cx="105912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支援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Serverless VPC Access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，讓雲端容器經由加密通道安全存取地端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NAS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的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MySQL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，確保資料不暴露於公網。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Text 221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雲端部署規劃：無狀態應用與運算層（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Application Zone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）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Text 222"/>
          <p:cNvSpPr/>
          <p:nvPr/>
        </p:nvSpPr>
        <p:spPr>
          <a:xfrm>
            <a:off x="661320" y="1176120"/>
            <a:ext cx="1086768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雲端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Application Zone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承載所有無狀態（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Stateless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）應用邏輯與對外服務介面，確保高可用性與橫向擴充能力。所有雲端元件均不持久化敏感資料，僅透過加密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VPN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隧道與地端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Data Zone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進行資料交換。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2" name="Image 30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61320" y="1752840"/>
            <a:ext cx="10867680" cy="10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3" name="Text 223"/>
          <p:cNvSpPr/>
          <p:nvPr/>
        </p:nvSpPr>
        <p:spPr>
          <a:xfrm>
            <a:off x="858240" y="2148480"/>
            <a:ext cx="21528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1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Text 224"/>
          <p:cNvSpPr/>
          <p:nvPr/>
        </p:nvSpPr>
        <p:spPr>
          <a:xfrm>
            <a:off x="1385640" y="1916280"/>
            <a:ext cx="99788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FastAPI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核心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 225"/>
          <p:cNvSpPr/>
          <p:nvPr/>
        </p:nvSpPr>
        <p:spPr>
          <a:xfrm>
            <a:off x="1385640" y="2218320"/>
            <a:ext cx="997920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處理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LINE Webhook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、外部系統整合與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Typed API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。作為系統主要業務邏輯層，負責請求路由、身份驗證與資料驗證，所有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API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端點均採用強型別（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Typed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）定義確保介面穩定性。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6" name="Image 31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61320" y="2943000"/>
            <a:ext cx="10867680" cy="10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7" name="Text 226"/>
          <p:cNvSpPr/>
          <p:nvPr/>
        </p:nvSpPr>
        <p:spPr>
          <a:xfrm>
            <a:off x="858240" y="3339000"/>
            <a:ext cx="21528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Text 227"/>
          <p:cNvSpPr/>
          <p:nvPr/>
        </p:nvSpPr>
        <p:spPr>
          <a:xfrm>
            <a:off x="1385640" y="3106800"/>
            <a:ext cx="99788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Streamlit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薄顯示層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Text 228"/>
          <p:cNvSpPr/>
          <p:nvPr/>
        </p:nvSpPr>
        <p:spPr>
          <a:xfrm>
            <a:off x="1385640" y="3408480"/>
            <a:ext cx="997920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工會行政人員使用的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Web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管理後台。採用薄顯示層（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Thin Presentation Layer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）設計原則，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UI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層不含業務邏輯，所有操作均透過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FastAPI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核心執行，確保前後端職責分離。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0" name="Image 3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1320" y="4132800"/>
            <a:ext cx="10867680" cy="10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1" name="Text 229"/>
          <p:cNvSpPr/>
          <p:nvPr/>
        </p:nvSpPr>
        <p:spPr>
          <a:xfrm>
            <a:off x="858240" y="4528800"/>
            <a:ext cx="21528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Text 230"/>
          <p:cNvSpPr/>
          <p:nvPr/>
        </p:nvSpPr>
        <p:spPr>
          <a:xfrm>
            <a:off x="1385640" y="4296600"/>
            <a:ext cx="99792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Public Edge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閘道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Text 231"/>
          <p:cNvSpPr/>
          <p:nvPr/>
        </p:nvSpPr>
        <p:spPr>
          <a:xfrm>
            <a:off x="1385640" y="4598280"/>
            <a:ext cx="997884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Nginx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反向代理，提供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HTTPS/TLS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加密與公網防護。作為所有外部流量的唯一入口，負責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SSL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終止、請求限流（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Rate Limiting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）與惡意流量過濾，保護後端服務不直接暴露於公網。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4" name="Image 33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61320" y="5322960"/>
            <a:ext cx="10867680" cy="10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5" name="Text 232"/>
          <p:cNvSpPr/>
          <p:nvPr/>
        </p:nvSpPr>
        <p:spPr>
          <a:xfrm>
            <a:off x="858240" y="5719320"/>
            <a:ext cx="21528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Text 233"/>
          <p:cNvSpPr/>
          <p:nvPr/>
        </p:nvSpPr>
        <p:spPr>
          <a:xfrm>
            <a:off x="1385640" y="5486400"/>
            <a:ext cx="99792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AI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模型串接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Text 234"/>
          <p:cNvSpPr/>
          <p:nvPr/>
        </p:nvSpPr>
        <p:spPr>
          <a:xfrm>
            <a:off x="1385640" y="5788440"/>
            <a:ext cx="997920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雲端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LLM API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（如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OpenAI / Gemini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）或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VPS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私有模型。依據資料敏感度與成本考量，彈性選擇公有雲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LLM API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或自建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VPS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私有模型，確保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AI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功能可用性同時控制資料外流風險。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Text 235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地端部署規劃：核心資料庫與資料主權區（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Data Zone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）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Text 236"/>
          <p:cNvSpPr/>
          <p:nvPr/>
        </p:nvSpPr>
        <p:spPr>
          <a:xfrm>
            <a:off x="661320" y="1270440"/>
            <a:ext cx="10867680" cy="49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地端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Data Zone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是整個混合架構的資料核心，所有敏感資料的最終存儲地。此區域採用嚴格的網路隔離策略，任何外部存取均須通過身份驗證的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VPN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隧道，確保資料主權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100%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在地化。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1" name="Image 34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61320" y="1932120"/>
            <a:ext cx="3521160" cy="290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2" name="Text 237"/>
          <p:cNvSpPr/>
          <p:nvPr/>
        </p:nvSpPr>
        <p:spPr>
          <a:xfrm>
            <a:off x="914040" y="2108880"/>
            <a:ext cx="309204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MySQL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資料庫（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Synology NAS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Text 238"/>
          <p:cNvSpPr/>
          <p:nvPr/>
        </p:nvSpPr>
        <p:spPr>
          <a:xfrm>
            <a:off x="914040" y="2444760"/>
            <a:ext cx="3092040" cy="19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儲存所有會員根事實、訂單、帳務與派班資料。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關鍵安全規則：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Port 3306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絕對不對公網開放，僅限私有安全網路連線。所有資料庫連線均須通過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VPN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憑證驗證，未經授權的連線嘗試將被地端防火牆直接封鎖，不留任何公網暴露面。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4" name="Image 35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334400" y="1932120"/>
            <a:ext cx="3521160" cy="290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5" name="Text 239"/>
          <p:cNvSpPr/>
          <p:nvPr/>
        </p:nvSpPr>
        <p:spPr>
          <a:xfrm>
            <a:off x="4587120" y="2108880"/>
            <a:ext cx="3092040" cy="49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實體檔案與備份存儲（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Archive &amp; Backup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Text 240"/>
          <p:cNvSpPr/>
          <p:nvPr/>
        </p:nvSpPr>
        <p:spPr>
          <a:xfrm>
            <a:off x="4587120" y="2691000"/>
            <a:ext cx="3092040" cy="19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保存原始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Excel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匯入檔、證據鏈（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Evidence Digest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）與資料庫快照。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所有原始資料來源文件均完整保存，形成可稽核的證據鏈。資料庫快照定期自動建立，並執行可還原性驗證（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Restore Verification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），確保備份的實際可用性，而非僅確認檔案存在。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7" name="Image 36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007840" y="1932120"/>
            <a:ext cx="3521160" cy="290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8" name="Text 241"/>
          <p:cNvSpPr/>
          <p:nvPr/>
        </p:nvSpPr>
        <p:spPr>
          <a:xfrm>
            <a:off x="8260200" y="2108880"/>
            <a:ext cx="309204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地端安全閘道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Text 242"/>
          <p:cNvSpPr/>
          <p:nvPr/>
        </p:nvSpPr>
        <p:spPr>
          <a:xfrm>
            <a:off x="8260200" y="2444760"/>
            <a:ext cx="3092040" cy="17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僅接受通過身份驗證的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VPN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存取。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地端安全閘道作為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Data Zone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的唯一合法入口，執行嚴格的存取控制策略。所有進入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Data Zone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的流量均須攜帶有效的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VPN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憑證，並通過身份驗證後方可建立連線，確保資料區域的完整隔離性。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Text 243"/>
          <p:cNvSpPr/>
          <p:nvPr/>
        </p:nvSpPr>
        <p:spPr>
          <a:xfrm>
            <a:off x="661320" y="5085720"/>
            <a:ext cx="34963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83000"/>
              </a:lnSpc>
              <a:tabLst>
                <a:tab pos="0" algn="l"/>
              </a:tabLst>
            </a:pPr>
            <a:r>
              <a:rPr lang="en-US" sz="305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3306</a:t>
            </a:r>
            <a:endParaRPr lang="en-US" sz="3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Text 244"/>
          <p:cNvSpPr/>
          <p:nvPr/>
        </p:nvSpPr>
        <p:spPr>
          <a:xfrm>
            <a:off x="661320" y="5797080"/>
            <a:ext cx="3496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Port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封鎖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Text 245"/>
          <p:cNvSpPr/>
          <p:nvPr/>
        </p:nvSpPr>
        <p:spPr>
          <a:xfrm>
            <a:off x="661320" y="6133320"/>
            <a:ext cx="3496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MySQL Port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對公網完全封鎖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Text 246"/>
          <p:cNvSpPr/>
          <p:nvPr/>
        </p:nvSpPr>
        <p:spPr>
          <a:xfrm>
            <a:off x="4346640" y="5085720"/>
            <a:ext cx="34963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83000"/>
              </a:lnSpc>
              <a:tabLst>
                <a:tab pos="0" algn="l"/>
              </a:tabLst>
            </a:pPr>
            <a:r>
              <a:rPr lang="en-US" sz="305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100%</a:t>
            </a:r>
            <a:endParaRPr lang="en-US" sz="3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Text 247"/>
          <p:cNvSpPr/>
          <p:nvPr/>
        </p:nvSpPr>
        <p:spPr>
          <a:xfrm>
            <a:off x="4346640" y="5797080"/>
            <a:ext cx="3496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資料在地化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Text 248"/>
          <p:cNvSpPr/>
          <p:nvPr/>
        </p:nvSpPr>
        <p:spPr>
          <a:xfrm>
            <a:off x="4346640" y="6133320"/>
            <a:ext cx="3496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所有敏感資料留存地端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NAS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Text 249"/>
          <p:cNvSpPr/>
          <p:nvPr/>
        </p:nvSpPr>
        <p:spPr>
          <a:xfrm>
            <a:off x="8032680" y="5085720"/>
            <a:ext cx="34963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83000"/>
              </a:lnSpc>
              <a:tabLst>
                <a:tab pos="0" algn="l"/>
              </a:tabLst>
            </a:pPr>
            <a:r>
              <a:rPr lang="en-US" sz="305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0</a:t>
            </a:r>
            <a:endParaRPr lang="en-US" sz="3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Text 250"/>
          <p:cNvSpPr/>
          <p:nvPr/>
        </p:nvSpPr>
        <p:spPr>
          <a:xfrm>
            <a:off x="8032680" y="5797080"/>
            <a:ext cx="3496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公網暴露面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Text 251"/>
          <p:cNvSpPr/>
          <p:nvPr/>
        </p:nvSpPr>
        <p:spPr>
          <a:xfrm>
            <a:off x="8032680" y="6133320"/>
            <a:ext cx="3496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Data Zone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對外公網暴露點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Text 252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關鍵安全機制：加密 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VPN 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隧道與網路隔離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Text 253"/>
          <p:cNvSpPr/>
          <p:nvPr/>
        </p:nvSpPr>
        <p:spPr>
          <a:xfrm>
            <a:off x="661320" y="1035720"/>
            <a:ext cx="11476800" cy="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混合架構的安全性建立在三層防護機制之上：點對點加密隧道確保傳輸安全、資料庫防護確保存取控制、敏感資訊治理確保機密不外洩。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三層機制相互補強，形成縱深防禦（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Defense in Depth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）體系。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Shape 147"/>
          <p:cNvSpPr/>
          <p:nvPr/>
        </p:nvSpPr>
        <p:spPr>
          <a:xfrm>
            <a:off x="661320" y="1517040"/>
            <a:ext cx="183960" cy="183960"/>
          </a:xfrm>
          <a:prstGeom prst="roundRect">
            <a:avLst>
              <a:gd name="adj" fmla="val 18670"/>
            </a:avLst>
          </a:prstGeom>
          <a:solidFill>
            <a:srgbClr val="F5DFD6"/>
          </a:solidFill>
          <a:ln w="4763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9480" tIns="45000" rIns="6948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Text 254"/>
          <p:cNvSpPr/>
          <p:nvPr/>
        </p:nvSpPr>
        <p:spPr>
          <a:xfrm>
            <a:off x="692280" y="1532880"/>
            <a:ext cx="1216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1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Text 255"/>
          <p:cNvSpPr/>
          <p:nvPr/>
        </p:nvSpPr>
        <p:spPr>
          <a:xfrm>
            <a:off x="888840" y="1545840"/>
            <a:ext cx="33591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點對點加密隧道（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Tailscale / WireGuard VPN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Text 256"/>
          <p:cNvSpPr/>
          <p:nvPr/>
        </p:nvSpPr>
        <p:spPr>
          <a:xfrm>
            <a:off x="888840" y="1891440"/>
            <a:ext cx="3359160" cy="19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雲端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VPS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與地端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NAS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之間建立專屬點對點雙向加密通道（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highlight>
                  <a:srgbClr val="F2EFEB"/>
                </a:highlight>
                <a:uFillTx/>
                <a:latin typeface="Consolas"/>
                <a:ea typeface="Consolas"/>
              </a:rPr>
              <a:t>100.X.X.X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私網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IP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）。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Tailscale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基於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Wire Guard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協議，提供現代化的加密標準（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ChaCha20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、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Poly1305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），所有雲端應用對地端資料庫的存取均透過此加密隧道進行，外部無法攔截或偽造連線。私網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IP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段（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highlight>
                  <a:srgbClr val="F2EFEB"/>
                </a:highlight>
                <a:uFillTx/>
                <a:latin typeface="Consolas"/>
                <a:ea typeface="Consolas"/>
              </a:rPr>
              <a:t>100.X.X.X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）確保雲端與地端節點在邏輯上形成同一私有網路，同時物理上保持隔離。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Shape 148"/>
          <p:cNvSpPr/>
          <p:nvPr/>
        </p:nvSpPr>
        <p:spPr>
          <a:xfrm>
            <a:off x="4301640" y="1565280"/>
            <a:ext cx="183960" cy="183960"/>
          </a:xfrm>
          <a:prstGeom prst="roundRect">
            <a:avLst>
              <a:gd name="adj" fmla="val 18670"/>
            </a:avLst>
          </a:prstGeom>
          <a:solidFill>
            <a:srgbClr val="F5DFD6"/>
          </a:solidFill>
          <a:ln w="4763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9480" tIns="45000" rIns="6948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Text 257"/>
          <p:cNvSpPr/>
          <p:nvPr/>
        </p:nvSpPr>
        <p:spPr>
          <a:xfrm>
            <a:off x="4332240" y="1580760"/>
            <a:ext cx="1216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Text 258"/>
          <p:cNvSpPr/>
          <p:nvPr/>
        </p:nvSpPr>
        <p:spPr>
          <a:xfrm>
            <a:off x="4528800" y="1545840"/>
            <a:ext cx="33591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資料庫防護（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Port 3306 Private Data Zone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Text 259"/>
          <p:cNvSpPr/>
          <p:nvPr/>
        </p:nvSpPr>
        <p:spPr>
          <a:xfrm>
            <a:off x="4528440" y="1919880"/>
            <a:ext cx="3359520" cy="14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地端防火牆完全封鎖外部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3306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連線，雲端應用必須通過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VPN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憑證驗證才能讀寫。防火牆規則採用白名單策略（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Default Deny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），僅允許來自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VPN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私網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IP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段的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3306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連線請求通過，所有其他來源的連線嘗試均被靜默丟棄（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Silent Drop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），不回應任何探測封包，最大程度降低攻擊面。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Shape 149"/>
          <p:cNvSpPr/>
          <p:nvPr/>
        </p:nvSpPr>
        <p:spPr>
          <a:xfrm>
            <a:off x="7941960" y="1565280"/>
            <a:ext cx="183960" cy="183960"/>
          </a:xfrm>
          <a:prstGeom prst="roundRect">
            <a:avLst>
              <a:gd name="adj" fmla="val 18670"/>
            </a:avLst>
          </a:prstGeom>
          <a:solidFill>
            <a:srgbClr val="F5DFD6"/>
          </a:solidFill>
          <a:ln w="4763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9480" tIns="45000" rIns="6948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Text 260"/>
          <p:cNvSpPr/>
          <p:nvPr/>
        </p:nvSpPr>
        <p:spPr>
          <a:xfrm>
            <a:off x="7972560" y="1580760"/>
            <a:ext cx="1216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Text 261"/>
          <p:cNvSpPr/>
          <p:nvPr/>
        </p:nvSpPr>
        <p:spPr>
          <a:xfrm>
            <a:off x="8169120" y="1545840"/>
            <a:ext cx="33591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敏感資訊不落地（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Secret Governance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Text 262"/>
          <p:cNvSpPr/>
          <p:nvPr/>
        </p:nvSpPr>
        <p:spPr>
          <a:xfrm>
            <a:off x="8168760" y="1939320"/>
            <a:ext cx="3359520" cy="165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正式環境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Secret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不進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Git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、不寫入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Log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、不流經前端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UI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。所有資料庫連線字串、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API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金鑰、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VPN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憑證等敏感資訊均透過環境變數或專用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Secret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管理服務注入，嚴禁硬編碼（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Hardcode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）於程式碼或設定檔中。此規則適用於所有環境，違反者須立即執行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Secret Rotation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4" name="Image 37"/>
          <p:cNvPicPr/>
          <p:nvPr/>
        </p:nvPicPr>
        <p:blipFill>
          <a:blip r:embed="rId1"/>
          <a:stretch/>
        </p:blipFill>
        <p:spPr>
          <a:xfrm rot="21582600">
            <a:off x="2120040" y="3276720"/>
            <a:ext cx="7478640" cy="342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5" name="Text 263"/>
          <p:cNvSpPr/>
          <p:nvPr/>
        </p:nvSpPr>
        <p:spPr>
          <a:xfrm>
            <a:off x="7662960" y="3655800"/>
            <a:ext cx="2402280" cy="2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私有資料區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Text 264"/>
          <p:cNvSpPr/>
          <p:nvPr/>
        </p:nvSpPr>
        <p:spPr>
          <a:xfrm>
            <a:off x="7662960" y="4041720"/>
            <a:ext cx="264780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78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MySQL 3306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，防火牆保護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Text 265"/>
          <p:cNvSpPr/>
          <p:nvPr/>
        </p:nvSpPr>
        <p:spPr>
          <a:xfrm>
            <a:off x="1574280" y="4576320"/>
            <a:ext cx="2402280" cy="2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加密通道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Text 266"/>
          <p:cNvSpPr/>
          <p:nvPr/>
        </p:nvSpPr>
        <p:spPr>
          <a:xfrm>
            <a:off x="1542600" y="4962960"/>
            <a:ext cx="243432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78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Tailscale / WireGuard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100.X.X.X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Text 267"/>
          <p:cNvSpPr/>
          <p:nvPr/>
        </p:nvSpPr>
        <p:spPr>
          <a:xfrm>
            <a:off x="7711200" y="5324760"/>
            <a:ext cx="2402280" cy="2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公開網路邊緣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Text 268"/>
          <p:cNvSpPr/>
          <p:nvPr/>
        </p:nvSpPr>
        <p:spPr>
          <a:xfrm>
            <a:off x="7710840" y="5710680"/>
            <a:ext cx="264816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78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Nginx Edge Gateway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HTTPS/TLS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Text 285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總結：兼顧資安、穩定與效益的最佳架構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Text 286"/>
          <p:cNvSpPr/>
          <p:nvPr/>
        </p:nvSpPr>
        <p:spPr>
          <a:xfrm>
            <a:off x="661320" y="1358640"/>
            <a:ext cx="1147716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本次架構決策報告完整呈現了工會系統從問題識別、方案評估到最終選型的完整決策過程。「地端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+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雲端」混合架構在四個核心維度上達成最優平衡。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Shape 150"/>
          <p:cNvSpPr/>
          <p:nvPr/>
        </p:nvSpPr>
        <p:spPr>
          <a:xfrm>
            <a:off x="661320" y="1809360"/>
            <a:ext cx="3510720" cy="1537560"/>
          </a:xfrm>
          <a:prstGeom prst="roundRect">
            <a:avLst>
              <a:gd name="adj" fmla="val 4513"/>
            </a:avLst>
          </a:prstGeom>
          <a:solidFill>
            <a:srgbClr val="F5DFD6"/>
          </a:solidFill>
          <a:ln w="4763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Text 287"/>
          <p:cNvSpPr/>
          <p:nvPr/>
        </p:nvSpPr>
        <p:spPr>
          <a:xfrm>
            <a:off x="833040" y="1981080"/>
            <a:ext cx="3168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🚀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 架構優勢重申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Text 288"/>
          <p:cNvSpPr/>
          <p:nvPr/>
        </p:nvSpPr>
        <p:spPr>
          <a:xfrm>
            <a:off x="833040" y="2358000"/>
            <a:ext cx="316800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雲端賦能高可用性，地端守護數據隱私。兩者分工明確，相輔相成，形成工會系統最適部署形態。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Shape 151"/>
          <p:cNvSpPr/>
          <p:nvPr/>
        </p:nvSpPr>
        <p:spPr>
          <a:xfrm>
            <a:off x="4339800" y="1809360"/>
            <a:ext cx="3510720" cy="1537560"/>
          </a:xfrm>
          <a:prstGeom prst="roundRect">
            <a:avLst>
              <a:gd name="adj" fmla="val 4513"/>
            </a:avLst>
          </a:prstGeom>
          <a:solidFill>
            <a:srgbClr val="F5DFD6"/>
          </a:solidFill>
          <a:ln w="4763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Text 289"/>
          <p:cNvSpPr/>
          <p:nvPr/>
        </p:nvSpPr>
        <p:spPr>
          <a:xfrm>
            <a:off x="4510800" y="1981080"/>
            <a:ext cx="3168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✅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 當前狀態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Text 290"/>
          <p:cNvSpPr/>
          <p:nvPr/>
        </p:nvSpPr>
        <p:spPr>
          <a:xfrm>
            <a:off x="4510800" y="2358000"/>
            <a:ext cx="3168000" cy="81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架構基線已核准（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highlight>
                  <a:srgbClr val="F2EFEB"/>
                </a:highlight>
                <a:uFillTx/>
                <a:latin typeface="Consolas"/>
                <a:ea typeface="Consolas"/>
              </a:rPr>
              <a:t>approved-architecture-baseline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），邏輯拓撲已收斂，可進入實施階段。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Shape 152"/>
          <p:cNvSpPr/>
          <p:nvPr/>
        </p:nvSpPr>
        <p:spPr>
          <a:xfrm>
            <a:off x="8017560" y="1809360"/>
            <a:ext cx="3510720" cy="1537560"/>
          </a:xfrm>
          <a:prstGeom prst="roundRect">
            <a:avLst>
              <a:gd name="adj" fmla="val 4513"/>
            </a:avLst>
          </a:prstGeom>
          <a:solidFill>
            <a:srgbClr val="F5DFD6"/>
          </a:solidFill>
          <a:ln w="4763">
            <a:solidFill>
              <a:srgbClr val="DBC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Text 291"/>
          <p:cNvSpPr/>
          <p:nvPr/>
        </p:nvSpPr>
        <p:spPr>
          <a:xfrm>
            <a:off x="8188920" y="1981080"/>
            <a:ext cx="3168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Twemoji Mozilla"/>
                <a:ea typeface="Twemoji Mozilla"/>
              </a:rPr>
              <a:t>📋</a:t>
            </a: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 後續推進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Text 292"/>
          <p:cNvSpPr/>
          <p:nvPr/>
        </p:nvSpPr>
        <p:spPr>
          <a:xfrm>
            <a:off x="8188920" y="2358000"/>
            <a:ext cx="316800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依照發布狀態機進行單元與跨域整合測試驗收，確保各元件在混合架構環境下協同運作符合預期。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Shape 153"/>
          <p:cNvSpPr/>
          <p:nvPr/>
        </p:nvSpPr>
        <p:spPr>
          <a:xfrm>
            <a:off x="661320" y="3575880"/>
            <a:ext cx="10867680" cy="17640"/>
          </a:xfrm>
          <a:prstGeom prst="roundRect">
            <a:avLst>
              <a:gd name="adj" fmla="val 49998"/>
            </a:avLst>
          </a:prstGeom>
          <a:solidFill>
            <a:srgbClr val="76564B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4" name="Shape 154"/>
          <p:cNvSpPr/>
          <p:nvPr/>
        </p:nvSpPr>
        <p:spPr>
          <a:xfrm>
            <a:off x="542160" y="3822120"/>
            <a:ext cx="5469480" cy="2522160"/>
          </a:xfrm>
          <a:prstGeom prst="roundRect">
            <a:avLst>
              <a:gd name="adj" fmla="val 4718"/>
            </a:avLst>
          </a:prstGeom>
          <a:solidFill>
            <a:srgbClr val="D982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5" name="Text 293"/>
          <p:cNvSpPr/>
          <p:nvPr/>
        </p:nvSpPr>
        <p:spPr>
          <a:xfrm>
            <a:off x="707400" y="3987360"/>
            <a:ext cx="51386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000000"/>
                </a:solidFill>
                <a:effectLst/>
                <a:uFillTx/>
                <a:latin typeface="Noto Sans TC Bold"/>
                <a:ea typeface="Noto Sans TC Bold"/>
              </a:rPr>
              <a:t>架構決策核心原則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Text 294"/>
          <p:cNvSpPr/>
          <p:nvPr/>
        </p:nvSpPr>
        <p:spPr>
          <a:xfrm>
            <a:off x="707400" y="4411440"/>
            <a:ext cx="5138640" cy="14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marL="192960" indent="-192960" defTabSz="914400">
              <a:lnSpc>
                <a:spcPct val="133000"/>
              </a:lnSpc>
              <a:buClr>
                <a:srgbClr val="000000"/>
              </a:buClr>
              <a:buFont typeface="Symbol"/>
              <a:buChar char=""/>
            </a:pP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雲端應用層（</a:t>
            </a: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Application Zone</a:t>
            </a: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）：無狀態、高可用、可彈性擴充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000000"/>
              </a:buClr>
              <a:buFont typeface="Symbol"/>
              <a:buChar char=""/>
            </a:pP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地端資料層（</a:t>
            </a: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Data Zone</a:t>
            </a: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）：資料主權在地、</a:t>
            </a: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Port 3306 </a:t>
            </a: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不對公網開放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000000"/>
              </a:buClr>
              <a:buFont typeface="Symbol"/>
              <a:buChar char=""/>
            </a:pP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安全傳輸層：</a:t>
            </a: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Tailscale / WireGuard VPN </a:t>
            </a: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點對點加密隧道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000000"/>
              </a:buClr>
              <a:buFont typeface="Symbol"/>
              <a:buChar char=""/>
            </a:pPr>
            <a:r>
              <a:rPr lang="zh-TW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發布治理：</a:t>
            </a: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Noto Sans TC"/>
                <a:ea typeface="Noto Sans TC"/>
              </a:rPr>
              <a:t>Release State Machine + Preserve-data Migration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Text 295"/>
          <p:cNvSpPr/>
          <p:nvPr/>
        </p:nvSpPr>
        <p:spPr>
          <a:xfrm>
            <a:off x="6303600" y="3987360"/>
            <a:ext cx="523116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zh-TW" sz="1430" b="1" u="none" strike="noStrike">
                <a:solidFill>
                  <a:srgbClr val="3B302C"/>
                </a:solidFill>
                <a:effectLst/>
                <a:uFillTx/>
                <a:latin typeface="Noto Sans TC Bold"/>
                <a:ea typeface="Noto Sans TC Bold"/>
              </a:rPr>
              <a:t>技術棧摘要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Text 296"/>
          <p:cNvSpPr/>
          <p:nvPr/>
        </p:nvSpPr>
        <p:spPr>
          <a:xfrm>
            <a:off x="6303600" y="4411440"/>
            <a:ext cx="5231160" cy="18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2960" indent="-192960" defTabSz="914400">
              <a:lnSpc>
                <a:spcPct val="133000"/>
              </a:lnSpc>
              <a:buClr>
                <a:srgbClr val="76564B"/>
              </a:buClr>
              <a:buFont typeface="Symbol"/>
              <a:buChar char=""/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應用框架：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FastAPI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、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Streamlit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76564B"/>
              </a:buClr>
              <a:buFont typeface="Symbol"/>
              <a:buChar char=""/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資料庫：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MySQL on Synology NAS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76564B"/>
              </a:buClr>
              <a:buFont typeface="Symbol"/>
              <a:buChar char=""/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VPN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：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Tailscale / WireGuard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100.X.X.X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私網）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76564B"/>
              </a:buClr>
              <a:buFont typeface="Symbol"/>
              <a:buChar char=""/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邊緣閘道：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Nginx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（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HTTPS/TLS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76564B"/>
              </a:buClr>
              <a:buFont typeface="Symbol"/>
              <a:buChar char=""/>
            </a:pPr>
            <a:r>
              <a:rPr lang="en-US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AI </a:t>
            </a: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串接：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OpenAI / Gemini API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或 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VPS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私有模型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76564B"/>
              </a:buClr>
              <a:buFont typeface="Symbol"/>
              <a:buChar char=""/>
            </a:pPr>
            <a:r>
              <a:rPr lang="zh-TW" sz="1430" b="1" u="none" strike="noStrike">
                <a:solidFill>
                  <a:srgbClr val="76564B"/>
                </a:solidFill>
                <a:effectLst/>
                <a:uFillTx/>
                <a:latin typeface="Noto Sans TC Bold"/>
                <a:ea typeface="Noto Sans TC Bold"/>
              </a:rPr>
              <a:t>備份策略：</a:t>
            </a:r>
            <a:r>
              <a:rPr lang="en-US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Restore Verification </a:t>
            </a:r>
            <a:r>
              <a:rPr lang="zh-TW" sz="1430" b="0" u="none" strike="noStrike">
                <a:solidFill>
                  <a:srgbClr val="76564B"/>
                </a:solidFill>
                <a:effectLst/>
                <a:uFillTx/>
                <a:latin typeface="Noto Sans TC"/>
                <a:ea typeface="Noto Sans TC"/>
              </a:rPr>
              <a:t>自動驗證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"/>
          <p:cNvSpPr/>
          <p:nvPr/>
        </p:nvSpPr>
        <p:spPr>
          <a:xfrm>
            <a:off x="762120" y="590400"/>
            <a:ext cx="102866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總結</a:t>
            </a:r>
            <a:r>
              <a:rPr lang="en-US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:</a:t>
            </a:r>
            <a:r>
              <a:rPr lang="zh-TW" sz="2550" b="1" u="none" strike="noStrike">
                <a:solidFill>
                  <a:srgbClr val="243545"/>
                </a:solidFill>
                <a:effectLst/>
                <a:uFillTx/>
                <a:latin typeface="Noto Sans TC"/>
                <a:ea typeface="Noto Sans TC"/>
              </a:rPr>
              <a:t>可追蹤、可重播、可稽核，支撐跨地行政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"/>
          <p:cNvSpPr/>
          <p:nvPr/>
        </p:nvSpPr>
        <p:spPr>
          <a:xfrm>
            <a:off x="11144160" y="6305400"/>
            <a:ext cx="522000" cy="2268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1430" b="0" u="none" strike="noStrike">
                <a:solidFill>
                  <a:srgbClr val="6F7069"/>
                </a:solidFill>
                <a:effectLst/>
                <a:uFillTx/>
                <a:latin typeface="Microsoft JhengHei"/>
                <a:ea typeface="Microsoft JhengHei"/>
              </a:rPr>
              <a:t>34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"/>
          <p:cNvSpPr/>
          <p:nvPr/>
        </p:nvSpPr>
        <p:spPr>
          <a:xfrm>
            <a:off x="809640" y="3524400"/>
            <a:ext cx="1807920" cy="10270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"/>
          <p:cNvSpPr/>
          <p:nvPr/>
        </p:nvSpPr>
        <p:spPr>
          <a:xfrm>
            <a:off x="952560" y="3790800"/>
            <a:ext cx="1522080" cy="474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1729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流程整合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"/>
          <p:cNvSpPr/>
          <p:nvPr/>
        </p:nvSpPr>
        <p:spPr>
          <a:xfrm>
            <a:off x="2981160" y="3114720"/>
            <a:ext cx="1807920" cy="10270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"/>
          <p:cNvSpPr/>
          <p:nvPr/>
        </p:nvSpPr>
        <p:spPr>
          <a:xfrm>
            <a:off x="3124080" y="3381480"/>
            <a:ext cx="1522080" cy="474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1729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權責清楚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"/>
          <p:cNvSpPr/>
          <p:nvPr/>
        </p:nvSpPr>
        <p:spPr>
          <a:xfrm>
            <a:off x="5153040" y="2705040"/>
            <a:ext cx="1807920" cy="10270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"/>
          <p:cNvSpPr/>
          <p:nvPr/>
        </p:nvSpPr>
        <p:spPr>
          <a:xfrm>
            <a:off x="5295960" y="2971800"/>
            <a:ext cx="1522080" cy="474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1729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交易可靠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8" name=""/>
          <p:cNvSpPr/>
          <p:nvPr/>
        </p:nvSpPr>
        <p:spPr>
          <a:xfrm>
            <a:off x="7324560" y="2295360"/>
            <a:ext cx="1807920" cy="10270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"/>
          <p:cNvSpPr/>
          <p:nvPr/>
        </p:nvSpPr>
        <p:spPr>
          <a:xfrm>
            <a:off x="7467480" y="2562120"/>
            <a:ext cx="1522080" cy="474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1729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例外可管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"/>
          <p:cNvSpPr/>
          <p:nvPr/>
        </p:nvSpPr>
        <p:spPr>
          <a:xfrm>
            <a:off x="9496440" y="1886040"/>
            <a:ext cx="1807920" cy="1027080"/>
          </a:xfrm>
          <a:prstGeom prst="rect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1" name=""/>
          <p:cNvSpPr/>
          <p:nvPr/>
        </p:nvSpPr>
        <p:spPr>
          <a:xfrm>
            <a:off x="9639360" y="2152800"/>
            <a:ext cx="1522080" cy="474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zh-TW" sz="1729" b="1" u="none" strike="noStrike">
                <a:solidFill>
                  <a:srgbClr val="5D493D"/>
                </a:solidFill>
                <a:effectLst/>
                <a:uFillTx/>
                <a:latin typeface="Microsoft JhengHei"/>
                <a:ea typeface="Microsoft JhengHei"/>
              </a:rPr>
              <a:t>逐步部署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"/>
          <p:cNvSpPr/>
          <p:nvPr/>
        </p:nvSpPr>
        <p:spPr>
          <a:xfrm>
            <a:off x="1095480" y="5095800"/>
            <a:ext cx="9999360" cy="617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zh-TW" sz="2320" b="1" u="none" strike="noStrike">
                <a:solidFill>
                  <a:srgbClr val="A66C4E"/>
                </a:solidFill>
                <a:effectLst/>
                <a:uFillTx/>
                <a:latin typeface="Microsoft JhengHei"/>
                <a:ea typeface="Microsoft JhengHei"/>
              </a:rPr>
              <a:t>可追蹤、可重播、可稽核，打下執行遠端工作的基礎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統一章節標記"/>
          <p:cNvSpPr/>
          <p:nvPr/>
        </p:nvSpPr>
        <p:spPr>
          <a:xfrm>
            <a:off x="343080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2026-08-11T06:06:43Z</dcterms:created>
  <dc:creator>Walnut Exporter</dc:creator>
  <dc:description/>
  <dc:language>zh-TW</dc:language>
  <cp:lastModifiedBy/>
  <dcterms:modified xsi:type="dcterms:W3CDTF">2026-08-11T14:13:27Z</dcterms:modified>
  <cp:revision>2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